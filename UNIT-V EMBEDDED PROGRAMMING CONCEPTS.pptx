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57" r:id="rId3"/>
    <p:sldId id="258" r:id="rId4"/>
    <p:sldId id="259" r:id="rId5"/>
    <p:sldId id="260" r:id="rId6"/>
    <p:sldId id="261" r:id="rId7"/>
    <p:sldId id="268" r:id="rId8"/>
    <p:sldId id="269" r:id="rId9"/>
    <p:sldId id="262" r:id="rId10"/>
    <p:sldId id="263" r:id="rId11"/>
    <p:sldId id="264" r:id="rId12"/>
    <p:sldId id="265" r:id="rId13"/>
    <p:sldId id="266" r:id="rId14"/>
    <p:sldId id="267" r:id="rId15"/>
    <p:sldId id="290" r:id="rId16"/>
    <p:sldId id="285" r:id="rId17"/>
    <p:sldId id="288" r:id="rId18"/>
    <p:sldId id="270" r:id="rId19"/>
    <p:sldId id="281" r:id="rId20"/>
    <p:sldId id="289" r:id="rId21"/>
    <p:sldId id="271" r:id="rId22"/>
    <p:sldId id="272" r:id="rId23"/>
    <p:sldId id="273" r:id="rId24"/>
    <p:sldId id="274" r:id="rId25"/>
    <p:sldId id="275" r:id="rId26"/>
    <p:sldId id="293" r:id="rId27"/>
    <p:sldId id="286" r:id="rId28"/>
    <p:sldId id="287" r:id="rId29"/>
    <p:sldId id="276" r:id="rId30"/>
    <p:sldId id="277" r:id="rId31"/>
    <p:sldId id="279" r:id="rId32"/>
    <p:sldId id="282" r:id="rId33"/>
    <p:sldId id="283" r:id="rId34"/>
    <p:sldId id="292" r:id="rId35"/>
    <p:sldId id="280" r:id="rId36"/>
    <p:sldId id="284" r:id="rId37"/>
    <p:sldId id="29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8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86B38C-5D92-4666-BA43-4C831D160924}" type="datetimeFigureOut">
              <a:rPr lang="en-IN" smtClean="0"/>
              <a:t>11-04-2020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FD8D9C-CE12-4CC6-9382-6FEB65EACA6C}" type="slidenum">
              <a:rPr lang="en-IN" smtClean="0"/>
              <a:t>‹#›</a:t>
            </a:fld>
            <a:endParaRPr lang="en-IN"/>
          </a:p>
        </p:txBody>
      </p:sp>
    </p:spTree>
    <p:extLst>
      <p:ext uri="{BB962C8B-B14F-4D97-AF65-F5344CB8AC3E}">
        <p14:creationId xmlns:p14="http://schemas.microsoft.com/office/powerpoint/2010/main" val="252804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5857C5-77AA-4631-8D78-690A7D6C020F}" type="slidenum">
              <a:rPr lang="en-IN" smtClean="0"/>
              <a:t>34</a:t>
            </a:fld>
            <a:endParaRPr lang="en-IN"/>
          </a:p>
        </p:txBody>
      </p:sp>
    </p:spTree>
    <p:extLst>
      <p:ext uri="{BB962C8B-B14F-4D97-AF65-F5344CB8AC3E}">
        <p14:creationId xmlns:p14="http://schemas.microsoft.com/office/powerpoint/2010/main" val="2433904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E5C74-52E7-4201-9213-D5E8BD029D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F53DB3B-F886-4AF3-94EF-EF7B5D1331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CF7A048-945D-41B3-A8F2-E33D6C89C6B9}"/>
              </a:ext>
            </a:extLst>
          </p:cNvPr>
          <p:cNvSpPr>
            <a:spLocks noGrp="1"/>
          </p:cNvSpPr>
          <p:nvPr>
            <p:ph type="dt" sz="half" idx="10"/>
          </p:nvPr>
        </p:nvSpPr>
        <p:spPr/>
        <p:txBody>
          <a:bodyPr/>
          <a:lstStyle/>
          <a:p>
            <a:fld id="{89608875-B3D6-4735-9257-C764799027C9}" type="datetimeFigureOut">
              <a:rPr lang="en-IN" smtClean="0"/>
              <a:t>11-04-2020</a:t>
            </a:fld>
            <a:endParaRPr lang="en-IN"/>
          </a:p>
        </p:txBody>
      </p:sp>
      <p:sp>
        <p:nvSpPr>
          <p:cNvPr id="5" name="Footer Placeholder 4">
            <a:extLst>
              <a:ext uri="{FF2B5EF4-FFF2-40B4-BE49-F238E27FC236}">
                <a16:creationId xmlns:a16="http://schemas.microsoft.com/office/drawing/2014/main" id="{05118DD9-EA66-4240-B62E-0AF1CA0F87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350109-CB32-4DD5-A164-EE84D52BDBB0}"/>
              </a:ext>
            </a:extLst>
          </p:cNvPr>
          <p:cNvSpPr>
            <a:spLocks noGrp="1"/>
          </p:cNvSpPr>
          <p:nvPr>
            <p:ph type="sldNum" sz="quarter" idx="12"/>
          </p:nvPr>
        </p:nvSpPr>
        <p:spPr/>
        <p:txBody>
          <a:bodyPr/>
          <a:lstStyle/>
          <a:p>
            <a:fld id="{68EF9EFE-7DC1-4519-8F71-AF9DCE43998E}" type="slidenum">
              <a:rPr lang="en-IN" smtClean="0"/>
              <a:t>‹#›</a:t>
            </a:fld>
            <a:endParaRPr lang="en-IN"/>
          </a:p>
        </p:txBody>
      </p:sp>
    </p:spTree>
    <p:extLst>
      <p:ext uri="{BB962C8B-B14F-4D97-AF65-F5344CB8AC3E}">
        <p14:creationId xmlns:p14="http://schemas.microsoft.com/office/powerpoint/2010/main" val="3345652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2CA98-6CB4-4DD2-B3B2-5841A5E417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DC03D2-4ED5-44E3-83E3-46FE8B0BB6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907797-B418-45AF-B813-F61637E41DDF}"/>
              </a:ext>
            </a:extLst>
          </p:cNvPr>
          <p:cNvSpPr>
            <a:spLocks noGrp="1"/>
          </p:cNvSpPr>
          <p:nvPr>
            <p:ph type="dt" sz="half" idx="10"/>
          </p:nvPr>
        </p:nvSpPr>
        <p:spPr/>
        <p:txBody>
          <a:bodyPr/>
          <a:lstStyle/>
          <a:p>
            <a:fld id="{89608875-B3D6-4735-9257-C764799027C9}" type="datetimeFigureOut">
              <a:rPr lang="en-IN" smtClean="0"/>
              <a:t>11-04-2020</a:t>
            </a:fld>
            <a:endParaRPr lang="en-IN"/>
          </a:p>
        </p:txBody>
      </p:sp>
      <p:sp>
        <p:nvSpPr>
          <p:cNvPr id="5" name="Footer Placeholder 4">
            <a:extLst>
              <a:ext uri="{FF2B5EF4-FFF2-40B4-BE49-F238E27FC236}">
                <a16:creationId xmlns:a16="http://schemas.microsoft.com/office/drawing/2014/main" id="{EF63F553-736A-4EC3-89C5-B7EFAF60BD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3CD2F3-6110-4945-BBE4-34100C8A9ADF}"/>
              </a:ext>
            </a:extLst>
          </p:cNvPr>
          <p:cNvSpPr>
            <a:spLocks noGrp="1"/>
          </p:cNvSpPr>
          <p:nvPr>
            <p:ph type="sldNum" sz="quarter" idx="12"/>
          </p:nvPr>
        </p:nvSpPr>
        <p:spPr/>
        <p:txBody>
          <a:bodyPr/>
          <a:lstStyle/>
          <a:p>
            <a:fld id="{68EF9EFE-7DC1-4519-8F71-AF9DCE43998E}" type="slidenum">
              <a:rPr lang="en-IN" smtClean="0"/>
              <a:t>‹#›</a:t>
            </a:fld>
            <a:endParaRPr lang="en-IN"/>
          </a:p>
        </p:txBody>
      </p:sp>
    </p:spTree>
    <p:extLst>
      <p:ext uri="{BB962C8B-B14F-4D97-AF65-F5344CB8AC3E}">
        <p14:creationId xmlns:p14="http://schemas.microsoft.com/office/powerpoint/2010/main" val="3974813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C0A43-9CA8-4E1B-9829-4781388A19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8AF537-B9F0-4897-92C6-2493E69ED8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7BAD32-7E91-4CCC-AF0A-52D65CB8A9A7}"/>
              </a:ext>
            </a:extLst>
          </p:cNvPr>
          <p:cNvSpPr>
            <a:spLocks noGrp="1"/>
          </p:cNvSpPr>
          <p:nvPr>
            <p:ph type="dt" sz="half" idx="10"/>
          </p:nvPr>
        </p:nvSpPr>
        <p:spPr/>
        <p:txBody>
          <a:bodyPr/>
          <a:lstStyle/>
          <a:p>
            <a:fld id="{89608875-B3D6-4735-9257-C764799027C9}" type="datetimeFigureOut">
              <a:rPr lang="en-IN" smtClean="0"/>
              <a:t>11-04-2020</a:t>
            </a:fld>
            <a:endParaRPr lang="en-IN"/>
          </a:p>
        </p:txBody>
      </p:sp>
      <p:sp>
        <p:nvSpPr>
          <p:cNvPr id="5" name="Footer Placeholder 4">
            <a:extLst>
              <a:ext uri="{FF2B5EF4-FFF2-40B4-BE49-F238E27FC236}">
                <a16:creationId xmlns:a16="http://schemas.microsoft.com/office/drawing/2014/main" id="{583D435C-1111-4BC8-8818-F9C6FB3FD9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F1DD1C-C934-4271-B6CB-3881E021E4E3}"/>
              </a:ext>
            </a:extLst>
          </p:cNvPr>
          <p:cNvSpPr>
            <a:spLocks noGrp="1"/>
          </p:cNvSpPr>
          <p:nvPr>
            <p:ph type="sldNum" sz="quarter" idx="12"/>
          </p:nvPr>
        </p:nvSpPr>
        <p:spPr/>
        <p:txBody>
          <a:bodyPr/>
          <a:lstStyle/>
          <a:p>
            <a:fld id="{68EF9EFE-7DC1-4519-8F71-AF9DCE43998E}" type="slidenum">
              <a:rPr lang="en-IN" smtClean="0"/>
              <a:t>‹#›</a:t>
            </a:fld>
            <a:endParaRPr lang="en-IN"/>
          </a:p>
        </p:txBody>
      </p:sp>
    </p:spTree>
    <p:extLst>
      <p:ext uri="{BB962C8B-B14F-4D97-AF65-F5344CB8AC3E}">
        <p14:creationId xmlns:p14="http://schemas.microsoft.com/office/powerpoint/2010/main" val="3335314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A54B1-606B-45B3-86A5-60CDB24FB6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FF2E51-245B-43AC-8F72-7F76C851F5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A2546D6-9206-495B-9193-ED2B19BDD4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0C54271-24E9-40E2-BD57-E587F8EF53A4}"/>
              </a:ext>
            </a:extLst>
          </p:cNvPr>
          <p:cNvSpPr>
            <a:spLocks noGrp="1"/>
          </p:cNvSpPr>
          <p:nvPr>
            <p:ph type="dt" sz="half" idx="10"/>
          </p:nvPr>
        </p:nvSpPr>
        <p:spPr/>
        <p:txBody>
          <a:bodyPr/>
          <a:lstStyle/>
          <a:p>
            <a:fld id="{89608875-B3D6-4735-9257-C764799027C9}" type="datetimeFigureOut">
              <a:rPr lang="en-IN" smtClean="0"/>
              <a:t>11-04-2020</a:t>
            </a:fld>
            <a:endParaRPr lang="en-IN"/>
          </a:p>
        </p:txBody>
      </p:sp>
      <p:sp>
        <p:nvSpPr>
          <p:cNvPr id="6" name="Footer Placeholder 5">
            <a:extLst>
              <a:ext uri="{FF2B5EF4-FFF2-40B4-BE49-F238E27FC236}">
                <a16:creationId xmlns:a16="http://schemas.microsoft.com/office/drawing/2014/main" id="{30A6D149-D40D-4113-BCD0-2F198339CA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ACC5D3-5210-4F34-8799-CDEC5C83F1C8}"/>
              </a:ext>
            </a:extLst>
          </p:cNvPr>
          <p:cNvSpPr>
            <a:spLocks noGrp="1"/>
          </p:cNvSpPr>
          <p:nvPr>
            <p:ph type="sldNum" sz="quarter" idx="12"/>
          </p:nvPr>
        </p:nvSpPr>
        <p:spPr/>
        <p:txBody>
          <a:bodyPr/>
          <a:lstStyle/>
          <a:p>
            <a:fld id="{68EF9EFE-7DC1-4519-8F71-AF9DCE43998E}" type="slidenum">
              <a:rPr lang="en-IN" smtClean="0"/>
              <a:t>‹#›</a:t>
            </a:fld>
            <a:endParaRPr lang="en-IN"/>
          </a:p>
        </p:txBody>
      </p:sp>
    </p:spTree>
    <p:extLst>
      <p:ext uri="{BB962C8B-B14F-4D97-AF65-F5344CB8AC3E}">
        <p14:creationId xmlns:p14="http://schemas.microsoft.com/office/powerpoint/2010/main" val="1367301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BE7F9-1731-4931-A231-B601062D085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5FDEB9-86FF-4D2D-AB0A-1B7D5A68F2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D3320C-E42B-45D2-8F56-7E4D88C18D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515EC62-C53D-4EF9-A695-698CB40AB8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7B8EB5-70E4-44C2-A32D-DC9FC794C6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4D2D77E-A5E2-4162-B4A5-398EC29E1BD3}"/>
              </a:ext>
            </a:extLst>
          </p:cNvPr>
          <p:cNvSpPr>
            <a:spLocks noGrp="1"/>
          </p:cNvSpPr>
          <p:nvPr>
            <p:ph type="dt" sz="half" idx="10"/>
          </p:nvPr>
        </p:nvSpPr>
        <p:spPr/>
        <p:txBody>
          <a:bodyPr/>
          <a:lstStyle/>
          <a:p>
            <a:fld id="{89608875-B3D6-4735-9257-C764799027C9}" type="datetimeFigureOut">
              <a:rPr lang="en-IN" smtClean="0"/>
              <a:t>11-04-2020</a:t>
            </a:fld>
            <a:endParaRPr lang="en-IN"/>
          </a:p>
        </p:txBody>
      </p:sp>
      <p:sp>
        <p:nvSpPr>
          <p:cNvPr id="8" name="Footer Placeholder 7">
            <a:extLst>
              <a:ext uri="{FF2B5EF4-FFF2-40B4-BE49-F238E27FC236}">
                <a16:creationId xmlns:a16="http://schemas.microsoft.com/office/drawing/2014/main" id="{76B125BA-508D-4530-8D12-A79A50016ED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01EFB87-69BD-4EEB-A169-B645E9FE3E8F}"/>
              </a:ext>
            </a:extLst>
          </p:cNvPr>
          <p:cNvSpPr>
            <a:spLocks noGrp="1"/>
          </p:cNvSpPr>
          <p:nvPr>
            <p:ph type="sldNum" sz="quarter" idx="12"/>
          </p:nvPr>
        </p:nvSpPr>
        <p:spPr/>
        <p:txBody>
          <a:bodyPr/>
          <a:lstStyle/>
          <a:p>
            <a:fld id="{68EF9EFE-7DC1-4519-8F71-AF9DCE43998E}" type="slidenum">
              <a:rPr lang="en-IN" smtClean="0"/>
              <a:t>‹#›</a:t>
            </a:fld>
            <a:endParaRPr lang="en-IN"/>
          </a:p>
        </p:txBody>
      </p:sp>
    </p:spTree>
    <p:extLst>
      <p:ext uri="{BB962C8B-B14F-4D97-AF65-F5344CB8AC3E}">
        <p14:creationId xmlns:p14="http://schemas.microsoft.com/office/powerpoint/2010/main" val="2068072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8634A-4FAA-4172-B7E7-4C1816C0681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E5DC0A7-A405-452F-9749-8F9390F1294E}"/>
              </a:ext>
            </a:extLst>
          </p:cNvPr>
          <p:cNvSpPr>
            <a:spLocks noGrp="1"/>
          </p:cNvSpPr>
          <p:nvPr>
            <p:ph type="dt" sz="half" idx="10"/>
          </p:nvPr>
        </p:nvSpPr>
        <p:spPr/>
        <p:txBody>
          <a:bodyPr/>
          <a:lstStyle/>
          <a:p>
            <a:fld id="{89608875-B3D6-4735-9257-C764799027C9}" type="datetimeFigureOut">
              <a:rPr lang="en-IN" smtClean="0"/>
              <a:t>11-04-2020</a:t>
            </a:fld>
            <a:endParaRPr lang="en-IN"/>
          </a:p>
        </p:txBody>
      </p:sp>
      <p:sp>
        <p:nvSpPr>
          <p:cNvPr id="4" name="Footer Placeholder 3">
            <a:extLst>
              <a:ext uri="{FF2B5EF4-FFF2-40B4-BE49-F238E27FC236}">
                <a16:creationId xmlns:a16="http://schemas.microsoft.com/office/drawing/2014/main" id="{FAE8E764-70CE-4419-97AC-FB9060CE30D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3A302CD-5DC1-4754-919A-F94144A19478}"/>
              </a:ext>
            </a:extLst>
          </p:cNvPr>
          <p:cNvSpPr>
            <a:spLocks noGrp="1"/>
          </p:cNvSpPr>
          <p:nvPr>
            <p:ph type="sldNum" sz="quarter" idx="12"/>
          </p:nvPr>
        </p:nvSpPr>
        <p:spPr/>
        <p:txBody>
          <a:bodyPr/>
          <a:lstStyle/>
          <a:p>
            <a:fld id="{68EF9EFE-7DC1-4519-8F71-AF9DCE43998E}" type="slidenum">
              <a:rPr lang="en-IN" smtClean="0"/>
              <a:t>‹#›</a:t>
            </a:fld>
            <a:endParaRPr lang="en-IN"/>
          </a:p>
        </p:txBody>
      </p:sp>
    </p:spTree>
    <p:extLst>
      <p:ext uri="{BB962C8B-B14F-4D97-AF65-F5344CB8AC3E}">
        <p14:creationId xmlns:p14="http://schemas.microsoft.com/office/powerpoint/2010/main" val="3703699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9C3F84-0F5E-40DA-A34A-B5C2BDD8C95D}"/>
              </a:ext>
            </a:extLst>
          </p:cNvPr>
          <p:cNvSpPr>
            <a:spLocks noGrp="1"/>
          </p:cNvSpPr>
          <p:nvPr>
            <p:ph type="dt" sz="half" idx="10"/>
          </p:nvPr>
        </p:nvSpPr>
        <p:spPr/>
        <p:txBody>
          <a:bodyPr/>
          <a:lstStyle/>
          <a:p>
            <a:fld id="{89608875-B3D6-4735-9257-C764799027C9}" type="datetimeFigureOut">
              <a:rPr lang="en-IN" smtClean="0"/>
              <a:t>11-04-2020</a:t>
            </a:fld>
            <a:endParaRPr lang="en-IN"/>
          </a:p>
        </p:txBody>
      </p:sp>
      <p:sp>
        <p:nvSpPr>
          <p:cNvPr id="3" name="Footer Placeholder 2">
            <a:extLst>
              <a:ext uri="{FF2B5EF4-FFF2-40B4-BE49-F238E27FC236}">
                <a16:creationId xmlns:a16="http://schemas.microsoft.com/office/drawing/2014/main" id="{1C59A8D1-148F-41B2-BF68-226B193BFF1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126FCD2-0C27-4455-9EDF-BFA47B98269E}"/>
              </a:ext>
            </a:extLst>
          </p:cNvPr>
          <p:cNvSpPr>
            <a:spLocks noGrp="1"/>
          </p:cNvSpPr>
          <p:nvPr>
            <p:ph type="sldNum" sz="quarter" idx="12"/>
          </p:nvPr>
        </p:nvSpPr>
        <p:spPr/>
        <p:txBody>
          <a:bodyPr/>
          <a:lstStyle/>
          <a:p>
            <a:fld id="{68EF9EFE-7DC1-4519-8F71-AF9DCE43998E}" type="slidenum">
              <a:rPr lang="en-IN" smtClean="0"/>
              <a:t>‹#›</a:t>
            </a:fld>
            <a:endParaRPr lang="en-IN"/>
          </a:p>
        </p:txBody>
      </p:sp>
    </p:spTree>
    <p:extLst>
      <p:ext uri="{BB962C8B-B14F-4D97-AF65-F5344CB8AC3E}">
        <p14:creationId xmlns:p14="http://schemas.microsoft.com/office/powerpoint/2010/main" val="4130240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C252B-86C0-4AFD-8EB5-B7B5A1FD44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22B15A-B6B9-4568-91E2-2B45A96AB5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29C0A3A-ED81-4052-AEF9-534E5A6D7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B4E89B-837A-4766-9076-8B2B585B4335}"/>
              </a:ext>
            </a:extLst>
          </p:cNvPr>
          <p:cNvSpPr>
            <a:spLocks noGrp="1"/>
          </p:cNvSpPr>
          <p:nvPr>
            <p:ph type="dt" sz="half" idx="10"/>
          </p:nvPr>
        </p:nvSpPr>
        <p:spPr/>
        <p:txBody>
          <a:bodyPr/>
          <a:lstStyle/>
          <a:p>
            <a:fld id="{89608875-B3D6-4735-9257-C764799027C9}" type="datetimeFigureOut">
              <a:rPr lang="en-IN" smtClean="0"/>
              <a:t>11-04-2020</a:t>
            </a:fld>
            <a:endParaRPr lang="en-IN"/>
          </a:p>
        </p:txBody>
      </p:sp>
      <p:sp>
        <p:nvSpPr>
          <p:cNvPr id="6" name="Footer Placeholder 5">
            <a:extLst>
              <a:ext uri="{FF2B5EF4-FFF2-40B4-BE49-F238E27FC236}">
                <a16:creationId xmlns:a16="http://schemas.microsoft.com/office/drawing/2014/main" id="{BF3DB75B-4B65-4D00-9388-1B99E478F7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FAC27D-E4EC-41A8-9819-F58C833318C9}"/>
              </a:ext>
            </a:extLst>
          </p:cNvPr>
          <p:cNvSpPr>
            <a:spLocks noGrp="1"/>
          </p:cNvSpPr>
          <p:nvPr>
            <p:ph type="sldNum" sz="quarter" idx="12"/>
          </p:nvPr>
        </p:nvSpPr>
        <p:spPr/>
        <p:txBody>
          <a:bodyPr/>
          <a:lstStyle/>
          <a:p>
            <a:fld id="{68EF9EFE-7DC1-4519-8F71-AF9DCE43998E}" type="slidenum">
              <a:rPr lang="en-IN" smtClean="0"/>
              <a:t>‹#›</a:t>
            </a:fld>
            <a:endParaRPr lang="en-IN"/>
          </a:p>
        </p:txBody>
      </p:sp>
    </p:spTree>
    <p:extLst>
      <p:ext uri="{BB962C8B-B14F-4D97-AF65-F5344CB8AC3E}">
        <p14:creationId xmlns:p14="http://schemas.microsoft.com/office/powerpoint/2010/main" val="1127741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6B370-8B57-4B00-A28F-1DBA03B4A6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A13E5FF-870E-4366-B84F-B7A9A40DA1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B41AADF-7D88-4B05-9B26-B8082853E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99333B-3446-4F9C-92A2-F2A0A7CBCB31}"/>
              </a:ext>
            </a:extLst>
          </p:cNvPr>
          <p:cNvSpPr>
            <a:spLocks noGrp="1"/>
          </p:cNvSpPr>
          <p:nvPr>
            <p:ph type="dt" sz="half" idx="10"/>
          </p:nvPr>
        </p:nvSpPr>
        <p:spPr/>
        <p:txBody>
          <a:bodyPr/>
          <a:lstStyle/>
          <a:p>
            <a:fld id="{89608875-B3D6-4735-9257-C764799027C9}" type="datetimeFigureOut">
              <a:rPr lang="en-IN" smtClean="0"/>
              <a:t>11-04-2020</a:t>
            </a:fld>
            <a:endParaRPr lang="en-IN"/>
          </a:p>
        </p:txBody>
      </p:sp>
      <p:sp>
        <p:nvSpPr>
          <p:cNvPr id="6" name="Footer Placeholder 5">
            <a:extLst>
              <a:ext uri="{FF2B5EF4-FFF2-40B4-BE49-F238E27FC236}">
                <a16:creationId xmlns:a16="http://schemas.microsoft.com/office/drawing/2014/main" id="{F072800C-40D6-4572-AC75-17289A3E64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51D691-1BFA-40ED-8A49-719DE69DD318}"/>
              </a:ext>
            </a:extLst>
          </p:cNvPr>
          <p:cNvSpPr>
            <a:spLocks noGrp="1"/>
          </p:cNvSpPr>
          <p:nvPr>
            <p:ph type="sldNum" sz="quarter" idx="12"/>
          </p:nvPr>
        </p:nvSpPr>
        <p:spPr/>
        <p:txBody>
          <a:bodyPr/>
          <a:lstStyle/>
          <a:p>
            <a:fld id="{68EF9EFE-7DC1-4519-8F71-AF9DCE43998E}" type="slidenum">
              <a:rPr lang="en-IN" smtClean="0"/>
              <a:t>‹#›</a:t>
            </a:fld>
            <a:endParaRPr lang="en-IN"/>
          </a:p>
        </p:txBody>
      </p:sp>
    </p:spTree>
    <p:extLst>
      <p:ext uri="{BB962C8B-B14F-4D97-AF65-F5344CB8AC3E}">
        <p14:creationId xmlns:p14="http://schemas.microsoft.com/office/powerpoint/2010/main" val="30872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E90AB-043E-4557-B007-B4B772016A7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93EA2C-7886-4048-AAF8-BEEDFC91C7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44C051-157B-47C6-9627-F299F595F3CB}"/>
              </a:ext>
            </a:extLst>
          </p:cNvPr>
          <p:cNvSpPr>
            <a:spLocks noGrp="1"/>
          </p:cNvSpPr>
          <p:nvPr>
            <p:ph type="dt" sz="half" idx="10"/>
          </p:nvPr>
        </p:nvSpPr>
        <p:spPr/>
        <p:txBody>
          <a:bodyPr/>
          <a:lstStyle/>
          <a:p>
            <a:fld id="{89608875-B3D6-4735-9257-C764799027C9}" type="datetimeFigureOut">
              <a:rPr lang="en-IN" smtClean="0"/>
              <a:t>11-04-2020</a:t>
            </a:fld>
            <a:endParaRPr lang="en-IN"/>
          </a:p>
        </p:txBody>
      </p:sp>
      <p:sp>
        <p:nvSpPr>
          <p:cNvPr id="5" name="Footer Placeholder 4">
            <a:extLst>
              <a:ext uri="{FF2B5EF4-FFF2-40B4-BE49-F238E27FC236}">
                <a16:creationId xmlns:a16="http://schemas.microsoft.com/office/drawing/2014/main" id="{636EB589-2B8B-4DA4-9CE2-008AB57B53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25A64B-E128-4D6C-8226-A071CC945373}"/>
              </a:ext>
            </a:extLst>
          </p:cNvPr>
          <p:cNvSpPr>
            <a:spLocks noGrp="1"/>
          </p:cNvSpPr>
          <p:nvPr>
            <p:ph type="sldNum" sz="quarter" idx="12"/>
          </p:nvPr>
        </p:nvSpPr>
        <p:spPr/>
        <p:txBody>
          <a:bodyPr/>
          <a:lstStyle/>
          <a:p>
            <a:fld id="{68EF9EFE-7DC1-4519-8F71-AF9DCE43998E}" type="slidenum">
              <a:rPr lang="en-IN" smtClean="0"/>
              <a:t>‹#›</a:t>
            </a:fld>
            <a:endParaRPr lang="en-IN"/>
          </a:p>
        </p:txBody>
      </p:sp>
    </p:spTree>
    <p:extLst>
      <p:ext uri="{BB962C8B-B14F-4D97-AF65-F5344CB8AC3E}">
        <p14:creationId xmlns:p14="http://schemas.microsoft.com/office/powerpoint/2010/main" val="354369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8E833F-B2BA-493F-A00E-49A3782264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0F5559-B184-4828-A510-EC65A59124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C1648E-2C53-4BC8-8C77-10C57897EA10}"/>
              </a:ext>
            </a:extLst>
          </p:cNvPr>
          <p:cNvSpPr>
            <a:spLocks noGrp="1"/>
          </p:cNvSpPr>
          <p:nvPr>
            <p:ph type="dt" sz="half" idx="10"/>
          </p:nvPr>
        </p:nvSpPr>
        <p:spPr/>
        <p:txBody>
          <a:bodyPr/>
          <a:lstStyle/>
          <a:p>
            <a:fld id="{89608875-B3D6-4735-9257-C764799027C9}" type="datetimeFigureOut">
              <a:rPr lang="en-IN" smtClean="0"/>
              <a:t>11-04-2020</a:t>
            </a:fld>
            <a:endParaRPr lang="en-IN"/>
          </a:p>
        </p:txBody>
      </p:sp>
      <p:sp>
        <p:nvSpPr>
          <p:cNvPr id="5" name="Footer Placeholder 4">
            <a:extLst>
              <a:ext uri="{FF2B5EF4-FFF2-40B4-BE49-F238E27FC236}">
                <a16:creationId xmlns:a16="http://schemas.microsoft.com/office/drawing/2014/main" id="{D9818DE7-702E-42E7-85CE-DAB6D6B566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B48C69-FDBF-4798-92E2-3D2427A398FA}"/>
              </a:ext>
            </a:extLst>
          </p:cNvPr>
          <p:cNvSpPr>
            <a:spLocks noGrp="1"/>
          </p:cNvSpPr>
          <p:nvPr>
            <p:ph type="sldNum" sz="quarter" idx="12"/>
          </p:nvPr>
        </p:nvSpPr>
        <p:spPr/>
        <p:txBody>
          <a:bodyPr/>
          <a:lstStyle/>
          <a:p>
            <a:fld id="{68EF9EFE-7DC1-4519-8F71-AF9DCE43998E}" type="slidenum">
              <a:rPr lang="en-IN" smtClean="0"/>
              <a:t>‹#›</a:t>
            </a:fld>
            <a:endParaRPr lang="en-IN"/>
          </a:p>
        </p:txBody>
      </p:sp>
    </p:spTree>
    <p:extLst>
      <p:ext uri="{BB962C8B-B14F-4D97-AF65-F5344CB8AC3E}">
        <p14:creationId xmlns:p14="http://schemas.microsoft.com/office/powerpoint/2010/main" val="2582089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8EBA4C-615C-4076-8208-46A0995CD4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46B575-7964-408F-AD86-F3577C66FC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14E73E-5293-4189-A14F-20263BC430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608875-B3D6-4735-9257-C764799027C9}" type="datetimeFigureOut">
              <a:rPr lang="en-IN" smtClean="0"/>
              <a:t>11-04-2020</a:t>
            </a:fld>
            <a:endParaRPr lang="en-IN"/>
          </a:p>
        </p:txBody>
      </p:sp>
      <p:sp>
        <p:nvSpPr>
          <p:cNvPr id="5" name="Footer Placeholder 4">
            <a:extLst>
              <a:ext uri="{FF2B5EF4-FFF2-40B4-BE49-F238E27FC236}">
                <a16:creationId xmlns:a16="http://schemas.microsoft.com/office/drawing/2014/main" id="{9F3528DD-D2BB-468B-A630-ED3F9A33B6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F2A4D46-AFD7-49BD-A8E6-541C6734CB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EF9EFE-7DC1-4519-8F71-AF9DCE43998E}" type="slidenum">
              <a:rPr lang="en-IN" smtClean="0"/>
              <a:t>‹#›</a:t>
            </a:fld>
            <a:endParaRPr lang="en-IN"/>
          </a:p>
        </p:txBody>
      </p:sp>
    </p:spTree>
    <p:extLst>
      <p:ext uri="{BB962C8B-B14F-4D97-AF65-F5344CB8AC3E}">
        <p14:creationId xmlns:p14="http://schemas.microsoft.com/office/powerpoint/2010/main" val="8523838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hyperlink" Target="https://www.allaboutcircuits.com/technical-articles/understanding-arrays-in-c-programming/"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4D00B-1AA6-4C58-AE7A-3F7BB7D0B8BE}"/>
              </a:ext>
            </a:extLst>
          </p:cNvPr>
          <p:cNvSpPr>
            <a:spLocks noGrp="1"/>
          </p:cNvSpPr>
          <p:nvPr>
            <p:ph type="ctrTitle"/>
          </p:nvPr>
        </p:nvSpPr>
        <p:spPr>
          <a:xfrm>
            <a:off x="1524000" y="2027583"/>
            <a:ext cx="9144000" cy="2045657"/>
          </a:xfrm>
        </p:spPr>
        <p:txBody>
          <a:bodyPr>
            <a:noAutofit/>
          </a:bodyPr>
          <a:lstStyle/>
          <a:p>
            <a:r>
              <a:rPr lang="en-IN" sz="4400" b="1" dirty="0">
                <a:solidFill>
                  <a:srgbClr val="FF0000"/>
                </a:solidFill>
              </a:rPr>
              <a:t>UNIT-V</a:t>
            </a:r>
            <a:r>
              <a:rPr lang="en-IN" sz="4400" b="1" dirty="0"/>
              <a:t> </a:t>
            </a:r>
            <a:br>
              <a:rPr lang="en-IN" sz="4400" dirty="0"/>
            </a:br>
            <a:br>
              <a:rPr lang="en-IN" sz="4400" dirty="0"/>
            </a:br>
            <a:r>
              <a:rPr lang="en-IN" sz="4400" b="1" dirty="0">
                <a:solidFill>
                  <a:srgbClr val="7030A0"/>
                </a:solidFill>
              </a:rPr>
              <a:t>EMBEDDED PROGRAMMING CONCEPTS</a:t>
            </a:r>
          </a:p>
        </p:txBody>
      </p:sp>
    </p:spTree>
    <p:extLst>
      <p:ext uri="{BB962C8B-B14F-4D97-AF65-F5344CB8AC3E}">
        <p14:creationId xmlns:p14="http://schemas.microsoft.com/office/powerpoint/2010/main" val="86931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6A911-7AA3-4B99-B820-30AA3D880D61}"/>
              </a:ext>
            </a:extLst>
          </p:cNvPr>
          <p:cNvSpPr>
            <a:spLocks noGrp="1"/>
          </p:cNvSpPr>
          <p:nvPr>
            <p:ph type="title"/>
          </p:nvPr>
        </p:nvSpPr>
        <p:spPr>
          <a:xfrm>
            <a:off x="838199" y="365125"/>
            <a:ext cx="10522527" cy="604693"/>
          </a:xfrm>
        </p:spPr>
        <p:txBody>
          <a:bodyPr>
            <a:normAutofit fontScale="90000"/>
          </a:bodyPr>
          <a:lstStyle/>
          <a:p>
            <a:r>
              <a:rPr lang="en-US" b="1" dirty="0">
                <a:solidFill>
                  <a:srgbClr val="7030A0"/>
                </a:solidFill>
              </a:rPr>
              <a:t>Introduction</a:t>
            </a:r>
            <a:endParaRPr lang="en-IN" b="1" dirty="0">
              <a:solidFill>
                <a:srgbClr val="7030A0"/>
              </a:solidFill>
            </a:endParaRPr>
          </a:p>
        </p:txBody>
      </p:sp>
      <p:sp>
        <p:nvSpPr>
          <p:cNvPr id="3" name="Content Placeholder 2">
            <a:extLst>
              <a:ext uri="{FF2B5EF4-FFF2-40B4-BE49-F238E27FC236}">
                <a16:creationId xmlns:a16="http://schemas.microsoft.com/office/drawing/2014/main" id="{3D963DA0-502A-4DCA-994D-2B5900771CDE}"/>
              </a:ext>
            </a:extLst>
          </p:cNvPr>
          <p:cNvSpPr>
            <a:spLocks noGrp="1"/>
          </p:cNvSpPr>
          <p:nvPr>
            <p:ph idx="1"/>
          </p:nvPr>
        </p:nvSpPr>
        <p:spPr>
          <a:xfrm>
            <a:off x="838199" y="1506966"/>
            <a:ext cx="10882745" cy="4351338"/>
          </a:xfrm>
        </p:spPr>
        <p:txBody>
          <a:bodyPr>
            <a:normAutofit lnSpcReduction="10000"/>
          </a:bodyPr>
          <a:lstStyle/>
          <a:p>
            <a:pPr algn="just"/>
            <a:r>
              <a:rPr lang="en-US" dirty="0"/>
              <a:t>Embedded C is one of the most popular and commonly used Programming Languages in the development of Embedded Systems. </a:t>
            </a:r>
          </a:p>
          <a:p>
            <a:pPr algn="just"/>
            <a:endParaRPr lang="en-US" dirty="0"/>
          </a:p>
          <a:p>
            <a:pPr algn="just"/>
            <a:r>
              <a:rPr lang="en-US" dirty="0"/>
              <a:t>Embedded C is perhaps the most popular languages among Embedded Programmers for programming Embedded Systems.</a:t>
            </a:r>
          </a:p>
          <a:p>
            <a:pPr algn="just"/>
            <a:endParaRPr lang="en-US" dirty="0"/>
          </a:p>
          <a:p>
            <a:pPr algn="just"/>
            <a:r>
              <a:rPr lang="en-US" dirty="0"/>
              <a:t> There are many popular programming languages like Assembly, BASIC, C++ etc. that are often used for developing Embedded Systems but Embedded C remains popular due to its efficiency, less development time and portability.</a:t>
            </a:r>
            <a:endParaRPr lang="en-IN" dirty="0"/>
          </a:p>
        </p:txBody>
      </p:sp>
    </p:spTree>
    <p:extLst>
      <p:ext uri="{BB962C8B-B14F-4D97-AF65-F5344CB8AC3E}">
        <p14:creationId xmlns:p14="http://schemas.microsoft.com/office/powerpoint/2010/main" val="1186971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DA42E-55F9-4CE6-8C63-58C4F618F199}"/>
              </a:ext>
            </a:extLst>
          </p:cNvPr>
          <p:cNvSpPr>
            <a:spLocks noGrp="1"/>
          </p:cNvSpPr>
          <p:nvPr>
            <p:ph type="title"/>
          </p:nvPr>
        </p:nvSpPr>
        <p:spPr>
          <a:xfrm>
            <a:off x="838200" y="226576"/>
            <a:ext cx="10515600" cy="770948"/>
          </a:xfrm>
        </p:spPr>
        <p:txBody>
          <a:bodyPr>
            <a:normAutofit fontScale="90000"/>
          </a:bodyPr>
          <a:lstStyle/>
          <a:p>
            <a:br>
              <a:rPr lang="en-US" b="1" dirty="0">
                <a:solidFill>
                  <a:srgbClr val="7030A0"/>
                </a:solidFill>
              </a:rPr>
            </a:br>
            <a:r>
              <a:rPr lang="en-US" b="1" dirty="0">
                <a:solidFill>
                  <a:srgbClr val="7030A0"/>
                </a:solidFill>
              </a:rPr>
              <a:t>Factors for Selecting the Programming Language</a:t>
            </a:r>
            <a:br>
              <a:rPr lang="en-US" b="1" dirty="0">
                <a:solidFill>
                  <a:srgbClr val="7030A0"/>
                </a:solidFill>
              </a:rPr>
            </a:br>
            <a:endParaRPr lang="en-IN" dirty="0">
              <a:solidFill>
                <a:srgbClr val="7030A0"/>
              </a:solidFill>
            </a:endParaRPr>
          </a:p>
        </p:txBody>
      </p:sp>
      <p:sp>
        <p:nvSpPr>
          <p:cNvPr id="3" name="Content Placeholder 2">
            <a:extLst>
              <a:ext uri="{FF2B5EF4-FFF2-40B4-BE49-F238E27FC236}">
                <a16:creationId xmlns:a16="http://schemas.microsoft.com/office/drawing/2014/main" id="{794632B5-9AA5-4844-9132-48781959694E}"/>
              </a:ext>
            </a:extLst>
          </p:cNvPr>
          <p:cNvSpPr>
            <a:spLocks noGrp="1"/>
          </p:cNvSpPr>
          <p:nvPr>
            <p:ph idx="1"/>
          </p:nvPr>
        </p:nvSpPr>
        <p:spPr>
          <a:xfrm>
            <a:off x="838200" y="1136074"/>
            <a:ext cx="10515600" cy="5040889"/>
          </a:xfrm>
        </p:spPr>
        <p:txBody>
          <a:bodyPr>
            <a:normAutofit fontScale="92500"/>
          </a:bodyPr>
          <a:lstStyle/>
          <a:p>
            <a:pPr marL="0" indent="0" algn="just">
              <a:buNone/>
            </a:pPr>
            <a:r>
              <a:rPr lang="en-US" dirty="0"/>
              <a:t>The following are few factors that are to be considered while selecting the Programming Language for the development of Embedded Systems.</a:t>
            </a:r>
          </a:p>
          <a:p>
            <a:pPr marL="514350" indent="-514350" algn="just">
              <a:buFont typeface="+mj-lt"/>
              <a:buAutoNum type="arabicPeriod"/>
            </a:pPr>
            <a:r>
              <a:rPr lang="en-US" b="1" dirty="0"/>
              <a:t>Size:</a:t>
            </a:r>
            <a:r>
              <a:rPr lang="en-US" dirty="0"/>
              <a:t> The memory that the program occupies is very important as Embedded Processors like Microcontrollers have a very limited amount of ROM.</a:t>
            </a:r>
          </a:p>
          <a:p>
            <a:pPr marL="514350" indent="-514350" algn="just">
              <a:buFont typeface="+mj-lt"/>
              <a:buAutoNum type="arabicPeriod"/>
            </a:pPr>
            <a:r>
              <a:rPr lang="en-US" b="1" dirty="0"/>
              <a:t>Speed:</a:t>
            </a:r>
            <a:r>
              <a:rPr lang="en-US" dirty="0"/>
              <a:t> The programs must be very fast i.e. they must run as fast as possible. The hardware should not be slowed down due to a slow running software.</a:t>
            </a:r>
          </a:p>
          <a:p>
            <a:pPr marL="514350" indent="-514350" algn="just">
              <a:buFont typeface="+mj-lt"/>
              <a:buAutoNum type="arabicPeriod"/>
            </a:pPr>
            <a:r>
              <a:rPr lang="en-US" b="1" dirty="0"/>
              <a:t>Portability:</a:t>
            </a:r>
            <a:r>
              <a:rPr lang="en-US" dirty="0"/>
              <a:t> The same program can be compiled for different processors.</a:t>
            </a:r>
          </a:p>
          <a:p>
            <a:pPr marL="514350" indent="-514350" algn="just">
              <a:buFont typeface="+mj-lt"/>
              <a:buAutoNum type="arabicPeriod"/>
            </a:pPr>
            <a:r>
              <a:rPr lang="en-US" b="1" dirty="0"/>
              <a:t>Ease of Implementation</a:t>
            </a:r>
            <a:endParaRPr lang="en-US" dirty="0"/>
          </a:p>
          <a:p>
            <a:pPr marL="514350" indent="-514350" algn="just">
              <a:buFont typeface="+mj-lt"/>
              <a:buAutoNum type="arabicPeriod"/>
            </a:pPr>
            <a:r>
              <a:rPr lang="en-US" b="1" dirty="0"/>
              <a:t>Ease of Maintenance</a:t>
            </a:r>
            <a:endParaRPr lang="en-US" dirty="0"/>
          </a:p>
          <a:p>
            <a:endParaRPr lang="en-IN" dirty="0"/>
          </a:p>
        </p:txBody>
      </p:sp>
    </p:spTree>
    <p:extLst>
      <p:ext uri="{BB962C8B-B14F-4D97-AF65-F5344CB8AC3E}">
        <p14:creationId xmlns:p14="http://schemas.microsoft.com/office/powerpoint/2010/main" val="3307564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332D7A-92EE-4D0D-8C99-E28F7C76C74B}"/>
              </a:ext>
            </a:extLst>
          </p:cNvPr>
          <p:cNvSpPr>
            <a:spLocks noGrp="1"/>
          </p:cNvSpPr>
          <p:nvPr>
            <p:ph idx="1"/>
          </p:nvPr>
        </p:nvSpPr>
        <p:spPr>
          <a:xfrm>
            <a:off x="770021" y="798931"/>
            <a:ext cx="10844463" cy="5168732"/>
          </a:xfrm>
        </p:spPr>
        <p:txBody>
          <a:bodyPr>
            <a:normAutofit/>
          </a:bodyPr>
          <a:lstStyle/>
          <a:p>
            <a:pPr algn="just"/>
            <a:r>
              <a:rPr lang="en-US" dirty="0"/>
              <a:t>Earlier Embedded Systems were developed mainly using Assembly Language.</a:t>
            </a:r>
          </a:p>
          <a:p>
            <a:pPr algn="just"/>
            <a:endParaRPr lang="en-US" dirty="0"/>
          </a:p>
          <a:p>
            <a:pPr algn="just"/>
            <a:r>
              <a:rPr lang="en-US" dirty="0"/>
              <a:t> Even though Assembly Language is closest to the actual machine code instructions, the lack of portability and high amount of resources spent on developing the code, made the Assembly Language difficult to work .</a:t>
            </a:r>
          </a:p>
          <a:p>
            <a:pPr algn="just"/>
            <a:endParaRPr lang="en-US" dirty="0"/>
          </a:p>
          <a:p>
            <a:pPr algn="just"/>
            <a:r>
              <a:rPr lang="en-US" dirty="0"/>
              <a:t>There are other high-level programming languages that offered the above mentioned features but none were close to C Programming Language.</a:t>
            </a:r>
          </a:p>
          <a:p>
            <a:endParaRPr lang="en-IN" dirty="0"/>
          </a:p>
        </p:txBody>
      </p:sp>
    </p:spTree>
    <p:extLst>
      <p:ext uri="{BB962C8B-B14F-4D97-AF65-F5344CB8AC3E}">
        <p14:creationId xmlns:p14="http://schemas.microsoft.com/office/powerpoint/2010/main" val="1701510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EF236-F325-423F-8F96-DB9EBD7BA57F}"/>
              </a:ext>
            </a:extLst>
          </p:cNvPr>
          <p:cNvSpPr>
            <a:spLocks noGrp="1"/>
          </p:cNvSpPr>
          <p:nvPr>
            <p:ph type="title"/>
          </p:nvPr>
        </p:nvSpPr>
        <p:spPr>
          <a:xfrm>
            <a:off x="838200" y="365125"/>
            <a:ext cx="10515600" cy="909493"/>
          </a:xfrm>
        </p:spPr>
        <p:txBody>
          <a:bodyPr>
            <a:normAutofit fontScale="90000"/>
          </a:bodyPr>
          <a:lstStyle/>
          <a:p>
            <a:br>
              <a:rPr lang="en-US" b="1" dirty="0">
                <a:solidFill>
                  <a:srgbClr val="7030A0"/>
                </a:solidFill>
              </a:rPr>
            </a:br>
            <a:r>
              <a:rPr lang="en-US" b="1" dirty="0">
                <a:solidFill>
                  <a:srgbClr val="7030A0"/>
                </a:solidFill>
              </a:rPr>
              <a:t>Introduction to Embedded C Programming </a:t>
            </a:r>
            <a:br>
              <a:rPr lang="en-US" b="1" dirty="0">
                <a:solidFill>
                  <a:srgbClr val="7030A0"/>
                </a:solidFill>
              </a:rPr>
            </a:br>
            <a:endParaRPr lang="en-IN" dirty="0">
              <a:solidFill>
                <a:srgbClr val="7030A0"/>
              </a:solidFill>
            </a:endParaRPr>
          </a:p>
        </p:txBody>
      </p:sp>
      <p:sp>
        <p:nvSpPr>
          <p:cNvPr id="3" name="Content Placeholder 2">
            <a:extLst>
              <a:ext uri="{FF2B5EF4-FFF2-40B4-BE49-F238E27FC236}">
                <a16:creationId xmlns:a16="http://schemas.microsoft.com/office/drawing/2014/main" id="{9C5FB15E-6EC2-48C5-92DA-CE06210C26E8}"/>
              </a:ext>
            </a:extLst>
          </p:cNvPr>
          <p:cNvSpPr>
            <a:spLocks noGrp="1"/>
          </p:cNvSpPr>
          <p:nvPr>
            <p:ph idx="1"/>
          </p:nvPr>
        </p:nvSpPr>
        <p:spPr/>
        <p:txBody>
          <a:bodyPr>
            <a:normAutofit/>
          </a:bodyPr>
          <a:lstStyle/>
          <a:p>
            <a:pPr algn="just"/>
            <a:r>
              <a:rPr lang="en-US" dirty="0"/>
              <a:t>Embedded C Programming Language is widely used in the development of Embedded Systems.</a:t>
            </a:r>
          </a:p>
          <a:p>
            <a:pPr algn="just"/>
            <a:endParaRPr lang="en-US" dirty="0"/>
          </a:p>
          <a:p>
            <a:pPr algn="just"/>
            <a:r>
              <a:rPr lang="en-US" dirty="0"/>
              <a:t>The Embedded C Programming Language uses the same syntax and semantics of the C Programming Language like main function, declaration of datatypes, defining variables, loops, functions, statements, etc.</a:t>
            </a:r>
          </a:p>
          <a:p>
            <a:endParaRPr lang="en-IN" dirty="0"/>
          </a:p>
        </p:txBody>
      </p:sp>
    </p:spTree>
    <p:extLst>
      <p:ext uri="{BB962C8B-B14F-4D97-AF65-F5344CB8AC3E}">
        <p14:creationId xmlns:p14="http://schemas.microsoft.com/office/powerpoint/2010/main" val="2162431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DAA67-A2A7-473E-89A3-E455323EE857}"/>
              </a:ext>
            </a:extLst>
          </p:cNvPr>
          <p:cNvSpPr>
            <a:spLocks noGrp="1"/>
          </p:cNvSpPr>
          <p:nvPr>
            <p:ph type="title"/>
          </p:nvPr>
        </p:nvSpPr>
        <p:spPr>
          <a:xfrm>
            <a:off x="838200" y="171160"/>
            <a:ext cx="10515600" cy="632401"/>
          </a:xfrm>
        </p:spPr>
        <p:txBody>
          <a:bodyPr>
            <a:normAutofit fontScale="90000"/>
          </a:bodyPr>
          <a:lstStyle/>
          <a:p>
            <a:r>
              <a:rPr lang="en-US" b="1" dirty="0">
                <a:solidFill>
                  <a:srgbClr val="7030A0"/>
                </a:solidFill>
              </a:rPr>
              <a:t>Difference between C and Embedded C</a:t>
            </a:r>
            <a:endParaRPr lang="en-IN" dirty="0">
              <a:solidFill>
                <a:srgbClr val="7030A0"/>
              </a:solidFill>
            </a:endParaRPr>
          </a:p>
        </p:txBody>
      </p:sp>
      <p:sp>
        <p:nvSpPr>
          <p:cNvPr id="3" name="Content Placeholder 2">
            <a:extLst>
              <a:ext uri="{FF2B5EF4-FFF2-40B4-BE49-F238E27FC236}">
                <a16:creationId xmlns:a16="http://schemas.microsoft.com/office/drawing/2014/main" id="{14C09621-332D-4893-8F27-C5A03ABC425A}"/>
              </a:ext>
            </a:extLst>
          </p:cNvPr>
          <p:cNvSpPr>
            <a:spLocks noGrp="1"/>
          </p:cNvSpPr>
          <p:nvPr>
            <p:ph idx="1"/>
          </p:nvPr>
        </p:nvSpPr>
        <p:spPr>
          <a:xfrm>
            <a:off x="838200" y="997521"/>
            <a:ext cx="10515600" cy="5010970"/>
          </a:xfrm>
        </p:spPr>
        <p:txBody>
          <a:bodyPr>
            <a:normAutofit lnSpcReduction="10000"/>
          </a:bodyPr>
          <a:lstStyle/>
          <a:p>
            <a:pPr algn="just"/>
            <a:r>
              <a:rPr lang="en-US" dirty="0"/>
              <a:t>There is actually not much difference between C and Embedded C apart from few extensions and the operating environment.</a:t>
            </a:r>
          </a:p>
          <a:p>
            <a:pPr algn="just"/>
            <a:endParaRPr lang="en-US" sz="1400" dirty="0"/>
          </a:p>
          <a:p>
            <a:pPr algn="just"/>
            <a:r>
              <a:rPr lang="en-US" dirty="0"/>
              <a:t> Both C and Embedded C are ISO Standards that have almost same syntax, datatypes, functions, etc.</a:t>
            </a:r>
          </a:p>
          <a:p>
            <a:pPr algn="just"/>
            <a:endParaRPr lang="en-US" sz="1200" dirty="0"/>
          </a:p>
          <a:p>
            <a:pPr algn="just"/>
            <a:r>
              <a:rPr lang="en-US" dirty="0"/>
              <a:t>Embedded C is basically an extension to the Standard C Programming Language with additional features like Addressing I/O, multiple memory addressing and fixed-point arithmetic, etc.</a:t>
            </a:r>
          </a:p>
          <a:p>
            <a:pPr algn="just"/>
            <a:endParaRPr lang="en-US" sz="1200" dirty="0"/>
          </a:p>
          <a:p>
            <a:pPr algn="just"/>
            <a:r>
              <a:rPr lang="en-US" dirty="0"/>
              <a:t>C Programming Language is generally used for developing desktop applications whereas Embedded C is used in the development of Microcontroller based applications.</a:t>
            </a:r>
          </a:p>
          <a:p>
            <a:pPr algn="just"/>
            <a:endParaRPr lang="en-IN" dirty="0"/>
          </a:p>
        </p:txBody>
      </p:sp>
    </p:spTree>
    <p:extLst>
      <p:ext uri="{BB962C8B-B14F-4D97-AF65-F5344CB8AC3E}">
        <p14:creationId xmlns:p14="http://schemas.microsoft.com/office/powerpoint/2010/main" val="1285773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www.elprocus.com/wp-content/uploads/2014/02/22.jpg">
            <a:extLst>
              <a:ext uri="{FF2B5EF4-FFF2-40B4-BE49-F238E27FC236}">
                <a16:creationId xmlns:a16="http://schemas.microsoft.com/office/drawing/2014/main" id="{E8E6D41C-7AB3-44E2-A487-B59F8CF33A4C}"/>
              </a:ext>
            </a:extLst>
          </p:cNvPr>
          <p:cNvPicPr>
            <a:picLocks noChangeAspect="1" noChangeArrowheads="1"/>
          </p:cNvPicPr>
          <p:nvPr/>
        </p:nvPicPr>
        <p:blipFill>
          <a:blip r:embed="rId2"/>
          <a:srcRect/>
          <a:stretch>
            <a:fillRect/>
          </a:stretch>
        </p:blipFill>
        <p:spPr bwMode="auto">
          <a:xfrm>
            <a:off x="1627355" y="1369795"/>
            <a:ext cx="8937290" cy="3690630"/>
          </a:xfrm>
          <a:prstGeom prst="rect">
            <a:avLst/>
          </a:prstGeom>
          <a:noFill/>
        </p:spPr>
      </p:pic>
    </p:spTree>
    <p:extLst>
      <p:ext uri="{BB962C8B-B14F-4D97-AF65-F5344CB8AC3E}">
        <p14:creationId xmlns:p14="http://schemas.microsoft.com/office/powerpoint/2010/main" val="3400873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3864"/>
          </a:xfrm>
        </p:spPr>
        <p:txBody>
          <a:bodyPr>
            <a:normAutofit fontScale="90000"/>
          </a:bodyPr>
          <a:lstStyle/>
          <a:p>
            <a:pPr fontAlgn="base"/>
            <a:br>
              <a:rPr lang="en-IN" b="1" dirty="0"/>
            </a:br>
            <a:br>
              <a:rPr lang="en-IN" b="1" dirty="0"/>
            </a:br>
            <a:r>
              <a:rPr lang="en-IN" b="1" dirty="0">
                <a:solidFill>
                  <a:srgbClr val="FF0000"/>
                </a:solidFill>
              </a:rPr>
              <a:t>Advantages of embedded C program</a:t>
            </a:r>
            <a:br>
              <a:rPr lang="en-IN" b="1" dirty="0"/>
            </a:br>
            <a:br>
              <a:rPr lang="en-IN" dirty="0"/>
            </a:br>
            <a:endParaRPr lang="en-IN" dirty="0"/>
          </a:p>
        </p:txBody>
      </p:sp>
      <p:sp>
        <p:nvSpPr>
          <p:cNvPr id="3" name="Content Placeholder 2"/>
          <p:cNvSpPr>
            <a:spLocks noGrp="1"/>
          </p:cNvSpPr>
          <p:nvPr>
            <p:ph idx="1"/>
          </p:nvPr>
        </p:nvSpPr>
        <p:spPr>
          <a:xfrm>
            <a:off x="838200" y="1825624"/>
            <a:ext cx="10515600" cy="3660775"/>
          </a:xfrm>
        </p:spPr>
        <p:txBody>
          <a:bodyPr>
            <a:noAutofit/>
          </a:bodyPr>
          <a:lstStyle/>
          <a:p>
            <a:pPr fontAlgn="base"/>
            <a:r>
              <a:rPr lang="en-IN" dirty="0"/>
              <a:t>Its takes less time to develop application program.</a:t>
            </a:r>
          </a:p>
          <a:p>
            <a:pPr fontAlgn="base"/>
            <a:endParaRPr lang="en-IN" dirty="0"/>
          </a:p>
          <a:p>
            <a:pPr fontAlgn="base"/>
            <a:r>
              <a:rPr lang="en-IN" dirty="0"/>
              <a:t>It reduces complexity of the program.</a:t>
            </a:r>
          </a:p>
          <a:p>
            <a:pPr fontAlgn="base"/>
            <a:endParaRPr lang="en-IN" dirty="0"/>
          </a:p>
          <a:p>
            <a:pPr fontAlgn="base"/>
            <a:r>
              <a:rPr lang="en-IN" dirty="0"/>
              <a:t>It is easy to verify and understand.</a:t>
            </a:r>
          </a:p>
          <a:p>
            <a:pPr fontAlgn="base"/>
            <a:endParaRPr lang="en-IN" dirty="0"/>
          </a:p>
          <a:p>
            <a:pPr fontAlgn="base"/>
            <a:r>
              <a:rPr lang="en-IN" dirty="0"/>
              <a:t>It is portable in nature from one controller to another.</a:t>
            </a:r>
          </a:p>
        </p:txBody>
      </p:sp>
    </p:spTree>
    <p:extLst>
      <p:ext uri="{BB962C8B-B14F-4D97-AF65-F5344CB8AC3E}">
        <p14:creationId xmlns:p14="http://schemas.microsoft.com/office/powerpoint/2010/main" val="2842250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28700-0BC1-470D-8A70-EFB6E78728F8}"/>
              </a:ext>
            </a:extLst>
          </p:cNvPr>
          <p:cNvSpPr>
            <a:spLocks noGrp="1"/>
          </p:cNvSpPr>
          <p:nvPr>
            <p:ph type="title"/>
          </p:nvPr>
        </p:nvSpPr>
        <p:spPr>
          <a:xfrm>
            <a:off x="838200" y="212720"/>
            <a:ext cx="10515600" cy="757093"/>
          </a:xfrm>
        </p:spPr>
        <p:txBody>
          <a:bodyPr>
            <a:normAutofit fontScale="90000"/>
          </a:bodyPr>
          <a:lstStyle/>
          <a:p>
            <a:br>
              <a:rPr lang="en-US" b="1" dirty="0">
                <a:solidFill>
                  <a:srgbClr val="FF0000"/>
                </a:solidFill>
              </a:rPr>
            </a:br>
            <a:r>
              <a:rPr lang="en-US" b="1" dirty="0">
                <a:solidFill>
                  <a:srgbClr val="FF0000"/>
                </a:solidFill>
              </a:rPr>
              <a:t>Data Types in Embedded C</a:t>
            </a:r>
            <a:br>
              <a:rPr lang="en-US" b="1" dirty="0">
                <a:solidFill>
                  <a:srgbClr val="FF0000"/>
                </a:solidFill>
              </a:rPr>
            </a:br>
            <a:endParaRPr lang="en-IN" dirty="0">
              <a:solidFill>
                <a:srgbClr val="FF0000"/>
              </a:solidFill>
            </a:endParaRPr>
          </a:p>
        </p:txBody>
      </p:sp>
      <p:sp>
        <p:nvSpPr>
          <p:cNvPr id="3" name="Content Placeholder 2">
            <a:extLst>
              <a:ext uri="{FF2B5EF4-FFF2-40B4-BE49-F238E27FC236}">
                <a16:creationId xmlns:a16="http://schemas.microsoft.com/office/drawing/2014/main" id="{548D1894-1494-4FCF-9F04-037A38281DD3}"/>
              </a:ext>
            </a:extLst>
          </p:cNvPr>
          <p:cNvSpPr>
            <a:spLocks noGrp="1"/>
          </p:cNvSpPr>
          <p:nvPr>
            <p:ph idx="1"/>
          </p:nvPr>
        </p:nvSpPr>
        <p:spPr>
          <a:xfrm>
            <a:off x="838200" y="1382271"/>
            <a:ext cx="10515600" cy="5004673"/>
          </a:xfrm>
        </p:spPr>
        <p:txBody>
          <a:bodyPr>
            <a:normAutofit fontScale="85000" lnSpcReduction="20000"/>
          </a:bodyPr>
          <a:lstStyle/>
          <a:p>
            <a:r>
              <a:rPr lang="en-US" dirty="0"/>
              <a:t>Data Types in C Programming Language help us declaring variables in the program. </a:t>
            </a:r>
          </a:p>
          <a:p>
            <a:endParaRPr lang="en-US" dirty="0"/>
          </a:p>
          <a:p>
            <a:r>
              <a:rPr lang="en-US" dirty="0"/>
              <a:t>There are many data types in C Programming Language like signed int, unsigned int, signed char, unsigned char, float, double, etc. </a:t>
            </a:r>
          </a:p>
          <a:p>
            <a:endParaRPr lang="en-US" dirty="0"/>
          </a:p>
          <a:p>
            <a:r>
              <a:rPr lang="en-US" dirty="0"/>
              <a:t>In addition to these there few more data types in Embedded C.</a:t>
            </a:r>
          </a:p>
          <a:p>
            <a:endParaRPr lang="en-US" dirty="0"/>
          </a:p>
          <a:p>
            <a:r>
              <a:rPr lang="en-US" dirty="0"/>
              <a:t>The following are the extra data types in Embedded C associated with the Keil’s Cx51 Compiler.</a:t>
            </a:r>
          </a:p>
          <a:p>
            <a:r>
              <a:rPr lang="en-US" dirty="0"/>
              <a:t>bit</a:t>
            </a:r>
          </a:p>
          <a:p>
            <a:r>
              <a:rPr lang="en-US" dirty="0" err="1"/>
              <a:t>sbit</a:t>
            </a:r>
            <a:endParaRPr lang="en-US" dirty="0"/>
          </a:p>
          <a:p>
            <a:r>
              <a:rPr lang="en-US" dirty="0" err="1"/>
              <a:t>sfr</a:t>
            </a:r>
            <a:endParaRPr lang="en-US" dirty="0"/>
          </a:p>
          <a:p>
            <a:r>
              <a:rPr lang="en-US" dirty="0"/>
              <a:t>Sfr16    </a:t>
            </a:r>
            <a:r>
              <a:rPr lang="en-US" dirty="0" err="1"/>
              <a:t>etc</a:t>
            </a:r>
            <a:r>
              <a:rPr lang="en-US" dirty="0"/>
              <a:t>…..</a:t>
            </a:r>
          </a:p>
          <a:p>
            <a:endParaRPr lang="en-IN" dirty="0"/>
          </a:p>
        </p:txBody>
      </p:sp>
    </p:spTree>
    <p:extLst>
      <p:ext uri="{BB962C8B-B14F-4D97-AF65-F5344CB8AC3E}">
        <p14:creationId xmlns:p14="http://schemas.microsoft.com/office/powerpoint/2010/main" val="1295135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4C1E9-75D3-4C16-937B-19D9F2F07A60}"/>
              </a:ext>
            </a:extLst>
          </p:cNvPr>
          <p:cNvSpPr>
            <a:spLocks noGrp="1"/>
          </p:cNvSpPr>
          <p:nvPr>
            <p:ph type="title"/>
          </p:nvPr>
        </p:nvSpPr>
        <p:spPr>
          <a:xfrm>
            <a:off x="838200" y="84384"/>
            <a:ext cx="10515600" cy="1325563"/>
          </a:xfrm>
        </p:spPr>
        <p:txBody>
          <a:bodyPr>
            <a:normAutofit/>
          </a:bodyPr>
          <a:lstStyle/>
          <a:p>
            <a:pPr algn="just"/>
            <a:r>
              <a:rPr lang="en-US" sz="3600" dirty="0">
                <a:solidFill>
                  <a:srgbClr val="FF0000"/>
                </a:solidFill>
              </a:rPr>
              <a:t>The following table shows some of the data types in Cx51 Compiler along with their ranges.</a:t>
            </a:r>
            <a:endParaRPr lang="en-IN" sz="3600" dirty="0">
              <a:solidFill>
                <a:srgbClr val="FF0000"/>
              </a:solidFill>
            </a:endParaRPr>
          </a:p>
        </p:txBody>
      </p:sp>
      <p:graphicFrame>
        <p:nvGraphicFramePr>
          <p:cNvPr id="4" name="Content Placeholder 3">
            <a:extLst>
              <a:ext uri="{FF2B5EF4-FFF2-40B4-BE49-F238E27FC236}">
                <a16:creationId xmlns:a16="http://schemas.microsoft.com/office/drawing/2014/main" id="{0236D9E5-D57C-48C0-AB52-BA9E180610E9}"/>
              </a:ext>
            </a:extLst>
          </p:cNvPr>
          <p:cNvGraphicFramePr>
            <a:graphicFrameLocks noGrp="1"/>
          </p:cNvGraphicFramePr>
          <p:nvPr>
            <p:ph idx="1"/>
            <p:extLst>
              <p:ext uri="{D42A27DB-BD31-4B8C-83A1-F6EECF244321}">
                <p14:modId xmlns:p14="http://schemas.microsoft.com/office/powerpoint/2010/main" val="999826193"/>
              </p:ext>
            </p:extLst>
          </p:nvPr>
        </p:nvGraphicFramePr>
        <p:xfrm>
          <a:off x="1050758" y="1538282"/>
          <a:ext cx="10515600" cy="4904078"/>
        </p:xfrm>
        <a:graphic>
          <a:graphicData uri="http://schemas.openxmlformats.org/drawingml/2006/table">
            <a:tbl>
              <a:tblPr/>
              <a:tblGrid>
                <a:gridCol w="2060749">
                  <a:extLst>
                    <a:ext uri="{9D8B030D-6E8A-4147-A177-3AD203B41FA5}">
                      <a16:colId xmlns:a16="http://schemas.microsoft.com/office/drawing/2014/main" val="3827207715"/>
                    </a:ext>
                  </a:extLst>
                </a:gridCol>
                <a:gridCol w="1925934">
                  <a:extLst>
                    <a:ext uri="{9D8B030D-6E8A-4147-A177-3AD203B41FA5}">
                      <a16:colId xmlns:a16="http://schemas.microsoft.com/office/drawing/2014/main" val="574232897"/>
                    </a:ext>
                  </a:extLst>
                </a:gridCol>
                <a:gridCol w="6528917">
                  <a:extLst>
                    <a:ext uri="{9D8B030D-6E8A-4147-A177-3AD203B41FA5}">
                      <a16:colId xmlns:a16="http://schemas.microsoft.com/office/drawing/2014/main" val="765407756"/>
                    </a:ext>
                  </a:extLst>
                </a:gridCol>
              </a:tblGrid>
              <a:tr h="686572">
                <a:tc>
                  <a:txBody>
                    <a:bodyPr/>
                    <a:lstStyle/>
                    <a:p>
                      <a:pPr algn="l"/>
                      <a:r>
                        <a:rPr lang="en-IN" sz="1700" b="1" i="1">
                          <a:solidFill>
                            <a:srgbClr val="000000"/>
                          </a:solidFill>
                          <a:effectLst/>
                        </a:rPr>
                        <a:t>Data Type</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IN" sz="1700" b="1" i="1">
                          <a:solidFill>
                            <a:srgbClr val="000000"/>
                          </a:solidFill>
                          <a:effectLst/>
                        </a:rPr>
                        <a:t>Bits (Bytes)</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IN" sz="1700" b="1" i="1">
                          <a:solidFill>
                            <a:srgbClr val="000000"/>
                          </a:solidFill>
                          <a:effectLst/>
                        </a:rPr>
                        <a:t>Range</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201887726"/>
                  </a:ext>
                </a:extLst>
              </a:tr>
              <a:tr h="392326">
                <a:tc>
                  <a:txBody>
                    <a:bodyPr/>
                    <a:lstStyle/>
                    <a:p>
                      <a:pPr algn="l"/>
                      <a:r>
                        <a:rPr lang="en-IN" sz="1700">
                          <a:solidFill>
                            <a:srgbClr val="000000"/>
                          </a:solidFill>
                          <a:effectLst/>
                        </a:rPr>
                        <a:t>bit</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7"/>
                    </a:solidFill>
                  </a:tcPr>
                </a:tc>
                <a:tc>
                  <a:txBody>
                    <a:bodyPr/>
                    <a:lstStyle/>
                    <a:p>
                      <a:pPr algn="l"/>
                      <a:r>
                        <a:rPr lang="en-IN" sz="1700">
                          <a:solidFill>
                            <a:srgbClr val="000000"/>
                          </a:solidFill>
                          <a:effectLst/>
                        </a:rPr>
                        <a:t>1</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7"/>
                    </a:solidFill>
                  </a:tcPr>
                </a:tc>
                <a:tc>
                  <a:txBody>
                    <a:bodyPr/>
                    <a:lstStyle/>
                    <a:p>
                      <a:pPr algn="l"/>
                      <a:r>
                        <a:rPr lang="en-US" sz="1700">
                          <a:solidFill>
                            <a:srgbClr val="000000"/>
                          </a:solidFill>
                          <a:effectLst/>
                        </a:rPr>
                        <a:t>0 or 1 (bit addressable part of RAM)</a:t>
                      </a:r>
                      <a:endParaRPr lang="en-US"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7"/>
                    </a:solidFill>
                  </a:tcPr>
                </a:tc>
                <a:extLst>
                  <a:ext uri="{0D108BD9-81ED-4DB2-BD59-A6C34878D82A}">
                    <a16:rowId xmlns:a16="http://schemas.microsoft.com/office/drawing/2014/main" val="3999934798"/>
                  </a:ext>
                </a:extLst>
              </a:tr>
              <a:tr h="392326">
                <a:tc>
                  <a:txBody>
                    <a:bodyPr/>
                    <a:lstStyle/>
                    <a:p>
                      <a:pPr algn="l"/>
                      <a:r>
                        <a:rPr lang="en-IN" sz="1700">
                          <a:solidFill>
                            <a:srgbClr val="000000"/>
                          </a:solidFill>
                          <a:effectLst/>
                        </a:rPr>
                        <a:t>signed int</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IN" sz="1700">
                          <a:solidFill>
                            <a:srgbClr val="000000"/>
                          </a:solidFill>
                          <a:effectLst/>
                        </a:rPr>
                        <a:t>16 (2)</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IN" sz="1700">
                          <a:solidFill>
                            <a:srgbClr val="000000"/>
                          </a:solidFill>
                          <a:effectLst/>
                        </a:rPr>
                        <a:t>-32768 to +32767</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876484344"/>
                  </a:ext>
                </a:extLst>
              </a:tr>
              <a:tr h="686572">
                <a:tc>
                  <a:txBody>
                    <a:bodyPr/>
                    <a:lstStyle/>
                    <a:p>
                      <a:pPr algn="l"/>
                      <a:r>
                        <a:rPr lang="en-IN" sz="1700">
                          <a:solidFill>
                            <a:srgbClr val="000000"/>
                          </a:solidFill>
                          <a:effectLst/>
                        </a:rPr>
                        <a:t>unsigned int</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7"/>
                    </a:solidFill>
                  </a:tcPr>
                </a:tc>
                <a:tc>
                  <a:txBody>
                    <a:bodyPr/>
                    <a:lstStyle/>
                    <a:p>
                      <a:pPr algn="l"/>
                      <a:r>
                        <a:rPr lang="en-IN" sz="1700">
                          <a:solidFill>
                            <a:srgbClr val="000000"/>
                          </a:solidFill>
                          <a:effectLst/>
                        </a:rPr>
                        <a:t>16 (2)</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7"/>
                    </a:solidFill>
                  </a:tcPr>
                </a:tc>
                <a:tc>
                  <a:txBody>
                    <a:bodyPr/>
                    <a:lstStyle/>
                    <a:p>
                      <a:pPr algn="l"/>
                      <a:r>
                        <a:rPr lang="en-IN" sz="1700" dirty="0">
                          <a:solidFill>
                            <a:srgbClr val="000000"/>
                          </a:solidFill>
                          <a:effectLst/>
                        </a:rPr>
                        <a:t>0 to 65535</a:t>
                      </a:r>
                      <a:endParaRPr lang="en-IN" sz="1700" dirty="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7"/>
                    </a:solidFill>
                  </a:tcPr>
                </a:tc>
                <a:extLst>
                  <a:ext uri="{0D108BD9-81ED-4DB2-BD59-A6C34878D82A}">
                    <a16:rowId xmlns:a16="http://schemas.microsoft.com/office/drawing/2014/main" val="1884410612"/>
                  </a:ext>
                </a:extLst>
              </a:tr>
              <a:tr h="392326">
                <a:tc>
                  <a:txBody>
                    <a:bodyPr/>
                    <a:lstStyle/>
                    <a:p>
                      <a:pPr algn="l"/>
                      <a:r>
                        <a:rPr lang="en-IN" sz="1700">
                          <a:solidFill>
                            <a:srgbClr val="000000"/>
                          </a:solidFill>
                          <a:effectLst/>
                        </a:rPr>
                        <a:t>signed char</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IN" sz="1700">
                          <a:solidFill>
                            <a:srgbClr val="000000"/>
                          </a:solidFill>
                          <a:effectLst/>
                        </a:rPr>
                        <a:t>8 (1)</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IN" sz="1700">
                          <a:solidFill>
                            <a:srgbClr val="000000"/>
                          </a:solidFill>
                          <a:effectLst/>
                        </a:rPr>
                        <a:t>-128 to +127</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471536468"/>
                  </a:ext>
                </a:extLst>
              </a:tr>
              <a:tr h="392326">
                <a:tc>
                  <a:txBody>
                    <a:bodyPr/>
                    <a:lstStyle/>
                    <a:p>
                      <a:pPr algn="l"/>
                      <a:r>
                        <a:rPr lang="en-IN" sz="1700" dirty="0">
                          <a:solidFill>
                            <a:srgbClr val="000000"/>
                          </a:solidFill>
                          <a:effectLst/>
                        </a:rPr>
                        <a:t>unsigned</a:t>
                      </a:r>
                      <a:endParaRPr lang="en-IN" sz="1700" dirty="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7"/>
                    </a:solidFill>
                  </a:tcPr>
                </a:tc>
                <a:tc>
                  <a:txBody>
                    <a:bodyPr/>
                    <a:lstStyle/>
                    <a:p>
                      <a:pPr algn="l"/>
                      <a:r>
                        <a:rPr lang="en-IN" sz="1700">
                          <a:solidFill>
                            <a:srgbClr val="000000"/>
                          </a:solidFill>
                          <a:effectLst/>
                        </a:rPr>
                        <a:t>8 (1)</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7"/>
                    </a:solidFill>
                  </a:tcPr>
                </a:tc>
                <a:tc>
                  <a:txBody>
                    <a:bodyPr/>
                    <a:lstStyle/>
                    <a:p>
                      <a:pPr algn="l"/>
                      <a:r>
                        <a:rPr lang="en-IN" sz="1700">
                          <a:solidFill>
                            <a:srgbClr val="000000"/>
                          </a:solidFill>
                          <a:effectLst/>
                        </a:rPr>
                        <a:t>0 to 255</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7"/>
                    </a:solidFill>
                  </a:tcPr>
                </a:tc>
                <a:extLst>
                  <a:ext uri="{0D108BD9-81ED-4DB2-BD59-A6C34878D82A}">
                    <a16:rowId xmlns:a16="http://schemas.microsoft.com/office/drawing/2014/main" val="2151321208"/>
                  </a:ext>
                </a:extLst>
              </a:tr>
              <a:tr h="392326">
                <a:tc>
                  <a:txBody>
                    <a:bodyPr/>
                    <a:lstStyle/>
                    <a:p>
                      <a:pPr algn="l"/>
                      <a:r>
                        <a:rPr lang="en-IN" sz="1700">
                          <a:solidFill>
                            <a:srgbClr val="000000"/>
                          </a:solidFill>
                          <a:effectLst/>
                        </a:rPr>
                        <a:t>float</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IN" sz="1700">
                          <a:solidFill>
                            <a:srgbClr val="000000"/>
                          </a:solidFill>
                          <a:effectLst/>
                        </a:rPr>
                        <a:t>32 (4)</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IN" sz="1700" dirty="0">
                          <a:solidFill>
                            <a:srgbClr val="000000"/>
                          </a:solidFill>
                          <a:effectLst/>
                        </a:rPr>
                        <a:t>±1.175494E-38  to  ±3.402823E+38</a:t>
                      </a:r>
                      <a:endParaRPr lang="en-IN" sz="1700" dirty="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376367803"/>
                  </a:ext>
                </a:extLst>
              </a:tr>
              <a:tr h="392326">
                <a:tc>
                  <a:txBody>
                    <a:bodyPr/>
                    <a:lstStyle/>
                    <a:p>
                      <a:pPr algn="l"/>
                      <a:r>
                        <a:rPr lang="en-IN" sz="1700">
                          <a:solidFill>
                            <a:srgbClr val="000000"/>
                          </a:solidFill>
                          <a:effectLst/>
                        </a:rPr>
                        <a:t>double</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7"/>
                    </a:solidFill>
                  </a:tcPr>
                </a:tc>
                <a:tc>
                  <a:txBody>
                    <a:bodyPr/>
                    <a:lstStyle/>
                    <a:p>
                      <a:pPr algn="l"/>
                      <a:r>
                        <a:rPr lang="en-IN" sz="1700">
                          <a:solidFill>
                            <a:srgbClr val="000000"/>
                          </a:solidFill>
                          <a:effectLst/>
                        </a:rPr>
                        <a:t>32 (4)</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7"/>
                    </a:solidFill>
                  </a:tcPr>
                </a:tc>
                <a:tc>
                  <a:txBody>
                    <a:bodyPr/>
                    <a:lstStyle/>
                    <a:p>
                      <a:pPr algn="l"/>
                      <a:r>
                        <a:rPr lang="en-IN" sz="1700">
                          <a:solidFill>
                            <a:srgbClr val="000000"/>
                          </a:solidFill>
                          <a:effectLst/>
                        </a:rPr>
                        <a:t>±1.175494E-38 to ±3.402823E+38</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7"/>
                    </a:solidFill>
                  </a:tcPr>
                </a:tc>
                <a:extLst>
                  <a:ext uri="{0D108BD9-81ED-4DB2-BD59-A6C34878D82A}">
                    <a16:rowId xmlns:a16="http://schemas.microsoft.com/office/drawing/2014/main" val="3797782476"/>
                  </a:ext>
                </a:extLst>
              </a:tr>
              <a:tr h="392326">
                <a:tc>
                  <a:txBody>
                    <a:bodyPr/>
                    <a:lstStyle/>
                    <a:p>
                      <a:pPr algn="l"/>
                      <a:r>
                        <a:rPr lang="en-IN" sz="1700">
                          <a:solidFill>
                            <a:srgbClr val="000000"/>
                          </a:solidFill>
                          <a:effectLst/>
                        </a:rPr>
                        <a:t>sbit</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IN" sz="1700">
                          <a:solidFill>
                            <a:srgbClr val="000000"/>
                          </a:solidFill>
                          <a:effectLst/>
                        </a:rPr>
                        <a:t>1</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US" sz="1700">
                          <a:solidFill>
                            <a:srgbClr val="000000"/>
                          </a:solidFill>
                          <a:effectLst/>
                        </a:rPr>
                        <a:t>0 or 1 (bit addressable part of RAM)</a:t>
                      </a:r>
                      <a:endParaRPr lang="en-US"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651518506"/>
                  </a:ext>
                </a:extLst>
              </a:tr>
              <a:tr h="392326">
                <a:tc>
                  <a:txBody>
                    <a:bodyPr/>
                    <a:lstStyle/>
                    <a:p>
                      <a:pPr algn="l"/>
                      <a:r>
                        <a:rPr lang="en-IN" sz="1700">
                          <a:solidFill>
                            <a:srgbClr val="000000"/>
                          </a:solidFill>
                          <a:effectLst/>
                        </a:rPr>
                        <a:t>sfr</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7"/>
                    </a:solidFill>
                  </a:tcPr>
                </a:tc>
                <a:tc>
                  <a:txBody>
                    <a:bodyPr/>
                    <a:lstStyle/>
                    <a:p>
                      <a:pPr algn="l"/>
                      <a:r>
                        <a:rPr lang="en-IN" sz="1700">
                          <a:solidFill>
                            <a:srgbClr val="000000"/>
                          </a:solidFill>
                          <a:effectLst/>
                        </a:rPr>
                        <a:t>8 (1)</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7"/>
                    </a:solidFill>
                  </a:tcPr>
                </a:tc>
                <a:tc>
                  <a:txBody>
                    <a:bodyPr/>
                    <a:lstStyle/>
                    <a:p>
                      <a:pPr algn="l"/>
                      <a:r>
                        <a:rPr lang="en-US" sz="1700">
                          <a:solidFill>
                            <a:srgbClr val="000000"/>
                          </a:solidFill>
                          <a:effectLst/>
                        </a:rPr>
                        <a:t>RAM Addresses (80h to FFh)</a:t>
                      </a:r>
                      <a:endParaRPr lang="en-US"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7"/>
                    </a:solidFill>
                  </a:tcPr>
                </a:tc>
                <a:extLst>
                  <a:ext uri="{0D108BD9-81ED-4DB2-BD59-A6C34878D82A}">
                    <a16:rowId xmlns:a16="http://schemas.microsoft.com/office/drawing/2014/main" val="3050687267"/>
                  </a:ext>
                </a:extLst>
              </a:tr>
              <a:tr h="392326">
                <a:tc>
                  <a:txBody>
                    <a:bodyPr/>
                    <a:lstStyle/>
                    <a:p>
                      <a:pPr algn="l"/>
                      <a:r>
                        <a:rPr lang="en-IN" sz="1700">
                          <a:solidFill>
                            <a:srgbClr val="000000"/>
                          </a:solidFill>
                          <a:effectLst/>
                        </a:rPr>
                        <a:t>sfr16</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IN" sz="1700">
                          <a:solidFill>
                            <a:srgbClr val="000000"/>
                          </a:solidFill>
                          <a:effectLst/>
                        </a:rPr>
                        <a:t>16 (2)</a:t>
                      </a:r>
                      <a:endParaRPr lang="en-IN" sz="170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IN" sz="1700" dirty="0">
                          <a:solidFill>
                            <a:srgbClr val="000000"/>
                          </a:solidFill>
                          <a:effectLst/>
                        </a:rPr>
                        <a:t>0 to 65535</a:t>
                      </a:r>
                      <a:endParaRPr lang="en-IN" sz="1700" dirty="0">
                        <a:effectLst/>
                      </a:endParaRPr>
                    </a:p>
                  </a:txBody>
                  <a:tcPr marL="87027" marR="87027" marT="43513" marB="43513"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980847500"/>
                  </a:ext>
                </a:extLst>
              </a:tr>
            </a:tbl>
          </a:graphicData>
        </a:graphic>
      </p:graphicFrame>
    </p:spTree>
    <p:extLst>
      <p:ext uri="{BB962C8B-B14F-4D97-AF65-F5344CB8AC3E}">
        <p14:creationId xmlns:p14="http://schemas.microsoft.com/office/powerpoint/2010/main" val="1641840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07C02-9733-45DD-8054-E3A33D42F281}"/>
              </a:ext>
            </a:extLst>
          </p:cNvPr>
          <p:cNvSpPr>
            <a:spLocks noGrp="1"/>
          </p:cNvSpPr>
          <p:nvPr>
            <p:ph type="title"/>
          </p:nvPr>
        </p:nvSpPr>
        <p:spPr>
          <a:xfrm>
            <a:off x="838200" y="108454"/>
            <a:ext cx="10515600" cy="773864"/>
          </a:xfrm>
        </p:spPr>
        <p:txBody>
          <a:bodyPr>
            <a:normAutofit fontScale="90000"/>
          </a:bodyPr>
          <a:lstStyle/>
          <a:p>
            <a:br>
              <a:rPr lang="en-US" b="1" dirty="0"/>
            </a:br>
            <a:r>
              <a:rPr lang="en-US" b="1" dirty="0">
                <a:solidFill>
                  <a:srgbClr val="FF0000"/>
                </a:solidFill>
              </a:rPr>
              <a:t>Basic Structure of an Embedded C Program</a:t>
            </a:r>
            <a:br>
              <a:rPr lang="en-US" b="1" dirty="0"/>
            </a:br>
            <a:endParaRPr lang="en-IN" dirty="0"/>
          </a:p>
        </p:txBody>
      </p:sp>
      <p:sp>
        <p:nvSpPr>
          <p:cNvPr id="3" name="Content Placeholder 2">
            <a:extLst>
              <a:ext uri="{FF2B5EF4-FFF2-40B4-BE49-F238E27FC236}">
                <a16:creationId xmlns:a16="http://schemas.microsoft.com/office/drawing/2014/main" id="{A3D6AB4B-F889-4953-A512-01EB356DDD0D}"/>
              </a:ext>
            </a:extLst>
          </p:cNvPr>
          <p:cNvSpPr>
            <a:spLocks noGrp="1"/>
          </p:cNvSpPr>
          <p:nvPr>
            <p:ph idx="1"/>
          </p:nvPr>
        </p:nvSpPr>
        <p:spPr>
          <a:xfrm>
            <a:off x="838200" y="1010653"/>
            <a:ext cx="10515600" cy="6069020"/>
          </a:xfrm>
        </p:spPr>
        <p:txBody>
          <a:bodyPr>
            <a:normAutofit fontScale="92500" lnSpcReduction="20000"/>
          </a:bodyPr>
          <a:lstStyle/>
          <a:p>
            <a:endParaRPr lang="en-US" dirty="0"/>
          </a:p>
          <a:p>
            <a:pPr lvl="1"/>
            <a:r>
              <a:rPr lang="en-US" dirty="0"/>
              <a:t>Multiline Comments . . . . . Denoted using /*……*/</a:t>
            </a:r>
          </a:p>
          <a:p>
            <a:pPr lvl="1"/>
            <a:r>
              <a:rPr lang="en-US" dirty="0"/>
              <a:t>Single Line Comments . . . . . Denoted using //</a:t>
            </a:r>
          </a:p>
          <a:p>
            <a:pPr lvl="1"/>
            <a:r>
              <a:rPr lang="en-US" dirty="0"/>
              <a:t>Preprocessor Directives . . . . . #include&lt;…&gt; or #define</a:t>
            </a:r>
          </a:p>
          <a:p>
            <a:pPr lvl="1"/>
            <a:r>
              <a:rPr lang="en-US" dirty="0"/>
              <a:t>Global Variables . . . . . Accessible anywhere in the program</a:t>
            </a:r>
          </a:p>
          <a:p>
            <a:pPr lvl="1"/>
            <a:r>
              <a:rPr lang="en-US" dirty="0"/>
              <a:t>Function Declarations . . . . . Declaring Function</a:t>
            </a:r>
          </a:p>
          <a:p>
            <a:pPr lvl="1"/>
            <a:r>
              <a:rPr lang="en-US" dirty="0"/>
              <a:t>Main Function . . . . . Main Function, execution begins here</a:t>
            </a:r>
            <a:br>
              <a:rPr lang="en-US" dirty="0"/>
            </a:br>
            <a:r>
              <a:rPr lang="en-US" dirty="0"/>
              <a:t>{</a:t>
            </a:r>
            <a:br>
              <a:rPr lang="en-US" dirty="0"/>
            </a:br>
            <a:r>
              <a:rPr lang="en-US" dirty="0"/>
              <a:t>Local Variables . . . . . Variables confined to main function</a:t>
            </a:r>
            <a:br>
              <a:rPr lang="en-US" dirty="0"/>
            </a:br>
            <a:r>
              <a:rPr lang="en-US" dirty="0" err="1"/>
              <a:t>Function</a:t>
            </a:r>
            <a:r>
              <a:rPr lang="en-US" dirty="0"/>
              <a:t> Calls . . . . . Calling other Functions</a:t>
            </a:r>
            <a:br>
              <a:rPr lang="en-US" dirty="0"/>
            </a:br>
            <a:r>
              <a:rPr lang="en-US" dirty="0"/>
              <a:t>Infinite Loop . . . . . Like while(1) or for(;;)</a:t>
            </a:r>
            <a:br>
              <a:rPr lang="en-US" dirty="0"/>
            </a:br>
            <a:r>
              <a:rPr lang="en-US" dirty="0"/>
              <a:t>Statements . . . . .</a:t>
            </a:r>
            <a:br>
              <a:rPr lang="en-US" dirty="0"/>
            </a:br>
            <a:r>
              <a:rPr lang="en-US" dirty="0"/>
              <a:t>….</a:t>
            </a:r>
            <a:br>
              <a:rPr lang="en-US" dirty="0"/>
            </a:br>
            <a:r>
              <a:rPr lang="en-US" dirty="0"/>
              <a:t>….</a:t>
            </a:r>
            <a:br>
              <a:rPr lang="en-US" dirty="0"/>
            </a:br>
            <a:r>
              <a:rPr lang="en-US" dirty="0"/>
              <a:t>}</a:t>
            </a:r>
          </a:p>
          <a:p>
            <a:pPr lvl="1"/>
            <a:r>
              <a:rPr lang="en-US" dirty="0"/>
              <a:t>Function Definitions . . . . . Defining the Functions</a:t>
            </a:r>
            <a:br>
              <a:rPr lang="en-US" dirty="0"/>
            </a:br>
            <a:r>
              <a:rPr lang="en-US" dirty="0"/>
              <a:t>{</a:t>
            </a:r>
            <a:br>
              <a:rPr lang="en-US" dirty="0"/>
            </a:br>
            <a:r>
              <a:rPr lang="en-US" dirty="0"/>
              <a:t>Local Variables . . . . . Local Variables confined to this Function</a:t>
            </a:r>
            <a:br>
              <a:rPr lang="en-US" dirty="0"/>
            </a:br>
            <a:r>
              <a:rPr lang="en-US" dirty="0"/>
              <a:t>Statements . . . . .</a:t>
            </a:r>
            <a:br>
              <a:rPr lang="en-US" dirty="0"/>
            </a:br>
            <a:r>
              <a:rPr lang="en-US" dirty="0"/>
              <a:t>….</a:t>
            </a:r>
            <a:br>
              <a:rPr lang="en-US" dirty="0"/>
            </a:br>
            <a:r>
              <a:rPr lang="en-US" dirty="0"/>
              <a:t>….</a:t>
            </a:r>
            <a:br>
              <a:rPr lang="en-US" dirty="0"/>
            </a:br>
            <a:r>
              <a:rPr lang="en-US" dirty="0"/>
              <a:t>}</a:t>
            </a:r>
          </a:p>
          <a:p>
            <a:endParaRPr lang="en-IN" dirty="0"/>
          </a:p>
        </p:txBody>
      </p:sp>
    </p:spTree>
    <p:extLst>
      <p:ext uri="{BB962C8B-B14F-4D97-AF65-F5344CB8AC3E}">
        <p14:creationId xmlns:p14="http://schemas.microsoft.com/office/powerpoint/2010/main" val="422707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C9E34-2C63-4C4C-9ECF-F00D22F356D8}"/>
              </a:ext>
            </a:extLst>
          </p:cNvPr>
          <p:cNvSpPr>
            <a:spLocks noGrp="1"/>
          </p:cNvSpPr>
          <p:nvPr>
            <p:ph type="title"/>
          </p:nvPr>
        </p:nvSpPr>
        <p:spPr>
          <a:xfrm>
            <a:off x="1335502" y="236790"/>
            <a:ext cx="10515600" cy="693654"/>
          </a:xfrm>
        </p:spPr>
        <p:txBody>
          <a:bodyPr>
            <a:normAutofit fontScale="90000"/>
          </a:bodyPr>
          <a:lstStyle/>
          <a:p>
            <a:br>
              <a:rPr lang="en-US" b="1" dirty="0"/>
            </a:br>
            <a:r>
              <a:rPr lang="en-US" b="1" dirty="0">
                <a:solidFill>
                  <a:srgbClr val="FF0000"/>
                </a:solidFill>
              </a:rPr>
              <a:t>Example of Embedded C Program</a:t>
            </a:r>
            <a:br>
              <a:rPr lang="en-US" b="1" dirty="0"/>
            </a:br>
            <a:endParaRPr lang="en-IN" dirty="0"/>
          </a:p>
        </p:txBody>
      </p:sp>
      <p:sp>
        <p:nvSpPr>
          <p:cNvPr id="3" name="Content Placeholder 2">
            <a:extLst>
              <a:ext uri="{FF2B5EF4-FFF2-40B4-BE49-F238E27FC236}">
                <a16:creationId xmlns:a16="http://schemas.microsoft.com/office/drawing/2014/main" id="{38476801-5C3E-456C-9D53-9A57B5A07CD0}"/>
              </a:ext>
            </a:extLst>
          </p:cNvPr>
          <p:cNvSpPr>
            <a:spLocks noGrp="1"/>
          </p:cNvSpPr>
          <p:nvPr>
            <p:ph idx="1"/>
          </p:nvPr>
        </p:nvSpPr>
        <p:spPr>
          <a:xfrm>
            <a:off x="838200" y="1729373"/>
            <a:ext cx="10515600" cy="1699627"/>
          </a:xfrm>
        </p:spPr>
        <p:txBody>
          <a:bodyPr/>
          <a:lstStyle/>
          <a:p>
            <a:pPr algn="just"/>
            <a:r>
              <a:rPr lang="en-US" dirty="0"/>
              <a:t>The following image shows the circuit diagram for the example circuit. It contains an 8051 based Microcontroller (AT89S52) along with its basic components (like RESET Circuit, Oscillator Circuit, etc.) and components for blinking LEDs (LEDs and Resistors).</a:t>
            </a:r>
            <a:endParaRPr lang="en-IN" dirty="0"/>
          </a:p>
        </p:txBody>
      </p:sp>
    </p:spTree>
    <p:extLst>
      <p:ext uri="{BB962C8B-B14F-4D97-AF65-F5344CB8AC3E}">
        <p14:creationId xmlns:p14="http://schemas.microsoft.com/office/powerpoint/2010/main" val="860233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Basics of Embedded C Program Image 2">
            <a:extLst>
              <a:ext uri="{FF2B5EF4-FFF2-40B4-BE49-F238E27FC236}">
                <a16:creationId xmlns:a16="http://schemas.microsoft.com/office/drawing/2014/main" id="{7817EC1C-E41A-4E9A-8B85-8E16323E04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2546" y="176463"/>
            <a:ext cx="8919411" cy="64970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4939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CEE0F7B-3084-49F1-8B55-246012F545E2}"/>
              </a:ext>
            </a:extLst>
          </p:cNvPr>
          <p:cNvSpPr/>
          <p:nvPr/>
        </p:nvSpPr>
        <p:spPr>
          <a:xfrm>
            <a:off x="1235242" y="0"/>
            <a:ext cx="10379242" cy="8125301"/>
          </a:xfrm>
          <a:prstGeom prst="rect">
            <a:avLst/>
          </a:prstGeom>
        </p:spPr>
        <p:txBody>
          <a:bodyPr wrap="square">
            <a:spAutoFit/>
          </a:bodyPr>
          <a:lstStyle/>
          <a:p>
            <a:r>
              <a:rPr lang="en-US" b="0" i="1" dirty="0">
                <a:solidFill>
                  <a:srgbClr val="000000"/>
                </a:solidFill>
                <a:effectLst/>
                <a:latin typeface="Arial" panose="020B0604020202020204" pitchFamily="34" charset="0"/>
              </a:rPr>
              <a:t>#include&lt;reg51.h&gt; </a:t>
            </a:r>
            <a:r>
              <a:rPr lang="en-US" b="0" i="1" dirty="0">
                <a:solidFill>
                  <a:srgbClr val="008000"/>
                </a:solidFill>
                <a:effectLst/>
                <a:latin typeface="Arial" panose="020B0604020202020204" pitchFamily="34" charset="0"/>
              </a:rPr>
              <a:t>// Preprocessor Directive</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void delay (int); </a:t>
            </a:r>
            <a:r>
              <a:rPr lang="en-US" b="0" i="1" dirty="0">
                <a:solidFill>
                  <a:srgbClr val="008000"/>
                </a:solidFill>
                <a:effectLst/>
                <a:latin typeface="Arial" panose="020B0604020202020204" pitchFamily="34" charset="0"/>
              </a:rPr>
              <a:t>// Delay Function Declaration</a:t>
            </a:r>
            <a:endParaRPr lang="en-US" b="0" i="0" dirty="0">
              <a:solidFill>
                <a:srgbClr val="666666"/>
              </a:solidFill>
              <a:effectLst/>
              <a:latin typeface="Arial" panose="020B0604020202020204" pitchFamily="34" charset="0"/>
            </a:endParaRPr>
          </a:p>
          <a:p>
            <a:r>
              <a:rPr lang="en-US" b="0" i="1" dirty="0">
                <a:solidFill>
                  <a:srgbClr val="000000"/>
                </a:solidFill>
                <a:effectLst/>
                <a:latin typeface="Arial" panose="020B0604020202020204" pitchFamily="34" charset="0"/>
              </a:rPr>
              <a:t>void main(void) </a:t>
            </a:r>
            <a:r>
              <a:rPr lang="en-US" b="0" i="1" dirty="0">
                <a:solidFill>
                  <a:srgbClr val="008000"/>
                </a:solidFill>
                <a:effectLst/>
                <a:latin typeface="Arial" panose="020B0604020202020204" pitchFamily="34" charset="0"/>
              </a:rPr>
              <a:t>// Main Function</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P1 = 0x00;</a:t>
            </a:r>
            <a:br>
              <a:rPr lang="en-US" b="0" i="0" dirty="0">
                <a:solidFill>
                  <a:srgbClr val="666666"/>
                </a:solidFill>
                <a:effectLst/>
                <a:latin typeface="Arial" panose="020B0604020202020204" pitchFamily="34" charset="0"/>
              </a:rPr>
            </a:br>
            <a:r>
              <a:rPr lang="en-US" b="0" i="1" dirty="0">
                <a:solidFill>
                  <a:srgbClr val="008000"/>
                </a:solidFill>
                <a:effectLst/>
                <a:latin typeface="Arial" panose="020B0604020202020204" pitchFamily="34" charset="0"/>
              </a:rPr>
              <a:t>/* Making PORT1 pins LOW. All the LEDs are OFF.</a:t>
            </a:r>
            <a:br>
              <a:rPr lang="en-US" b="0" i="0" dirty="0">
                <a:solidFill>
                  <a:srgbClr val="666666"/>
                </a:solidFill>
                <a:effectLst/>
                <a:latin typeface="Arial" panose="020B0604020202020204" pitchFamily="34" charset="0"/>
              </a:rPr>
            </a:br>
            <a:r>
              <a:rPr lang="en-US" b="0" i="1" dirty="0">
                <a:solidFill>
                  <a:srgbClr val="008000"/>
                </a:solidFill>
                <a:effectLst/>
                <a:latin typeface="Arial" panose="020B0604020202020204" pitchFamily="34" charset="0"/>
              </a:rPr>
              <a:t>(P1 is PORT1, as defined in reg51.h) */</a:t>
            </a:r>
            <a:endParaRPr lang="en-US" b="0" i="0" dirty="0">
              <a:solidFill>
                <a:srgbClr val="666666"/>
              </a:solidFill>
              <a:effectLst/>
              <a:latin typeface="Arial" panose="020B0604020202020204" pitchFamily="34" charset="0"/>
            </a:endParaRPr>
          </a:p>
          <a:p>
            <a:r>
              <a:rPr lang="en-US" b="0" i="1" dirty="0">
                <a:solidFill>
                  <a:srgbClr val="000000"/>
                </a:solidFill>
                <a:effectLst/>
                <a:latin typeface="Arial" panose="020B0604020202020204" pitchFamily="34" charset="0"/>
              </a:rPr>
              <a:t>while(1) </a:t>
            </a:r>
            <a:r>
              <a:rPr lang="en-US" b="0" i="1" dirty="0">
                <a:solidFill>
                  <a:srgbClr val="008000"/>
                </a:solidFill>
                <a:effectLst/>
                <a:latin typeface="Arial" panose="020B0604020202020204" pitchFamily="34" charset="0"/>
              </a:rPr>
              <a:t>// infinite loop</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P1 = 0xFF; </a:t>
            </a:r>
            <a:r>
              <a:rPr lang="en-US" b="0" i="1" dirty="0">
                <a:solidFill>
                  <a:srgbClr val="008000"/>
                </a:solidFill>
                <a:effectLst/>
                <a:latin typeface="Arial" panose="020B0604020202020204" pitchFamily="34" charset="0"/>
              </a:rPr>
              <a:t>// Making PORT1 Pins HIGH i.e. LEDs are ON.</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delay(1000);</a:t>
            </a:r>
            <a:br>
              <a:rPr lang="en-US" b="0" i="0" dirty="0">
                <a:solidFill>
                  <a:srgbClr val="666666"/>
                </a:solidFill>
                <a:effectLst/>
                <a:latin typeface="Arial" panose="020B0604020202020204" pitchFamily="34" charset="0"/>
              </a:rPr>
            </a:br>
            <a:r>
              <a:rPr lang="en-US" b="0" i="1" dirty="0">
                <a:solidFill>
                  <a:srgbClr val="008000"/>
                </a:solidFill>
                <a:effectLst/>
                <a:latin typeface="Arial" panose="020B0604020202020204" pitchFamily="34" charset="0"/>
              </a:rPr>
              <a:t>/* Calling Delay function with Function parameter as 1000.</a:t>
            </a:r>
            <a:br>
              <a:rPr lang="en-US" b="0" i="0" dirty="0">
                <a:solidFill>
                  <a:srgbClr val="666666"/>
                </a:solidFill>
                <a:effectLst/>
                <a:latin typeface="Arial" panose="020B0604020202020204" pitchFamily="34" charset="0"/>
              </a:rPr>
            </a:br>
            <a:r>
              <a:rPr lang="en-US" b="0" i="1" dirty="0">
                <a:solidFill>
                  <a:srgbClr val="008000"/>
                </a:solidFill>
                <a:effectLst/>
                <a:latin typeface="Arial" panose="020B0604020202020204" pitchFamily="34" charset="0"/>
              </a:rPr>
              <a:t>This will cause a delay of 1000mS i.e. 1 second */</a:t>
            </a:r>
            <a:endParaRPr lang="en-US" b="0" i="0" dirty="0">
              <a:solidFill>
                <a:srgbClr val="666666"/>
              </a:solidFill>
              <a:effectLst/>
              <a:latin typeface="Arial" panose="020B0604020202020204" pitchFamily="34" charset="0"/>
            </a:endParaRPr>
          </a:p>
          <a:p>
            <a:r>
              <a:rPr lang="en-US" b="0" i="1" dirty="0">
                <a:solidFill>
                  <a:srgbClr val="000000"/>
                </a:solidFill>
                <a:effectLst/>
                <a:latin typeface="Arial" panose="020B0604020202020204" pitchFamily="34" charset="0"/>
              </a:rPr>
              <a:t>P1 = 0x00; </a:t>
            </a:r>
            <a:r>
              <a:rPr lang="en-US" b="0" i="1" dirty="0">
                <a:solidFill>
                  <a:srgbClr val="008000"/>
                </a:solidFill>
                <a:effectLst/>
                <a:latin typeface="Arial" panose="020B0604020202020204" pitchFamily="34" charset="0"/>
              </a:rPr>
              <a:t>// Making PORT1 Pins LOW i.e. LEDs are OFF.</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delay(1000);</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a:t>
            </a:r>
            <a:endParaRPr lang="en-US" b="0" i="0" dirty="0">
              <a:solidFill>
                <a:srgbClr val="666666"/>
              </a:solidFill>
              <a:effectLst/>
              <a:latin typeface="Arial" panose="020B0604020202020204" pitchFamily="34" charset="0"/>
            </a:endParaRPr>
          </a:p>
          <a:p>
            <a:r>
              <a:rPr lang="en-US" b="0" i="1" dirty="0">
                <a:solidFill>
                  <a:srgbClr val="000000"/>
                </a:solidFill>
                <a:effectLst/>
                <a:latin typeface="Arial" panose="020B0604020202020204" pitchFamily="34" charset="0"/>
              </a:rPr>
              <a:t>void delay (int d) </a:t>
            </a:r>
            <a:r>
              <a:rPr lang="en-US" b="0" i="1" dirty="0">
                <a:solidFill>
                  <a:srgbClr val="008000"/>
                </a:solidFill>
                <a:effectLst/>
                <a:latin typeface="Arial" panose="020B0604020202020204" pitchFamily="34" charset="0"/>
              </a:rPr>
              <a:t>// Delay Function Definition</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unsigned int </a:t>
            </a:r>
            <a:r>
              <a:rPr lang="en-US" b="0" i="1" dirty="0" err="1">
                <a:solidFill>
                  <a:srgbClr val="000000"/>
                </a:solidFill>
                <a:effectLst/>
                <a:latin typeface="Arial" panose="020B0604020202020204" pitchFamily="34" charset="0"/>
              </a:rPr>
              <a:t>i</a:t>
            </a:r>
            <a:r>
              <a:rPr lang="en-US" b="0" i="1" dirty="0">
                <a:solidFill>
                  <a:srgbClr val="000000"/>
                </a:solidFill>
                <a:effectLst/>
                <a:latin typeface="Arial" panose="020B0604020202020204" pitchFamily="34" charset="0"/>
              </a:rPr>
              <a:t>=0; </a:t>
            </a:r>
            <a:r>
              <a:rPr lang="en-US" b="0" i="1" dirty="0">
                <a:solidFill>
                  <a:srgbClr val="008000"/>
                </a:solidFill>
                <a:effectLst/>
                <a:latin typeface="Arial" panose="020B0604020202020204" pitchFamily="34" charset="0"/>
              </a:rPr>
              <a:t>// Local Variable. Accessible only in this function.</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 </a:t>
            </a:r>
            <a:br>
              <a:rPr lang="en-US" b="0" i="0" dirty="0">
                <a:solidFill>
                  <a:srgbClr val="666666"/>
                </a:solidFill>
                <a:effectLst/>
                <a:latin typeface="Arial" panose="020B0604020202020204" pitchFamily="34" charset="0"/>
              </a:rPr>
            </a:br>
            <a:r>
              <a:rPr lang="en-US" b="0" i="1" dirty="0">
                <a:solidFill>
                  <a:srgbClr val="008000"/>
                </a:solidFill>
                <a:effectLst/>
                <a:latin typeface="Arial" panose="020B0604020202020204" pitchFamily="34" charset="0"/>
              </a:rPr>
              <a:t>/* This following step is responsible for causing delay of 1000mS (or as per the value entered while calling the delay function) */</a:t>
            </a:r>
            <a:endParaRPr lang="en-US" b="0" i="0" dirty="0">
              <a:solidFill>
                <a:srgbClr val="666666"/>
              </a:solidFill>
              <a:effectLst/>
              <a:latin typeface="Arial" panose="020B0604020202020204" pitchFamily="34" charset="0"/>
            </a:endParaRPr>
          </a:p>
          <a:p>
            <a:r>
              <a:rPr lang="en-US" b="0" i="1" dirty="0">
                <a:solidFill>
                  <a:srgbClr val="000000"/>
                </a:solidFill>
                <a:effectLst/>
                <a:latin typeface="Arial" panose="020B0604020202020204" pitchFamily="34" charset="0"/>
              </a:rPr>
              <a:t>for(;d&gt;0;d–)</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for(</a:t>
            </a:r>
            <a:r>
              <a:rPr lang="en-US" b="0" i="1" dirty="0" err="1">
                <a:solidFill>
                  <a:srgbClr val="000000"/>
                </a:solidFill>
                <a:effectLst/>
                <a:latin typeface="Arial" panose="020B0604020202020204" pitchFamily="34" charset="0"/>
              </a:rPr>
              <a:t>i</a:t>
            </a:r>
            <a:r>
              <a:rPr lang="en-US" b="0" i="1" dirty="0">
                <a:solidFill>
                  <a:srgbClr val="000000"/>
                </a:solidFill>
                <a:effectLst/>
                <a:latin typeface="Arial" panose="020B0604020202020204" pitchFamily="34" charset="0"/>
              </a:rPr>
              <a:t>=250;i&gt;0;i – -);</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for(</a:t>
            </a:r>
            <a:r>
              <a:rPr lang="en-US" b="0" i="1" dirty="0" err="1">
                <a:solidFill>
                  <a:srgbClr val="000000"/>
                </a:solidFill>
                <a:effectLst/>
                <a:latin typeface="Arial" panose="020B0604020202020204" pitchFamily="34" charset="0"/>
              </a:rPr>
              <a:t>i</a:t>
            </a:r>
            <a:r>
              <a:rPr lang="en-US" b="0" i="1" dirty="0">
                <a:solidFill>
                  <a:srgbClr val="000000"/>
                </a:solidFill>
                <a:effectLst/>
                <a:latin typeface="Arial" panose="020B0604020202020204" pitchFamily="34" charset="0"/>
              </a:rPr>
              <a:t>=248;i&gt;0;i – -);</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a:t>
            </a:r>
            <a:br>
              <a:rPr lang="en-US" b="0" i="0" dirty="0">
                <a:solidFill>
                  <a:srgbClr val="666666"/>
                </a:solidFill>
                <a:effectLst/>
                <a:latin typeface="Arial" panose="020B0604020202020204" pitchFamily="34" charset="0"/>
              </a:rPr>
            </a:br>
            <a:r>
              <a:rPr lang="en-US" b="0" i="1" dirty="0">
                <a:solidFill>
                  <a:srgbClr val="000000"/>
                </a:solidFill>
                <a:effectLst/>
                <a:latin typeface="Arial" panose="020B0604020202020204" pitchFamily="34" charset="0"/>
              </a:rPr>
              <a:t>}</a:t>
            </a:r>
            <a:endParaRPr lang="en-US" b="0" i="0" dirty="0">
              <a:solidFill>
                <a:srgbClr val="666666"/>
              </a:solidFill>
              <a:effectLst/>
              <a:latin typeface="Arial" panose="020B0604020202020204" pitchFamily="34" charset="0"/>
            </a:endParaRPr>
          </a:p>
        </p:txBody>
      </p:sp>
    </p:spTree>
    <p:extLst>
      <p:ext uri="{BB962C8B-B14F-4D97-AF65-F5344CB8AC3E}">
        <p14:creationId xmlns:p14="http://schemas.microsoft.com/office/powerpoint/2010/main" val="3692861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78766"/>
          </a:xfrm>
        </p:spPr>
        <p:txBody>
          <a:bodyPr/>
          <a:lstStyle/>
          <a:p>
            <a:r>
              <a:rPr lang="en-IN" dirty="0">
                <a:solidFill>
                  <a:srgbClr val="C00000"/>
                </a:solidFill>
              </a:rPr>
              <a:t>Loops and Infinite Loops</a:t>
            </a:r>
          </a:p>
        </p:txBody>
      </p:sp>
      <p:sp>
        <p:nvSpPr>
          <p:cNvPr id="3" name="Content Placeholder 2"/>
          <p:cNvSpPr>
            <a:spLocks noGrp="1"/>
          </p:cNvSpPr>
          <p:nvPr>
            <p:ph idx="1"/>
          </p:nvPr>
        </p:nvSpPr>
        <p:spPr/>
        <p:txBody>
          <a:bodyPr>
            <a:normAutofit lnSpcReduction="10000"/>
          </a:bodyPr>
          <a:lstStyle/>
          <a:p>
            <a:pPr algn="just"/>
            <a:r>
              <a:rPr lang="en-IN" dirty="0"/>
              <a:t>Looping instructions are used for executing a particular block of code repeatedly till a condition is met or wait till an event if fired.</a:t>
            </a:r>
          </a:p>
          <a:p>
            <a:pPr algn="just"/>
            <a:endParaRPr lang="en-IN" dirty="0"/>
          </a:p>
          <a:p>
            <a:pPr algn="just"/>
            <a:r>
              <a:rPr lang="en-IN" dirty="0"/>
              <a:t>Embedded programming often uses the looping instructions for checking the status of certain I/O ports, registers, etc. and also for producing delays.</a:t>
            </a:r>
          </a:p>
          <a:p>
            <a:pPr algn="just"/>
            <a:endParaRPr lang="en-IN" dirty="0"/>
          </a:p>
          <a:p>
            <a:pPr algn="just"/>
            <a:r>
              <a:rPr lang="en-IN" dirty="0"/>
              <a:t>Commonly used loop instructions are</a:t>
            </a:r>
          </a:p>
          <a:p>
            <a:pPr algn="just"/>
            <a:endParaRPr lang="en-IN" dirty="0"/>
          </a:p>
          <a:p>
            <a:pPr algn="just"/>
            <a:r>
              <a:rPr lang="en-IN" dirty="0"/>
              <a:t>While, do-while and for loop</a:t>
            </a:r>
          </a:p>
        </p:txBody>
      </p:sp>
    </p:spTree>
    <p:extLst>
      <p:ext uri="{BB962C8B-B14F-4D97-AF65-F5344CB8AC3E}">
        <p14:creationId xmlns:p14="http://schemas.microsoft.com/office/powerpoint/2010/main" val="214317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2B4CB-59DC-4A12-A99A-50B29D53BAF0}"/>
              </a:ext>
            </a:extLst>
          </p:cNvPr>
          <p:cNvSpPr>
            <a:spLocks noGrp="1"/>
          </p:cNvSpPr>
          <p:nvPr>
            <p:ph type="title"/>
          </p:nvPr>
        </p:nvSpPr>
        <p:spPr>
          <a:xfrm>
            <a:off x="838200" y="41561"/>
            <a:ext cx="10515600" cy="685800"/>
          </a:xfrm>
        </p:spPr>
        <p:txBody>
          <a:bodyPr>
            <a:normAutofit fontScale="90000"/>
          </a:bodyPr>
          <a:lstStyle/>
          <a:p>
            <a:pPr algn="ctr"/>
            <a:r>
              <a:rPr lang="en-US" b="1" dirty="0">
                <a:solidFill>
                  <a:srgbClr val="FF0000"/>
                </a:solidFill>
              </a:rPr>
              <a:t>Loops</a:t>
            </a:r>
            <a:endParaRPr lang="en-IN" b="1" dirty="0">
              <a:solidFill>
                <a:srgbClr val="FF0000"/>
              </a:solidFill>
            </a:endParaRPr>
          </a:p>
        </p:txBody>
      </p:sp>
      <p:sp>
        <p:nvSpPr>
          <p:cNvPr id="3" name="Content Placeholder 2">
            <a:extLst>
              <a:ext uri="{FF2B5EF4-FFF2-40B4-BE49-F238E27FC236}">
                <a16:creationId xmlns:a16="http://schemas.microsoft.com/office/drawing/2014/main" id="{E0A75CC9-925F-4D6D-81AF-EDE4ABFB77AA}"/>
              </a:ext>
            </a:extLst>
          </p:cNvPr>
          <p:cNvSpPr>
            <a:spLocks noGrp="1"/>
          </p:cNvSpPr>
          <p:nvPr>
            <p:ph idx="1"/>
          </p:nvPr>
        </p:nvSpPr>
        <p:spPr>
          <a:xfrm>
            <a:off x="838200" y="751598"/>
            <a:ext cx="10725150" cy="6064841"/>
          </a:xfrm>
        </p:spPr>
        <p:txBody>
          <a:bodyPr>
            <a:noAutofit/>
          </a:bodyPr>
          <a:lstStyle/>
          <a:p>
            <a:pPr algn="just"/>
            <a:r>
              <a:rPr lang="en-US" sz="2600" dirty="0">
                <a:solidFill>
                  <a:srgbClr val="7030A0"/>
                </a:solidFill>
              </a:rPr>
              <a:t>For Loop: </a:t>
            </a:r>
            <a:r>
              <a:rPr lang="en-US" sz="2600" dirty="0"/>
              <a:t>A </a:t>
            </a:r>
            <a:r>
              <a:rPr lang="en-US" sz="2600" b="1" dirty="0"/>
              <a:t>for</a:t>
            </a:r>
            <a:r>
              <a:rPr lang="en-US" sz="2600" dirty="0"/>
              <a:t> loop is a repetition control structure that allows you to efficiently write a loop that needs to execute a specific number of times.</a:t>
            </a:r>
          </a:p>
          <a:p>
            <a:pPr algn="just"/>
            <a:r>
              <a:rPr lang="en-IN" sz="2600" dirty="0"/>
              <a:t>Syntax</a:t>
            </a:r>
          </a:p>
          <a:p>
            <a:pPr marL="0" indent="0" algn="just">
              <a:buNone/>
            </a:pPr>
            <a:r>
              <a:rPr lang="en-US" altLang="en-US" sz="2600" dirty="0">
                <a:solidFill>
                  <a:srgbClr val="000000"/>
                </a:solidFill>
                <a:cs typeface="Courier New" panose="02070309020205020404" pitchFamily="49" charset="0"/>
              </a:rPr>
              <a:t>	for ( initial; test; increment ) </a:t>
            </a:r>
          </a:p>
          <a:p>
            <a:pPr marL="0" indent="0" algn="just">
              <a:buNone/>
            </a:pPr>
            <a:r>
              <a:rPr lang="en-US" altLang="en-US" sz="2600" dirty="0">
                <a:solidFill>
                  <a:srgbClr val="000000"/>
                </a:solidFill>
                <a:cs typeface="Courier New" panose="02070309020205020404" pitchFamily="49" charset="0"/>
              </a:rPr>
              <a:t>	{ statements; </a:t>
            </a:r>
          </a:p>
          <a:p>
            <a:pPr marL="0" indent="0" algn="just">
              <a:buNone/>
            </a:pPr>
            <a:r>
              <a:rPr lang="en-US" altLang="en-US" sz="2600" dirty="0">
                <a:solidFill>
                  <a:srgbClr val="000000"/>
                </a:solidFill>
                <a:cs typeface="Courier New" panose="02070309020205020404" pitchFamily="49" charset="0"/>
              </a:rPr>
              <a:t>	}</a:t>
            </a:r>
            <a:r>
              <a:rPr lang="en-US" altLang="en-US" sz="2600" dirty="0"/>
              <a:t> </a:t>
            </a:r>
          </a:p>
          <a:p>
            <a:pPr marL="0" indent="0" algn="just">
              <a:buNone/>
            </a:pPr>
            <a:r>
              <a:rPr lang="en-US" altLang="en-US" sz="2600" dirty="0">
                <a:solidFill>
                  <a:srgbClr val="FF0000"/>
                </a:solidFill>
              </a:rPr>
              <a:t>Example:</a:t>
            </a:r>
          </a:p>
          <a:p>
            <a:pPr algn="just"/>
            <a:r>
              <a:rPr lang="en-US" altLang="en-US" sz="2600" dirty="0">
                <a:solidFill>
                  <a:srgbClr val="000000"/>
                </a:solidFill>
                <a:cs typeface="Courier New" panose="02070309020205020404" pitchFamily="49" charset="0"/>
              </a:rPr>
              <a:t>uint16_t total = 0; </a:t>
            </a:r>
          </a:p>
          <a:p>
            <a:pPr algn="just"/>
            <a:r>
              <a:rPr lang="en-US" altLang="en-US" sz="2600" dirty="0">
                <a:solidFill>
                  <a:srgbClr val="000000"/>
                </a:solidFill>
                <a:cs typeface="Courier New" panose="02070309020205020404" pitchFamily="49" charset="0"/>
              </a:rPr>
              <a:t>uint16_t values[100]; ... </a:t>
            </a:r>
          </a:p>
          <a:p>
            <a:pPr algn="just"/>
            <a:r>
              <a:rPr lang="en-US" altLang="en-US" sz="2600" dirty="0">
                <a:solidFill>
                  <a:srgbClr val="000000"/>
                </a:solidFill>
                <a:cs typeface="Courier New" panose="02070309020205020404" pitchFamily="49" charset="0"/>
              </a:rPr>
              <a:t>for ( </a:t>
            </a:r>
            <a:r>
              <a:rPr lang="en-US" altLang="en-US" sz="2600" dirty="0" err="1">
                <a:solidFill>
                  <a:srgbClr val="000000"/>
                </a:solidFill>
                <a:cs typeface="Courier New" panose="02070309020205020404" pitchFamily="49" charset="0"/>
              </a:rPr>
              <a:t>i</a:t>
            </a:r>
            <a:r>
              <a:rPr lang="en-US" altLang="en-US" sz="2600" dirty="0">
                <a:solidFill>
                  <a:srgbClr val="000000"/>
                </a:solidFill>
                <a:cs typeface="Courier New" panose="02070309020205020404" pitchFamily="49" charset="0"/>
              </a:rPr>
              <a:t> = 0; </a:t>
            </a:r>
            <a:r>
              <a:rPr lang="en-US" altLang="en-US" sz="2600" dirty="0" err="1">
                <a:solidFill>
                  <a:srgbClr val="000000"/>
                </a:solidFill>
                <a:cs typeface="Courier New" panose="02070309020205020404" pitchFamily="49" charset="0"/>
              </a:rPr>
              <a:t>i</a:t>
            </a:r>
            <a:r>
              <a:rPr lang="en-US" altLang="en-US" sz="2600" dirty="0">
                <a:solidFill>
                  <a:srgbClr val="000000"/>
                </a:solidFill>
                <a:cs typeface="Courier New" panose="02070309020205020404" pitchFamily="49" charset="0"/>
              </a:rPr>
              <a:t> &lt; 100; </a:t>
            </a:r>
            <a:r>
              <a:rPr lang="en-US" altLang="en-US" sz="2600" dirty="0" err="1">
                <a:solidFill>
                  <a:srgbClr val="000000"/>
                </a:solidFill>
                <a:cs typeface="Courier New" panose="02070309020205020404" pitchFamily="49" charset="0"/>
              </a:rPr>
              <a:t>i</a:t>
            </a:r>
            <a:r>
              <a:rPr lang="en-US" altLang="en-US" sz="2600" dirty="0">
                <a:solidFill>
                  <a:srgbClr val="000000"/>
                </a:solidFill>
                <a:cs typeface="Courier New" panose="02070309020205020404" pitchFamily="49" charset="0"/>
              </a:rPr>
              <a:t>++) </a:t>
            </a:r>
          </a:p>
          <a:p>
            <a:pPr algn="just"/>
            <a:r>
              <a:rPr lang="en-US" altLang="en-US" sz="2600" dirty="0">
                <a:solidFill>
                  <a:srgbClr val="000000"/>
                </a:solidFill>
                <a:cs typeface="Courier New" panose="02070309020205020404" pitchFamily="49" charset="0"/>
              </a:rPr>
              <a:t>{ </a:t>
            </a:r>
          </a:p>
          <a:p>
            <a:pPr algn="just"/>
            <a:r>
              <a:rPr lang="en-US" altLang="en-US" sz="2600" dirty="0">
                <a:solidFill>
                  <a:srgbClr val="000000"/>
                </a:solidFill>
                <a:cs typeface="Courier New" panose="02070309020205020404" pitchFamily="49" charset="0"/>
              </a:rPr>
              <a:t>total = total + values[</a:t>
            </a:r>
            <a:r>
              <a:rPr lang="en-US" altLang="en-US" sz="2600" dirty="0" err="1">
                <a:solidFill>
                  <a:srgbClr val="000000"/>
                </a:solidFill>
                <a:cs typeface="Courier New" panose="02070309020205020404" pitchFamily="49" charset="0"/>
              </a:rPr>
              <a:t>i</a:t>
            </a:r>
            <a:r>
              <a:rPr lang="en-US" altLang="en-US" sz="2600" dirty="0">
                <a:solidFill>
                  <a:srgbClr val="000000"/>
                </a:solidFill>
                <a:cs typeface="Courier New" panose="02070309020205020404" pitchFamily="49" charset="0"/>
              </a:rPr>
              <a:t>]; </a:t>
            </a:r>
          </a:p>
          <a:p>
            <a:pPr algn="just"/>
            <a:r>
              <a:rPr lang="en-US" altLang="en-US" sz="2600" dirty="0">
                <a:solidFill>
                  <a:srgbClr val="000000"/>
                </a:solidFill>
                <a:cs typeface="Courier New" panose="02070309020205020404" pitchFamily="49" charset="0"/>
              </a:rPr>
              <a:t>}</a:t>
            </a:r>
            <a:r>
              <a:rPr lang="en-US" altLang="en-US" sz="2600" dirty="0"/>
              <a:t> </a:t>
            </a:r>
          </a:p>
          <a:p>
            <a:pPr marL="0" indent="0" algn="just">
              <a:buNone/>
            </a:pPr>
            <a:endParaRPr lang="en-US" altLang="en-US" sz="2600" dirty="0"/>
          </a:p>
          <a:p>
            <a:pPr algn="just"/>
            <a:endParaRPr lang="en-IN" sz="2600" dirty="0"/>
          </a:p>
          <a:p>
            <a:pPr algn="just"/>
            <a:endParaRPr lang="en-IN" sz="2600" dirty="0"/>
          </a:p>
        </p:txBody>
      </p:sp>
    </p:spTree>
    <p:extLst>
      <p:ext uri="{BB962C8B-B14F-4D97-AF65-F5344CB8AC3E}">
        <p14:creationId xmlns:p14="http://schemas.microsoft.com/office/powerpoint/2010/main" val="2838487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ACBE2-DC73-4510-98DA-F7608D35C919}"/>
              </a:ext>
            </a:extLst>
          </p:cNvPr>
          <p:cNvSpPr>
            <a:spLocks noGrp="1"/>
          </p:cNvSpPr>
          <p:nvPr>
            <p:ph type="ctrTitle"/>
          </p:nvPr>
        </p:nvSpPr>
        <p:spPr>
          <a:xfrm>
            <a:off x="1524000" y="153366"/>
            <a:ext cx="9144000" cy="706437"/>
          </a:xfrm>
        </p:spPr>
        <p:txBody>
          <a:bodyPr>
            <a:normAutofit fontScale="90000"/>
          </a:bodyPr>
          <a:lstStyle/>
          <a:p>
            <a:br>
              <a:rPr lang="en-IN" dirty="0"/>
            </a:br>
            <a:br>
              <a:rPr lang="en-IN" dirty="0"/>
            </a:br>
            <a:br>
              <a:rPr lang="en-IN" dirty="0"/>
            </a:br>
            <a:br>
              <a:rPr lang="en-IN" dirty="0"/>
            </a:br>
            <a:r>
              <a:rPr lang="en-IN" sz="4400" dirty="0">
                <a:solidFill>
                  <a:srgbClr val="7030A0"/>
                </a:solidFill>
                <a:latin typeface="+mn-lt"/>
              </a:rPr>
              <a:t>while loop</a:t>
            </a:r>
            <a:endParaRPr lang="en-IN" dirty="0">
              <a:solidFill>
                <a:srgbClr val="7030A0"/>
              </a:solidFill>
              <a:latin typeface="+mn-lt"/>
            </a:endParaRPr>
          </a:p>
        </p:txBody>
      </p:sp>
      <p:sp>
        <p:nvSpPr>
          <p:cNvPr id="3" name="Subtitle 2">
            <a:extLst>
              <a:ext uri="{FF2B5EF4-FFF2-40B4-BE49-F238E27FC236}">
                <a16:creationId xmlns:a16="http://schemas.microsoft.com/office/drawing/2014/main" id="{8F0EB53F-1DF9-4A2F-8BB7-A79EBC405A35}"/>
              </a:ext>
            </a:extLst>
          </p:cNvPr>
          <p:cNvSpPr>
            <a:spLocks noGrp="1"/>
          </p:cNvSpPr>
          <p:nvPr>
            <p:ph type="subTitle" idx="1"/>
          </p:nvPr>
        </p:nvSpPr>
        <p:spPr>
          <a:xfrm>
            <a:off x="1524000" y="1292869"/>
            <a:ext cx="9817290" cy="4668510"/>
          </a:xfrm>
        </p:spPr>
        <p:txBody>
          <a:bodyPr>
            <a:normAutofit fontScale="77500" lnSpcReduction="20000"/>
          </a:bodyPr>
          <a:lstStyle/>
          <a:p>
            <a:pPr marL="342900" indent="-342900" algn="just">
              <a:buFont typeface="Arial" panose="020B0604020202020204" pitchFamily="34" charset="0"/>
              <a:buChar char="•"/>
            </a:pPr>
            <a:r>
              <a:rPr lang="en-US" sz="3000" dirty="0"/>
              <a:t>A </a:t>
            </a:r>
            <a:r>
              <a:rPr lang="en-US" sz="3000" b="1" dirty="0"/>
              <a:t>while</a:t>
            </a:r>
            <a:r>
              <a:rPr lang="en-US" sz="3000" dirty="0"/>
              <a:t> loop in C programming repeatedly executes a target statement as long as a given condition is true.</a:t>
            </a:r>
          </a:p>
          <a:p>
            <a:pPr algn="just"/>
            <a:r>
              <a:rPr lang="en-US" sz="3000" b="1" dirty="0">
                <a:solidFill>
                  <a:srgbClr val="C00000"/>
                </a:solidFill>
              </a:rPr>
              <a:t>Syntax</a:t>
            </a:r>
          </a:p>
          <a:p>
            <a:pPr algn="just"/>
            <a:r>
              <a:rPr lang="en-US" sz="3000" dirty="0"/>
              <a:t>The syntax of a </a:t>
            </a:r>
            <a:r>
              <a:rPr lang="en-US" sz="3000" b="1" dirty="0"/>
              <a:t>while</a:t>
            </a:r>
            <a:r>
              <a:rPr lang="en-US" sz="3000" dirty="0"/>
              <a:t> loop in C programming language is </a:t>
            </a:r>
          </a:p>
          <a:p>
            <a:pPr algn="just"/>
            <a:r>
              <a:rPr lang="en-US" altLang="en-US" sz="3000" dirty="0">
                <a:solidFill>
                  <a:srgbClr val="FF0000"/>
                </a:solidFill>
                <a:cs typeface="Courier New" panose="02070309020205020404" pitchFamily="49" charset="0"/>
              </a:rPr>
              <a:t>while(condition) </a:t>
            </a:r>
          </a:p>
          <a:p>
            <a:pPr algn="just"/>
            <a:r>
              <a:rPr lang="en-US" altLang="en-US" sz="3000" dirty="0">
                <a:solidFill>
                  <a:srgbClr val="FF0000"/>
                </a:solidFill>
                <a:cs typeface="Courier New" panose="02070309020205020404" pitchFamily="49" charset="0"/>
              </a:rPr>
              <a:t>{ </a:t>
            </a:r>
          </a:p>
          <a:p>
            <a:pPr algn="just"/>
            <a:r>
              <a:rPr lang="en-US" altLang="en-US" sz="3000" dirty="0">
                <a:solidFill>
                  <a:srgbClr val="FF0000"/>
                </a:solidFill>
                <a:cs typeface="Courier New" panose="02070309020205020404" pitchFamily="49" charset="0"/>
              </a:rPr>
              <a:t>statement(s);</a:t>
            </a:r>
          </a:p>
          <a:p>
            <a:pPr algn="just"/>
            <a:r>
              <a:rPr lang="en-US" altLang="en-US" sz="3000" dirty="0">
                <a:solidFill>
                  <a:srgbClr val="FF0000"/>
                </a:solidFill>
                <a:cs typeface="Courier New" panose="02070309020205020404" pitchFamily="49" charset="0"/>
              </a:rPr>
              <a:t> }</a:t>
            </a:r>
            <a:r>
              <a:rPr lang="en-US" altLang="en-US" sz="3000" dirty="0">
                <a:solidFill>
                  <a:srgbClr val="FF0000"/>
                </a:solidFill>
              </a:rPr>
              <a:t> </a:t>
            </a:r>
          </a:p>
          <a:p>
            <a:pPr marL="457200" indent="-457200" algn="just">
              <a:buFont typeface="Arial" panose="020B0604020202020204" pitchFamily="34" charset="0"/>
              <a:buChar char="•"/>
            </a:pPr>
            <a:r>
              <a:rPr lang="en-US" sz="3000" dirty="0"/>
              <a:t>Here, </a:t>
            </a:r>
            <a:r>
              <a:rPr lang="en-US" sz="3000" b="1" dirty="0"/>
              <a:t>statement(s)</a:t>
            </a:r>
            <a:r>
              <a:rPr lang="en-US" sz="3000" dirty="0"/>
              <a:t> may be a single statement or a block of statements.</a:t>
            </a:r>
          </a:p>
          <a:p>
            <a:pPr marL="457200" indent="-457200" algn="just">
              <a:buFont typeface="Arial" panose="020B0604020202020204" pitchFamily="34" charset="0"/>
              <a:buChar char="•"/>
            </a:pPr>
            <a:r>
              <a:rPr lang="en-US" sz="3000" dirty="0"/>
              <a:t> The </a:t>
            </a:r>
            <a:r>
              <a:rPr lang="en-US" sz="3000" b="1" dirty="0"/>
              <a:t>condition</a:t>
            </a:r>
            <a:r>
              <a:rPr lang="en-US" sz="3000" dirty="0"/>
              <a:t> may be any expression, and true is any nonzero value. </a:t>
            </a:r>
          </a:p>
          <a:p>
            <a:pPr marL="457200" indent="-457200" algn="just">
              <a:buFont typeface="Arial" panose="020B0604020202020204" pitchFamily="34" charset="0"/>
              <a:buChar char="•"/>
            </a:pPr>
            <a:r>
              <a:rPr lang="en-US" sz="3000" dirty="0"/>
              <a:t>The loop iterates while the condition is true.</a:t>
            </a:r>
          </a:p>
          <a:p>
            <a:pPr marL="457200" indent="-457200" algn="just">
              <a:buFont typeface="Arial" panose="020B0604020202020204" pitchFamily="34" charset="0"/>
              <a:buChar char="•"/>
            </a:pPr>
            <a:r>
              <a:rPr lang="en-US" sz="3300" dirty="0"/>
              <a:t>When the condition becomes false, the program control passes to the line immediately following the loop.</a:t>
            </a:r>
            <a:endParaRPr lang="en-US" altLang="en-US" sz="3300" dirty="0"/>
          </a:p>
          <a:p>
            <a:pPr algn="just"/>
            <a:endParaRPr lang="en-US" dirty="0"/>
          </a:p>
          <a:p>
            <a:endParaRPr lang="en-US" dirty="0"/>
          </a:p>
          <a:p>
            <a:pPr marL="342900" indent="-342900" algn="just">
              <a:buFont typeface="Arial" panose="020B0604020202020204" pitchFamily="34" charset="0"/>
              <a:buChar char="•"/>
            </a:pPr>
            <a:endParaRPr lang="en-IN" dirty="0"/>
          </a:p>
        </p:txBody>
      </p:sp>
      <p:sp>
        <p:nvSpPr>
          <p:cNvPr id="4" name="Rectangle 1">
            <a:extLst>
              <a:ext uri="{FF2B5EF4-FFF2-40B4-BE49-F238E27FC236}">
                <a16:creationId xmlns:a16="http://schemas.microsoft.com/office/drawing/2014/main" id="{672768C3-8A72-4F49-A553-300A63D1A294}"/>
              </a:ext>
            </a:extLst>
          </p:cNvPr>
          <p:cNvSpPr>
            <a:spLocks noChangeArrowheads="1"/>
          </p:cNvSpPr>
          <p:nvPr/>
        </p:nvSpPr>
        <p:spPr bwMode="auto">
          <a:xfrm>
            <a:off x="0" y="113184"/>
            <a:ext cx="184731" cy="23083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232822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s://www.elprocus.com/wp-content/uploads/2014/02/71.jpg"/>
          <p:cNvPicPr>
            <a:picLocks noChangeAspect="1" noChangeArrowheads="1"/>
          </p:cNvPicPr>
          <p:nvPr/>
        </p:nvPicPr>
        <p:blipFill>
          <a:blip r:embed="rId2"/>
          <a:srcRect/>
          <a:stretch>
            <a:fillRect/>
          </a:stretch>
        </p:blipFill>
        <p:spPr bwMode="auto">
          <a:xfrm>
            <a:off x="1475875" y="665513"/>
            <a:ext cx="9320462" cy="5606949"/>
          </a:xfrm>
          <a:prstGeom prst="rect">
            <a:avLst/>
          </a:prstGeom>
          <a:noFill/>
        </p:spPr>
      </p:pic>
    </p:spTree>
    <p:extLst>
      <p:ext uri="{BB962C8B-B14F-4D97-AF65-F5344CB8AC3E}">
        <p14:creationId xmlns:p14="http://schemas.microsoft.com/office/powerpoint/2010/main" val="1438891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Example-2"/>
          <p:cNvPicPr>
            <a:picLocks noChangeAspect="1" noChangeArrowheads="1"/>
          </p:cNvPicPr>
          <p:nvPr/>
        </p:nvPicPr>
        <p:blipFill>
          <a:blip r:embed="rId2"/>
          <a:srcRect/>
          <a:stretch>
            <a:fillRect/>
          </a:stretch>
        </p:blipFill>
        <p:spPr bwMode="auto">
          <a:xfrm>
            <a:off x="1748589" y="529389"/>
            <a:ext cx="7684169" cy="5736547"/>
          </a:xfrm>
          <a:prstGeom prst="rect">
            <a:avLst/>
          </a:prstGeom>
          <a:noFill/>
        </p:spPr>
      </p:pic>
    </p:spTree>
    <p:extLst>
      <p:ext uri="{BB962C8B-B14F-4D97-AF65-F5344CB8AC3E}">
        <p14:creationId xmlns:p14="http://schemas.microsoft.com/office/powerpoint/2010/main" val="2666215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FD255-C8EA-460B-9868-A3E615BC9BAA}"/>
              </a:ext>
            </a:extLst>
          </p:cNvPr>
          <p:cNvSpPr>
            <a:spLocks noGrp="1"/>
          </p:cNvSpPr>
          <p:nvPr>
            <p:ph type="ctrTitle"/>
          </p:nvPr>
        </p:nvSpPr>
        <p:spPr>
          <a:xfrm>
            <a:off x="1524000" y="194475"/>
            <a:ext cx="9144000" cy="760863"/>
          </a:xfrm>
        </p:spPr>
        <p:txBody>
          <a:bodyPr>
            <a:noAutofit/>
          </a:bodyPr>
          <a:lstStyle/>
          <a:p>
            <a:br>
              <a:rPr lang="en-IN" sz="4400" dirty="0">
                <a:latin typeface="+mn-lt"/>
              </a:rPr>
            </a:br>
            <a:br>
              <a:rPr lang="en-IN" sz="4400" dirty="0">
                <a:latin typeface="+mn-lt"/>
              </a:rPr>
            </a:br>
            <a:r>
              <a:rPr lang="en-IN" sz="4400" dirty="0">
                <a:solidFill>
                  <a:srgbClr val="C00000"/>
                </a:solidFill>
                <a:latin typeface="+mn-lt"/>
              </a:rPr>
              <a:t>Pointers</a:t>
            </a:r>
          </a:p>
        </p:txBody>
      </p:sp>
      <p:sp>
        <p:nvSpPr>
          <p:cNvPr id="3" name="Subtitle 2">
            <a:extLst>
              <a:ext uri="{FF2B5EF4-FFF2-40B4-BE49-F238E27FC236}">
                <a16:creationId xmlns:a16="http://schemas.microsoft.com/office/drawing/2014/main" id="{E43D8DC9-DECD-4559-8A88-FF375860AAF3}"/>
              </a:ext>
            </a:extLst>
          </p:cNvPr>
          <p:cNvSpPr>
            <a:spLocks noGrp="1"/>
          </p:cNvSpPr>
          <p:nvPr>
            <p:ph type="subTitle" idx="1"/>
          </p:nvPr>
        </p:nvSpPr>
        <p:spPr>
          <a:xfrm>
            <a:off x="484909" y="1225667"/>
            <a:ext cx="10986655" cy="5327019"/>
          </a:xfrm>
        </p:spPr>
        <p:txBody>
          <a:bodyPr>
            <a:noAutofit/>
          </a:bodyPr>
          <a:lstStyle/>
          <a:p>
            <a:pPr marL="342900" indent="-342900" algn="just">
              <a:buFont typeface="Arial" panose="020B0604020202020204" pitchFamily="34" charset="0"/>
              <a:buChar char="•"/>
            </a:pPr>
            <a:r>
              <a:rPr lang="en-US" sz="2800" dirty="0"/>
              <a:t>A </a:t>
            </a:r>
            <a:r>
              <a:rPr lang="en-US" sz="2800" b="1" dirty="0"/>
              <a:t>pointer</a:t>
            </a:r>
            <a:r>
              <a:rPr lang="en-US" sz="2800" dirty="0"/>
              <a:t> is a variable whose value is the address of another variable, i.e., direct address of the memory location. </a:t>
            </a:r>
          </a:p>
          <a:p>
            <a:pPr marL="342900" indent="-342900" algn="just">
              <a:buFont typeface="Arial" panose="020B0604020202020204" pitchFamily="34" charset="0"/>
              <a:buChar char="•"/>
            </a:pPr>
            <a:r>
              <a:rPr lang="en-US" sz="2800" dirty="0"/>
              <a:t>Any variable or constant, you must declare a pointer before using it to store any variable address. </a:t>
            </a:r>
          </a:p>
          <a:p>
            <a:pPr marL="342900" indent="-342900" algn="just">
              <a:buFont typeface="Arial" panose="020B0604020202020204" pitchFamily="34" charset="0"/>
              <a:buChar char="•"/>
            </a:pPr>
            <a:r>
              <a:rPr lang="en-US" sz="2800" dirty="0"/>
              <a:t>The general form of a pointer variable declaration is </a:t>
            </a:r>
          </a:p>
          <a:p>
            <a:pPr marL="342900" indent="-342900" algn="just">
              <a:buFont typeface="Arial" panose="020B0604020202020204" pitchFamily="34" charset="0"/>
              <a:buChar char="•"/>
            </a:pPr>
            <a:r>
              <a:rPr lang="en-US" altLang="en-US" sz="2800" dirty="0">
                <a:cs typeface="Courier New" panose="02070309020205020404" pitchFamily="49" charset="0"/>
              </a:rPr>
              <a:t>type *var-name;</a:t>
            </a:r>
            <a:r>
              <a:rPr lang="en-US" altLang="en-US" sz="2800" dirty="0"/>
              <a:t> </a:t>
            </a:r>
          </a:p>
          <a:p>
            <a:pPr marL="342900" indent="-342900" algn="just">
              <a:buFont typeface="Arial" panose="020B0604020202020204" pitchFamily="34" charset="0"/>
              <a:buChar char="•"/>
            </a:pPr>
            <a:r>
              <a:rPr lang="en-US" altLang="en-US" sz="2800" dirty="0">
                <a:solidFill>
                  <a:srgbClr val="FF0000"/>
                </a:solidFill>
                <a:cs typeface="Courier New" panose="02070309020205020404" pitchFamily="49" charset="0"/>
              </a:rPr>
              <a:t>int *</a:t>
            </a:r>
            <a:r>
              <a:rPr lang="en-US" altLang="en-US" sz="2800" dirty="0" err="1">
                <a:solidFill>
                  <a:srgbClr val="FF0000"/>
                </a:solidFill>
                <a:cs typeface="Courier New" panose="02070309020205020404" pitchFamily="49" charset="0"/>
              </a:rPr>
              <a:t>ip</a:t>
            </a:r>
            <a:r>
              <a:rPr lang="en-US" altLang="en-US" sz="2800" dirty="0">
                <a:solidFill>
                  <a:srgbClr val="FF0000"/>
                </a:solidFill>
                <a:cs typeface="Courier New" panose="02070309020205020404" pitchFamily="49" charset="0"/>
              </a:rPr>
              <a:t>;            /* pointer to an integer */ </a:t>
            </a:r>
          </a:p>
          <a:p>
            <a:pPr marL="342900" indent="-342900" algn="just">
              <a:buFont typeface="Arial" panose="020B0604020202020204" pitchFamily="34" charset="0"/>
              <a:buChar char="•"/>
            </a:pPr>
            <a:r>
              <a:rPr lang="en-US" altLang="en-US" sz="2800" dirty="0">
                <a:solidFill>
                  <a:srgbClr val="FF0000"/>
                </a:solidFill>
                <a:cs typeface="Courier New" panose="02070309020205020404" pitchFamily="49" charset="0"/>
              </a:rPr>
              <a:t>double *</a:t>
            </a:r>
            <a:r>
              <a:rPr lang="en-US" altLang="en-US" sz="2800" dirty="0" err="1">
                <a:solidFill>
                  <a:srgbClr val="FF0000"/>
                </a:solidFill>
                <a:cs typeface="Courier New" panose="02070309020205020404" pitchFamily="49" charset="0"/>
              </a:rPr>
              <a:t>dp</a:t>
            </a:r>
            <a:r>
              <a:rPr lang="en-US" altLang="en-US" sz="2800" dirty="0">
                <a:solidFill>
                  <a:srgbClr val="FF0000"/>
                </a:solidFill>
                <a:cs typeface="Courier New" panose="02070309020205020404" pitchFamily="49" charset="0"/>
              </a:rPr>
              <a:t>;  /* pointer to a double */ </a:t>
            </a:r>
          </a:p>
          <a:p>
            <a:pPr marL="342900" indent="-342900" algn="just">
              <a:buFont typeface="Arial" panose="020B0604020202020204" pitchFamily="34" charset="0"/>
              <a:buChar char="•"/>
            </a:pPr>
            <a:r>
              <a:rPr lang="en-US" altLang="en-US" sz="2800" dirty="0">
                <a:solidFill>
                  <a:srgbClr val="FF0000"/>
                </a:solidFill>
                <a:cs typeface="Courier New" panose="02070309020205020404" pitchFamily="49" charset="0"/>
              </a:rPr>
              <a:t>float *</a:t>
            </a:r>
            <a:r>
              <a:rPr lang="en-US" altLang="en-US" sz="2800" dirty="0" err="1">
                <a:solidFill>
                  <a:srgbClr val="FF0000"/>
                </a:solidFill>
                <a:cs typeface="Courier New" panose="02070309020205020404" pitchFamily="49" charset="0"/>
              </a:rPr>
              <a:t>fp</a:t>
            </a:r>
            <a:r>
              <a:rPr lang="en-US" altLang="en-US" sz="2800" dirty="0">
                <a:solidFill>
                  <a:srgbClr val="FF0000"/>
                </a:solidFill>
                <a:cs typeface="Courier New" panose="02070309020205020404" pitchFamily="49" charset="0"/>
              </a:rPr>
              <a:t>;      /* pointer to a float */ </a:t>
            </a:r>
          </a:p>
          <a:p>
            <a:pPr marL="342900" indent="-342900" algn="just">
              <a:buFont typeface="Arial" panose="020B0604020202020204" pitchFamily="34" charset="0"/>
              <a:buChar char="•"/>
            </a:pPr>
            <a:r>
              <a:rPr lang="en-US" altLang="en-US" sz="2800" dirty="0">
                <a:solidFill>
                  <a:srgbClr val="FF0000"/>
                </a:solidFill>
                <a:cs typeface="Courier New" panose="02070309020205020404" pitchFamily="49" charset="0"/>
              </a:rPr>
              <a:t>char *</a:t>
            </a:r>
            <a:r>
              <a:rPr lang="en-US" altLang="en-US" sz="2800" dirty="0" err="1">
                <a:solidFill>
                  <a:srgbClr val="FF0000"/>
                </a:solidFill>
                <a:cs typeface="Courier New" panose="02070309020205020404" pitchFamily="49" charset="0"/>
              </a:rPr>
              <a:t>ch</a:t>
            </a:r>
            <a:r>
              <a:rPr lang="en-US" altLang="en-US" sz="2800" dirty="0">
                <a:solidFill>
                  <a:srgbClr val="FF0000"/>
                </a:solidFill>
                <a:cs typeface="Courier New" panose="02070309020205020404" pitchFamily="49" charset="0"/>
              </a:rPr>
              <a:t>      /* pointer to a character */</a:t>
            </a:r>
            <a:r>
              <a:rPr lang="en-US" altLang="en-US" sz="2800" dirty="0">
                <a:solidFill>
                  <a:srgbClr val="FF0000"/>
                </a:solidFill>
              </a:rPr>
              <a:t> </a:t>
            </a:r>
          </a:p>
          <a:p>
            <a:pPr marL="342900" indent="-342900" algn="just">
              <a:buFont typeface="Arial" panose="020B0604020202020204" pitchFamily="34" charset="0"/>
              <a:buChar char="•"/>
            </a:pPr>
            <a:endParaRPr lang="en-US" sz="2800" dirty="0"/>
          </a:p>
          <a:p>
            <a:pPr marL="342900" indent="-342900" algn="just">
              <a:buFont typeface="Arial" panose="020B0604020202020204" pitchFamily="34" charset="0"/>
              <a:buChar char="•"/>
            </a:pPr>
            <a:endParaRPr lang="en-IN" sz="2800" dirty="0"/>
          </a:p>
        </p:txBody>
      </p:sp>
      <p:sp>
        <p:nvSpPr>
          <p:cNvPr id="7" name="Rectangle 2">
            <a:extLst>
              <a:ext uri="{FF2B5EF4-FFF2-40B4-BE49-F238E27FC236}">
                <a16:creationId xmlns:a16="http://schemas.microsoft.com/office/drawing/2014/main" id="{142F1149-E685-429A-AAE2-9452E1B38F1D}"/>
              </a:ext>
            </a:extLst>
          </p:cNvPr>
          <p:cNvSpPr>
            <a:spLocks noChangeArrowheads="1"/>
          </p:cNvSpPr>
          <p:nvPr/>
        </p:nvSpPr>
        <p:spPr bwMode="auto">
          <a:xfrm>
            <a:off x="0" y="113184"/>
            <a:ext cx="184731" cy="23083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978373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64168"/>
            <a:ext cx="7772400" cy="672811"/>
          </a:xfrm>
        </p:spPr>
        <p:txBody>
          <a:bodyPr>
            <a:normAutofit fontScale="90000"/>
          </a:bodyPr>
          <a:lstStyle/>
          <a:p>
            <a:br>
              <a:rPr lang="en-IN" b="1" dirty="0">
                <a:latin typeface="+mn-lt"/>
              </a:rPr>
            </a:br>
            <a:br>
              <a:rPr lang="en-IN" b="1" dirty="0">
                <a:latin typeface="+mn-lt"/>
              </a:rPr>
            </a:br>
            <a:br>
              <a:rPr lang="en-IN" b="1" dirty="0">
                <a:latin typeface="+mn-lt"/>
              </a:rPr>
            </a:br>
            <a:br>
              <a:rPr lang="en-IN" b="1" dirty="0">
                <a:latin typeface="+mn-lt"/>
              </a:rPr>
            </a:br>
            <a:br>
              <a:rPr lang="en-IN" b="1" dirty="0">
                <a:latin typeface="+mn-lt"/>
              </a:rPr>
            </a:br>
            <a:br>
              <a:rPr lang="en-IN" b="1" dirty="0">
                <a:latin typeface="+mn-lt"/>
              </a:rPr>
            </a:br>
            <a:br>
              <a:rPr lang="en-IN" b="1" dirty="0">
                <a:latin typeface="+mn-lt"/>
              </a:rPr>
            </a:br>
            <a:br>
              <a:rPr lang="en-IN" b="1" dirty="0">
                <a:latin typeface="+mn-lt"/>
              </a:rPr>
            </a:br>
            <a:br>
              <a:rPr lang="en-IN" b="1" dirty="0">
                <a:latin typeface="+mn-lt"/>
              </a:rPr>
            </a:br>
            <a:br>
              <a:rPr lang="en-IN" b="1" dirty="0">
                <a:latin typeface="+mn-lt"/>
              </a:rPr>
            </a:br>
            <a:r>
              <a:rPr lang="en-IN" sz="4900" b="1" dirty="0">
                <a:solidFill>
                  <a:srgbClr val="FF0000"/>
                </a:solidFill>
                <a:latin typeface="+mn-lt"/>
              </a:rPr>
              <a:t>Structures</a:t>
            </a:r>
            <a:endParaRPr lang="en-IN" dirty="0">
              <a:solidFill>
                <a:srgbClr val="FF0000"/>
              </a:solidFill>
              <a:latin typeface="+mn-lt"/>
            </a:endParaRPr>
          </a:p>
        </p:txBody>
      </p:sp>
      <p:sp>
        <p:nvSpPr>
          <p:cNvPr id="3" name="Subtitle 2"/>
          <p:cNvSpPr>
            <a:spLocks noGrp="1"/>
          </p:cNvSpPr>
          <p:nvPr>
            <p:ph type="subTitle" idx="1"/>
          </p:nvPr>
        </p:nvSpPr>
        <p:spPr>
          <a:xfrm>
            <a:off x="882316" y="896586"/>
            <a:ext cx="10684042" cy="5897246"/>
          </a:xfrm>
        </p:spPr>
        <p:txBody>
          <a:bodyPr>
            <a:noAutofit/>
          </a:bodyPr>
          <a:lstStyle/>
          <a:p>
            <a:pPr algn="just">
              <a:buFont typeface="Arial" pitchFamily="34" charset="0"/>
              <a:buChar char="•"/>
            </a:pPr>
            <a:r>
              <a:rPr lang="en-IN" sz="2800" dirty="0"/>
              <a:t>Structures allow us to define application-dependent data objects that can associate individual variables of different types with one another.</a:t>
            </a:r>
          </a:p>
          <a:p>
            <a:pPr algn="just">
              <a:buFont typeface="Arial" pitchFamily="34" charset="0"/>
              <a:buChar char="•"/>
            </a:pPr>
            <a:endParaRPr lang="en-IN" sz="1200" dirty="0"/>
          </a:p>
          <a:p>
            <a:pPr algn="just">
              <a:buFont typeface="Arial" pitchFamily="34" charset="0"/>
              <a:buChar char="•"/>
            </a:pPr>
            <a:r>
              <a:rPr lang="en-IN" sz="2800" dirty="0"/>
              <a:t> This leads to an efficient means of manipulating the data.</a:t>
            </a:r>
          </a:p>
          <a:p>
            <a:pPr algn="just">
              <a:buFont typeface="Arial" pitchFamily="34" charset="0"/>
              <a:buChar char="•"/>
            </a:pPr>
            <a:endParaRPr lang="en-IN" sz="1200" dirty="0"/>
          </a:p>
          <a:p>
            <a:pPr algn="just">
              <a:buFont typeface="Arial" pitchFamily="34" charset="0"/>
              <a:buChar char="•"/>
            </a:pPr>
            <a:r>
              <a:rPr lang="en-IN" sz="2800" dirty="0"/>
              <a:t>Specialized structures, called data structures, can be used for various applications such as messaging between two embedded systems and storing data gathered from a sensor in </a:t>
            </a:r>
            <a:r>
              <a:rPr lang="en-IN" sz="2800" dirty="0" err="1"/>
              <a:t>noncontiguous</a:t>
            </a:r>
            <a:r>
              <a:rPr lang="en-IN" sz="2800" dirty="0"/>
              <a:t> memory locations.</a:t>
            </a:r>
          </a:p>
          <a:p>
            <a:pPr algn="just">
              <a:buFont typeface="Arial" pitchFamily="34" charset="0"/>
              <a:buChar char="•"/>
            </a:pPr>
            <a:endParaRPr lang="en-IN" sz="1200" dirty="0"/>
          </a:p>
          <a:p>
            <a:pPr algn="just">
              <a:buFont typeface="Arial" pitchFamily="34" charset="0"/>
              <a:buChar char="•"/>
            </a:pPr>
            <a:r>
              <a:rPr lang="en-IN" sz="2800" dirty="0"/>
              <a:t>Structures are useful when we need to access the registers of a memory-mapped microcontroller peripheral.</a:t>
            </a:r>
          </a:p>
          <a:p>
            <a:pPr algn="just">
              <a:buFont typeface="Arial" pitchFamily="34" charset="0"/>
              <a:buChar char="•"/>
            </a:pPr>
            <a:endParaRPr lang="en-IN" sz="1200" dirty="0"/>
          </a:p>
          <a:p>
            <a:pPr algn="just">
              <a:buFont typeface="Arial" pitchFamily="34" charset="0"/>
              <a:buChar char="•"/>
            </a:pPr>
            <a:r>
              <a:rPr lang="en-IN" sz="2800" dirty="0"/>
              <a:t>We may be able to make memory usage more efficient by rearranging the order of the members within a structure.</a:t>
            </a:r>
          </a:p>
          <a:p>
            <a:pPr algn="just"/>
            <a:endParaRPr lang="en-IN" sz="3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53979" y="49491"/>
            <a:ext cx="11004884" cy="6711527"/>
          </a:xfrm>
        </p:spPr>
        <p:txBody>
          <a:bodyPr>
            <a:noAutofit/>
          </a:bodyPr>
          <a:lstStyle/>
          <a:p>
            <a:pPr algn="just">
              <a:buFont typeface="Arial" pitchFamily="34" charset="0"/>
              <a:buChar char="•"/>
            </a:pPr>
            <a:r>
              <a:rPr lang="en-IN" sz="2600" dirty="0"/>
              <a:t>A number of variables of the same type that are logically related to one another can be grouped as an </a:t>
            </a:r>
            <a:r>
              <a:rPr lang="en-IN" sz="2600" dirty="0">
                <a:hlinkClick r:id="rId2">
                  <a:extLst>
                    <a:ext uri="{A12FA001-AC4F-418D-AE19-62706E023703}">
                      <ahyp:hlinkClr xmlns:ahyp="http://schemas.microsoft.com/office/drawing/2018/hyperlinkcolor" val="tx"/>
                    </a:ext>
                  </a:extLst>
                </a:hlinkClick>
              </a:rPr>
              <a:t>array</a:t>
            </a:r>
            <a:r>
              <a:rPr lang="en-IN" sz="2600" dirty="0"/>
              <a:t>. </a:t>
            </a:r>
          </a:p>
          <a:p>
            <a:pPr algn="just">
              <a:buFont typeface="Arial" pitchFamily="34" charset="0"/>
              <a:buChar char="•"/>
            </a:pPr>
            <a:r>
              <a:rPr lang="en-IN" sz="2600" dirty="0"/>
              <a:t>Working on a group rather than a collection of independent variables allows us to arrange the data and use it more conveniently. </a:t>
            </a:r>
          </a:p>
          <a:p>
            <a:pPr algn="just">
              <a:buFont typeface="Arial" pitchFamily="34" charset="0"/>
              <a:buChar char="•"/>
            </a:pPr>
            <a:r>
              <a:rPr lang="en-IN" sz="2600" dirty="0"/>
              <a:t>For example, we may define the following array to store the last 50 samples of an ADC that digitizes a voice input:</a:t>
            </a:r>
          </a:p>
          <a:p>
            <a:pPr algn="just"/>
            <a:r>
              <a:rPr lang="en-IN" sz="2600" dirty="0"/>
              <a:t>	          </a:t>
            </a:r>
            <a:r>
              <a:rPr lang="en-IN" sz="2600" dirty="0">
                <a:solidFill>
                  <a:srgbClr val="C00000"/>
                </a:solidFill>
              </a:rPr>
              <a:t>uint16_t voice[50];</a:t>
            </a:r>
          </a:p>
          <a:p>
            <a:pPr algn="just">
              <a:buFont typeface="Arial" pitchFamily="34" charset="0"/>
              <a:buChar char="•"/>
            </a:pPr>
            <a:r>
              <a:rPr lang="en-IN" sz="2600" dirty="0"/>
              <a:t>Arrays can be used to group a number of variables that are of the same data type. </a:t>
            </a:r>
          </a:p>
          <a:p>
            <a:pPr algn="just">
              <a:buFont typeface="Arial" pitchFamily="34" charset="0"/>
              <a:buChar char="•"/>
            </a:pPr>
            <a:r>
              <a:rPr lang="en-IN" sz="2600" dirty="0"/>
              <a:t>Establishing connection between variables of </a:t>
            </a:r>
            <a:r>
              <a:rPr lang="en-IN" sz="2600" i="1" dirty="0"/>
              <a:t>different</a:t>
            </a:r>
            <a:r>
              <a:rPr lang="en-IN" sz="2600" dirty="0"/>
              <a:t> data types? Can we treat these variables as a group in our program? For example, assume that we need to specify the sampling rate of the ADC that generates the </a:t>
            </a:r>
            <a:r>
              <a:rPr lang="en-IN" sz="2600" b="1" i="1" dirty="0"/>
              <a:t>voice</a:t>
            </a:r>
            <a:r>
              <a:rPr lang="en-IN" sz="2600" dirty="0"/>
              <a:t> array . </a:t>
            </a:r>
          </a:p>
          <a:p>
            <a:pPr algn="just">
              <a:buFont typeface="Arial" pitchFamily="34" charset="0"/>
              <a:buChar char="•"/>
            </a:pPr>
            <a:r>
              <a:rPr lang="en-IN" sz="2600" dirty="0"/>
              <a:t>We can define a float variable to store the sample rate:</a:t>
            </a:r>
          </a:p>
          <a:p>
            <a:pPr algn="just"/>
            <a:r>
              <a:rPr lang="en-IN" sz="2600" dirty="0">
                <a:solidFill>
                  <a:srgbClr val="C00000"/>
                </a:solidFill>
              </a:rPr>
              <a:t>                      float </a:t>
            </a:r>
            <a:r>
              <a:rPr lang="en-IN" sz="2600" dirty="0" err="1">
                <a:solidFill>
                  <a:srgbClr val="C00000"/>
                </a:solidFill>
              </a:rPr>
              <a:t>sample_rate</a:t>
            </a:r>
            <a:r>
              <a:rPr lang="en-IN" sz="2600" dirty="0">
                <a:solidFill>
                  <a:srgbClr val="C00000"/>
                </a:solidFill>
              </a:rPr>
              <a:t>;</a:t>
            </a:r>
          </a:p>
          <a:p>
            <a:pPr algn="just"/>
            <a:br>
              <a:rPr lang="en-IN" sz="2600" dirty="0"/>
            </a:br>
            <a:br>
              <a:rPr lang="en-IN" sz="2600" dirty="0"/>
            </a:br>
            <a:endParaRPr lang="en-IN" sz="2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2316" y="112958"/>
            <a:ext cx="10668000" cy="6537224"/>
          </a:xfrm>
        </p:spPr>
        <p:txBody>
          <a:bodyPr>
            <a:noAutofit/>
          </a:bodyPr>
          <a:lstStyle/>
          <a:p>
            <a:pPr algn="just"/>
            <a:r>
              <a:rPr lang="en-IN" dirty="0"/>
              <a:t>Although the variables </a:t>
            </a:r>
            <a:r>
              <a:rPr lang="en-IN" b="1" i="1" dirty="0"/>
              <a:t>voice</a:t>
            </a:r>
            <a:r>
              <a:rPr lang="en-IN" dirty="0"/>
              <a:t> and </a:t>
            </a:r>
            <a:r>
              <a:rPr lang="en-IN" b="1" i="1" dirty="0" err="1"/>
              <a:t>sample_rate</a:t>
            </a:r>
            <a:r>
              <a:rPr lang="en-IN" dirty="0"/>
              <a:t> are related to each other, they are defined as two independent variables. </a:t>
            </a:r>
          </a:p>
          <a:p>
            <a:pPr algn="just"/>
            <a:endParaRPr lang="en-IN" sz="1200" dirty="0"/>
          </a:p>
          <a:p>
            <a:pPr algn="just"/>
            <a:r>
              <a:rPr lang="en-IN" dirty="0"/>
              <a:t>To associate these two variables with each other, we can use a powerful data construct of the C language called a structure.</a:t>
            </a:r>
          </a:p>
          <a:p>
            <a:pPr algn="just"/>
            <a:endParaRPr lang="en-IN" sz="1400" dirty="0"/>
          </a:p>
          <a:p>
            <a:pPr algn="just"/>
            <a:r>
              <a:rPr lang="en-IN" dirty="0"/>
              <a:t> Structures allow us to group different data types and deal with them as a single data object. </a:t>
            </a:r>
          </a:p>
          <a:p>
            <a:pPr algn="just"/>
            <a:endParaRPr lang="en-IN" sz="1200" dirty="0"/>
          </a:p>
          <a:p>
            <a:pPr algn="just"/>
            <a:r>
              <a:rPr lang="en-IN" dirty="0"/>
              <a:t>Structures allow us to define application-dependent data objects that can associate individual variables of different types with one another.</a:t>
            </a:r>
          </a:p>
          <a:p>
            <a:pPr algn="just"/>
            <a:endParaRPr lang="en-IN" sz="1200" dirty="0"/>
          </a:p>
          <a:p>
            <a:pPr algn="just"/>
            <a:r>
              <a:rPr lang="en-IN" dirty="0"/>
              <a:t> This leads to an efficient means of manipulating the data.</a:t>
            </a:r>
          </a:p>
          <a:p>
            <a:pPr algn="just"/>
            <a:endParaRPr lang="en-IN" sz="1200" dirty="0"/>
          </a:p>
          <a:p>
            <a:pPr algn="just"/>
            <a:r>
              <a:rPr lang="en-IN" dirty="0"/>
              <a:t>Structures are useful when we need to access the registers of a memory-mapped microcontroller peripheral.</a:t>
            </a:r>
          </a:p>
          <a:p>
            <a:pPr algn="just"/>
            <a:endParaRPr lang="en-IN" dirty="0"/>
          </a:p>
          <a:p>
            <a:pPr algn="just"/>
            <a:endParaRPr lang="en-IN"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599" y="357167"/>
            <a:ext cx="11085095" cy="5594454"/>
          </a:xfrm>
        </p:spPr>
        <p:txBody>
          <a:bodyPr>
            <a:noAutofit/>
          </a:bodyPr>
          <a:lstStyle/>
          <a:p>
            <a:pPr algn="just"/>
            <a:r>
              <a:rPr lang="en-IN" dirty="0"/>
              <a:t>A structure can include different sorts of variable types such as other structures, pointers to functions, pointers to structures, etc. </a:t>
            </a:r>
          </a:p>
          <a:p>
            <a:pPr algn="just"/>
            <a:r>
              <a:rPr lang="en-IN" dirty="0"/>
              <a:t>For the voice example, we can use the following structure:</a:t>
            </a:r>
          </a:p>
          <a:p>
            <a:pPr algn="just"/>
            <a:r>
              <a:rPr lang="en-IN" dirty="0">
                <a:solidFill>
                  <a:srgbClr val="FF0000"/>
                </a:solidFill>
              </a:rPr>
              <a:t>struct record</a:t>
            </a:r>
          </a:p>
          <a:p>
            <a:pPr algn="just">
              <a:buNone/>
            </a:pPr>
            <a:r>
              <a:rPr lang="en-IN" dirty="0">
                <a:solidFill>
                  <a:srgbClr val="FF0000"/>
                </a:solidFill>
              </a:rPr>
              <a:t>	 {</a:t>
            </a:r>
          </a:p>
          <a:p>
            <a:pPr algn="just">
              <a:buNone/>
            </a:pPr>
            <a:r>
              <a:rPr lang="en-IN" dirty="0">
                <a:solidFill>
                  <a:srgbClr val="FF0000"/>
                </a:solidFill>
              </a:rPr>
              <a:t>      uint16_t voice[50];</a:t>
            </a:r>
          </a:p>
          <a:p>
            <a:pPr algn="just">
              <a:buNone/>
            </a:pPr>
            <a:r>
              <a:rPr lang="en-IN" dirty="0">
                <a:solidFill>
                  <a:srgbClr val="FF0000"/>
                </a:solidFill>
              </a:rPr>
              <a:t>	   float </a:t>
            </a:r>
            <a:r>
              <a:rPr lang="en-IN" dirty="0" err="1">
                <a:solidFill>
                  <a:srgbClr val="FF0000"/>
                </a:solidFill>
              </a:rPr>
              <a:t>sample_rate</a:t>
            </a:r>
            <a:r>
              <a:rPr lang="en-IN" dirty="0">
                <a:solidFill>
                  <a:srgbClr val="FF0000"/>
                </a:solidFill>
              </a:rPr>
              <a:t>; </a:t>
            </a:r>
          </a:p>
          <a:p>
            <a:pPr algn="just">
              <a:buNone/>
            </a:pPr>
            <a:r>
              <a:rPr lang="en-IN" dirty="0">
                <a:solidFill>
                  <a:srgbClr val="FF0000"/>
                </a:solidFill>
              </a:rPr>
              <a:t>	};</a:t>
            </a:r>
          </a:p>
          <a:p>
            <a:pPr algn="just"/>
            <a:r>
              <a:rPr lang="en-IN" dirty="0"/>
              <a:t>Data structures can be used for various applications such as messaging    between two embedded systems and storing data gathered from a sensor in </a:t>
            </a:r>
            <a:r>
              <a:rPr lang="en-IN" dirty="0" err="1"/>
              <a:t>noncontiguous</a:t>
            </a:r>
            <a:r>
              <a:rPr lang="en-IN" dirty="0"/>
              <a:t> memory locations.</a:t>
            </a:r>
          </a:p>
          <a:p>
            <a:pPr marL="0" indent="0" algn="just">
              <a:buNone/>
            </a:pPr>
            <a:endParaRPr lang="en-IN" dirty="0"/>
          </a:p>
          <a:p>
            <a:pPr algn="just"/>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9804" y="142852"/>
            <a:ext cx="8229600" cy="654032"/>
          </a:xfrm>
        </p:spPr>
        <p:txBody>
          <a:bodyPr>
            <a:normAutofit fontScale="90000"/>
          </a:bodyPr>
          <a:lstStyle/>
          <a:p>
            <a:br>
              <a:rPr lang="en-IN" b="1" dirty="0"/>
            </a:br>
            <a:r>
              <a:rPr lang="en-IN" b="1" dirty="0">
                <a:solidFill>
                  <a:srgbClr val="FF0000"/>
                </a:solidFill>
              </a:rPr>
              <a:t>Declaring a Structure</a:t>
            </a:r>
            <a:br>
              <a:rPr lang="en-IN" b="1" dirty="0"/>
            </a:br>
            <a:endParaRPr lang="en-IN" dirty="0"/>
          </a:p>
        </p:txBody>
      </p:sp>
      <p:sp>
        <p:nvSpPr>
          <p:cNvPr id="3" name="Content Placeholder 2"/>
          <p:cNvSpPr>
            <a:spLocks noGrp="1"/>
          </p:cNvSpPr>
          <p:nvPr>
            <p:ph idx="1"/>
          </p:nvPr>
        </p:nvSpPr>
        <p:spPr>
          <a:xfrm>
            <a:off x="401053" y="1049737"/>
            <a:ext cx="11293642" cy="5559609"/>
          </a:xfrm>
        </p:spPr>
        <p:txBody>
          <a:bodyPr>
            <a:normAutofit fontScale="92500"/>
          </a:bodyPr>
          <a:lstStyle/>
          <a:p>
            <a:pPr algn="just"/>
            <a:r>
              <a:rPr lang="en-IN" dirty="0"/>
              <a:t>It’s worthwhile to mention that there is no memory allocation for storing a structure template. </a:t>
            </a:r>
          </a:p>
          <a:p>
            <a:pPr algn="just"/>
            <a:endParaRPr lang="en-IN" dirty="0"/>
          </a:p>
          <a:p>
            <a:pPr algn="just"/>
            <a:r>
              <a:rPr lang="en-IN" dirty="0"/>
              <a:t>Memory allocation occurs only after a structure variable based on this layout is defined. </a:t>
            </a:r>
          </a:p>
          <a:p>
            <a:pPr algn="just"/>
            <a:endParaRPr lang="en-IN" dirty="0"/>
          </a:p>
          <a:p>
            <a:pPr algn="just"/>
            <a:r>
              <a:rPr lang="en-IN" dirty="0"/>
              <a:t>The following code declares the variable </a:t>
            </a:r>
            <a:r>
              <a:rPr lang="en-IN" b="1" i="1" dirty="0"/>
              <a:t>mic1</a:t>
            </a:r>
            <a:r>
              <a:rPr lang="en-IN" dirty="0"/>
              <a:t> of the above template:</a:t>
            </a:r>
          </a:p>
          <a:p>
            <a:pPr marL="0" indent="0" algn="just">
              <a:buNone/>
            </a:pPr>
            <a:r>
              <a:rPr lang="en-IN" dirty="0"/>
              <a:t>     struct record mic1;</a:t>
            </a:r>
          </a:p>
          <a:p>
            <a:pPr marL="0" indent="0" algn="just">
              <a:buNone/>
            </a:pPr>
            <a:endParaRPr lang="en-IN" dirty="0"/>
          </a:p>
          <a:p>
            <a:pPr algn="just"/>
            <a:r>
              <a:rPr lang="en-IN" dirty="0"/>
              <a:t>Now, a section of memory is allocated for the variable </a:t>
            </a:r>
            <a:r>
              <a:rPr lang="en-IN" b="1" i="1" dirty="0"/>
              <a:t>mic1</a:t>
            </a:r>
            <a:r>
              <a:rPr lang="en-IN" dirty="0"/>
              <a:t>.</a:t>
            </a:r>
          </a:p>
          <a:p>
            <a:pPr algn="just"/>
            <a:endParaRPr lang="en-IN" dirty="0"/>
          </a:p>
          <a:p>
            <a:pPr algn="just"/>
            <a:r>
              <a:rPr lang="en-IN" dirty="0"/>
              <a:t> It has space to store the  </a:t>
            </a:r>
            <a:r>
              <a:rPr lang="en-IN" b="1" i="1" dirty="0"/>
              <a:t>uint16_t</a:t>
            </a:r>
            <a:r>
              <a:rPr lang="en-IN" dirty="0"/>
              <a:t> elements of the array and one float variable.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257" y="374073"/>
            <a:ext cx="10515600" cy="803564"/>
          </a:xfrm>
        </p:spPr>
        <p:txBody>
          <a:bodyPr/>
          <a:lstStyle/>
          <a:p>
            <a:r>
              <a:rPr lang="en-IN" dirty="0">
                <a:solidFill>
                  <a:srgbClr val="C00000"/>
                </a:solidFill>
              </a:rPr>
              <a:t>Functions</a:t>
            </a:r>
          </a:p>
        </p:txBody>
      </p:sp>
      <p:sp>
        <p:nvSpPr>
          <p:cNvPr id="3" name="Content Placeholder 2"/>
          <p:cNvSpPr>
            <a:spLocks noGrp="1"/>
          </p:cNvSpPr>
          <p:nvPr>
            <p:ph idx="1"/>
          </p:nvPr>
        </p:nvSpPr>
        <p:spPr>
          <a:xfrm>
            <a:off x="746760" y="1177636"/>
            <a:ext cx="10515600" cy="5419107"/>
          </a:xfrm>
        </p:spPr>
        <p:txBody>
          <a:bodyPr>
            <a:normAutofit/>
          </a:bodyPr>
          <a:lstStyle/>
          <a:p>
            <a:pPr algn="just"/>
            <a:r>
              <a:rPr lang="en-US" dirty="0"/>
              <a:t>Function is a group of statements that together perform a task.</a:t>
            </a:r>
            <a:endParaRPr lang="en-IN" dirty="0"/>
          </a:p>
          <a:p>
            <a:pPr algn="just"/>
            <a:r>
              <a:rPr lang="en-IN" dirty="0"/>
              <a:t>A function is a self contained and reusable code snippet intended to perform a particular task.</a:t>
            </a:r>
          </a:p>
          <a:p>
            <a:pPr algn="just"/>
            <a:r>
              <a:rPr lang="en-IN" dirty="0"/>
              <a:t>Embedded C supports two different types of functions:</a:t>
            </a:r>
          </a:p>
          <a:p>
            <a:pPr algn="just"/>
            <a:r>
              <a:rPr lang="en-IN" dirty="0"/>
              <a:t>Library functions and user defined functions</a:t>
            </a:r>
          </a:p>
          <a:p>
            <a:pPr algn="just"/>
            <a:r>
              <a:rPr lang="en-IN" dirty="0"/>
              <a:t>Library functions are built-in functions which are ether part of standard ‘Embedded C’ library or user created library files.</a:t>
            </a:r>
          </a:p>
          <a:p>
            <a:pPr algn="just"/>
            <a:r>
              <a:rPr lang="en-IN" dirty="0"/>
              <a:t>Library files are categorised into various types like I/O functions, string operation functions, memory allocation functions etc.</a:t>
            </a:r>
          </a:p>
          <a:p>
            <a:pPr algn="just"/>
            <a:r>
              <a:rPr lang="en-IN" dirty="0" err="1"/>
              <a:t>Eg</a:t>
            </a:r>
            <a:r>
              <a:rPr lang="en-IN" dirty="0"/>
              <a:t>: </a:t>
            </a:r>
            <a:r>
              <a:rPr lang="en-IN" dirty="0" err="1"/>
              <a:t>printf</a:t>
            </a:r>
            <a:r>
              <a:rPr lang="en-IN" dirty="0"/>
              <a:t>(), </a:t>
            </a:r>
            <a:r>
              <a:rPr lang="en-IN" dirty="0" err="1"/>
              <a:t>strcpy</a:t>
            </a:r>
            <a:r>
              <a:rPr lang="en-IN" dirty="0"/>
              <a:t>(), </a:t>
            </a:r>
            <a:r>
              <a:rPr lang="en-IN" dirty="0" err="1"/>
              <a:t>malloc</a:t>
            </a:r>
            <a:r>
              <a:rPr lang="en-IN" dirty="0"/>
              <a:t>()</a:t>
            </a:r>
          </a:p>
          <a:p>
            <a:pPr algn="just"/>
            <a:endParaRPr lang="en-IN" dirty="0"/>
          </a:p>
        </p:txBody>
      </p:sp>
    </p:spTree>
    <p:extLst>
      <p:ext uri="{BB962C8B-B14F-4D97-AF65-F5344CB8AC3E}">
        <p14:creationId xmlns:p14="http://schemas.microsoft.com/office/powerpoint/2010/main" val="38478853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E341E-3AE4-4C43-A155-1EAD6529698C}"/>
              </a:ext>
            </a:extLst>
          </p:cNvPr>
          <p:cNvSpPr>
            <a:spLocks noGrp="1"/>
          </p:cNvSpPr>
          <p:nvPr>
            <p:ph type="ctrTitle"/>
          </p:nvPr>
        </p:nvSpPr>
        <p:spPr>
          <a:xfrm>
            <a:off x="1524000" y="112713"/>
            <a:ext cx="9144000" cy="763587"/>
          </a:xfrm>
        </p:spPr>
        <p:txBody>
          <a:bodyPr>
            <a:normAutofit fontScale="90000"/>
          </a:bodyPr>
          <a:lstStyle/>
          <a:p>
            <a:r>
              <a:rPr lang="en-US" dirty="0">
                <a:solidFill>
                  <a:srgbClr val="C00000"/>
                </a:solidFill>
              </a:rPr>
              <a:t>Function</a:t>
            </a:r>
            <a:endParaRPr lang="en-IN" dirty="0">
              <a:solidFill>
                <a:srgbClr val="C00000"/>
              </a:solidFill>
            </a:endParaRPr>
          </a:p>
        </p:txBody>
      </p:sp>
      <p:sp>
        <p:nvSpPr>
          <p:cNvPr id="3" name="Subtitle 2">
            <a:extLst>
              <a:ext uri="{FF2B5EF4-FFF2-40B4-BE49-F238E27FC236}">
                <a16:creationId xmlns:a16="http://schemas.microsoft.com/office/drawing/2014/main" id="{1FF0F11E-9E89-41D3-B0C2-1F387C79A0C7}"/>
              </a:ext>
            </a:extLst>
          </p:cNvPr>
          <p:cNvSpPr>
            <a:spLocks noGrp="1"/>
          </p:cNvSpPr>
          <p:nvPr>
            <p:ph type="subTitle" idx="1"/>
          </p:nvPr>
        </p:nvSpPr>
        <p:spPr>
          <a:xfrm>
            <a:off x="586855" y="1157095"/>
            <a:ext cx="10918208" cy="5451712"/>
          </a:xfrm>
        </p:spPr>
        <p:txBody>
          <a:bodyPr>
            <a:noAutofit/>
          </a:bodyPr>
          <a:lstStyle/>
          <a:p>
            <a:pPr marL="342900" indent="-342900" algn="just">
              <a:buFont typeface="Arial" panose="020B0604020202020204" pitchFamily="34" charset="0"/>
              <a:buChar char="•"/>
            </a:pPr>
            <a:r>
              <a:rPr lang="en-US" sz="2800" dirty="0"/>
              <a:t>Every C program has at least one function, which is </a:t>
            </a:r>
            <a:r>
              <a:rPr lang="en-US" sz="2800" b="1" dirty="0"/>
              <a:t>main()</a:t>
            </a:r>
            <a:r>
              <a:rPr lang="en-US" sz="2800" dirty="0"/>
              <a:t>, and all the most trivial programs can define additional functions.</a:t>
            </a:r>
          </a:p>
          <a:p>
            <a:pPr marL="342900" indent="-342900" algn="just">
              <a:buFont typeface="Arial" panose="020B0604020202020204" pitchFamily="34" charset="0"/>
              <a:buChar char="•"/>
            </a:pPr>
            <a:r>
              <a:rPr lang="en-US" sz="2800" dirty="0"/>
              <a:t>A function </a:t>
            </a:r>
            <a:r>
              <a:rPr lang="en-US" sz="2800" b="1" dirty="0"/>
              <a:t>declaration</a:t>
            </a:r>
            <a:r>
              <a:rPr lang="en-US" sz="2800" dirty="0"/>
              <a:t> tells the compiler about a function's name, return type, and parameters. </a:t>
            </a:r>
          </a:p>
          <a:p>
            <a:pPr marL="342900" indent="-342900" algn="just">
              <a:buFont typeface="Arial" panose="020B0604020202020204" pitchFamily="34" charset="0"/>
              <a:buChar char="•"/>
            </a:pPr>
            <a:r>
              <a:rPr lang="en-US" sz="2800" dirty="0"/>
              <a:t>A function </a:t>
            </a:r>
            <a:r>
              <a:rPr lang="en-US" sz="2800" b="1" dirty="0"/>
              <a:t>definition</a:t>
            </a:r>
            <a:r>
              <a:rPr lang="en-US" sz="2800" dirty="0"/>
              <a:t> provides the actual body of the function.</a:t>
            </a:r>
          </a:p>
          <a:p>
            <a:pPr marL="342900" indent="-342900" algn="just">
              <a:buFont typeface="Arial" panose="020B0604020202020204" pitchFamily="34" charset="0"/>
              <a:buChar char="•"/>
            </a:pPr>
            <a:r>
              <a:rPr lang="en-US" sz="2800" dirty="0"/>
              <a:t>The C standard library provides numerous built-in functions that your program can call. For example, </a:t>
            </a:r>
            <a:r>
              <a:rPr lang="en-US" sz="2800" b="1" dirty="0" err="1"/>
              <a:t>strcat</a:t>
            </a:r>
            <a:r>
              <a:rPr lang="en-US" sz="2800" b="1" dirty="0"/>
              <a:t>()</a:t>
            </a:r>
            <a:r>
              <a:rPr lang="en-US" sz="2800" dirty="0"/>
              <a:t> to concatenate two strings, </a:t>
            </a:r>
            <a:r>
              <a:rPr lang="en-US" sz="2800" b="1" dirty="0" err="1"/>
              <a:t>memcpy</a:t>
            </a:r>
            <a:r>
              <a:rPr lang="en-US" sz="2800" b="1" dirty="0"/>
              <a:t>()</a:t>
            </a:r>
            <a:r>
              <a:rPr lang="en-US" sz="2800" dirty="0"/>
              <a:t> to copy one memory location to another location, and many more functions.</a:t>
            </a:r>
          </a:p>
          <a:p>
            <a:pPr marL="342900" indent="-342900" algn="just">
              <a:buFont typeface="Arial" panose="020B0604020202020204" pitchFamily="34" charset="0"/>
              <a:buChar char="•"/>
            </a:pPr>
            <a:r>
              <a:rPr lang="en-US" sz="2800" dirty="0"/>
              <a:t>A function can also be referred as a method or a sub-routine or a procedure, etc.</a:t>
            </a:r>
          </a:p>
          <a:p>
            <a:pPr marL="342900" indent="-342900" algn="l">
              <a:buFont typeface="Arial" panose="020B0604020202020204" pitchFamily="34" charset="0"/>
              <a:buChar char="•"/>
            </a:pPr>
            <a:endParaRPr lang="en-IN" sz="2800" dirty="0"/>
          </a:p>
        </p:txBody>
      </p:sp>
    </p:spTree>
    <p:extLst>
      <p:ext uri="{BB962C8B-B14F-4D97-AF65-F5344CB8AC3E}">
        <p14:creationId xmlns:p14="http://schemas.microsoft.com/office/powerpoint/2010/main" val="30662258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BC3E3-AE59-451F-9965-CF41B13A6595}"/>
              </a:ext>
            </a:extLst>
          </p:cNvPr>
          <p:cNvSpPr>
            <a:spLocks noGrp="1"/>
          </p:cNvSpPr>
          <p:nvPr>
            <p:ph type="title"/>
          </p:nvPr>
        </p:nvSpPr>
        <p:spPr>
          <a:xfrm>
            <a:off x="838200" y="171158"/>
            <a:ext cx="10515600" cy="535627"/>
          </a:xfrm>
        </p:spPr>
        <p:txBody>
          <a:bodyPr>
            <a:normAutofit fontScale="90000"/>
          </a:bodyPr>
          <a:lstStyle/>
          <a:p>
            <a:br>
              <a:rPr lang="en-IN" sz="900" dirty="0">
                <a:latin typeface="+mn-lt"/>
              </a:rPr>
            </a:br>
            <a:r>
              <a:rPr lang="en-IN" sz="3600" b="1" dirty="0">
                <a:solidFill>
                  <a:srgbClr val="C00000"/>
                </a:solidFill>
                <a:latin typeface="+mn-lt"/>
              </a:rPr>
              <a:t>Defining a Function</a:t>
            </a:r>
            <a:br>
              <a:rPr lang="en-IN" sz="900" dirty="0">
                <a:latin typeface="+mn-lt"/>
              </a:rPr>
            </a:br>
            <a:endParaRPr lang="en-IN" sz="900" dirty="0">
              <a:latin typeface="+mn-lt"/>
            </a:endParaRPr>
          </a:p>
        </p:txBody>
      </p:sp>
      <p:sp>
        <p:nvSpPr>
          <p:cNvPr id="3" name="Content Placeholder 2">
            <a:extLst>
              <a:ext uri="{FF2B5EF4-FFF2-40B4-BE49-F238E27FC236}">
                <a16:creationId xmlns:a16="http://schemas.microsoft.com/office/drawing/2014/main" id="{596EFDDE-1DAB-4B2D-9E7A-8C895FC1B789}"/>
              </a:ext>
            </a:extLst>
          </p:cNvPr>
          <p:cNvSpPr>
            <a:spLocks noGrp="1"/>
          </p:cNvSpPr>
          <p:nvPr>
            <p:ph idx="1"/>
          </p:nvPr>
        </p:nvSpPr>
        <p:spPr>
          <a:xfrm>
            <a:off x="838200" y="851040"/>
            <a:ext cx="10515600" cy="5951540"/>
          </a:xfrm>
        </p:spPr>
        <p:txBody>
          <a:bodyPr>
            <a:noAutofit/>
          </a:bodyPr>
          <a:lstStyle/>
          <a:p>
            <a:r>
              <a:rPr lang="en-US" sz="2400" dirty="0"/>
              <a:t>The general form of a function definition in C programming language is as follows</a:t>
            </a:r>
          </a:p>
          <a:p>
            <a:r>
              <a:rPr lang="en-US" altLang="en-US" sz="2400" dirty="0" err="1">
                <a:solidFill>
                  <a:srgbClr val="000000"/>
                </a:solidFill>
                <a:cs typeface="Courier New" panose="02070309020205020404" pitchFamily="49" charset="0"/>
              </a:rPr>
              <a:t>return_type</a:t>
            </a:r>
            <a:r>
              <a:rPr lang="en-US" altLang="en-US" sz="2400" dirty="0">
                <a:solidFill>
                  <a:srgbClr val="000000"/>
                </a:solidFill>
                <a:cs typeface="Courier New" panose="02070309020205020404" pitchFamily="49" charset="0"/>
              </a:rPr>
              <a:t>  </a:t>
            </a:r>
            <a:r>
              <a:rPr lang="en-US" altLang="en-US" sz="2400" dirty="0" err="1">
                <a:solidFill>
                  <a:srgbClr val="000000"/>
                </a:solidFill>
                <a:cs typeface="Courier New" panose="02070309020205020404" pitchFamily="49" charset="0"/>
              </a:rPr>
              <a:t>function_name</a:t>
            </a:r>
            <a:r>
              <a:rPr lang="en-US" altLang="en-US" sz="2400" dirty="0">
                <a:solidFill>
                  <a:srgbClr val="666600"/>
                </a:solidFill>
                <a:cs typeface="Courier New" panose="02070309020205020404" pitchFamily="49" charset="0"/>
              </a:rPr>
              <a:t>(</a:t>
            </a:r>
            <a:r>
              <a:rPr lang="en-US" altLang="en-US" sz="2400" dirty="0">
                <a:solidFill>
                  <a:srgbClr val="000000"/>
                </a:solidFill>
                <a:cs typeface="Courier New" panose="02070309020205020404" pitchFamily="49" charset="0"/>
              </a:rPr>
              <a:t> parameter list </a:t>
            </a:r>
            <a:r>
              <a:rPr lang="en-US" altLang="en-US" sz="2400" dirty="0">
                <a:solidFill>
                  <a:srgbClr val="666600"/>
                </a:solidFill>
                <a:cs typeface="Courier New" panose="02070309020205020404" pitchFamily="49" charset="0"/>
              </a:rPr>
              <a:t>)</a:t>
            </a:r>
            <a:r>
              <a:rPr lang="en-US" altLang="en-US" sz="2400" dirty="0">
                <a:solidFill>
                  <a:srgbClr val="000000"/>
                </a:solidFill>
                <a:cs typeface="Courier New" panose="02070309020205020404" pitchFamily="49" charset="0"/>
              </a:rPr>
              <a:t> </a:t>
            </a:r>
          </a:p>
          <a:p>
            <a:pPr marL="0" indent="0">
              <a:buNone/>
            </a:pPr>
            <a:r>
              <a:rPr lang="en-US" altLang="en-US" sz="2400" dirty="0">
                <a:solidFill>
                  <a:srgbClr val="000000"/>
                </a:solidFill>
                <a:cs typeface="Courier New" panose="02070309020205020404" pitchFamily="49" charset="0"/>
              </a:rPr>
              <a:t>   </a:t>
            </a:r>
            <a:r>
              <a:rPr lang="en-US" altLang="en-US" sz="2400" dirty="0">
                <a:solidFill>
                  <a:srgbClr val="666600"/>
                </a:solidFill>
                <a:cs typeface="Courier New" panose="02070309020205020404" pitchFamily="49" charset="0"/>
              </a:rPr>
              <a:t>{</a:t>
            </a:r>
            <a:r>
              <a:rPr lang="en-US" altLang="en-US" sz="2400" dirty="0">
                <a:solidFill>
                  <a:srgbClr val="000000"/>
                </a:solidFill>
                <a:cs typeface="Courier New" panose="02070309020205020404" pitchFamily="49" charset="0"/>
              </a:rPr>
              <a:t> </a:t>
            </a:r>
          </a:p>
          <a:p>
            <a:pPr marL="0" indent="0">
              <a:buNone/>
            </a:pPr>
            <a:r>
              <a:rPr lang="en-US" altLang="en-US" sz="2400" dirty="0">
                <a:solidFill>
                  <a:srgbClr val="000000"/>
                </a:solidFill>
                <a:cs typeface="Courier New" panose="02070309020205020404" pitchFamily="49" charset="0"/>
              </a:rPr>
              <a:t>body </a:t>
            </a:r>
            <a:r>
              <a:rPr lang="en-US" altLang="en-US" sz="2400" dirty="0">
                <a:solidFill>
                  <a:srgbClr val="000088"/>
                </a:solidFill>
                <a:cs typeface="Courier New" panose="02070309020205020404" pitchFamily="49" charset="0"/>
              </a:rPr>
              <a:t>of</a:t>
            </a:r>
            <a:r>
              <a:rPr lang="en-US" altLang="en-US" sz="2400" dirty="0">
                <a:solidFill>
                  <a:srgbClr val="000000"/>
                </a:solidFill>
                <a:cs typeface="Courier New" panose="02070309020205020404" pitchFamily="49" charset="0"/>
              </a:rPr>
              <a:t> the </a:t>
            </a:r>
            <a:r>
              <a:rPr lang="en-US" altLang="en-US" sz="2400" dirty="0">
                <a:solidFill>
                  <a:srgbClr val="000088"/>
                </a:solidFill>
                <a:cs typeface="Courier New" panose="02070309020205020404" pitchFamily="49" charset="0"/>
              </a:rPr>
              <a:t>function</a:t>
            </a:r>
            <a:r>
              <a:rPr lang="en-US" altLang="en-US" sz="2400" dirty="0">
                <a:solidFill>
                  <a:srgbClr val="000000"/>
                </a:solidFill>
                <a:cs typeface="Courier New" panose="02070309020205020404" pitchFamily="49" charset="0"/>
              </a:rPr>
              <a:t> </a:t>
            </a:r>
          </a:p>
          <a:p>
            <a:pPr marL="0" indent="0">
              <a:buNone/>
            </a:pPr>
            <a:r>
              <a:rPr lang="en-US" altLang="en-US" sz="2400" dirty="0">
                <a:solidFill>
                  <a:srgbClr val="666600"/>
                </a:solidFill>
                <a:cs typeface="Courier New" panose="02070309020205020404" pitchFamily="49" charset="0"/>
              </a:rPr>
              <a:t>}</a:t>
            </a:r>
            <a:r>
              <a:rPr lang="en-US" altLang="en-US" sz="2400" dirty="0"/>
              <a:t> </a:t>
            </a:r>
          </a:p>
          <a:p>
            <a:pPr marL="0" indent="0">
              <a:buNone/>
            </a:pPr>
            <a:r>
              <a:rPr lang="en-IN" sz="2400" b="1" dirty="0">
                <a:solidFill>
                  <a:srgbClr val="00B0F0"/>
                </a:solidFill>
              </a:rPr>
              <a:t>Example</a:t>
            </a:r>
          </a:p>
          <a:p>
            <a:pPr marL="0" indent="0">
              <a:buNone/>
            </a:pPr>
            <a:r>
              <a:rPr lang="en-US" altLang="en-US" sz="2400" dirty="0">
                <a:solidFill>
                  <a:srgbClr val="880000"/>
                </a:solidFill>
                <a:cs typeface="Courier New" panose="02070309020205020404" pitchFamily="49" charset="0"/>
              </a:rPr>
              <a:t>/* function returning the max between two numbers */</a:t>
            </a:r>
            <a:r>
              <a:rPr lang="en-US" altLang="en-US" sz="2400" dirty="0">
                <a:solidFill>
                  <a:srgbClr val="000000"/>
                </a:solidFill>
                <a:cs typeface="Courier New" panose="02070309020205020404" pitchFamily="49" charset="0"/>
              </a:rPr>
              <a:t> </a:t>
            </a:r>
          </a:p>
          <a:p>
            <a:pPr marL="0" indent="0">
              <a:buNone/>
            </a:pPr>
            <a:r>
              <a:rPr lang="en-US" altLang="en-US" sz="2400" dirty="0">
                <a:solidFill>
                  <a:srgbClr val="000088"/>
                </a:solidFill>
                <a:cs typeface="Courier New" panose="02070309020205020404" pitchFamily="49" charset="0"/>
              </a:rPr>
              <a:t>  int</a:t>
            </a:r>
            <a:r>
              <a:rPr lang="en-US" altLang="en-US" sz="2400" dirty="0">
                <a:solidFill>
                  <a:srgbClr val="000000"/>
                </a:solidFill>
                <a:cs typeface="Courier New" panose="02070309020205020404" pitchFamily="49" charset="0"/>
              </a:rPr>
              <a:t> max</a:t>
            </a:r>
            <a:r>
              <a:rPr lang="en-US" altLang="en-US" sz="2400" dirty="0">
                <a:solidFill>
                  <a:srgbClr val="666600"/>
                </a:solidFill>
                <a:cs typeface="Courier New" panose="02070309020205020404" pitchFamily="49" charset="0"/>
              </a:rPr>
              <a:t>(</a:t>
            </a:r>
            <a:r>
              <a:rPr lang="en-US" altLang="en-US" sz="2400" dirty="0">
                <a:solidFill>
                  <a:srgbClr val="000088"/>
                </a:solidFill>
                <a:cs typeface="Courier New" panose="02070309020205020404" pitchFamily="49" charset="0"/>
              </a:rPr>
              <a:t>int</a:t>
            </a:r>
            <a:r>
              <a:rPr lang="en-US" altLang="en-US" sz="2400" dirty="0">
                <a:solidFill>
                  <a:srgbClr val="000000"/>
                </a:solidFill>
                <a:cs typeface="Courier New" panose="02070309020205020404" pitchFamily="49" charset="0"/>
              </a:rPr>
              <a:t> num1</a:t>
            </a:r>
            <a:r>
              <a:rPr lang="en-US" altLang="en-US" sz="2400" dirty="0">
                <a:solidFill>
                  <a:srgbClr val="666600"/>
                </a:solidFill>
                <a:cs typeface="Courier New" panose="02070309020205020404" pitchFamily="49" charset="0"/>
              </a:rPr>
              <a:t>,</a:t>
            </a:r>
            <a:r>
              <a:rPr lang="en-US" altLang="en-US" sz="2400" dirty="0">
                <a:solidFill>
                  <a:srgbClr val="000000"/>
                </a:solidFill>
                <a:cs typeface="Courier New" panose="02070309020205020404" pitchFamily="49" charset="0"/>
              </a:rPr>
              <a:t> </a:t>
            </a:r>
            <a:r>
              <a:rPr lang="en-US" altLang="en-US" sz="2400" dirty="0">
                <a:solidFill>
                  <a:srgbClr val="000088"/>
                </a:solidFill>
                <a:cs typeface="Courier New" panose="02070309020205020404" pitchFamily="49" charset="0"/>
              </a:rPr>
              <a:t>int</a:t>
            </a:r>
            <a:r>
              <a:rPr lang="en-US" altLang="en-US" sz="2400" dirty="0">
                <a:solidFill>
                  <a:srgbClr val="000000"/>
                </a:solidFill>
                <a:cs typeface="Courier New" panose="02070309020205020404" pitchFamily="49" charset="0"/>
              </a:rPr>
              <a:t> num2</a:t>
            </a:r>
            <a:r>
              <a:rPr lang="en-US" altLang="en-US" sz="2400" dirty="0">
                <a:solidFill>
                  <a:srgbClr val="666600"/>
                </a:solidFill>
                <a:cs typeface="Courier New" panose="02070309020205020404" pitchFamily="49" charset="0"/>
              </a:rPr>
              <a:t>)</a:t>
            </a:r>
            <a:r>
              <a:rPr lang="en-US" altLang="en-US" sz="2400" dirty="0">
                <a:solidFill>
                  <a:srgbClr val="000000"/>
                </a:solidFill>
                <a:cs typeface="Courier New" panose="02070309020205020404" pitchFamily="49" charset="0"/>
              </a:rPr>
              <a:t> </a:t>
            </a:r>
            <a:r>
              <a:rPr lang="en-US" altLang="en-US" sz="2400" dirty="0">
                <a:solidFill>
                  <a:srgbClr val="666600"/>
                </a:solidFill>
                <a:cs typeface="Courier New" panose="02070309020205020404" pitchFamily="49" charset="0"/>
              </a:rPr>
              <a:t>{</a:t>
            </a:r>
            <a:r>
              <a:rPr lang="en-US" altLang="en-US" sz="2400" dirty="0">
                <a:solidFill>
                  <a:srgbClr val="000000"/>
                </a:solidFill>
                <a:cs typeface="Courier New" panose="02070309020205020404" pitchFamily="49" charset="0"/>
              </a:rPr>
              <a:t> </a:t>
            </a:r>
          </a:p>
          <a:p>
            <a:pPr marL="0" indent="0">
              <a:buNone/>
            </a:pPr>
            <a:r>
              <a:rPr lang="en-US" altLang="en-US" sz="2400" dirty="0">
                <a:solidFill>
                  <a:srgbClr val="880000"/>
                </a:solidFill>
                <a:cs typeface="Courier New" panose="02070309020205020404" pitchFamily="49" charset="0"/>
              </a:rPr>
              <a:t>/* local variable declaration */</a:t>
            </a:r>
            <a:r>
              <a:rPr lang="en-US" altLang="en-US" sz="2400" dirty="0">
                <a:solidFill>
                  <a:srgbClr val="000000"/>
                </a:solidFill>
                <a:cs typeface="Courier New" panose="02070309020205020404" pitchFamily="49" charset="0"/>
              </a:rPr>
              <a:t> </a:t>
            </a:r>
          </a:p>
          <a:p>
            <a:pPr marL="0" indent="0">
              <a:buNone/>
            </a:pPr>
            <a:r>
              <a:rPr lang="en-US" altLang="en-US" sz="2400" dirty="0">
                <a:solidFill>
                  <a:srgbClr val="000088"/>
                </a:solidFill>
                <a:cs typeface="Courier New" panose="02070309020205020404" pitchFamily="49" charset="0"/>
              </a:rPr>
              <a:t>  int</a:t>
            </a:r>
            <a:r>
              <a:rPr lang="en-US" altLang="en-US" sz="2400" dirty="0">
                <a:solidFill>
                  <a:srgbClr val="000000"/>
                </a:solidFill>
                <a:cs typeface="Courier New" panose="02070309020205020404" pitchFamily="49" charset="0"/>
              </a:rPr>
              <a:t> result</a:t>
            </a:r>
            <a:r>
              <a:rPr lang="en-US" altLang="en-US" sz="2400" dirty="0">
                <a:solidFill>
                  <a:srgbClr val="666600"/>
                </a:solidFill>
                <a:cs typeface="Courier New" panose="02070309020205020404" pitchFamily="49" charset="0"/>
              </a:rPr>
              <a:t>;</a:t>
            </a:r>
          </a:p>
          <a:p>
            <a:pPr marL="0" indent="0">
              <a:buNone/>
            </a:pPr>
            <a:r>
              <a:rPr lang="en-US" altLang="en-US" sz="2400" dirty="0">
                <a:solidFill>
                  <a:srgbClr val="000000"/>
                </a:solidFill>
                <a:cs typeface="Courier New" panose="02070309020205020404" pitchFamily="49" charset="0"/>
              </a:rPr>
              <a:t> </a:t>
            </a:r>
            <a:r>
              <a:rPr lang="en-US" altLang="en-US" sz="2400" dirty="0">
                <a:solidFill>
                  <a:srgbClr val="000088"/>
                </a:solidFill>
                <a:cs typeface="Courier New" panose="02070309020205020404" pitchFamily="49" charset="0"/>
              </a:rPr>
              <a:t>if</a:t>
            </a:r>
            <a:r>
              <a:rPr lang="en-US" altLang="en-US" sz="2400" dirty="0">
                <a:solidFill>
                  <a:srgbClr val="000000"/>
                </a:solidFill>
                <a:cs typeface="Courier New" panose="02070309020205020404" pitchFamily="49" charset="0"/>
              </a:rPr>
              <a:t> </a:t>
            </a:r>
            <a:r>
              <a:rPr lang="en-US" altLang="en-US" sz="2400" dirty="0">
                <a:solidFill>
                  <a:srgbClr val="666600"/>
                </a:solidFill>
                <a:cs typeface="Courier New" panose="02070309020205020404" pitchFamily="49" charset="0"/>
              </a:rPr>
              <a:t>(</a:t>
            </a:r>
            <a:r>
              <a:rPr lang="en-US" altLang="en-US" sz="2400" dirty="0">
                <a:solidFill>
                  <a:srgbClr val="000000"/>
                </a:solidFill>
                <a:cs typeface="Courier New" panose="02070309020205020404" pitchFamily="49" charset="0"/>
              </a:rPr>
              <a:t>num1 </a:t>
            </a:r>
            <a:r>
              <a:rPr lang="en-US" altLang="en-US" sz="2400" dirty="0">
                <a:solidFill>
                  <a:srgbClr val="666600"/>
                </a:solidFill>
                <a:cs typeface="Courier New" panose="02070309020205020404" pitchFamily="49" charset="0"/>
              </a:rPr>
              <a:t>&gt;</a:t>
            </a:r>
            <a:r>
              <a:rPr lang="en-US" altLang="en-US" sz="2400" dirty="0">
                <a:solidFill>
                  <a:srgbClr val="000000"/>
                </a:solidFill>
                <a:cs typeface="Courier New" panose="02070309020205020404" pitchFamily="49" charset="0"/>
              </a:rPr>
              <a:t> num2</a:t>
            </a:r>
            <a:r>
              <a:rPr lang="en-US" altLang="en-US" sz="2400" dirty="0">
                <a:solidFill>
                  <a:srgbClr val="666600"/>
                </a:solidFill>
                <a:cs typeface="Courier New" panose="02070309020205020404" pitchFamily="49" charset="0"/>
              </a:rPr>
              <a:t>)</a:t>
            </a:r>
            <a:r>
              <a:rPr lang="en-US" altLang="en-US" sz="2400" dirty="0">
                <a:solidFill>
                  <a:srgbClr val="000000"/>
                </a:solidFill>
                <a:cs typeface="Courier New" panose="02070309020205020404" pitchFamily="49" charset="0"/>
              </a:rPr>
              <a:t> result </a:t>
            </a:r>
            <a:r>
              <a:rPr lang="en-US" altLang="en-US" sz="2400" dirty="0">
                <a:solidFill>
                  <a:srgbClr val="666600"/>
                </a:solidFill>
                <a:cs typeface="Courier New" panose="02070309020205020404" pitchFamily="49" charset="0"/>
              </a:rPr>
              <a:t>=</a:t>
            </a:r>
            <a:r>
              <a:rPr lang="en-US" altLang="en-US" sz="2400" dirty="0">
                <a:solidFill>
                  <a:srgbClr val="000000"/>
                </a:solidFill>
                <a:cs typeface="Courier New" panose="02070309020205020404" pitchFamily="49" charset="0"/>
              </a:rPr>
              <a:t> num1</a:t>
            </a:r>
            <a:r>
              <a:rPr lang="en-US" altLang="en-US" sz="2400" dirty="0">
                <a:solidFill>
                  <a:srgbClr val="666600"/>
                </a:solidFill>
                <a:cs typeface="Courier New" panose="02070309020205020404" pitchFamily="49" charset="0"/>
              </a:rPr>
              <a:t>;</a:t>
            </a:r>
          </a:p>
          <a:p>
            <a:pPr marL="0" indent="0">
              <a:buNone/>
            </a:pPr>
            <a:r>
              <a:rPr lang="en-US" altLang="en-US" sz="2400" dirty="0">
                <a:solidFill>
                  <a:srgbClr val="000000"/>
                </a:solidFill>
                <a:cs typeface="Courier New" panose="02070309020205020404" pitchFamily="49" charset="0"/>
              </a:rPr>
              <a:t> </a:t>
            </a:r>
            <a:r>
              <a:rPr lang="en-US" altLang="en-US" sz="2400" dirty="0">
                <a:solidFill>
                  <a:srgbClr val="000088"/>
                </a:solidFill>
                <a:cs typeface="Courier New" panose="02070309020205020404" pitchFamily="49" charset="0"/>
              </a:rPr>
              <a:t>else</a:t>
            </a:r>
            <a:r>
              <a:rPr lang="en-US" altLang="en-US" sz="2400" dirty="0">
                <a:solidFill>
                  <a:srgbClr val="000000"/>
                </a:solidFill>
                <a:cs typeface="Courier New" panose="02070309020205020404" pitchFamily="49" charset="0"/>
              </a:rPr>
              <a:t> result </a:t>
            </a:r>
            <a:r>
              <a:rPr lang="en-US" altLang="en-US" sz="2400" dirty="0">
                <a:solidFill>
                  <a:srgbClr val="666600"/>
                </a:solidFill>
                <a:cs typeface="Courier New" panose="02070309020205020404" pitchFamily="49" charset="0"/>
              </a:rPr>
              <a:t>=</a:t>
            </a:r>
            <a:r>
              <a:rPr lang="en-US" altLang="en-US" sz="2400" dirty="0">
                <a:solidFill>
                  <a:srgbClr val="000000"/>
                </a:solidFill>
                <a:cs typeface="Courier New" panose="02070309020205020404" pitchFamily="49" charset="0"/>
              </a:rPr>
              <a:t> num2</a:t>
            </a:r>
            <a:r>
              <a:rPr lang="en-US" altLang="en-US" sz="2400" dirty="0">
                <a:solidFill>
                  <a:srgbClr val="666600"/>
                </a:solidFill>
                <a:cs typeface="Courier New" panose="02070309020205020404" pitchFamily="49" charset="0"/>
              </a:rPr>
              <a:t>;</a:t>
            </a:r>
            <a:r>
              <a:rPr lang="en-US" altLang="en-US" sz="2400" dirty="0">
                <a:solidFill>
                  <a:srgbClr val="000000"/>
                </a:solidFill>
                <a:cs typeface="Courier New" panose="02070309020205020404" pitchFamily="49" charset="0"/>
              </a:rPr>
              <a:t> </a:t>
            </a:r>
            <a:r>
              <a:rPr lang="en-US" altLang="en-US" sz="2400" dirty="0">
                <a:solidFill>
                  <a:srgbClr val="000088"/>
                </a:solidFill>
                <a:cs typeface="Courier New" panose="02070309020205020404" pitchFamily="49" charset="0"/>
              </a:rPr>
              <a:t>return</a:t>
            </a:r>
            <a:r>
              <a:rPr lang="en-US" altLang="en-US" sz="2400" dirty="0">
                <a:solidFill>
                  <a:srgbClr val="000000"/>
                </a:solidFill>
                <a:cs typeface="Courier New" panose="02070309020205020404" pitchFamily="49" charset="0"/>
              </a:rPr>
              <a:t> result</a:t>
            </a:r>
            <a:r>
              <a:rPr lang="en-US" altLang="en-US" sz="2400" dirty="0">
                <a:solidFill>
                  <a:srgbClr val="666600"/>
                </a:solidFill>
                <a:cs typeface="Courier New" panose="02070309020205020404" pitchFamily="49" charset="0"/>
              </a:rPr>
              <a:t>;</a:t>
            </a:r>
            <a:r>
              <a:rPr lang="en-US" altLang="en-US" sz="2400" dirty="0">
                <a:solidFill>
                  <a:srgbClr val="000000"/>
                </a:solidFill>
                <a:cs typeface="Courier New" panose="02070309020205020404" pitchFamily="49" charset="0"/>
              </a:rPr>
              <a:t> </a:t>
            </a:r>
          </a:p>
          <a:p>
            <a:pPr marL="0" indent="0">
              <a:buNone/>
            </a:pPr>
            <a:r>
              <a:rPr lang="en-US" altLang="en-US" sz="2400" dirty="0">
                <a:solidFill>
                  <a:srgbClr val="666600"/>
                </a:solidFill>
                <a:cs typeface="Courier New" panose="02070309020205020404" pitchFamily="49" charset="0"/>
              </a:rPr>
              <a:t>}</a:t>
            </a:r>
            <a:r>
              <a:rPr lang="en-US" altLang="en-US" sz="2400" dirty="0"/>
              <a:t> </a:t>
            </a:r>
          </a:p>
          <a:p>
            <a:pPr marL="0" indent="0">
              <a:buNone/>
            </a:pPr>
            <a:endParaRPr lang="en-IN" sz="2400" dirty="0"/>
          </a:p>
          <a:p>
            <a:pPr marL="0" indent="0">
              <a:buNone/>
            </a:pPr>
            <a:endParaRPr lang="en-IN" sz="2400" dirty="0"/>
          </a:p>
          <a:p>
            <a:pPr marL="0" indent="0">
              <a:buNone/>
            </a:pPr>
            <a:endParaRPr lang="en-US" altLang="en-US" sz="2400" dirty="0"/>
          </a:p>
          <a:p>
            <a:endParaRPr lang="en-US" sz="2400" dirty="0"/>
          </a:p>
          <a:p>
            <a:endParaRPr lang="en-IN" sz="2400" dirty="0"/>
          </a:p>
        </p:txBody>
      </p:sp>
      <p:sp>
        <p:nvSpPr>
          <p:cNvPr id="6" name="Rectangle 3">
            <a:extLst>
              <a:ext uri="{FF2B5EF4-FFF2-40B4-BE49-F238E27FC236}">
                <a16:creationId xmlns:a16="http://schemas.microsoft.com/office/drawing/2014/main" id="{BDA430A9-F686-46A1-80BF-C9CE765E31A9}"/>
              </a:ext>
            </a:extLst>
          </p:cNvPr>
          <p:cNvSpPr>
            <a:spLocks noChangeArrowheads="1"/>
          </p:cNvSpPr>
          <p:nvPr/>
        </p:nvSpPr>
        <p:spPr bwMode="auto">
          <a:xfrm>
            <a:off x="0" y="158702"/>
            <a:ext cx="184731" cy="139796"/>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4436"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991228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73578"/>
            <a:ext cx="7772400" cy="577583"/>
          </a:xfrm>
        </p:spPr>
        <p:txBody>
          <a:bodyPr>
            <a:normAutofit fontScale="90000"/>
          </a:bodyPr>
          <a:lstStyle/>
          <a:p>
            <a:r>
              <a:rPr lang="en-IN" sz="4400" dirty="0">
                <a:solidFill>
                  <a:srgbClr val="FF0000"/>
                </a:solidFill>
                <a:latin typeface="+mn-lt"/>
              </a:rPr>
              <a:t>Macros</a:t>
            </a:r>
          </a:p>
        </p:txBody>
      </p:sp>
      <p:sp>
        <p:nvSpPr>
          <p:cNvPr id="3" name="Subtitle 2"/>
          <p:cNvSpPr>
            <a:spLocks noGrp="1"/>
          </p:cNvSpPr>
          <p:nvPr>
            <p:ph type="subTitle" idx="1"/>
          </p:nvPr>
        </p:nvSpPr>
        <p:spPr>
          <a:xfrm>
            <a:off x="673768" y="678217"/>
            <a:ext cx="10956758" cy="6106205"/>
          </a:xfrm>
        </p:spPr>
        <p:txBody>
          <a:bodyPr>
            <a:noAutofit/>
          </a:bodyPr>
          <a:lstStyle/>
          <a:p>
            <a:pPr marL="457200" indent="-457200" algn="just">
              <a:buFont typeface="Arial" panose="020B0604020202020204" pitchFamily="34" charset="0"/>
              <a:buChar char="•"/>
            </a:pPr>
            <a:r>
              <a:rPr lang="en-US" dirty="0"/>
              <a:t>A macro is a collection of codes that is defined in a program by a name. </a:t>
            </a:r>
          </a:p>
          <a:p>
            <a:pPr marL="457200" indent="-457200" algn="just">
              <a:buFont typeface="Arial" panose="020B0604020202020204" pitchFamily="34" charset="0"/>
              <a:buChar char="•"/>
            </a:pPr>
            <a:r>
              <a:rPr lang="en-US" dirty="0"/>
              <a:t>It differs from a function in the sense that once a macro is defined by a name, the compiler puts the corresponding codes for it at every place where that macro name appears. </a:t>
            </a:r>
          </a:p>
          <a:p>
            <a:pPr marL="457200" indent="-457200" algn="just">
              <a:buFont typeface="Arial" panose="020B0604020202020204" pitchFamily="34" charset="0"/>
              <a:buChar char="•"/>
            </a:pPr>
            <a:r>
              <a:rPr lang="en-US" dirty="0"/>
              <a:t>Functions are used when the requirement is that the codes should be compiled once only. </a:t>
            </a:r>
          </a:p>
          <a:p>
            <a:pPr marL="457200" indent="-457200" algn="just">
              <a:buFont typeface="Arial" panose="020B0604020202020204" pitchFamily="34" charset="0"/>
              <a:buChar char="•"/>
            </a:pPr>
            <a:r>
              <a:rPr lang="en-US" dirty="0"/>
              <a:t>However, on calling a function, the processor has to save the context, and on return, restore the context. </a:t>
            </a:r>
          </a:p>
          <a:p>
            <a:pPr marL="457200" indent="-457200" algn="just">
              <a:buFont typeface="Arial" panose="020B0604020202020204" pitchFamily="34" charset="0"/>
              <a:buChar char="•"/>
            </a:pPr>
            <a:r>
              <a:rPr lang="en-US" dirty="0"/>
              <a:t>Further, a function may return nothing (void declaration case) or return a Boolean value, or an integer or any primitive or reference type of data</a:t>
            </a:r>
            <a:endParaRPr lang="en-IN" dirty="0"/>
          </a:p>
          <a:p>
            <a:pPr algn="just">
              <a:buFont typeface="Arial" pitchFamily="34" charset="0"/>
              <a:buChar char="•"/>
            </a:pPr>
            <a:r>
              <a:rPr lang="en-IN" dirty="0"/>
              <a:t>Macros are generally used to define constant values that are being used repeatedly in program.</a:t>
            </a:r>
          </a:p>
          <a:p>
            <a:pPr algn="just">
              <a:buFont typeface="Arial" pitchFamily="34" charset="0"/>
              <a:buChar char="•"/>
            </a:pPr>
            <a:r>
              <a:rPr lang="en-IN" dirty="0"/>
              <a:t> Macros can even accept arguments and such macros are known as function-like macros.</a:t>
            </a:r>
          </a:p>
          <a:p>
            <a:pPr algn="just">
              <a:buFont typeface="Arial" pitchFamily="34" charset="0"/>
              <a:buChar char="•"/>
            </a:pPr>
            <a:r>
              <a:rPr lang="en-US" dirty="0"/>
              <a:t>The ‘#define’ pre-processor directive is used for coding macros.</a:t>
            </a:r>
          </a:p>
          <a:p>
            <a:pPr algn="just"/>
            <a:r>
              <a:rPr lang="en-IN" dirty="0"/>
              <a:t> </a:t>
            </a:r>
          </a:p>
          <a:p>
            <a:pPr algn="just">
              <a:buFont typeface="Arial" pitchFamily="34" charset="0"/>
              <a:buChar char="•"/>
            </a:pPr>
            <a:endParaRPr lang="en-IN" dirty="0"/>
          </a:p>
          <a:p>
            <a:pPr algn="just">
              <a:buFont typeface="Arial" pitchFamily="34" charset="0"/>
              <a:buChar char="•"/>
            </a:pPr>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4834"/>
            <a:ext cx="10515600" cy="5936783"/>
          </a:xfrm>
        </p:spPr>
        <p:txBody>
          <a:bodyPr>
            <a:normAutofit fontScale="85000" lnSpcReduction="20000"/>
          </a:bodyPr>
          <a:lstStyle/>
          <a:p>
            <a:pPr>
              <a:buNone/>
            </a:pPr>
            <a:r>
              <a:rPr lang="en-IN" sz="3800" dirty="0">
                <a:solidFill>
                  <a:srgbClr val="00B0F0"/>
                </a:solidFill>
              </a:rPr>
              <a:t>Example:</a:t>
            </a:r>
          </a:p>
          <a:p>
            <a:pPr>
              <a:buNone/>
            </a:pPr>
            <a:r>
              <a:rPr lang="en-IN" dirty="0"/>
              <a:t> #include&lt;</a:t>
            </a:r>
            <a:r>
              <a:rPr lang="en-IN" dirty="0" err="1"/>
              <a:t>stdio.h</a:t>
            </a:r>
            <a:r>
              <a:rPr lang="en-IN" dirty="0"/>
              <a:t>&gt;</a:t>
            </a:r>
          </a:p>
          <a:p>
            <a:pPr>
              <a:buNone/>
            </a:pPr>
            <a:r>
              <a:rPr lang="en-IN" dirty="0"/>
              <a:t> #define MAX_SIZE 10</a:t>
            </a:r>
          </a:p>
          <a:p>
            <a:pPr>
              <a:buNone/>
            </a:pPr>
            <a:r>
              <a:rPr lang="en-IN" dirty="0"/>
              <a:t> </a:t>
            </a:r>
            <a:r>
              <a:rPr lang="en-IN" dirty="0" err="1"/>
              <a:t>int</a:t>
            </a:r>
            <a:r>
              <a:rPr lang="en-IN" dirty="0"/>
              <a:t> main(void)</a:t>
            </a:r>
          </a:p>
          <a:p>
            <a:pPr>
              <a:buNone/>
            </a:pPr>
            <a:r>
              <a:rPr lang="en-IN" dirty="0"/>
              <a:t> {</a:t>
            </a:r>
          </a:p>
          <a:p>
            <a:pPr>
              <a:buNone/>
            </a:pPr>
            <a:r>
              <a:rPr lang="en-IN" dirty="0"/>
              <a:t> </a:t>
            </a:r>
            <a:r>
              <a:rPr lang="en-IN" dirty="0" err="1"/>
              <a:t>int</a:t>
            </a:r>
            <a:r>
              <a:rPr lang="en-IN" dirty="0"/>
              <a:t> size = 0; size = size + MAX_SIZE;</a:t>
            </a:r>
          </a:p>
          <a:p>
            <a:pPr>
              <a:buNone/>
            </a:pPr>
            <a:r>
              <a:rPr lang="en-IN" dirty="0"/>
              <a:t> </a:t>
            </a:r>
            <a:r>
              <a:rPr lang="en-IN" dirty="0" err="1"/>
              <a:t>printf</a:t>
            </a:r>
            <a:r>
              <a:rPr lang="en-IN" dirty="0"/>
              <a:t>("\n The value of size is [%d]\</a:t>
            </a:r>
            <a:r>
              <a:rPr lang="en-IN" dirty="0" err="1"/>
              <a:t>n",size</a:t>
            </a:r>
            <a:r>
              <a:rPr lang="en-IN" dirty="0"/>
              <a:t>);</a:t>
            </a:r>
          </a:p>
          <a:p>
            <a:pPr>
              <a:buNone/>
            </a:pPr>
            <a:r>
              <a:rPr lang="en-IN" dirty="0"/>
              <a:t> }</a:t>
            </a:r>
          </a:p>
          <a:p>
            <a:pPr marL="0" indent="0">
              <a:buNone/>
            </a:pPr>
            <a:r>
              <a:rPr lang="en-IN" sz="4700" dirty="0">
                <a:solidFill>
                  <a:srgbClr val="FF0000"/>
                </a:solidFill>
              </a:rPr>
              <a:t>Advantages:</a:t>
            </a:r>
          </a:p>
          <a:p>
            <a:pPr algn="just"/>
            <a:r>
              <a:rPr lang="en-IN" dirty="0"/>
              <a:t>Macros are used for short operations and it avoids function call overhead. </a:t>
            </a:r>
          </a:p>
          <a:p>
            <a:pPr algn="just"/>
            <a:endParaRPr lang="en-IN" dirty="0"/>
          </a:p>
          <a:p>
            <a:pPr algn="just"/>
            <a:r>
              <a:rPr lang="en-IN" dirty="0"/>
              <a:t>It can be used if any short operation is being done in program repeatedly.</a:t>
            </a:r>
          </a:p>
          <a:p>
            <a:pPr algn="just"/>
            <a:endParaRPr lang="en-IN" dirty="0"/>
          </a:p>
          <a:p>
            <a:pPr algn="just"/>
            <a:r>
              <a:rPr lang="en-IN" dirty="0"/>
              <a:t> Function-like macros are very beneficial when the same block of code needs to be executed multiple times.</a:t>
            </a:r>
          </a:p>
          <a:p>
            <a:endParaRPr lang="en-IN" dirty="0">
              <a:solidFill>
                <a:srgbClr val="FF0000"/>
              </a:solidFill>
            </a:endParaRPr>
          </a:p>
          <a:p>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200" y="191508"/>
            <a:ext cx="8229600" cy="796908"/>
          </a:xfrm>
        </p:spPr>
        <p:txBody>
          <a:bodyPr/>
          <a:lstStyle/>
          <a:p>
            <a:r>
              <a:rPr lang="en-IN" b="1" dirty="0">
                <a:solidFill>
                  <a:srgbClr val="FF0000"/>
                </a:solidFill>
              </a:rPr>
              <a:t>Macro and Function</a:t>
            </a:r>
          </a:p>
        </p:txBody>
      </p:sp>
      <p:pic>
        <p:nvPicPr>
          <p:cNvPr id="1026" name="Picture 2" descr="Difference Between Macros and Functions"/>
          <p:cNvPicPr>
            <a:picLocks noChangeAspect="1" noChangeArrowheads="1"/>
          </p:cNvPicPr>
          <p:nvPr/>
        </p:nvPicPr>
        <p:blipFill>
          <a:blip r:embed="rId2"/>
          <a:srcRect/>
          <a:stretch>
            <a:fillRect/>
          </a:stretch>
        </p:blipFill>
        <p:spPr bwMode="auto">
          <a:xfrm>
            <a:off x="665018" y="1214422"/>
            <a:ext cx="11166763" cy="5214974"/>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58516" y="74464"/>
            <a:ext cx="9982200" cy="635217"/>
          </a:xfrm>
        </p:spPr>
        <p:txBody>
          <a:bodyPr>
            <a:normAutofit fontScale="90000"/>
          </a:bodyPr>
          <a:lstStyle/>
          <a:p>
            <a:br>
              <a:rPr lang="en-IN" b="1" i="1" dirty="0"/>
            </a:br>
            <a:br>
              <a:rPr lang="en-IN" b="1" i="1" dirty="0"/>
            </a:br>
            <a:br>
              <a:rPr lang="en-IN" b="1" i="1" dirty="0"/>
            </a:br>
            <a:br>
              <a:rPr lang="en-IN" b="1" i="1" dirty="0"/>
            </a:br>
            <a:br>
              <a:rPr lang="en-IN" b="1" i="1" dirty="0"/>
            </a:br>
            <a:br>
              <a:rPr lang="en-IN" b="1" i="1" dirty="0"/>
            </a:br>
            <a:br>
              <a:rPr lang="en-IN" b="1" i="1" dirty="0"/>
            </a:br>
            <a:r>
              <a:rPr lang="en-IN" sz="3600" b="1" dirty="0">
                <a:solidFill>
                  <a:srgbClr val="FF0000"/>
                </a:solidFill>
                <a:latin typeface="+mn-lt"/>
              </a:rPr>
              <a:t>Objected Oriented Programming</a:t>
            </a:r>
            <a:r>
              <a:rPr lang="en-IN" sz="3600" dirty="0">
                <a:solidFill>
                  <a:srgbClr val="FF0000"/>
                </a:solidFill>
                <a:latin typeface="+mn-lt"/>
              </a:rPr>
              <a:t> </a:t>
            </a:r>
            <a:endParaRPr lang="en-IN" dirty="0">
              <a:solidFill>
                <a:srgbClr val="FF0000"/>
              </a:solidFill>
              <a:latin typeface="+mn-lt"/>
            </a:endParaRPr>
          </a:p>
        </p:txBody>
      </p:sp>
      <p:sp>
        <p:nvSpPr>
          <p:cNvPr id="3" name="Subtitle 2"/>
          <p:cNvSpPr>
            <a:spLocks noGrp="1"/>
          </p:cNvSpPr>
          <p:nvPr>
            <p:ph type="subTitle" idx="1"/>
          </p:nvPr>
        </p:nvSpPr>
        <p:spPr>
          <a:xfrm>
            <a:off x="753979" y="859810"/>
            <a:ext cx="10972799" cy="5677468"/>
          </a:xfrm>
        </p:spPr>
        <p:txBody>
          <a:bodyPr>
            <a:noAutofit/>
          </a:bodyPr>
          <a:lstStyle/>
          <a:p>
            <a:pPr algn="just">
              <a:buFont typeface="Arial" pitchFamily="34" charset="0"/>
              <a:buChar char="•"/>
            </a:pPr>
            <a:r>
              <a:rPr lang="en-IN" sz="2800" dirty="0"/>
              <a:t>An </a:t>
            </a:r>
            <a:r>
              <a:rPr lang="en-IN" sz="2800" b="1" i="1" dirty="0"/>
              <a:t>objected oriented language </a:t>
            </a:r>
            <a:r>
              <a:rPr lang="en-IN" sz="2800" dirty="0"/>
              <a:t>is used when there is a need for re-usability of the defined object or set of objects that are common within a program or between the many </a:t>
            </a:r>
            <a:r>
              <a:rPr lang="en-IN" sz="2800" i="1" dirty="0"/>
              <a:t>applications</a:t>
            </a:r>
            <a:r>
              <a:rPr lang="en-IN" sz="2800" dirty="0"/>
              <a:t>.</a:t>
            </a:r>
          </a:p>
          <a:p>
            <a:pPr algn="just">
              <a:buFont typeface="Arial" pitchFamily="34" charset="0"/>
              <a:buChar char="•"/>
            </a:pPr>
            <a:endParaRPr lang="en-IN" sz="2800" dirty="0"/>
          </a:p>
          <a:p>
            <a:pPr algn="just">
              <a:buFont typeface="Arial" pitchFamily="34" charset="0"/>
              <a:buChar char="•"/>
            </a:pPr>
            <a:r>
              <a:rPr lang="en-IN" sz="2800" dirty="0"/>
              <a:t> When a large program is to be made, an object-oriented language offers many advantages. </a:t>
            </a:r>
            <a:r>
              <a:rPr lang="en-IN" sz="2800" i="1" dirty="0"/>
              <a:t>Data encapsulation</a:t>
            </a:r>
            <a:r>
              <a:rPr lang="en-IN" sz="2800" dirty="0"/>
              <a:t>, </a:t>
            </a:r>
            <a:r>
              <a:rPr lang="en-IN" sz="2800" i="1" dirty="0"/>
              <a:t>design of reusable software components </a:t>
            </a:r>
            <a:r>
              <a:rPr lang="en-IN" sz="2800" dirty="0"/>
              <a:t>and </a:t>
            </a:r>
            <a:r>
              <a:rPr lang="en-IN" sz="2800" i="1" dirty="0"/>
              <a:t>inheritance </a:t>
            </a:r>
            <a:r>
              <a:rPr lang="en-IN" sz="2800" dirty="0"/>
              <a:t>are the advantages derived from the OOPs.</a:t>
            </a:r>
          </a:p>
          <a:p>
            <a:pPr algn="just">
              <a:buFont typeface="Arial" pitchFamily="34" charset="0"/>
              <a:buChar char="•"/>
            </a:pPr>
            <a:endParaRPr lang="en-IN" sz="2800" dirty="0"/>
          </a:p>
          <a:p>
            <a:pPr algn="just">
              <a:buFont typeface="Arial" pitchFamily="34" charset="0"/>
              <a:buChar char="•"/>
            </a:pPr>
            <a:r>
              <a:rPr lang="en-IN" sz="2800" dirty="0"/>
              <a:t>An object-oriented language provides for defining the objects and methods that manipulate the objects without modifying their definitions.</a:t>
            </a:r>
          </a:p>
          <a:p>
            <a:pPr algn="just">
              <a:buFont typeface="Arial" pitchFamily="34" charset="0"/>
              <a:buChar char="•"/>
            </a:pPr>
            <a:endParaRPr lang="en-IN" sz="2800" dirty="0"/>
          </a:p>
          <a:p>
            <a:pPr algn="just">
              <a:buFont typeface="Arial" pitchFamily="34" charset="0"/>
              <a:buChar char="•"/>
            </a:pPr>
            <a:r>
              <a:rPr lang="en-IN" sz="2800" dirty="0"/>
              <a:t> It provides for the data and methods for encapsulation.  </a:t>
            </a:r>
          </a:p>
          <a:p>
            <a:pPr algn="just"/>
            <a:endParaRPr lang="en-IN"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1414"/>
            <a:ext cx="8229600" cy="582594"/>
          </a:xfrm>
        </p:spPr>
        <p:txBody>
          <a:bodyPr>
            <a:normAutofit fontScale="90000"/>
          </a:bodyPr>
          <a:lstStyle/>
          <a:p>
            <a:r>
              <a:rPr lang="en-IN" b="1" dirty="0">
                <a:solidFill>
                  <a:srgbClr val="FF0000"/>
                </a:solidFill>
              </a:rPr>
              <a:t> Embedded C++</a:t>
            </a:r>
            <a:endParaRPr lang="en-IN" dirty="0">
              <a:solidFill>
                <a:srgbClr val="FF0000"/>
              </a:solidFill>
            </a:endParaRPr>
          </a:p>
        </p:txBody>
      </p:sp>
      <p:sp>
        <p:nvSpPr>
          <p:cNvPr id="3" name="Content Placeholder 2"/>
          <p:cNvSpPr>
            <a:spLocks noGrp="1"/>
          </p:cNvSpPr>
          <p:nvPr>
            <p:ph idx="1"/>
          </p:nvPr>
        </p:nvSpPr>
        <p:spPr>
          <a:xfrm>
            <a:off x="689811" y="882046"/>
            <a:ext cx="11213431" cy="5786478"/>
          </a:xfrm>
        </p:spPr>
        <p:txBody>
          <a:bodyPr>
            <a:noAutofit/>
          </a:bodyPr>
          <a:lstStyle/>
          <a:p>
            <a:pPr algn="just"/>
            <a:r>
              <a:rPr lang="en-IN" sz="2400" dirty="0">
                <a:latin typeface="+mj-lt"/>
              </a:rPr>
              <a:t>C</a:t>
            </a:r>
            <a:r>
              <a:rPr lang="en-IN" sz="2600" dirty="0"/>
              <a:t>++ is an </a:t>
            </a:r>
            <a:r>
              <a:rPr lang="en-IN" sz="2600" i="1" dirty="0"/>
              <a:t>object oriented Program (OOP) language, in addition, supports the procedure oriented codes of C.</a:t>
            </a:r>
          </a:p>
          <a:p>
            <a:pPr algn="just"/>
            <a:r>
              <a:rPr lang="en-IN" sz="2600" i="1" dirty="0"/>
              <a:t> </a:t>
            </a:r>
            <a:r>
              <a:rPr lang="en-IN" sz="2600" dirty="0"/>
              <a:t>Program coding in C++ codes provides the advantage of objected oriented programming as well as the advantage of C and in-line assembly. </a:t>
            </a:r>
          </a:p>
          <a:p>
            <a:pPr algn="just"/>
            <a:r>
              <a:rPr lang="en-IN" sz="2600" dirty="0"/>
              <a:t>Programming concepts for embedded programming in C++ are as follows: </a:t>
            </a:r>
          </a:p>
          <a:p>
            <a:pPr lvl="0" algn="just"/>
            <a:r>
              <a:rPr lang="en-IN" sz="2600" dirty="0"/>
              <a:t>A class can derive (inherit) from another class also.</a:t>
            </a:r>
          </a:p>
          <a:p>
            <a:pPr lvl="0" algn="just"/>
            <a:r>
              <a:rPr lang="en-IN" sz="2600" dirty="0"/>
              <a:t> Methods (C functions) can have same name in the inherited class.</a:t>
            </a:r>
          </a:p>
          <a:p>
            <a:pPr lvl="0" algn="just"/>
            <a:r>
              <a:rPr lang="en-IN" sz="2600" dirty="0"/>
              <a:t>Methods can have the same name as well as the same number and type of arguments in the inherited class. </a:t>
            </a:r>
          </a:p>
          <a:p>
            <a:pPr algn="just"/>
            <a:r>
              <a:rPr lang="en-IN" sz="2600" dirty="0"/>
              <a:t>The </a:t>
            </a:r>
            <a:r>
              <a:rPr lang="en-IN" sz="2600" i="1" dirty="0"/>
              <a:t>struct </a:t>
            </a:r>
            <a:r>
              <a:rPr lang="en-IN" sz="2600" dirty="0"/>
              <a:t> binds all the member functions together in C. But a C++ </a:t>
            </a:r>
            <a:r>
              <a:rPr lang="en-IN" sz="2600" i="1" dirty="0"/>
              <a:t>class </a:t>
            </a:r>
            <a:r>
              <a:rPr lang="en-IN" sz="2600" dirty="0"/>
              <a:t>has object features. It can be extended and child classes can be derived from it.</a:t>
            </a:r>
          </a:p>
          <a:p>
            <a:pPr algn="just"/>
            <a:r>
              <a:rPr lang="en-IN" sz="2600" dirty="0"/>
              <a:t> A number of child classes can be derived from a common class.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9489"/>
            <a:ext cx="10515600" cy="5867474"/>
          </a:xfrm>
        </p:spPr>
        <p:txBody>
          <a:bodyPr>
            <a:normAutofit/>
          </a:bodyPr>
          <a:lstStyle/>
          <a:p>
            <a:pPr marL="0" indent="0">
              <a:buNone/>
            </a:pPr>
            <a:r>
              <a:rPr lang="en-US" sz="4000" dirty="0">
                <a:solidFill>
                  <a:srgbClr val="C00000"/>
                </a:solidFill>
              </a:rPr>
              <a:t>Disadvantages of C++</a:t>
            </a:r>
          </a:p>
          <a:p>
            <a:pPr marL="0" indent="0">
              <a:buNone/>
            </a:pPr>
            <a:endParaRPr lang="en-US" sz="4000" dirty="0"/>
          </a:p>
          <a:p>
            <a:r>
              <a:rPr lang="en-US" dirty="0"/>
              <a:t>Program codes become lengthy, particularly when certain features of the standard C++ are used. </a:t>
            </a:r>
          </a:p>
          <a:p>
            <a:endParaRPr lang="en-US" dirty="0"/>
          </a:p>
          <a:p>
            <a:r>
              <a:rPr lang="en-US" dirty="0"/>
              <a:t>Examples of these features are as follows:</a:t>
            </a:r>
            <a:endParaRPr lang="en-IN" dirty="0"/>
          </a:p>
          <a:p>
            <a:pPr marL="0" indent="0">
              <a:buNone/>
            </a:pPr>
            <a:r>
              <a:rPr lang="en-IN" dirty="0"/>
              <a:t>	</a:t>
            </a:r>
            <a:r>
              <a:rPr lang="en-US" dirty="0"/>
              <a:t>(a) Template.</a:t>
            </a:r>
          </a:p>
          <a:p>
            <a:pPr marL="0" indent="0">
              <a:buNone/>
            </a:pPr>
            <a:r>
              <a:rPr lang="en-US" dirty="0"/>
              <a:t>	(b) Multiple Inheritance (Deriving a class from many parents). </a:t>
            </a:r>
          </a:p>
          <a:p>
            <a:pPr marL="0" indent="0">
              <a:buNone/>
            </a:pPr>
            <a:r>
              <a:rPr lang="en-IN" dirty="0"/>
              <a:t>	(c) Exceptional handling. </a:t>
            </a:r>
          </a:p>
          <a:p>
            <a:pPr marL="0" indent="0">
              <a:buNone/>
            </a:pPr>
            <a:r>
              <a:rPr lang="en-US" dirty="0"/>
              <a:t>	(d) Virtual base classes.</a:t>
            </a:r>
          </a:p>
          <a:p>
            <a:pPr marL="0" indent="0">
              <a:buNone/>
            </a:pPr>
            <a:r>
              <a:rPr lang="en-US" dirty="0"/>
              <a:t>	(e) Classes for IO Streams. </a:t>
            </a:r>
          </a:p>
          <a:p>
            <a:endParaRPr lang="en-IN" dirty="0"/>
          </a:p>
          <a:p>
            <a:endParaRPr lang="en-IN" dirty="0"/>
          </a:p>
        </p:txBody>
      </p:sp>
    </p:spTree>
    <p:extLst>
      <p:ext uri="{BB962C8B-B14F-4D97-AF65-F5344CB8AC3E}">
        <p14:creationId xmlns:p14="http://schemas.microsoft.com/office/powerpoint/2010/main" val="4298914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540"/>
            <a:ext cx="10515600" cy="1205345"/>
          </a:xfrm>
        </p:spPr>
        <p:txBody>
          <a:bodyPr>
            <a:normAutofit/>
          </a:bodyPr>
          <a:lstStyle/>
          <a:p>
            <a:r>
              <a:rPr lang="en-IN" dirty="0">
                <a:solidFill>
                  <a:srgbClr val="C00000"/>
                </a:solidFill>
              </a:rPr>
              <a:t>EMBEDDED PROGRAMMING IN JAVA </a:t>
            </a:r>
          </a:p>
        </p:txBody>
      </p:sp>
      <p:sp>
        <p:nvSpPr>
          <p:cNvPr id="3" name="Content Placeholder 2"/>
          <p:cNvSpPr>
            <a:spLocks noGrp="1"/>
          </p:cNvSpPr>
          <p:nvPr>
            <p:ph idx="1"/>
          </p:nvPr>
        </p:nvSpPr>
        <p:spPr>
          <a:xfrm>
            <a:off x="838200" y="1728645"/>
            <a:ext cx="10515600" cy="4351338"/>
          </a:xfrm>
        </p:spPr>
        <p:txBody>
          <a:bodyPr/>
          <a:lstStyle/>
          <a:p>
            <a:r>
              <a:rPr lang="en-US" dirty="0"/>
              <a:t>Java is an object-oriented language similar to C++. </a:t>
            </a:r>
          </a:p>
          <a:p>
            <a:endParaRPr lang="en-US" dirty="0"/>
          </a:p>
          <a:p>
            <a:r>
              <a:rPr lang="en-US" dirty="0"/>
              <a:t>Java has a number of advantages for embedded system designers.</a:t>
            </a:r>
          </a:p>
          <a:p>
            <a:endParaRPr lang="en-US" dirty="0"/>
          </a:p>
          <a:p>
            <a:r>
              <a:rPr lang="en-US" dirty="0"/>
              <a:t>Java simplifies inheritance by eliminating multiple inheritance and replacing it with interfaces.</a:t>
            </a:r>
          </a:p>
          <a:p>
            <a:endParaRPr lang="en-US" dirty="0"/>
          </a:p>
          <a:p>
            <a:r>
              <a:rPr lang="en-US" dirty="0"/>
              <a:t>Java prevents the ambiguity that C++ allows in the definition of operators.</a:t>
            </a:r>
          </a:p>
        </p:txBody>
      </p:sp>
    </p:spTree>
    <p:extLst>
      <p:ext uri="{BB962C8B-B14F-4D97-AF65-F5344CB8AC3E}">
        <p14:creationId xmlns:p14="http://schemas.microsoft.com/office/powerpoint/2010/main" val="17695085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0041" y="122233"/>
            <a:ext cx="9288379" cy="654032"/>
          </a:xfrm>
        </p:spPr>
        <p:txBody>
          <a:bodyPr>
            <a:normAutofit fontScale="90000"/>
          </a:bodyPr>
          <a:lstStyle/>
          <a:p>
            <a:r>
              <a:rPr lang="en-IN" dirty="0"/>
              <a:t> </a:t>
            </a:r>
            <a:r>
              <a:rPr lang="en-IN" sz="3600" dirty="0">
                <a:solidFill>
                  <a:srgbClr val="FF0000"/>
                </a:solidFill>
                <a:latin typeface="+mn-lt"/>
              </a:rPr>
              <a:t>EMBEDDED PROGRAMMING IN JAVA</a:t>
            </a:r>
            <a:endParaRPr lang="en-IN" dirty="0">
              <a:solidFill>
                <a:srgbClr val="FF0000"/>
              </a:solidFill>
              <a:latin typeface="+mn-lt"/>
            </a:endParaRPr>
          </a:p>
        </p:txBody>
      </p:sp>
      <p:sp>
        <p:nvSpPr>
          <p:cNvPr id="3" name="Content Placeholder 2"/>
          <p:cNvSpPr>
            <a:spLocks noGrp="1"/>
          </p:cNvSpPr>
          <p:nvPr>
            <p:ph idx="1"/>
          </p:nvPr>
        </p:nvSpPr>
        <p:spPr>
          <a:xfrm>
            <a:off x="513347" y="1078798"/>
            <a:ext cx="11036969" cy="5572164"/>
          </a:xfrm>
        </p:spPr>
        <p:txBody>
          <a:bodyPr>
            <a:normAutofit fontScale="92500" lnSpcReduction="10000"/>
          </a:bodyPr>
          <a:lstStyle/>
          <a:p>
            <a:pPr algn="just"/>
            <a:r>
              <a:rPr lang="en-IN" dirty="0"/>
              <a:t>Java has advantages for embedded programming as follows: </a:t>
            </a:r>
          </a:p>
          <a:p>
            <a:pPr algn="just">
              <a:buNone/>
            </a:pPr>
            <a:r>
              <a:rPr lang="en-IN" dirty="0"/>
              <a:t>1.Java is completely an OOP language. </a:t>
            </a:r>
          </a:p>
          <a:p>
            <a:pPr algn="just">
              <a:buNone/>
            </a:pPr>
            <a:r>
              <a:rPr lang="en-IN" dirty="0"/>
              <a:t>2.Java has in-built support for creating multiple threads. </a:t>
            </a:r>
          </a:p>
          <a:p>
            <a:pPr algn="just">
              <a:buNone/>
            </a:pPr>
            <a:r>
              <a:rPr lang="en-IN" dirty="0"/>
              <a:t>3.Java is the language for most Web applications and allows machines of different types to communicate on the Web.  </a:t>
            </a:r>
          </a:p>
          <a:p>
            <a:pPr algn="just">
              <a:buNone/>
            </a:pPr>
            <a:r>
              <a:rPr lang="en-IN" dirty="0"/>
              <a:t>4.There is a huge class library on the network that makes program development quick. </a:t>
            </a:r>
          </a:p>
          <a:p>
            <a:pPr algn="just">
              <a:buNone/>
            </a:pPr>
            <a:r>
              <a:rPr lang="en-IN" dirty="0"/>
              <a:t>5.Platform independence in hosting the compiled codes on the network is because Java generates the byte codes. Platform independence gives </a:t>
            </a:r>
            <a:r>
              <a:rPr lang="en-IN" i="1" dirty="0"/>
              <a:t>portability </a:t>
            </a:r>
            <a:r>
              <a:rPr lang="en-IN" dirty="0"/>
              <a:t>with respect to the processor used.  </a:t>
            </a:r>
          </a:p>
          <a:p>
            <a:pPr algn="just">
              <a:buNone/>
            </a:pPr>
            <a:r>
              <a:rPr lang="en-IN" dirty="0"/>
              <a:t>6.Java does not permit pointer manipulation instructions. So it is robust in the sense that memory leaks and memory related errors do not occur. </a:t>
            </a:r>
          </a:p>
          <a:p>
            <a:pPr algn="just">
              <a:buNone/>
            </a:pPr>
            <a:r>
              <a:rPr lang="en-IN" dirty="0"/>
              <a:t>7.Java being platform independent is expected to run on a machine with an RISC like instruction execution with few addressing modes only. </a:t>
            </a:r>
          </a:p>
          <a:p>
            <a:pPr algn="just">
              <a:buNone/>
            </a:pPr>
            <a:endParaRPr lang="en-I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9630"/>
            <a:ext cx="9031941" cy="707787"/>
          </a:xfrm>
        </p:spPr>
        <p:txBody>
          <a:bodyPr>
            <a:normAutofit/>
          </a:bodyPr>
          <a:lstStyle/>
          <a:p>
            <a:r>
              <a:rPr lang="en-IN" b="1" dirty="0">
                <a:solidFill>
                  <a:srgbClr val="C00000"/>
                </a:solidFill>
              </a:rPr>
              <a:t>Disadvantages of Java </a:t>
            </a:r>
            <a:endParaRPr lang="en-IN" dirty="0">
              <a:solidFill>
                <a:srgbClr val="C00000"/>
              </a:solidFill>
            </a:endParaRPr>
          </a:p>
        </p:txBody>
      </p:sp>
      <p:sp>
        <p:nvSpPr>
          <p:cNvPr id="3" name="Content Placeholder 2"/>
          <p:cNvSpPr>
            <a:spLocks noGrp="1"/>
          </p:cNvSpPr>
          <p:nvPr>
            <p:ph idx="1"/>
          </p:nvPr>
        </p:nvSpPr>
        <p:spPr>
          <a:xfrm>
            <a:off x="838200" y="1129553"/>
            <a:ext cx="10515600" cy="5047410"/>
          </a:xfrm>
        </p:spPr>
        <p:txBody>
          <a:bodyPr>
            <a:normAutofit/>
          </a:bodyPr>
          <a:lstStyle/>
          <a:p>
            <a:r>
              <a:rPr lang="en-US" dirty="0"/>
              <a:t>Java byte codes that are generated need a larger memory when a method has more than 3 or 4 local variables. </a:t>
            </a:r>
          </a:p>
          <a:p>
            <a:r>
              <a:rPr lang="en-US" dirty="0"/>
              <a:t>An embedded Java system may need a minimum of 512 kB ROM and 512 kB RAM because of the need to first install JVM and run the application. </a:t>
            </a:r>
          </a:p>
          <a:p>
            <a:r>
              <a:rPr lang="en-US" dirty="0"/>
              <a:t>As Java codes are first interpreted by the JVM, it runs comparatively slowly. </a:t>
            </a:r>
          </a:p>
          <a:p>
            <a:r>
              <a:rPr lang="en-US" dirty="0"/>
              <a:t>To overcome this disadvantage, Java bytes codes can be converted to native machine codes for fast running using just-in-time (JIT) compilation. </a:t>
            </a:r>
          </a:p>
          <a:p>
            <a:r>
              <a:rPr lang="en-US" dirty="0"/>
              <a:t>A Java accelerator can be used in the system for fast code-run.</a:t>
            </a:r>
          </a:p>
          <a:p>
            <a:endParaRPr lang="en-IN" dirty="0"/>
          </a:p>
        </p:txBody>
      </p:sp>
    </p:spTree>
    <p:extLst>
      <p:ext uri="{BB962C8B-B14F-4D97-AF65-F5344CB8AC3E}">
        <p14:creationId xmlns:p14="http://schemas.microsoft.com/office/powerpoint/2010/main" val="38425460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TotalTime>
  <Words>3280</Words>
  <Application>Microsoft Office PowerPoint</Application>
  <PresentationFormat>Widescreen</PresentationFormat>
  <Paragraphs>302</Paragraphs>
  <Slides>37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Calibri Light</vt:lpstr>
      <vt:lpstr>Office Theme</vt:lpstr>
      <vt:lpstr>UNIT-V   EMBEDDED PROGRAMMING CONCEPTS</vt:lpstr>
      <vt:lpstr>Introduction</vt:lpstr>
      <vt:lpstr> Factors for Selecting the Programming Language </vt:lpstr>
      <vt:lpstr>PowerPoint Presentation</vt:lpstr>
      <vt:lpstr> Introduction to Embedded C Programming  </vt:lpstr>
      <vt:lpstr>Difference between C and Embedded C</vt:lpstr>
      <vt:lpstr>PowerPoint Presentation</vt:lpstr>
      <vt:lpstr>  Advantages of embedded C program  </vt:lpstr>
      <vt:lpstr> Data Types in Embedded C </vt:lpstr>
      <vt:lpstr>The following table shows some of the data types in Cx51 Compiler along with their ranges.</vt:lpstr>
      <vt:lpstr> Basic Structure of an Embedded C Program </vt:lpstr>
      <vt:lpstr> Example of Embedded C Program </vt:lpstr>
      <vt:lpstr>PowerPoint Presentation</vt:lpstr>
      <vt:lpstr>PowerPoint Presentation</vt:lpstr>
      <vt:lpstr>Loops and Infinite Loops</vt:lpstr>
      <vt:lpstr>Loops</vt:lpstr>
      <vt:lpstr>    while loop</vt:lpstr>
      <vt:lpstr>PowerPoint Presentation</vt:lpstr>
      <vt:lpstr>PowerPoint Presentation</vt:lpstr>
      <vt:lpstr>  Pointers</vt:lpstr>
      <vt:lpstr>          Structures</vt:lpstr>
      <vt:lpstr>PowerPoint Presentation</vt:lpstr>
      <vt:lpstr>PowerPoint Presentation</vt:lpstr>
      <vt:lpstr>PowerPoint Presentation</vt:lpstr>
      <vt:lpstr> Declaring a Structure </vt:lpstr>
      <vt:lpstr>Functions</vt:lpstr>
      <vt:lpstr>Function</vt:lpstr>
      <vt:lpstr> Defining a Function </vt:lpstr>
      <vt:lpstr>Macros</vt:lpstr>
      <vt:lpstr>PowerPoint Presentation</vt:lpstr>
      <vt:lpstr>Macro and Function</vt:lpstr>
      <vt:lpstr>       Objected Oriented Programming </vt:lpstr>
      <vt:lpstr> Embedded C++</vt:lpstr>
      <vt:lpstr>PowerPoint Presentation</vt:lpstr>
      <vt:lpstr>EMBEDDED PROGRAMMING IN JAVA </vt:lpstr>
      <vt:lpstr> EMBEDDED PROGRAMMING IN JAVA</vt:lpstr>
      <vt:lpstr>Disadvantages of Java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UNIT-V EMBEDDED PROGRAMMING CONCEPTS</dc:title>
  <dc:creator>JAY</dc:creator>
  <cp:lastModifiedBy>JAY</cp:lastModifiedBy>
  <cp:revision>51</cp:revision>
  <dcterms:created xsi:type="dcterms:W3CDTF">2020-04-05T14:12:15Z</dcterms:created>
  <dcterms:modified xsi:type="dcterms:W3CDTF">2020-04-11T02:52:14Z</dcterms:modified>
</cp:coreProperties>
</file>
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95" r:id="rId3"/>
    <p:sldId id="257" r:id="rId4"/>
    <p:sldId id="258" r:id="rId5"/>
    <p:sldId id="287" r:id="rId6"/>
    <p:sldId id="259" r:id="rId7"/>
    <p:sldId id="279" r:id="rId8"/>
    <p:sldId id="280" r:id="rId9"/>
    <p:sldId id="260" r:id="rId10"/>
    <p:sldId id="261" r:id="rId11"/>
    <p:sldId id="262" r:id="rId12"/>
    <p:sldId id="263" r:id="rId13"/>
    <p:sldId id="281" r:id="rId14"/>
    <p:sldId id="264" r:id="rId15"/>
    <p:sldId id="282" r:id="rId16"/>
    <p:sldId id="293" r:id="rId17"/>
    <p:sldId id="265" r:id="rId18"/>
    <p:sldId id="266" r:id="rId19"/>
    <p:sldId id="283" r:id="rId20"/>
    <p:sldId id="288" r:id="rId21"/>
    <p:sldId id="267" r:id="rId22"/>
    <p:sldId id="268" r:id="rId23"/>
    <p:sldId id="269" r:id="rId24"/>
    <p:sldId id="270" r:id="rId25"/>
    <p:sldId id="271" r:id="rId26"/>
    <p:sldId id="294" r:id="rId27"/>
    <p:sldId id="272" r:id="rId28"/>
    <p:sldId id="284" r:id="rId29"/>
    <p:sldId id="292" r:id="rId30"/>
    <p:sldId id="274" r:id="rId31"/>
    <p:sldId id="285" r:id="rId32"/>
    <p:sldId id="275" r:id="rId33"/>
    <p:sldId id="289" r:id="rId34"/>
    <p:sldId id="286" r:id="rId35"/>
    <p:sldId id="276" r:id="rId36"/>
    <p:sldId id="291" r:id="rId37"/>
    <p:sldId id="277" r:id="rId38"/>
    <p:sldId id="278"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2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A66C86-2530-4E5D-903A-AFD601D80AD3}" type="datetimeFigureOut">
              <a:rPr lang="en-US" smtClean="0"/>
              <a:pPr/>
              <a:t>14-Dec-20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CAB1EA-50D5-47C0-A3D0-54F9E433B87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30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50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81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14-Dec-20</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14-Dec-20</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14-Dec-20</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14-Dec-20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14-Dec-20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14-Dec-20</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14-Dec-20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14-Dec-20</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14-Dec-20</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14-Dec-20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14-Dec-20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14-Dec-20</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762000"/>
            <a:ext cx="8229600" cy="4343400"/>
          </a:xfrm>
        </p:spPr>
        <p:txBody>
          <a:bodyPr>
            <a:normAutofit/>
          </a:bodyPr>
          <a:lstStyle/>
          <a:p>
            <a:pPr algn="ctr"/>
            <a:r>
              <a:rPr lang="en-US" sz="3200" cap="all" dirty="0" smtClean="0">
                <a:solidFill>
                  <a:srgbClr val="00B0F0"/>
                </a:solidFill>
              </a:rPr>
              <a:t>UNIT-4</a:t>
            </a:r>
            <a:r>
              <a:rPr lang="en-US" cap="all" dirty="0" smtClean="0"/>
              <a:t/>
            </a:r>
            <a:br>
              <a:rPr lang="en-US" cap="all" dirty="0" smtClean="0"/>
            </a:br>
            <a:r>
              <a:rPr lang="en-US" cap="all" dirty="0" smtClean="0"/>
              <a:t/>
            </a:r>
            <a:br>
              <a:rPr lang="en-US" cap="all" dirty="0" smtClean="0"/>
            </a:br>
            <a:r>
              <a:rPr lang="en-US" dirty="0" smtClean="0"/>
              <a:t/>
            </a:r>
            <a:br>
              <a:rPr lang="en-US" dirty="0" smtClean="0"/>
            </a:br>
            <a:r>
              <a:rPr lang="en-US" sz="4400" cap="all" dirty="0" smtClean="0">
                <a:solidFill>
                  <a:srgbClr val="00B050"/>
                </a:solidFill>
              </a:rPr>
              <a:t>Embedded Firmware Design &amp; Development</a:t>
            </a:r>
            <a:r>
              <a:rPr lang="en-US" sz="4400" dirty="0" smtClean="0">
                <a:solidFill>
                  <a:srgbClr val="00B050"/>
                </a:solidFill>
              </a:rPr>
              <a:t/>
            </a:r>
            <a:br>
              <a:rPr lang="en-US" sz="4400" dirty="0" smtClean="0">
                <a:solidFill>
                  <a:srgbClr val="00B050"/>
                </a:solidFill>
              </a:rPr>
            </a:br>
            <a:endParaRPr lang="en-US" sz="4400" dirty="0">
              <a:solidFill>
                <a:srgbClr val="00B05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SYLLABUS</a:t>
            </a:r>
            <a:endParaRPr lang="en-US" sz="3600" b="1" dirty="0">
              <a:solidFill>
                <a:srgbClr val="FF0000"/>
              </a:solidFill>
            </a:endParaRPr>
          </a:p>
        </p:txBody>
      </p:sp>
      <p:sp>
        <p:nvSpPr>
          <p:cNvPr id="3" name="Content Placeholder 2"/>
          <p:cNvSpPr>
            <a:spLocks noGrp="1"/>
          </p:cNvSpPr>
          <p:nvPr>
            <p:ph sz="quarter" idx="1"/>
          </p:nvPr>
        </p:nvSpPr>
        <p:spPr>
          <a:xfrm>
            <a:off x="228600" y="1600200"/>
            <a:ext cx="8458200" cy="4873752"/>
          </a:xfrm>
        </p:spPr>
        <p:txBody>
          <a:bodyPr/>
          <a:lstStyle/>
          <a:p>
            <a:pPr>
              <a:lnSpc>
                <a:spcPct val="150000"/>
              </a:lnSpc>
              <a:buNone/>
            </a:pPr>
            <a:r>
              <a:rPr lang="en-US" b="1" dirty="0" smtClean="0"/>
              <a:t>EMBEDDED FIRMWARE DESIGN AND DEVELOPMENT: </a:t>
            </a:r>
          </a:p>
          <a:p>
            <a:pPr>
              <a:lnSpc>
                <a:spcPct val="150000"/>
              </a:lnSpc>
              <a:buNone/>
            </a:pPr>
            <a:r>
              <a:rPr lang="en-US" dirty="0" smtClean="0"/>
              <a:t>Embedded firmware design approaches-super loop based approach, operating system based approach; embedded firmware development languages-assembly language based development, high level language based development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7467600" cy="838200"/>
          </a:xfrm>
        </p:spPr>
        <p:txBody>
          <a:bodyPr anchor="ctr" anchorCtr="0">
            <a:normAutofit/>
          </a:bodyPr>
          <a:lstStyle/>
          <a:p>
            <a:r>
              <a:rPr lang="en-US" sz="3600" dirty="0" smtClean="0">
                <a:solidFill>
                  <a:srgbClr val="FF0000"/>
                </a:solidFill>
              </a:rPr>
              <a:t>The embedded firmware</a:t>
            </a:r>
            <a:endParaRPr lang="en-US" sz="3600" dirty="0">
              <a:solidFill>
                <a:srgbClr val="FF0000"/>
              </a:solidFill>
            </a:endParaRPr>
          </a:p>
        </p:txBody>
      </p:sp>
      <p:sp>
        <p:nvSpPr>
          <p:cNvPr id="3" name="Content Placeholder 2"/>
          <p:cNvSpPr>
            <a:spLocks noGrp="1"/>
          </p:cNvSpPr>
          <p:nvPr>
            <p:ph sz="quarter" idx="1"/>
          </p:nvPr>
        </p:nvSpPr>
        <p:spPr>
          <a:xfrm>
            <a:off x="152400" y="1524000"/>
            <a:ext cx="8686800" cy="5029200"/>
          </a:xfrm>
        </p:spPr>
        <p:txBody>
          <a:bodyPr>
            <a:noAutofit/>
          </a:bodyPr>
          <a:lstStyle/>
          <a:p>
            <a:pPr algn="just">
              <a:buNone/>
            </a:pPr>
            <a:endParaRPr lang="en-US" dirty="0" smtClean="0"/>
          </a:p>
          <a:p>
            <a:pPr algn="just">
              <a:buNone/>
            </a:pPr>
            <a:r>
              <a:rPr lang="en-US" dirty="0" smtClean="0"/>
              <a:t>Embedded Firmware refers to the control algorithm (Program instructions) and or the configuration settings that an embedded system developer dumps into the program memory of the embedded system.</a:t>
            </a:r>
          </a:p>
          <a:p>
            <a:pPr algn="just">
              <a:buNone/>
            </a:pPr>
            <a:r>
              <a:rPr lang="en-US" dirty="0" smtClean="0"/>
              <a:t>The embedded firmware is responsible for </a:t>
            </a:r>
          </a:p>
          <a:p>
            <a:pPr algn="just">
              <a:buFont typeface="Wingdings" pitchFamily="2" charset="2"/>
              <a:buChar char="Ø"/>
            </a:pPr>
            <a:r>
              <a:rPr lang="en-US" dirty="0" smtClean="0"/>
              <a:t>controlling the various peripherals of the embedded hardware</a:t>
            </a:r>
          </a:p>
          <a:p>
            <a:pPr algn="just">
              <a:buFont typeface="Wingdings" pitchFamily="2" charset="2"/>
              <a:buChar char="Ø"/>
            </a:pPr>
            <a:r>
              <a:rPr lang="en-US" dirty="0" smtClean="0"/>
              <a:t>generating response in accordance with the functional requirements of the product.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609600"/>
            <a:ext cx="8382000" cy="5864352"/>
          </a:xfrm>
        </p:spPr>
        <p:txBody>
          <a:bodyPr>
            <a:normAutofit/>
          </a:bodyPr>
          <a:lstStyle/>
          <a:p>
            <a:pPr algn="just">
              <a:buFont typeface="Wingdings" pitchFamily="2" charset="2"/>
              <a:buChar char="Ø"/>
            </a:pPr>
            <a:endParaRPr lang="en-US" dirty="0" smtClean="0"/>
          </a:p>
          <a:p>
            <a:pPr algn="just">
              <a:buFont typeface="Wingdings" pitchFamily="2" charset="2"/>
              <a:buChar char="Ø"/>
            </a:pPr>
            <a:r>
              <a:rPr lang="en-US" sz="2800" dirty="0" smtClean="0"/>
              <a:t>The embedded firmware is the master brain of the embedded system. </a:t>
            </a:r>
          </a:p>
          <a:p>
            <a:pPr algn="just">
              <a:buFont typeface="Wingdings" pitchFamily="2" charset="2"/>
              <a:buChar char="Ø"/>
            </a:pPr>
            <a:r>
              <a:rPr lang="en-US" sz="2800" dirty="0" smtClean="0"/>
              <a:t>The embedded firmware imparts intelligence to an Embedded system. </a:t>
            </a:r>
          </a:p>
          <a:p>
            <a:pPr algn="just">
              <a:buFont typeface="Wingdings" pitchFamily="2" charset="2"/>
              <a:buChar char="Ø"/>
            </a:pPr>
            <a:r>
              <a:rPr lang="en-US" sz="2800" dirty="0" smtClean="0"/>
              <a:t>The product starts functioning properly once the intelligence  is imparted to the product by embedding the firmware in the hardware</a:t>
            </a:r>
          </a:p>
          <a:p>
            <a:pPr algn="just">
              <a:buFont typeface="Wingdings" pitchFamily="2" charset="2"/>
              <a:buChar char="Ø"/>
            </a:pPr>
            <a:r>
              <a:rPr lang="en-US" sz="2800" dirty="0" smtClean="0"/>
              <a:t>The product will continue serving the assigned task till hardware breakdown occurs or a corruption in embedded firmware.</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90600"/>
            <a:ext cx="7848600" cy="5483352"/>
          </a:xfrm>
        </p:spPr>
        <p:txBody>
          <a:bodyPr>
            <a:normAutofit/>
          </a:bodyPr>
          <a:lstStyle/>
          <a:p>
            <a:pPr algn="just">
              <a:buFont typeface="Wingdings" pitchFamily="2" charset="2"/>
              <a:buChar char="Ø"/>
            </a:pPr>
            <a:r>
              <a:rPr lang="en-US" sz="2800" dirty="0" smtClean="0"/>
              <a:t>In case of hardware breakdown , the damaged component may need to be replaced </a:t>
            </a:r>
          </a:p>
          <a:p>
            <a:pPr algn="just">
              <a:buFont typeface="Wingdings" pitchFamily="2" charset="2"/>
              <a:buChar char="Ø"/>
            </a:pPr>
            <a:r>
              <a:rPr lang="en-US" sz="2800" dirty="0" smtClean="0"/>
              <a:t>for firmware corruptions the firmware should be re-loaded, to bring back the embedded product to the normal functioning.</a:t>
            </a:r>
          </a:p>
          <a:p>
            <a:pPr algn="just">
              <a:buFont typeface="Wingdings" pitchFamily="2" charset="2"/>
              <a:buChar char="Ø"/>
            </a:pPr>
            <a:r>
              <a:rPr lang="en-US" sz="2800" dirty="0" smtClean="0"/>
              <a:t>The embedded firmware is usually stored in a permanent memory (ROM) and it is non alterable by end users</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FF0000"/>
                </a:solidFill>
              </a:rPr>
              <a:t>Designing Embedded firmware</a:t>
            </a:r>
            <a:endParaRPr lang="en-US" sz="3600" dirty="0">
              <a:solidFill>
                <a:srgbClr val="FF0000"/>
              </a:solidFill>
            </a:endParaRPr>
          </a:p>
        </p:txBody>
      </p:sp>
      <p:sp>
        <p:nvSpPr>
          <p:cNvPr id="3" name="Content Placeholder 2"/>
          <p:cNvSpPr>
            <a:spLocks noGrp="1"/>
          </p:cNvSpPr>
          <p:nvPr>
            <p:ph sz="quarter" idx="1"/>
          </p:nvPr>
        </p:nvSpPr>
        <p:spPr>
          <a:xfrm>
            <a:off x="152400" y="1600200"/>
            <a:ext cx="8610600" cy="4873752"/>
          </a:xfrm>
        </p:spPr>
        <p:txBody>
          <a:bodyPr>
            <a:normAutofit/>
          </a:bodyPr>
          <a:lstStyle/>
          <a:p>
            <a:pPr>
              <a:buNone/>
            </a:pPr>
            <a:r>
              <a:rPr lang="en-US" dirty="0" smtClean="0"/>
              <a:t>Designing Embedded firmware requires</a:t>
            </a:r>
          </a:p>
          <a:p>
            <a:pPr>
              <a:buFont typeface="Wingdings" pitchFamily="2" charset="2"/>
              <a:buChar char="v"/>
            </a:pPr>
            <a:r>
              <a:rPr lang="en-US" dirty="0" smtClean="0"/>
              <a:t>understanding of the particular embedded product hardware, like </a:t>
            </a:r>
          </a:p>
          <a:p>
            <a:pPr>
              <a:buFont typeface="Wingdings" pitchFamily="2" charset="2"/>
              <a:buChar char="v"/>
            </a:pPr>
            <a:r>
              <a:rPr lang="en-US" dirty="0" smtClean="0"/>
              <a:t>various component interfacing, </a:t>
            </a:r>
          </a:p>
          <a:p>
            <a:pPr>
              <a:buFont typeface="Wingdings" pitchFamily="2" charset="2"/>
              <a:buChar char="v"/>
            </a:pPr>
            <a:r>
              <a:rPr lang="en-US" dirty="0" smtClean="0"/>
              <a:t>memory map details, </a:t>
            </a:r>
          </a:p>
          <a:p>
            <a:pPr>
              <a:buFont typeface="Wingdings" pitchFamily="2" charset="2"/>
              <a:buChar char="v"/>
            </a:pPr>
            <a:r>
              <a:rPr lang="en-US" dirty="0" smtClean="0"/>
              <a:t>I/O port details, </a:t>
            </a:r>
          </a:p>
          <a:p>
            <a:pPr>
              <a:buFont typeface="Wingdings" pitchFamily="2" charset="2"/>
              <a:buChar char="v"/>
            </a:pPr>
            <a:r>
              <a:rPr lang="en-US" dirty="0" smtClean="0"/>
              <a:t>Configuration details of various hardware chips used </a:t>
            </a:r>
          </a:p>
          <a:p>
            <a:pPr>
              <a:buFont typeface="Wingdings" pitchFamily="2" charset="2"/>
              <a:buChar char="v"/>
            </a:pPr>
            <a:r>
              <a:rPr lang="en-US" dirty="0" smtClean="0"/>
              <a:t>some programming </a:t>
            </a:r>
            <a:r>
              <a:rPr lang="en-US" smtClean="0"/>
              <a:t>language skills(either </a:t>
            </a:r>
            <a:r>
              <a:rPr lang="en-US" dirty="0" smtClean="0"/>
              <a:t>low level Assembly Language or High level language like C/C++ or a combination of the two)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85800"/>
            <a:ext cx="7467600" cy="5788152"/>
          </a:xfrm>
        </p:spPr>
        <p:txBody>
          <a:bodyPr>
            <a:normAutofit/>
          </a:bodyPr>
          <a:lstStyle/>
          <a:p>
            <a:pPr algn="just">
              <a:buFont typeface="Wingdings" pitchFamily="2" charset="2"/>
              <a:buChar char="Ø"/>
            </a:pPr>
            <a:r>
              <a:rPr lang="en-US" dirty="0" smtClean="0"/>
              <a:t>The embedded firmware development process starts with the conversion of the firmware requirements into a program model using various modeling tools like UML or flow chart based representation.</a:t>
            </a:r>
          </a:p>
          <a:p>
            <a:pPr algn="just">
              <a:buFont typeface="Wingdings" pitchFamily="2" charset="2"/>
              <a:buChar char="Ø"/>
            </a:pPr>
            <a:r>
              <a:rPr lang="en-US" dirty="0" smtClean="0"/>
              <a:t>The UML diagrams or flowchart gives a diagrammatic representation of the decision items to be taken and the tasks to be performed.</a:t>
            </a:r>
          </a:p>
          <a:p>
            <a:pPr algn="just">
              <a:buFont typeface="Wingdings" pitchFamily="2" charset="2"/>
              <a:buChar char="Ø"/>
            </a:pPr>
            <a:r>
              <a:rPr lang="en-US" dirty="0" smtClean="0"/>
              <a:t>Once the program model is ready, the next step is implementation of the tasks and actions by capturing the model using a language which is understandable by the target processor/controller.</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85800"/>
            <a:ext cx="8001000" cy="5788152"/>
          </a:xfrm>
        </p:spPr>
        <p:txBody>
          <a:bodyPr>
            <a:normAutofit lnSpcReduction="10000"/>
          </a:bodyPr>
          <a:lstStyle/>
          <a:p>
            <a:pPr algn="just">
              <a:buFont typeface="Wingdings" pitchFamily="2" charset="2"/>
              <a:buChar char="Ø"/>
            </a:pPr>
            <a:r>
              <a:rPr lang="en-US" dirty="0" smtClean="0"/>
              <a:t>The embedded firmware can be developed in various methods like </a:t>
            </a:r>
          </a:p>
          <a:p>
            <a:pPr algn="just">
              <a:buFont typeface="Wingdings" pitchFamily="2" charset="2"/>
              <a:buChar char="Ø"/>
            </a:pPr>
            <a:r>
              <a:rPr lang="en-US" dirty="0" smtClean="0"/>
              <a:t>Write the program in high level languages like Embedded C/C++ using an Integrated Development Environment (The IDE will contain an editor, compiler, linker, debugger, simulator etc. IDEs are different for different family of processors/controllers. </a:t>
            </a:r>
          </a:p>
          <a:p>
            <a:pPr algn="just">
              <a:buFont typeface="Wingdings" pitchFamily="2" charset="2"/>
              <a:buChar char="Ø"/>
            </a:pPr>
            <a:r>
              <a:rPr lang="en-US" dirty="0" smtClean="0"/>
              <a:t>Write the program in Assembly Language using the Instructions Supported by your application’s target processor/controller.</a:t>
            </a:r>
          </a:p>
          <a:p>
            <a:pPr algn="just">
              <a:buFont typeface="Wingdings" pitchFamily="2" charset="2"/>
              <a:buChar char="Ø"/>
            </a:pPr>
            <a:r>
              <a:rPr lang="en-US" dirty="0" smtClean="0"/>
              <a:t>The instruction set for each family of processor/controller is different and the program written in either methods should be converted into a processor understandable machine code before loading it into the program memory.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solidFill>
                  <a:srgbClr val="FF0000"/>
                </a:solidFill>
              </a:rPr>
              <a:t>embedded firmware design approaches</a:t>
            </a:r>
            <a:endParaRPr lang="en-US" sz="3600" dirty="0">
              <a:solidFill>
                <a:srgbClr val="FF0000"/>
              </a:solidFill>
            </a:endParaRPr>
          </a:p>
        </p:txBody>
      </p:sp>
      <p:sp>
        <p:nvSpPr>
          <p:cNvPr id="3" name="Content Placeholder 2"/>
          <p:cNvSpPr>
            <a:spLocks noGrp="1"/>
          </p:cNvSpPr>
          <p:nvPr>
            <p:ph sz="quarter" idx="1"/>
          </p:nvPr>
        </p:nvSpPr>
        <p:spPr>
          <a:xfrm>
            <a:off x="457200" y="1600200"/>
            <a:ext cx="8153400" cy="4873752"/>
          </a:xfrm>
        </p:spPr>
        <p:txBody>
          <a:bodyPr>
            <a:normAutofit/>
          </a:bodyPr>
          <a:lstStyle/>
          <a:p>
            <a:pPr>
              <a:buFont typeface="Wingdings" pitchFamily="2" charset="2"/>
              <a:buChar char="Ø"/>
            </a:pPr>
            <a:r>
              <a:rPr lang="en-US" dirty="0" smtClean="0"/>
              <a:t>The firmware design approaches for embedded product is purely dependent on the complexity of the functions to be performed and speed of operation required. </a:t>
            </a:r>
          </a:p>
          <a:p>
            <a:pPr>
              <a:buFont typeface="Wingdings" pitchFamily="2" charset="2"/>
              <a:buChar char="Ø"/>
            </a:pPr>
            <a:r>
              <a:rPr lang="en-US" dirty="0" smtClean="0"/>
              <a:t>There exist two basic approaches for the design and implementation of embedded firmware, namely;</a:t>
            </a:r>
          </a:p>
          <a:p>
            <a:pPr lvl="1">
              <a:buFont typeface="Wingdings" pitchFamily="2" charset="2"/>
              <a:buChar char="v"/>
            </a:pPr>
            <a:r>
              <a:rPr lang="en-US" sz="2200" b="1" dirty="0" smtClean="0"/>
              <a:t>The Super loop based approach</a:t>
            </a:r>
          </a:p>
          <a:p>
            <a:pPr lvl="1">
              <a:buFont typeface="Wingdings" pitchFamily="2" charset="2"/>
              <a:buChar char="v"/>
            </a:pPr>
            <a:r>
              <a:rPr lang="en-US" sz="2200" b="1" dirty="0" smtClean="0"/>
              <a:t>The Embedded Operating System based approach</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92162"/>
          </a:xfrm>
        </p:spPr>
        <p:txBody>
          <a:bodyPr anchor="ctr" anchorCtr="0"/>
          <a:lstStyle/>
          <a:p>
            <a:r>
              <a:rPr lang="en-US" dirty="0" smtClean="0">
                <a:solidFill>
                  <a:srgbClr val="FF0000"/>
                </a:solidFill>
              </a:rPr>
              <a:t>The Super loop BASED APPROACH</a:t>
            </a:r>
            <a:endParaRPr lang="en-US" dirty="0">
              <a:solidFill>
                <a:srgbClr val="FF0000"/>
              </a:solidFill>
            </a:endParaRPr>
          </a:p>
        </p:txBody>
      </p:sp>
      <p:sp>
        <p:nvSpPr>
          <p:cNvPr id="3" name="Content Placeholder 2"/>
          <p:cNvSpPr>
            <a:spLocks noGrp="1"/>
          </p:cNvSpPr>
          <p:nvPr>
            <p:ph sz="quarter" idx="1"/>
          </p:nvPr>
        </p:nvSpPr>
        <p:spPr>
          <a:xfrm>
            <a:off x="228600" y="990600"/>
            <a:ext cx="8382000" cy="5483352"/>
          </a:xfrm>
        </p:spPr>
        <p:txBody>
          <a:bodyPr/>
          <a:lstStyle/>
          <a:p>
            <a:pPr algn="just">
              <a:buFont typeface="Wingdings" pitchFamily="2" charset="2"/>
              <a:buChar char="Ø"/>
            </a:pPr>
            <a:r>
              <a:rPr lang="en-US" dirty="0" smtClean="0"/>
              <a:t>The Super loop based firmware development approach is Suitable for applications that are not time critical and where the response time is not so important (Embedded systems where missing deadlines are acceptable).</a:t>
            </a:r>
          </a:p>
          <a:p>
            <a:pPr algn="just">
              <a:buFont typeface="Wingdings" pitchFamily="2" charset="2"/>
              <a:buChar char="Ø"/>
            </a:pPr>
            <a:r>
              <a:rPr lang="en-US" dirty="0" smtClean="0"/>
              <a:t>It is very similar to a conventional procedural programming where the code is executed task by task</a:t>
            </a:r>
          </a:p>
          <a:p>
            <a:pPr algn="just">
              <a:buFont typeface="Wingdings" pitchFamily="2" charset="2"/>
              <a:buChar char="Ø"/>
            </a:pPr>
            <a:r>
              <a:rPr lang="en-US" dirty="0" smtClean="0"/>
              <a:t>  The tasks are executed in a never ending loop.</a:t>
            </a:r>
          </a:p>
          <a:p>
            <a:pPr algn="just">
              <a:buFont typeface="Wingdings" pitchFamily="2" charset="2"/>
              <a:buChar char="Ø"/>
            </a:pPr>
            <a:r>
              <a:rPr lang="en-US" dirty="0" smtClean="0"/>
              <a:t>  The task listed on top on the program code is executed first and the tasks just below the top are executed after completing the first task.</a:t>
            </a:r>
          </a:p>
          <a:p>
            <a:pPr algn="just">
              <a:buFont typeface="Wingdings" pitchFamily="2" charset="2"/>
              <a:buChar char="Ø"/>
            </a:pPr>
            <a:r>
              <a:rPr lang="en-US" dirty="0" smtClean="0"/>
              <a:t>In a multiple task based system, each task is executed in serial in this approach.</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762000"/>
            <a:ext cx="8610600" cy="5486400"/>
          </a:xfrm>
        </p:spPr>
        <p:txBody>
          <a:bodyPr>
            <a:normAutofit/>
          </a:bodyPr>
          <a:lstStyle/>
          <a:p>
            <a:pPr>
              <a:buNone/>
            </a:pPr>
            <a:r>
              <a:rPr lang="en-US" dirty="0" smtClean="0"/>
              <a:t>A typical super loop implementation will look like:</a:t>
            </a:r>
          </a:p>
          <a:p>
            <a:pPr>
              <a:buNone/>
            </a:pPr>
            <a:endParaRPr lang="en-US" dirty="0" smtClean="0"/>
          </a:p>
          <a:p>
            <a:pPr lvl="1">
              <a:buFont typeface="Wingdings" pitchFamily="2" charset="2"/>
              <a:buChar char="Ø"/>
            </a:pPr>
            <a:r>
              <a:rPr lang="en-US" sz="2400" dirty="0" smtClean="0"/>
              <a:t>Configure the common parameters and perform initialization for various hardware components memory, registers etc.</a:t>
            </a:r>
            <a:endParaRPr lang="en-US" sz="1800" dirty="0" smtClean="0"/>
          </a:p>
          <a:p>
            <a:pPr lvl="1">
              <a:buFont typeface="Wingdings" pitchFamily="2" charset="2"/>
              <a:buChar char="Ø"/>
            </a:pPr>
            <a:r>
              <a:rPr lang="en-US" sz="2400" dirty="0" smtClean="0"/>
              <a:t>Start the first task and execute it</a:t>
            </a:r>
            <a:endParaRPr lang="en-US" sz="1800" dirty="0" smtClean="0"/>
          </a:p>
          <a:p>
            <a:pPr lvl="1">
              <a:buFont typeface="Wingdings" pitchFamily="2" charset="2"/>
              <a:buChar char="Ø"/>
            </a:pPr>
            <a:r>
              <a:rPr lang="en-US" sz="2400" dirty="0" smtClean="0"/>
              <a:t>Execute the second task</a:t>
            </a:r>
            <a:endParaRPr lang="en-US" sz="1800" dirty="0" smtClean="0"/>
          </a:p>
          <a:p>
            <a:pPr lvl="1">
              <a:buFont typeface="Wingdings" pitchFamily="2" charset="2"/>
              <a:buChar char="Ø"/>
            </a:pPr>
            <a:r>
              <a:rPr lang="en-US" sz="2400" dirty="0" smtClean="0"/>
              <a:t>Execute the next task</a:t>
            </a:r>
          </a:p>
          <a:p>
            <a:pPr lvl="1">
              <a:buFont typeface="Wingdings" pitchFamily="2" charset="2"/>
              <a:buChar char="Ø"/>
            </a:pPr>
            <a:r>
              <a:rPr lang="en-US" sz="2400" dirty="0" smtClean="0"/>
              <a:t> 5. :</a:t>
            </a:r>
            <a:endParaRPr lang="en-US" sz="1800" dirty="0" smtClean="0"/>
          </a:p>
          <a:p>
            <a:pPr lvl="1">
              <a:buFont typeface="Wingdings" pitchFamily="2" charset="2"/>
              <a:buChar char="Ø"/>
            </a:pPr>
            <a:r>
              <a:rPr lang="en-US" dirty="0" smtClean="0"/>
              <a:t>6. :</a:t>
            </a:r>
          </a:p>
          <a:p>
            <a:pPr lvl="1">
              <a:buFont typeface="Wingdings" pitchFamily="2" charset="2"/>
              <a:buChar char="Ø"/>
            </a:pPr>
            <a:r>
              <a:rPr lang="en-US" dirty="0" smtClean="0"/>
              <a:t>Execute the last defined task</a:t>
            </a:r>
            <a:endParaRPr lang="en-US" sz="1500" dirty="0" smtClean="0"/>
          </a:p>
          <a:p>
            <a:pPr lvl="1">
              <a:buFont typeface="Wingdings" pitchFamily="2" charset="2"/>
              <a:buChar char="Ø"/>
            </a:pPr>
            <a:r>
              <a:rPr lang="en-US" dirty="0" smtClean="0"/>
              <a:t>Jump back to the first task and follow the same flow</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81000"/>
            <a:ext cx="8153400" cy="6248400"/>
          </a:xfrm>
        </p:spPr>
        <p:txBody>
          <a:bodyPr>
            <a:normAutofit fontScale="85000" lnSpcReduction="20000"/>
          </a:bodyPr>
          <a:lstStyle/>
          <a:p>
            <a:pPr>
              <a:buFont typeface="Wingdings" pitchFamily="2" charset="2"/>
              <a:buChar char="Ø"/>
            </a:pPr>
            <a:r>
              <a:rPr lang="en-US" sz="2800" dirty="0" smtClean="0"/>
              <a:t>The order in which the tasks to be executed are fixed and they are hard coded in the code itself.</a:t>
            </a:r>
          </a:p>
          <a:p>
            <a:pPr>
              <a:buFont typeface="Wingdings" pitchFamily="2" charset="2"/>
              <a:buChar char="Ø"/>
            </a:pPr>
            <a:r>
              <a:rPr lang="en-US" sz="2800" dirty="0" smtClean="0"/>
              <a:t>The ‘C’ program code for the super loop is given below </a:t>
            </a:r>
          </a:p>
          <a:p>
            <a:pPr>
              <a:buNone/>
            </a:pPr>
            <a:r>
              <a:rPr lang="en-US" sz="2800" dirty="0" smtClean="0"/>
              <a:t>	void main ()</a:t>
            </a:r>
          </a:p>
          <a:p>
            <a:pPr>
              <a:buNone/>
            </a:pPr>
            <a:r>
              <a:rPr lang="en-US" sz="2800" dirty="0" smtClean="0"/>
              <a:t>	{</a:t>
            </a:r>
          </a:p>
          <a:p>
            <a:pPr>
              <a:buNone/>
            </a:pPr>
            <a:r>
              <a:rPr lang="en-US" sz="2800" dirty="0" smtClean="0"/>
              <a:t>		Configurations (); </a:t>
            </a:r>
          </a:p>
          <a:p>
            <a:pPr>
              <a:buNone/>
            </a:pPr>
            <a:r>
              <a:rPr lang="en-US" sz="2800" dirty="0" smtClean="0"/>
              <a:t>		Initializations ();</a:t>
            </a:r>
          </a:p>
          <a:p>
            <a:pPr>
              <a:buNone/>
            </a:pPr>
            <a:r>
              <a:rPr lang="en-US" sz="2800" dirty="0" smtClean="0"/>
              <a:t>		while (1)</a:t>
            </a:r>
          </a:p>
          <a:p>
            <a:pPr>
              <a:buNone/>
            </a:pPr>
            <a:r>
              <a:rPr lang="en-US" sz="2800" dirty="0" smtClean="0"/>
              <a:t>		{</a:t>
            </a:r>
          </a:p>
          <a:p>
            <a:pPr>
              <a:buNone/>
            </a:pPr>
            <a:r>
              <a:rPr lang="en-US" sz="2800" dirty="0" smtClean="0"/>
              <a:t>		Task 1 ();</a:t>
            </a:r>
          </a:p>
          <a:p>
            <a:pPr>
              <a:buNone/>
            </a:pPr>
            <a:r>
              <a:rPr lang="en-US" sz="2800" dirty="0" smtClean="0"/>
              <a:t>		Task 2 ();</a:t>
            </a:r>
          </a:p>
          <a:p>
            <a:pPr>
              <a:buNone/>
            </a:pPr>
            <a:r>
              <a:rPr lang="en-US" sz="2800" dirty="0" smtClean="0"/>
              <a:t>		:</a:t>
            </a:r>
          </a:p>
          <a:p>
            <a:pPr>
              <a:buNone/>
            </a:pPr>
            <a:r>
              <a:rPr lang="en-US" sz="2800" dirty="0" smtClean="0"/>
              <a:t>		:</a:t>
            </a:r>
          </a:p>
          <a:p>
            <a:pPr>
              <a:buNone/>
            </a:pPr>
            <a:r>
              <a:rPr lang="en-US" sz="2800" dirty="0" smtClean="0"/>
              <a:t>		Task n ();</a:t>
            </a:r>
          </a:p>
          <a:p>
            <a:pPr>
              <a:buNone/>
            </a:pPr>
            <a:r>
              <a:rPr lang="en-US" sz="2800" dirty="0" smtClean="0"/>
              <a:t>		}</a:t>
            </a:r>
          </a:p>
          <a:p>
            <a:pPr>
              <a:buNone/>
            </a:pPr>
            <a:r>
              <a:rPr lang="en-US" sz="2800" dirty="0" smtClean="0"/>
              <a:t>	}</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7772400" cy="5940552"/>
          </a:xfrm>
        </p:spPr>
        <p:txBody>
          <a:bodyPr>
            <a:normAutofit lnSpcReduction="10000"/>
          </a:bodyPr>
          <a:lstStyle/>
          <a:p>
            <a:pPr algn="just">
              <a:buFont typeface="Wingdings" pitchFamily="2" charset="2"/>
              <a:buChar char="Ø"/>
            </a:pPr>
            <a:r>
              <a:rPr lang="en-US" dirty="0" smtClean="0"/>
              <a:t>Since the tasks are running inside an infinite loop, the only way to come out is either a hardware reset or an interrupt assertion.</a:t>
            </a:r>
          </a:p>
          <a:p>
            <a:pPr algn="just">
              <a:buFont typeface="Wingdings" pitchFamily="2" charset="2"/>
              <a:buChar char="Ø"/>
            </a:pPr>
            <a:r>
              <a:rPr lang="en-US" dirty="0" smtClean="0"/>
              <a:t>A hardware reset brings the program execution back to the main loop.</a:t>
            </a:r>
          </a:p>
          <a:p>
            <a:pPr algn="just">
              <a:buFont typeface="Wingdings" pitchFamily="2" charset="2"/>
              <a:buChar char="Ø"/>
            </a:pPr>
            <a:r>
              <a:rPr lang="en-US" dirty="0" smtClean="0"/>
              <a:t>An interrupt request suspends execution temporarily and completes the corresponding interrupt routine and then restarts task execution from the point where it got interrupted.</a:t>
            </a:r>
          </a:p>
          <a:p>
            <a:pPr algn="just">
              <a:buFont typeface="Wingdings" pitchFamily="2" charset="2"/>
              <a:buChar char="Ø"/>
            </a:pPr>
            <a:r>
              <a:rPr lang="en-US" dirty="0" smtClean="0"/>
              <a:t>In this approach the priorities and task are fixed hence there is no need of an OS and the code for performing these tasks resides in code memory.</a:t>
            </a:r>
          </a:p>
          <a:p>
            <a:pPr algn="just">
              <a:buFont typeface="Wingdings" pitchFamily="2" charset="2"/>
              <a:buChar char="Ø"/>
            </a:pPr>
            <a:r>
              <a:rPr lang="en-US" dirty="0" smtClean="0"/>
              <a:t>Examples of Super loop based products are:</a:t>
            </a:r>
          </a:p>
          <a:p>
            <a:pPr lvl="1" algn="just">
              <a:buFont typeface="Wingdings" pitchFamily="2" charset="2"/>
              <a:buChar char="Ø"/>
            </a:pPr>
            <a:r>
              <a:rPr lang="en-US" dirty="0" smtClean="0"/>
              <a:t>Reading/writing to and from a card using card reader</a:t>
            </a:r>
          </a:p>
          <a:p>
            <a:pPr lvl="1" algn="just">
              <a:buFont typeface="Wingdings" pitchFamily="2" charset="2"/>
              <a:buChar char="Ø"/>
            </a:pPr>
            <a:r>
              <a:rPr lang="en-US" dirty="0" smtClean="0"/>
              <a:t>An electronic video game toy containing keypad and display unit.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8077200" cy="5940552"/>
          </a:xfrm>
        </p:spPr>
        <p:txBody>
          <a:bodyPr>
            <a:normAutofit/>
          </a:bodyPr>
          <a:lstStyle/>
          <a:p>
            <a:pPr algn="just">
              <a:buNone/>
            </a:pPr>
            <a:r>
              <a:rPr lang="en-US" b="1" dirty="0" smtClean="0"/>
              <a:t>Pros:</a:t>
            </a:r>
          </a:p>
          <a:p>
            <a:pPr algn="just">
              <a:buFont typeface="Wingdings" pitchFamily="2" charset="2"/>
              <a:buChar char="Ø"/>
            </a:pPr>
            <a:r>
              <a:rPr lang="en-US" dirty="0" smtClean="0"/>
              <a:t>Doesn’t require an Operating System for task scheduling and monitoring and free from OS related overheads</a:t>
            </a:r>
          </a:p>
          <a:p>
            <a:pPr algn="just">
              <a:buFont typeface="Wingdings" pitchFamily="2" charset="2"/>
              <a:buChar char="Ø"/>
            </a:pPr>
            <a:r>
              <a:rPr lang="en-US" dirty="0" smtClean="0"/>
              <a:t>Simple and straight forward design Reduced memory footprint</a:t>
            </a:r>
            <a:r>
              <a:rPr lang="en-US" b="1" dirty="0" smtClean="0"/>
              <a:t> </a:t>
            </a:r>
            <a:endParaRPr lang="en-US" dirty="0" smtClean="0"/>
          </a:p>
          <a:p>
            <a:pPr algn="just">
              <a:buNone/>
            </a:pPr>
            <a:r>
              <a:rPr lang="en-US" b="1" dirty="0" smtClean="0"/>
              <a:t>Cons:</a:t>
            </a:r>
            <a:endParaRPr lang="en-US" dirty="0" smtClean="0"/>
          </a:p>
          <a:p>
            <a:pPr algn="just">
              <a:buFont typeface="Wingdings" pitchFamily="2" charset="2"/>
              <a:buChar char="Ø"/>
            </a:pPr>
            <a:r>
              <a:rPr lang="en-US" dirty="0" smtClean="0"/>
              <a:t>Non Real time in execution behavior (As the number of tasks increases the frequency at which a task gets CPU time for execution also increases)</a:t>
            </a:r>
          </a:p>
          <a:p>
            <a:pPr algn="just">
              <a:buFont typeface="Wingdings" pitchFamily="2" charset="2"/>
              <a:buChar char="Ø"/>
            </a:pPr>
            <a:r>
              <a:rPr lang="en-US" dirty="0" smtClean="0"/>
              <a:t>Any issues in any task execution may affect the functioning of the product. If the program hangs up at some point, it may remain there forever and ultimately the product stops functioning.</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38200"/>
            <a:ext cx="7467600" cy="5635752"/>
          </a:xfrm>
        </p:spPr>
        <p:txBody>
          <a:bodyPr>
            <a:normAutofit/>
          </a:bodyPr>
          <a:lstStyle/>
          <a:p>
            <a:pPr algn="just">
              <a:buNone/>
            </a:pPr>
            <a:r>
              <a:rPr lang="en-US" b="1" dirty="0" smtClean="0">
                <a:solidFill>
                  <a:srgbClr val="FF0000"/>
                </a:solidFill>
              </a:rPr>
              <a:t>Enhancements</a:t>
            </a:r>
            <a:r>
              <a:rPr lang="en-US" dirty="0" smtClean="0">
                <a:solidFill>
                  <a:srgbClr val="FF0000"/>
                </a:solidFill>
              </a:rPr>
              <a:t>:</a:t>
            </a:r>
          </a:p>
          <a:p>
            <a:pPr algn="just">
              <a:buFont typeface="Wingdings" pitchFamily="2" charset="2"/>
              <a:buChar char="Ø"/>
            </a:pPr>
            <a:r>
              <a:rPr lang="en-US" dirty="0" smtClean="0"/>
              <a:t>Use of Hardware and software Watch Dog Timers (WDT) helps in coming out from loop when an unexpected failure occurs or when the processor hangs up.</a:t>
            </a:r>
          </a:p>
          <a:p>
            <a:pPr algn="just">
              <a:buFont typeface="Wingdings" pitchFamily="2" charset="2"/>
              <a:buChar char="Ø"/>
            </a:pPr>
            <a:r>
              <a:rPr lang="en-US" dirty="0" smtClean="0"/>
              <a:t>Combine Super loop based technique with interrupts and execute the tasks (like keyboard handling) which require Real time attention as Interrupt Service routines.</a:t>
            </a:r>
          </a:p>
          <a:p>
            <a:pPr algn="just">
              <a:buFont typeface="Wingdings" pitchFamily="2" charset="2"/>
              <a:buChar char="Ø"/>
            </a:pPr>
            <a:r>
              <a:rPr lang="en-US" dirty="0" smtClean="0"/>
              <a:t>Use of advanced processors/controllers greatly reduces the time required to service different tasks and thereby capable of providing a nearly real time attention to external events.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descr="Image result for operating system"/>
          <p:cNvSpPr>
            <a:spLocks noChangeAspect="1" noChangeArrowheads="1"/>
          </p:cNvSpPr>
          <p:nvPr/>
        </p:nvSpPr>
        <p:spPr bwMode="auto">
          <a:xfrm>
            <a:off x="155575" y="-144463"/>
            <a:ext cx="304800" cy="304801"/>
          </a:xfrm>
          <a:prstGeom prst="rect">
            <a:avLst/>
          </a:prstGeom>
          <a:noFill/>
          <a:ln w="9525">
            <a:noFill/>
            <a:miter lim="800000"/>
            <a:headEnd/>
            <a:tailEnd/>
          </a:ln>
        </p:spPr>
        <p:txBody>
          <a:bodyPr/>
          <a:lstStyle/>
          <a:p>
            <a:endParaRPr lang="en-US" altLang="en-US"/>
          </a:p>
        </p:txBody>
      </p:sp>
      <p:pic>
        <p:nvPicPr>
          <p:cNvPr id="11267" name="Picture 3"/>
          <p:cNvPicPr>
            <a:picLocks noGrp="1" noChangeAspect="1" noChangeArrowheads="1"/>
          </p:cNvPicPr>
          <p:nvPr>
            <p:ph idx="1"/>
          </p:nvPr>
        </p:nvPicPr>
        <p:blipFill>
          <a:blip r:embed="rId2"/>
          <a:srcRect/>
          <a:stretch>
            <a:fillRect/>
          </a:stretch>
        </p:blipFill>
        <p:spPr>
          <a:xfrm>
            <a:off x="304800" y="762000"/>
            <a:ext cx="8534400" cy="5867400"/>
          </a:xfrm>
          <a:noFill/>
        </p:spPr>
      </p:pic>
      <p:sp>
        <p:nvSpPr>
          <p:cNvPr id="6" name="Title 1"/>
          <p:cNvSpPr>
            <a:spLocks noGrp="1"/>
          </p:cNvSpPr>
          <p:nvPr>
            <p:ph type="title"/>
          </p:nvPr>
        </p:nvSpPr>
        <p:spPr>
          <a:xfrm>
            <a:off x="304800" y="76200"/>
            <a:ext cx="8610600" cy="609600"/>
          </a:xfrm>
          <a:solidFill>
            <a:srgbClr val="99FFCC"/>
          </a:solidFill>
          <a:ln>
            <a:solidFill>
              <a:srgbClr val="7030A0"/>
            </a:solidFill>
          </a:ln>
        </p:spPr>
        <p:txBody>
          <a:bodyPr>
            <a:normAutofit fontScale="90000"/>
          </a:bodyPr>
          <a:lstStyle/>
          <a:p>
            <a:pPr marL="342900" indent="-342900" eaLnBrk="1" hangingPunct="1"/>
            <a:r>
              <a:rPr lang="en-US" altLang="en-US" sz="1800" b="1" smtClean="0"/>
              <a:t>Embedded firmware Design Approaches – </a:t>
            </a:r>
            <a:r>
              <a:rPr lang="en-US" altLang="en-US" sz="2800" b="1" smtClean="0">
                <a:solidFill>
                  <a:srgbClr val="FF0000"/>
                </a:solidFill>
              </a:rPr>
              <a:t>2.</a:t>
            </a:r>
            <a:r>
              <a:rPr lang="en-US" altLang="en-US" sz="2400" b="1" smtClean="0">
                <a:solidFill>
                  <a:srgbClr val="FF0000"/>
                </a:solidFill>
              </a:rPr>
              <a:t>Embedded OS based Approach</a:t>
            </a:r>
            <a:endParaRPr lang="en-US" altLang="en-US" sz="2800" b="1"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FF0000"/>
                </a:solidFill>
              </a:rPr>
              <a:t>Embedded OS based Approach</a:t>
            </a:r>
            <a:endParaRPr lang="en-US" sz="3600" dirty="0">
              <a:solidFill>
                <a:srgbClr val="FF0000"/>
              </a:solidFill>
            </a:endParaRPr>
          </a:p>
        </p:txBody>
      </p:sp>
      <p:sp>
        <p:nvSpPr>
          <p:cNvPr id="3" name="Content Placeholder 2"/>
          <p:cNvSpPr>
            <a:spLocks noGrp="1"/>
          </p:cNvSpPr>
          <p:nvPr>
            <p:ph sz="quarter" idx="1"/>
          </p:nvPr>
        </p:nvSpPr>
        <p:spPr>
          <a:xfrm>
            <a:off x="457200" y="1600200"/>
            <a:ext cx="8229600" cy="4873752"/>
          </a:xfrm>
        </p:spPr>
        <p:txBody>
          <a:bodyPr/>
          <a:lstStyle/>
          <a:p>
            <a:pPr>
              <a:buNone/>
            </a:pPr>
            <a:r>
              <a:rPr lang="en-US" dirty="0" smtClean="0"/>
              <a:t>The embedded device contains an Embedded Operating System which can be one of:</a:t>
            </a:r>
          </a:p>
          <a:p>
            <a:pPr lvl="0">
              <a:buFont typeface="Wingdings" pitchFamily="2" charset="2"/>
              <a:buChar char="v"/>
            </a:pPr>
            <a:r>
              <a:rPr lang="en-US" dirty="0" smtClean="0"/>
              <a:t>A Real Time Operating System (RTOS)</a:t>
            </a:r>
          </a:p>
          <a:p>
            <a:pPr lvl="0">
              <a:buFont typeface="Wingdings" pitchFamily="2" charset="2"/>
              <a:buChar char="v"/>
            </a:pPr>
            <a:r>
              <a:rPr lang="en-US" dirty="0" smtClean="0"/>
              <a:t>A Customized General Purpose Operating System (GPOS)</a:t>
            </a:r>
          </a:p>
          <a:p>
            <a:pPr>
              <a:buFont typeface="Wingdings" pitchFamily="2" charset="2"/>
              <a:buChar char="Ø"/>
            </a:pPr>
            <a:r>
              <a:rPr lang="en-US" dirty="0" smtClean="0"/>
              <a:t>The Embedded OS is responsible for scheduling the execution of user tasks and the allocation of system resources among multiple tasks</a:t>
            </a:r>
          </a:p>
          <a:p>
            <a:pPr>
              <a:buFont typeface="Wingdings" pitchFamily="2" charset="2"/>
              <a:buChar char="Ø"/>
            </a:pPr>
            <a:r>
              <a:rPr lang="en-US" dirty="0" smtClean="0"/>
              <a:t>It involves lot of OS related overheads apart from managing and executing user defined tasks.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14400"/>
            <a:ext cx="8077200" cy="5559552"/>
          </a:xfrm>
        </p:spPr>
        <p:txBody>
          <a:bodyPr>
            <a:normAutofit/>
          </a:bodyPr>
          <a:lstStyle/>
          <a:p>
            <a:pPr algn="just">
              <a:buFont typeface="Wingdings" pitchFamily="2" charset="2"/>
              <a:buChar char="Ø"/>
            </a:pPr>
            <a:r>
              <a:rPr lang="en-US" sz="2800" dirty="0" smtClean="0"/>
              <a:t>The GPOS based design is very similar to a conventional PC based application development where the device contains an OS and user applications run on top of it.</a:t>
            </a:r>
          </a:p>
          <a:p>
            <a:pPr algn="just">
              <a:buFont typeface="Wingdings" pitchFamily="2" charset="2"/>
              <a:buChar char="Ø"/>
            </a:pPr>
            <a:r>
              <a:rPr lang="en-US" sz="2800" dirty="0" smtClean="0"/>
              <a:t>Microsoft® Windows XP Embedded is an example of GPOS for embedded devices.</a:t>
            </a:r>
          </a:p>
          <a:p>
            <a:pPr algn="just">
              <a:buFont typeface="Wingdings" pitchFamily="2" charset="2"/>
              <a:buChar char="Ø"/>
            </a:pPr>
            <a:r>
              <a:rPr lang="en-US" sz="2800" dirty="0" smtClean="0"/>
              <a:t>Point of Sale (</a:t>
            </a:r>
            <a:r>
              <a:rPr lang="en-US" sz="2800" dirty="0" err="1" smtClean="0"/>
              <a:t>PoS</a:t>
            </a:r>
            <a:r>
              <a:rPr lang="en-US" sz="2800" dirty="0" smtClean="0"/>
              <a:t>) terminals, Gaming Stations, Tablet PCs etc are examples of embedded devices running on embedded GPOSs.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7772400" cy="5940552"/>
          </a:xfrm>
        </p:spPr>
        <p:txBody>
          <a:bodyPr>
            <a:normAutofit/>
          </a:bodyPr>
          <a:lstStyle/>
          <a:p>
            <a:pPr algn="just">
              <a:buFont typeface="Wingdings" pitchFamily="2" charset="2"/>
              <a:buChar char="Ø"/>
            </a:pPr>
            <a:endParaRPr lang="en-US" dirty="0" smtClean="0"/>
          </a:p>
          <a:p>
            <a:pPr algn="just">
              <a:buFont typeface="Wingdings" pitchFamily="2" charset="2"/>
              <a:buChar char="Ø"/>
            </a:pPr>
            <a:r>
              <a:rPr lang="en-US" dirty="0" smtClean="0"/>
              <a:t>For developing applications on top of OS, OS supported APIs are used and Driver Software is required for different hardware present on board to communicate.</a:t>
            </a:r>
          </a:p>
          <a:p>
            <a:pPr algn="just">
              <a:buFont typeface="Wingdings" pitchFamily="2" charset="2"/>
              <a:buChar char="Ø"/>
            </a:pPr>
            <a:r>
              <a:rPr lang="en-US" dirty="0" smtClean="0"/>
              <a:t>Real Time Operating System (RTOS) based design approach is employed in embedded products demanding Real-time response.</a:t>
            </a:r>
          </a:p>
          <a:p>
            <a:pPr algn="just">
              <a:buFont typeface="Wingdings" pitchFamily="2" charset="2"/>
              <a:buChar char="Ø"/>
            </a:pPr>
            <a:r>
              <a:rPr lang="en-US" dirty="0" smtClean="0"/>
              <a:t>RTOS contains a Real Time kernel responsible for performing pre-emptive scheduling, multitasking, multithreading etc.</a:t>
            </a:r>
          </a:p>
          <a:p>
            <a:pPr algn="just">
              <a:buFont typeface="Wingdings" pitchFamily="2" charset="2"/>
              <a:buChar char="Ø"/>
            </a:pPr>
            <a:r>
              <a:rPr lang="en-US" dirty="0" smtClean="0"/>
              <a:t>A RTOS allows flexible scheduling of system resources like CPU and memory and offers some way to communicate between tasks.</a:t>
            </a:r>
          </a:p>
          <a:p>
            <a:pPr>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lgn="just">
              <a:buFont typeface="Wingdings" pitchFamily="2" charset="2"/>
              <a:buChar char="Ø"/>
            </a:pPr>
            <a:r>
              <a:rPr lang="en-US" dirty="0" smtClean="0"/>
              <a:t>‘</a:t>
            </a:r>
            <a:r>
              <a:rPr lang="en-US" sz="2800" i="1" dirty="0" smtClean="0"/>
              <a:t>Windows CE</a:t>
            </a:r>
            <a:r>
              <a:rPr lang="en-US" sz="2800" dirty="0" smtClean="0"/>
              <a:t>’, ‘</a:t>
            </a:r>
            <a:r>
              <a:rPr lang="en-US" sz="2800" i="1" dirty="0" smtClean="0"/>
              <a:t>Windows </a:t>
            </a:r>
            <a:r>
              <a:rPr lang="en-US" sz="2800" i="1" dirty="0" err="1" smtClean="0"/>
              <a:t>Mobile</a:t>
            </a:r>
            <a:r>
              <a:rPr lang="en-US" sz="2800" dirty="0" err="1" smtClean="0"/>
              <a:t>’,‘</a:t>
            </a:r>
            <a:r>
              <a:rPr lang="en-US" sz="2800" i="1" dirty="0" err="1" smtClean="0"/>
              <a:t>QNX</a:t>
            </a:r>
            <a:r>
              <a:rPr lang="en-US" sz="2800" dirty="0" smtClean="0"/>
              <a:t>’, ‘</a:t>
            </a:r>
            <a:r>
              <a:rPr lang="en-US" sz="2800" i="1" dirty="0" err="1" smtClean="0"/>
              <a:t>VxWorks</a:t>
            </a:r>
            <a:r>
              <a:rPr lang="en-US" sz="2800" dirty="0" smtClean="0"/>
              <a:t>’, ‘</a:t>
            </a:r>
            <a:r>
              <a:rPr lang="en-US" sz="2800" i="1" dirty="0" err="1" smtClean="0"/>
              <a:t>ThreadX</a:t>
            </a:r>
            <a:r>
              <a:rPr lang="en-US" sz="2800" dirty="0" smtClean="0"/>
              <a:t>’, ‘</a:t>
            </a:r>
            <a:r>
              <a:rPr lang="en-US" sz="2800" i="1" dirty="0" err="1" smtClean="0"/>
              <a:t>MicroC</a:t>
            </a:r>
            <a:r>
              <a:rPr lang="en-US" sz="2800" i="1" dirty="0" smtClean="0"/>
              <a:t>/OS-II</a:t>
            </a:r>
            <a:r>
              <a:rPr lang="en-US" sz="2800" dirty="0" smtClean="0"/>
              <a:t>’, ‘</a:t>
            </a:r>
            <a:r>
              <a:rPr lang="en-US" sz="2800" i="1" dirty="0" smtClean="0"/>
              <a:t>Embedded Linux</a:t>
            </a:r>
            <a:r>
              <a:rPr lang="en-US" sz="2800" dirty="0" smtClean="0"/>
              <a:t>’, ‘</a:t>
            </a:r>
            <a:r>
              <a:rPr lang="en-US" sz="2800" i="1" dirty="0" err="1" smtClean="0"/>
              <a:t>Symbian</a:t>
            </a:r>
            <a:r>
              <a:rPr lang="en-US" sz="2800" dirty="0" smtClean="0"/>
              <a:t>’ etc are examples of RTOSs employed in Embedded Product development</a:t>
            </a:r>
          </a:p>
          <a:p>
            <a:pPr algn="just">
              <a:buFont typeface="Wingdings" pitchFamily="2" charset="2"/>
              <a:buChar char="Ø"/>
            </a:pPr>
            <a:r>
              <a:rPr lang="en-US" sz="2800" dirty="0" smtClean="0"/>
              <a:t>Mobile Phones, PDAs, Flight Control Systems etc are examples of embedded devices that runs on RTOSs</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chor="ctr" anchorCtr="0">
            <a:noAutofit/>
          </a:bodyPr>
          <a:lstStyle/>
          <a:p>
            <a:r>
              <a:rPr lang="en-US" sz="3600" b="1" dirty="0" smtClean="0">
                <a:solidFill>
                  <a:srgbClr val="FF0000"/>
                </a:solidFill>
              </a:rPr>
              <a:t>Embedded firmware Development Languages </a:t>
            </a:r>
            <a:endParaRPr lang="en-US" sz="3600" b="1" dirty="0">
              <a:solidFill>
                <a:srgbClr val="FF0000"/>
              </a:solidFill>
            </a:endParaRPr>
          </a:p>
        </p:txBody>
      </p:sp>
      <p:sp>
        <p:nvSpPr>
          <p:cNvPr id="3" name="Content Placeholder 2"/>
          <p:cNvSpPr>
            <a:spLocks noGrp="1"/>
          </p:cNvSpPr>
          <p:nvPr>
            <p:ph sz="quarter" idx="1"/>
          </p:nvPr>
        </p:nvSpPr>
        <p:spPr>
          <a:xfrm>
            <a:off x="228600" y="1524000"/>
            <a:ext cx="8610600" cy="4949952"/>
          </a:xfrm>
        </p:spPr>
        <p:txBody>
          <a:bodyPr>
            <a:normAutofit/>
          </a:bodyPr>
          <a:lstStyle/>
          <a:p>
            <a:pPr>
              <a:buFont typeface="Wingdings" pitchFamily="2" charset="2"/>
              <a:buChar char="Ø"/>
            </a:pPr>
            <a:endParaRPr lang="en-US" b="1" dirty="0" smtClean="0"/>
          </a:p>
          <a:p>
            <a:pPr>
              <a:buFont typeface="Wingdings" pitchFamily="2" charset="2"/>
              <a:buChar char="Ø"/>
            </a:pPr>
            <a:r>
              <a:rPr lang="en-US" sz="2800" b="1" dirty="0" smtClean="0"/>
              <a:t>Assembly Language</a:t>
            </a:r>
          </a:p>
          <a:p>
            <a:pPr>
              <a:buFont typeface="Wingdings" pitchFamily="2" charset="2"/>
              <a:buChar char="Ø"/>
            </a:pPr>
            <a:r>
              <a:rPr lang="en-US" sz="2800" b="1" dirty="0" smtClean="0"/>
              <a:t> High Level Language</a:t>
            </a:r>
          </a:p>
          <a:p>
            <a:pPr lvl="2">
              <a:buFont typeface="Wingdings" pitchFamily="2" charset="2"/>
              <a:buChar char="Ø"/>
            </a:pPr>
            <a:r>
              <a:rPr lang="en-US" sz="2800" dirty="0" smtClean="0"/>
              <a:t>Subset of C (Embedded C)</a:t>
            </a:r>
          </a:p>
          <a:p>
            <a:pPr lvl="2">
              <a:buFont typeface="Wingdings" pitchFamily="2" charset="2"/>
              <a:buChar char="Ø"/>
            </a:pPr>
            <a:r>
              <a:rPr lang="en-US" sz="2800" dirty="0" smtClean="0"/>
              <a:t>Subset of C++ (Embedded C++)</a:t>
            </a:r>
          </a:p>
          <a:p>
            <a:pPr lvl="2">
              <a:buFont typeface="Wingdings" pitchFamily="2" charset="2"/>
              <a:buChar char="Ø"/>
            </a:pPr>
            <a:r>
              <a:rPr lang="en-US" sz="2800" dirty="0" smtClean="0"/>
              <a:t>Any other high level language with supported Cross-compiler</a:t>
            </a:r>
          </a:p>
          <a:p>
            <a:pPr>
              <a:buNone/>
            </a:pP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spcBef>
                <a:spcPct val="0"/>
              </a:spcBef>
            </a:pPr>
            <a:r>
              <a:rPr lang="en-US" b="1" smtClean="0"/>
              <a:t/>
            </a:r>
            <a:br>
              <a:rPr lang="en-US" b="1" smtClean="0"/>
            </a:br>
            <a:r>
              <a:rPr lang="en-US" b="1" smtClean="0"/>
              <a:t/>
            </a:r>
            <a:br>
              <a:rPr lang="en-US" b="1" smtClean="0"/>
            </a:br>
            <a:endParaRPr lang="en-US" dirty="0"/>
          </a:p>
        </p:txBody>
      </p:sp>
      <p:sp>
        <p:nvSpPr>
          <p:cNvPr id="3" name="Content Placeholder 2"/>
          <p:cNvSpPr>
            <a:spLocks noGrp="1"/>
          </p:cNvSpPr>
          <p:nvPr>
            <p:ph sz="quarter" idx="1"/>
          </p:nvPr>
        </p:nvSpPr>
        <p:spPr>
          <a:xfrm>
            <a:off x="457200" y="1295400"/>
            <a:ext cx="8229600" cy="5178552"/>
          </a:xfrm>
        </p:spPr>
        <p:txBody>
          <a:bodyPr>
            <a:normAutofit fontScale="92500" lnSpcReduction="10000"/>
          </a:bodyPr>
          <a:lstStyle/>
          <a:p>
            <a:pPr algn="just">
              <a:buFont typeface="Wingdings" pitchFamily="2" charset="2"/>
              <a:buChar char="Ø"/>
            </a:pPr>
            <a:r>
              <a:rPr lang="en-US" dirty="0" smtClean="0"/>
              <a:t>‘</a:t>
            </a:r>
            <a:r>
              <a:rPr lang="en-US" b="1" i="1" dirty="0" smtClean="0"/>
              <a:t>Assembly	Language</a:t>
            </a:r>
            <a:r>
              <a:rPr lang="en-US" dirty="0" smtClean="0"/>
              <a:t>’ is the human readable	notation of	‘</a:t>
            </a:r>
            <a:r>
              <a:rPr lang="en-US" b="1" i="1" dirty="0" smtClean="0"/>
              <a:t>machine language</a:t>
            </a:r>
            <a:r>
              <a:rPr lang="en-US" dirty="0" smtClean="0"/>
              <a:t>’</a:t>
            </a:r>
          </a:p>
          <a:p>
            <a:pPr algn="just">
              <a:buFont typeface="Wingdings" pitchFamily="2" charset="2"/>
              <a:buChar char="Ø"/>
            </a:pPr>
            <a:r>
              <a:rPr lang="en-US" dirty="0" smtClean="0"/>
              <a:t>‘M</a:t>
            </a:r>
            <a:r>
              <a:rPr lang="en-US" b="1" i="1" dirty="0" smtClean="0"/>
              <a:t>achine language</a:t>
            </a:r>
            <a:r>
              <a:rPr lang="en-US" dirty="0" smtClean="0"/>
              <a:t>’ is a processor understandable language</a:t>
            </a:r>
          </a:p>
          <a:p>
            <a:pPr algn="just">
              <a:buFont typeface="Wingdings" pitchFamily="2" charset="2"/>
              <a:buChar char="Ø"/>
            </a:pPr>
            <a:r>
              <a:rPr lang="en-US" dirty="0" smtClean="0"/>
              <a:t>Machine language is a binary representation and it consists of 1s and 0s.</a:t>
            </a:r>
          </a:p>
          <a:p>
            <a:pPr>
              <a:buFont typeface="Wingdings" pitchFamily="2" charset="2"/>
              <a:buChar char="Ø"/>
            </a:pPr>
            <a:r>
              <a:rPr lang="en-US" dirty="0" smtClean="0"/>
              <a:t>Assembly language and machine	languages are processor/controller dependent. </a:t>
            </a:r>
          </a:p>
          <a:p>
            <a:pPr algn="just">
              <a:buFont typeface="Wingdings" pitchFamily="2" charset="2"/>
              <a:buChar char="Ø"/>
            </a:pPr>
            <a:r>
              <a:rPr lang="en-US" dirty="0" smtClean="0"/>
              <a:t>An Assembly language program written for one processor/controller family will not work with others</a:t>
            </a:r>
          </a:p>
          <a:p>
            <a:pPr algn="just">
              <a:buFont typeface="Wingdings" pitchFamily="2" charset="2"/>
              <a:buChar char="Ø"/>
            </a:pPr>
            <a:r>
              <a:rPr lang="en-US" dirty="0" smtClean="0"/>
              <a:t>Assembly language programming is the process of writing processor specific machine code in mnemonic form, converting the mnemonics into actual processor instructions (machine language) and associated data using an assembler</a:t>
            </a:r>
          </a:p>
          <a:p>
            <a:endParaRPr lang="en-US" dirty="0"/>
          </a:p>
        </p:txBody>
      </p:sp>
      <p:sp>
        <p:nvSpPr>
          <p:cNvPr id="5" name="Title 1"/>
          <p:cNvSpPr txBox="1">
            <a:spLocks/>
          </p:cNvSpPr>
          <p:nvPr/>
        </p:nvSpPr>
        <p:spPr>
          <a:xfrm>
            <a:off x="457200" y="152400"/>
            <a:ext cx="7467600" cy="1143000"/>
          </a:xfrm>
          <a:prstGeom prst="rect">
            <a:avLst/>
          </a:prstGeom>
        </p:spPr>
        <p:txBody>
          <a:bodyPr vert="horz" anchor="ctr"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600" b="0" i="0" u="none" strike="noStrike" kern="1200" cap="small" spc="0" normalizeH="0" baseline="0" noProof="0" dirty="0" smtClean="0">
                <a:ln>
                  <a:noFill/>
                </a:ln>
                <a:solidFill>
                  <a:srgbClr val="FF0000"/>
                </a:solidFill>
                <a:effectLst/>
                <a:uLnTx/>
                <a:uFillTx/>
                <a:latin typeface="+mj-lt"/>
                <a:ea typeface="+mj-ea"/>
                <a:cs typeface="+mj-cs"/>
              </a:rPr>
              <a:t>Assembly Language</a:t>
            </a:r>
            <a:endParaRPr kumimoji="0" lang="en-US" sz="3600" b="0" i="0" u="none" strike="noStrike" kern="1200" cap="small"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838200"/>
            <a:ext cx="8305800" cy="5635752"/>
          </a:xfrm>
        </p:spPr>
        <p:txBody>
          <a:bodyPr>
            <a:normAutofit/>
          </a:bodyPr>
          <a:lstStyle/>
          <a:p>
            <a:pPr>
              <a:buFont typeface="Wingdings" pitchFamily="2" charset="2"/>
              <a:buChar char="Ø"/>
            </a:pPr>
            <a:r>
              <a:rPr lang="en-US" sz="2800" dirty="0" smtClean="0"/>
              <a:t>The general format of an assembly language instruction is an </a:t>
            </a:r>
            <a:endParaRPr lang="en-US" sz="2800" dirty="0" smtClean="0"/>
          </a:p>
          <a:p>
            <a:pPr>
              <a:buNone/>
            </a:pPr>
            <a:r>
              <a:rPr lang="en-US" sz="2800" dirty="0" err="1" smtClean="0"/>
              <a:t>Opcode</a:t>
            </a:r>
            <a:r>
              <a:rPr lang="en-US" sz="2800" dirty="0" smtClean="0"/>
              <a:t> </a:t>
            </a:r>
            <a:r>
              <a:rPr lang="en-US" sz="2800" dirty="0" smtClean="0"/>
              <a:t>followed by Operands.</a:t>
            </a:r>
          </a:p>
          <a:p>
            <a:pPr>
              <a:buFont typeface="Wingdings" pitchFamily="2" charset="2"/>
              <a:buChar char="Ø"/>
            </a:pPr>
            <a:r>
              <a:rPr lang="en-US" sz="2800" dirty="0" smtClean="0"/>
              <a:t>The Opcode tells the processor/controller what to do and the Operands provide the data and information required to perform the action specified by the opcode.</a:t>
            </a:r>
          </a:p>
          <a:p>
            <a:pPr>
              <a:buFont typeface="Wingdings" pitchFamily="2" charset="2"/>
              <a:buChar char="Ø"/>
            </a:pPr>
            <a:r>
              <a:rPr lang="en-US" sz="2800" dirty="0" smtClean="0"/>
              <a:t>It is not necessary that all opcode should have Operands following them. Some of the Opcode implicitly contains the operand and in such situation no operand is required. The operand may be a single operand, dual operand or more</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533400"/>
            <a:ext cx="8229600" cy="5940552"/>
          </a:xfrm>
        </p:spPr>
        <p:txBody>
          <a:bodyPr/>
          <a:lstStyle/>
          <a:p>
            <a:pPr>
              <a:buFont typeface="Wingdings" pitchFamily="2" charset="2"/>
              <a:buChar char="Ø"/>
            </a:pPr>
            <a:r>
              <a:rPr lang="en-US" dirty="0" smtClean="0"/>
              <a:t>The 8051 Assembly Instruction</a:t>
            </a:r>
          </a:p>
          <a:p>
            <a:pPr>
              <a:buNone/>
            </a:pPr>
            <a:r>
              <a:rPr lang="en-US" dirty="0" smtClean="0"/>
              <a:t>				 MOV A, #30</a:t>
            </a:r>
          </a:p>
          <a:p>
            <a:pPr>
              <a:buNone/>
            </a:pPr>
            <a:r>
              <a:rPr lang="en-US" dirty="0" smtClean="0"/>
              <a:t>    Moves decimal value 30 to the 8051 Accumulator register. Here </a:t>
            </a:r>
            <a:r>
              <a:rPr lang="en-US" i="1" dirty="0" smtClean="0"/>
              <a:t>MOV A </a:t>
            </a:r>
            <a:r>
              <a:rPr lang="en-US" dirty="0" smtClean="0"/>
              <a:t>is the Opcode and 30 is the operand (single operand). </a:t>
            </a:r>
          </a:p>
          <a:p>
            <a:pPr>
              <a:buNone/>
            </a:pPr>
            <a:endParaRPr lang="en-US" dirty="0" smtClean="0"/>
          </a:p>
          <a:p>
            <a:pPr>
              <a:buFont typeface="Wingdings" pitchFamily="2" charset="2"/>
              <a:buChar char="Ø"/>
            </a:pPr>
            <a:r>
              <a:rPr lang="en-US" dirty="0" smtClean="0"/>
              <a:t>The same instruction when written in machine language will look like</a:t>
            </a:r>
          </a:p>
          <a:p>
            <a:pPr>
              <a:buNone/>
            </a:pPr>
            <a:r>
              <a:rPr lang="en-US" dirty="0" smtClean="0"/>
              <a:t>				01110100 00011110</a:t>
            </a:r>
          </a:p>
          <a:p>
            <a:pPr>
              <a:buNone/>
            </a:pPr>
            <a:r>
              <a:rPr lang="en-US" dirty="0" smtClean="0"/>
              <a:t>	The first 8 bit binary value 01110100 represents the opcode </a:t>
            </a:r>
            <a:r>
              <a:rPr lang="en-US" i="1" dirty="0" smtClean="0"/>
              <a:t>MOV A </a:t>
            </a:r>
            <a:r>
              <a:rPr lang="en-US" dirty="0" smtClean="0"/>
              <a:t>and the second 8 bit binary value 00011110 represents the operand 30.</a:t>
            </a:r>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8229600" cy="6245352"/>
          </a:xfrm>
        </p:spPr>
        <p:txBody>
          <a:bodyPr>
            <a:normAutofit/>
          </a:bodyPr>
          <a:lstStyle/>
          <a:p>
            <a:pPr>
              <a:buFont typeface="Wingdings" pitchFamily="2" charset="2"/>
              <a:buChar char="Ø"/>
            </a:pPr>
            <a:r>
              <a:rPr lang="en-US" dirty="0" smtClean="0"/>
              <a:t>Assembly language instructions are written one per line</a:t>
            </a:r>
          </a:p>
          <a:p>
            <a:pPr>
              <a:buFont typeface="Wingdings" pitchFamily="2" charset="2"/>
              <a:buChar char="Ø"/>
            </a:pPr>
            <a:r>
              <a:rPr lang="en-US" dirty="0" smtClean="0"/>
              <a:t>A machine code program consists of a sequence of assembly language instructions, where each statement contains a mnemonic (Opcode + Operand)</a:t>
            </a:r>
          </a:p>
          <a:p>
            <a:pPr>
              <a:buFont typeface="Wingdings" pitchFamily="2" charset="2"/>
              <a:buChar char="Ø"/>
            </a:pPr>
            <a:r>
              <a:rPr lang="en-US" dirty="0" smtClean="0"/>
              <a:t>Each line of an assembly language program is split into four fields as:</a:t>
            </a:r>
          </a:p>
          <a:p>
            <a:pPr>
              <a:buNone/>
            </a:pPr>
            <a:r>
              <a:rPr lang="en-US" b="1" dirty="0" smtClean="0"/>
              <a:t> LABEL	OPCODE	OPERAND   COMMENTS</a:t>
            </a:r>
          </a:p>
          <a:p>
            <a:pPr>
              <a:buFont typeface="Wingdings" pitchFamily="2" charset="2"/>
              <a:buChar char="Ø"/>
            </a:pPr>
            <a:r>
              <a:rPr lang="en-US" dirty="0" smtClean="0"/>
              <a:t>LABEL is an optional field. A ‘LABEL’ is an identifier used extensively in programs to reduce the reliance on programmers for remembering where data or code is located. </a:t>
            </a:r>
          </a:p>
          <a:p>
            <a:pPr>
              <a:buFont typeface="Wingdings" pitchFamily="2" charset="2"/>
              <a:buChar char="Ø"/>
            </a:pPr>
            <a:r>
              <a:rPr lang="en-US" dirty="0" smtClean="0"/>
              <a:t>LABEL is commonly used for representing </a:t>
            </a:r>
          </a:p>
          <a:p>
            <a:pPr>
              <a:buNone/>
            </a:pPr>
            <a:r>
              <a:rPr lang="en-US" dirty="0" smtClean="0"/>
              <a:t>		A memory location, address of a program, sub-routine, code portion etc.</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p:cNvSpPr>
            <a:spLocks noGrp="1"/>
          </p:cNvSpPr>
          <p:nvPr>
            <p:ph idx="1"/>
          </p:nvPr>
        </p:nvSpPr>
        <p:spPr>
          <a:xfrm>
            <a:off x="304800" y="1066800"/>
            <a:ext cx="8610600" cy="4953000"/>
          </a:xfrm>
        </p:spPr>
        <p:txBody>
          <a:bodyPr/>
          <a:lstStyle/>
          <a:p>
            <a:pPr marL="236538" indent="-236538" algn="just" eaLnBrk="1" hangingPunct="1">
              <a:buFontTx/>
              <a:buNone/>
            </a:pPr>
            <a:endParaRPr lang="en-US" altLang="en-US" sz="1600" smtClean="0"/>
          </a:p>
        </p:txBody>
      </p:sp>
      <p:sp>
        <p:nvSpPr>
          <p:cNvPr id="4" name="TextBox 3"/>
          <p:cNvSpPr txBox="1"/>
          <p:nvPr/>
        </p:nvSpPr>
        <p:spPr>
          <a:xfrm>
            <a:off x="304800" y="838200"/>
            <a:ext cx="8610600" cy="2667000"/>
          </a:xfrm>
          <a:prstGeom prst="rect">
            <a:avLst/>
          </a:prstGeom>
          <a:solidFill>
            <a:schemeClr val="accent5">
              <a:lumMod val="20000"/>
              <a:lumOff val="80000"/>
            </a:schemeClr>
          </a:solidFill>
        </p:spPr>
        <p:txBody>
          <a:bodyPr>
            <a:spAutoFit/>
          </a:bodyPr>
          <a:lstStyle/>
          <a:p>
            <a:pPr fontAlgn="auto">
              <a:spcBef>
                <a:spcPts val="0"/>
              </a:spcBef>
              <a:spcAft>
                <a:spcPts val="0"/>
              </a:spcAft>
              <a:defRPr/>
            </a:pPr>
            <a:r>
              <a:rPr lang="en-US" dirty="0">
                <a:latin typeface="+mn-lt"/>
              </a:rPr>
              <a:t>;####################################################################</a:t>
            </a:r>
          </a:p>
          <a:p>
            <a:pPr fontAlgn="auto">
              <a:spcBef>
                <a:spcPts val="0"/>
              </a:spcBef>
              <a:spcAft>
                <a:spcPts val="0"/>
              </a:spcAft>
              <a:defRPr/>
            </a:pPr>
            <a:r>
              <a:rPr lang="en-US" dirty="0">
                <a:latin typeface="+mn-lt"/>
              </a:rPr>
              <a:t>; 	SUBROUTINE FOR GENERATING DELAY</a:t>
            </a:r>
          </a:p>
          <a:p>
            <a:pPr fontAlgn="auto">
              <a:spcBef>
                <a:spcPts val="0"/>
              </a:spcBef>
              <a:spcAft>
                <a:spcPts val="0"/>
              </a:spcAft>
              <a:defRPr/>
            </a:pPr>
            <a:r>
              <a:rPr lang="en-US" dirty="0">
                <a:latin typeface="+mn-lt"/>
              </a:rPr>
              <a:t>;	DELAY PARAMETR PASSED THROUGH REGISTER R1</a:t>
            </a:r>
          </a:p>
          <a:p>
            <a:pPr fontAlgn="auto">
              <a:spcBef>
                <a:spcPts val="0"/>
              </a:spcBef>
              <a:spcAft>
                <a:spcPts val="0"/>
              </a:spcAft>
              <a:defRPr/>
            </a:pPr>
            <a:r>
              <a:rPr lang="en-US" dirty="0">
                <a:latin typeface="+mn-lt"/>
              </a:rPr>
              <a:t>;	RETURN VALUE NONE</a:t>
            </a:r>
          </a:p>
          <a:p>
            <a:pPr fontAlgn="auto">
              <a:spcBef>
                <a:spcPts val="0"/>
              </a:spcBef>
              <a:spcAft>
                <a:spcPts val="0"/>
              </a:spcAft>
              <a:defRPr/>
            </a:pPr>
            <a:r>
              <a:rPr lang="en-US" dirty="0">
                <a:latin typeface="+mn-lt"/>
              </a:rPr>
              <a:t>;	REGISTERS USED: R0,  R1</a:t>
            </a:r>
          </a:p>
          <a:p>
            <a:pPr fontAlgn="auto">
              <a:spcBef>
                <a:spcPts val="0"/>
              </a:spcBef>
              <a:spcAft>
                <a:spcPts val="0"/>
              </a:spcAft>
              <a:defRPr/>
            </a:pPr>
            <a:r>
              <a:rPr lang="en-US" dirty="0">
                <a:latin typeface="+mn-lt"/>
              </a:rPr>
              <a:t>;####################################################################	DELAY:	MOV	R0, #255	; Load Register R0 with 255		</a:t>
            </a:r>
          </a:p>
          <a:p>
            <a:pPr fontAlgn="auto">
              <a:spcBef>
                <a:spcPts val="0"/>
              </a:spcBef>
              <a:spcAft>
                <a:spcPts val="0"/>
              </a:spcAft>
              <a:defRPr/>
            </a:pPr>
            <a:r>
              <a:rPr lang="en-US" dirty="0">
                <a:latin typeface="+mn-lt"/>
              </a:rPr>
              <a:t>		DJNZ	R1, DELAY	; Decrement R1 and loop till	R1= 0</a:t>
            </a:r>
          </a:p>
          <a:p>
            <a:pPr fontAlgn="auto">
              <a:spcBef>
                <a:spcPts val="0"/>
              </a:spcBef>
              <a:spcAft>
                <a:spcPts val="0"/>
              </a:spcAft>
              <a:defRPr/>
            </a:pPr>
            <a:r>
              <a:rPr lang="en-US" dirty="0">
                <a:latin typeface="+mn-lt"/>
              </a:rPr>
              <a:t>		RET			; Return to calling program</a:t>
            </a:r>
          </a:p>
        </p:txBody>
      </p:sp>
      <p:sp>
        <p:nvSpPr>
          <p:cNvPr id="6" name="Rectangle 5"/>
          <p:cNvSpPr/>
          <p:nvPr/>
        </p:nvSpPr>
        <p:spPr>
          <a:xfrm>
            <a:off x="304800" y="3657600"/>
            <a:ext cx="8610600" cy="3170099"/>
          </a:xfrm>
          <a:prstGeom prst="rect">
            <a:avLst/>
          </a:prstGeom>
          <a:solidFill>
            <a:srgbClr val="99FFCC"/>
          </a:solidFill>
          <a:ln>
            <a:solidFill>
              <a:srgbClr val="7030A0"/>
            </a:solidFill>
          </a:ln>
        </p:spPr>
        <p:txBody>
          <a:bodyPr wrap="square">
            <a:spAutoFit/>
          </a:bodyPr>
          <a:lstStyle/>
          <a:p>
            <a:pPr marL="173038" lvl="1" indent="-173038" algn="just" fontAlgn="auto">
              <a:spcBef>
                <a:spcPts val="0"/>
              </a:spcBef>
              <a:spcAft>
                <a:spcPts val="0"/>
              </a:spcAft>
              <a:buFont typeface="Wingdings" pitchFamily="2" charset="2"/>
              <a:buChar char="§"/>
              <a:defRPr/>
            </a:pPr>
            <a:r>
              <a:rPr lang="en-US" sz="2000" b="1" dirty="0">
                <a:solidFill>
                  <a:srgbClr val="7030A0"/>
                </a:solidFill>
                <a:latin typeface="+mn-lt"/>
              </a:rPr>
              <a:t>The symbol ; represents the start of a comment. Assembler ignores the text in a line after the ; symbol while assembling the program</a:t>
            </a:r>
          </a:p>
          <a:p>
            <a:pPr marL="173038" lvl="1" indent="-173038" algn="just" fontAlgn="auto">
              <a:spcBef>
                <a:spcPts val="0"/>
              </a:spcBef>
              <a:spcAft>
                <a:spcPts val="0"/>
              </a:spcAft>
              <a:buFont typeface="Wingdings" pitchFamily="2" charset="2"/>
              <a:buChar char="§"/>
              <a:defRPr/>
            </a:pPr>
            <a:r>
              <a:rPr lang="en-US" sz="2000" b="1" dirty="0">
                <a:solidFill>
                  <a:srgbClr val="7030A0"/>
                </a:solidFill>
                <a:latin typeface="+mn-lt"/>
              </a:rPr>
              <a:t>DELAY is a label for representing the start address of the memory location where the piece of code is located in code memory</a:t>
            </a:r>
          </a:p>
          <a:p>
            <a:pPr marL="173038" lvl="1" indent="-173038" algn="just" fontAlgn="auto">
              <a:spcBef>
                <a:spcPts val="0"/>
              </a:spcBef>
              <a:spcAft>
                <a:spcPts val="0"/>
              </a:spcAft>
              <a:buFont typeface="Wingdings" pitchFamily="2" charset="2"/>
              <a:buChar char="§"/>
              <a:defRPr/>
            </a:pPr>
            <a:r>
              <a:rPr lang="en-US" sz="2000" b="1" dirty="0">
                <a:solidFill>
                  <a:srgbClr val="7030A0"/>
                </a:solidFill>
                <a:latin typeface="+mn-lt"/>
              </a:rPr>
              <a:t>The above piece of code can be executed by giving the label DELAY as part of the instruction. E.g. LCALL DELAY; LMP DELAY</a:t>
            </a:r>
          </a:p>
          <a:p>
            <a:pPr marL="0" lvl="1" algn="just" fontAlgn="auto">
              <a:spcBef>
                <a:spcPts val="0"/>
              </a:spcBef>
              <a:spcAft>
                <a:spcPts val="0"/>
              </a:spcAft>
              <a:buFont typeface="Wingdings" pitchFamily="2" charset="2"/>
              <a:buChar char="§"/>
              <a:defRPr/>
            </a:pPr>
            <a:endParaRPr lang="en-US" sz="2000" b="1" dirty="0">
              <a:solidFill>
                <a:srgbClr val="7030A0"/>
              </a:solidFill>
              <a:latin typeface="+mn-lt"/>
            </a:endParaRPr>
          </a:p>
        </p:txBody>
      </p:sp>
      <p:sp>
        <p:nvSpPr>
          <p:cNvPr id="7" name="Title 1"/>
          <p:cNvSpPr txBox="1">
            <a:spLocks/>
          </p:cNvSpPr>
          <p:nvPr/>
        </p:nvSpPr>
        <p:spPr bwMode="auto">
          <a:xfrm>
            <a:off x="381000" y="76200"/>
            <a:ext cx="8458200" cy="685800"/>
          </a:xfrm>
          <a:prstGeom prst="rect">
            <a:avLst/>
          </a:prstGeom>
          <a:solidFill>
            <a:srgbClr val="FFFF00"/>
          </a:solidFill>
          <a:ln w="9525">
            <a:solidFill>
              <a:srgbClr val="7030A0"/>
            </a:solidFill>
            <a:miter lim="800000"/>
            <a:headEnd/>
            <a:tailEnd/>
          </a:ln>
        </p:spPr>
        <p:txBody>
          <a:bodyPr anchor="ctr"/>
          <a:lstStyle/>
          <a:p>
            <a:pPr marL="0" lvl="1" algn="ctr" fontAlgn="auto">
              <a:spcAft>
                <a:spcPts val="0"/>
              </a:spcAft>
              <a:defRPr/>
            </a:pPr>
            <a:r>
              <a:rPr lang="en-US" sz="2400" b="1" kern="0" dirty="0">
                <a:latin typeface="Calibri" pitchFamily="34" charset="0"/>
              </a:rPr>
              <a:t>Embedded firmware Development: </a:t>
            </a:r>
            <a:r>
              <a:rPr lang="en-US" sz="2800" b="1" kern="0" dirty="0">
                <a:solidFill>
                  <a:srgbClr val="FF0000"/>
                </a:solidFill>
                <a:latin typeface="Calibri" pitchFamily="34" charset="0"/>
              </a:rPr>
              <a:t>Assembly Language</a:t>
            </a:r>
            <a:endParaRPr lang="en-US" sz="2400" b="1" kern="0" dirty="0">
              <a:solidFill>
                <a:srgbClr val="FF0000"/>
              </a:solidFill>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down)">
                                      <p:cBhvr>
                                        <p:cTn id="7" dur="500"/>
                                        <p:tgtEl>
                                          <p:spTgt spid="6">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down)">
                                      <p:cBhvr>
                                        <p:cTn id="10" dur="500"/>
                                        <p:tgtEl>
                                          <p:spTgt spid="6">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wipe(down)">
                                      <p:cBhvr>
                                        <p:cTn id="13" dur="500"/>
                                        <p:tgtEl>
                                          <p:spTgt spid="6">
                                            <p:txEl>
                                              <p:pRg st="1" end="1"/>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wipe(down)">
                                      <p:cBhvr>
                                        <p:cTn id="1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Assembly Language – Source File to Hex File Translation</a:t>
            </a:r>
            <a:endParaRPr lang="en-US" dirty="0">
              <a:solidFill>
                <a:srgbClr val="FF0000"/>
              </a:solidFill>
            </a:endParaRPr>
          </a:p>
        </p:txBody>
      </p:sp>
      <p:sp>
        <p:nvSpPr>
          <p:cNvPr id="3" name="Content Placeholder 2"/>
          <p:cNvSpPr>
            <a:spLocks noGrp="1"/>
          </p:cNvSpPr>
          <p:nvPr>
            <p:ph sz="quarter" idx="1"/>
          </p:nvPr>
        </p:nvSpPr>
        <p:spPr>
          <a:xfrm>
            <a:off x="228600" y="1600200"/>
            <a:ext cx="8534400" cy="5257800"/>
          </a:xfrm>
        </p:spPr>
        <p:txBody>
          <a:bodyPr>
            <a:normAutofit/>
          </a:bodyPr>
          <a:lstStyle/>
          <a:p>
            <a:pPr>
              <a:buFont typeface="Wingdings" pitchFamily="2" charset="2"/>
              <a:buChar char="Ø"/>
            </a:pPr>
            <a:r>
              <a:rPr lang="en-US" dirty="0" smtClean="0"/>
              <a:t>The Assembly language program written in assembly code is saved as </a:t>
            </a:r>
            <a:r>
              <a:rPr lang="en-US" i="1" dirty="0" smtClean="0"/>
              <a:t>.</a:t>
            </a:r>
            <a:r>
              <a:rPr lang="en-US" i="1" dirty="0" err="1" smtClean="0"/>
              <a:t>asm</a:t>
            </a:r>
            <a:r>
              <a:rPr lang="en-US" i="1" dirty="0" smtClean="0"/>
              <a:t> </a:t>
            </a:r>
            <a:r>
              <a:rPr lang="en-US" dirty="0" smtClean="0"/>
              <a:t>(Assembly file) file or a </a:t>
            </a:r>
            <a:r>
              <a:rPr lang="en-US" i="1" dirty="0" smtClean="0"/>
              <a:t>.</a:t>
            </a:r>
            <a:r>
              <a:rPr lang="en-US" i="1" dirty="0" err="1" smtClean="0"/>
              <a:t>src</a:t>
            </a:r>
            <a:r>
              <a:rPr lang="en-US" i="1" dirty="0" smtClean="0"/>
              <a:t> </a:t>
            </a:r>
            <a:r>
              <a:rPr lang="en-US" dirty="0" smtClean="0"/>
              <a:t>(source) file or a format supported by the assembler.</a:t>
            </a:r>
          </a:p>
          <a:p>
            <a:pPr>
              <a:buFont typeface="Wingdings" pitchFamily="2" charset="2"/>
              <a:buChar char="Ø"/>
            </a:pPr>
            <a:r>
              <a:rPr lang="en-US" dirty="0" smtClean="0"/>
              <a:t>Any text editor or an IDE tool can be used for writing the assembly instructions.</a:t>
            </a:r>
          </a:p>
          <a:p>
            <a:pPr>
              <a:buFont typeface="Wingdings" pitchFamily="2" charset="2"/>
              <a:buChar char="Ø"/>
            </a:pPr>
            <a:r>
              <a:rPr lang="en-US" dirty="0" smtClean="0"/>
              <a:t>Similar to ‘C’ and other high level language programming, it is possible  to have multiple source files called modules in assembly language programming. </a:t>
            </a:r>
          </a:p>
          <a:p>
            <a:pPr>
              <a:buFont typeface="Wingdings" pitchFamily="2" charset="2"/>
              <a:buChar char="Ø"/>
            </a:pPr>
            <a:r>
              <a:rPr lang="en-US" dirty="0" smtClean="0"/>
              <a:t>The software utility called ‘Assembler’ performs the translation of assembly code to machine code.</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pPr>
              <a:buFont typeface="Wingdings" pitchFamily="2" charset="2"/>
              <a:buChar char="Ø"/>
            </a:pPr>
            <a:r>
              <a:rPr lang="en-US" dirty="0" smtClean="0"/>
              <a:t>The assemblers for different family of target machines are different. </a:t>
            </a:r>
          </a:p>
          <a:p>
            <a:pPr>
              <a:buFont typeface="Wingdings" pitchFamily="2" charset="2"/>
              <a:buChar char="Ø"/>
            </a:pPr>
            <a:r>
              <a:rPr lang="en-US" dirty="0" smtClean="0"/>
              <a:t>Some are freely available and some are commercial and requires license from the vendor.</a:t>
            </a:r>
          </a:p>
          <a:p>
            <a:pPr>
              <a:buFont typeface="Wingdings" pitchFamily="2" charset="2"/>
              <a:buChar char="Ø"/>
            </a:pPr>
            <a:r>
              <a:rPr lang="en-US" dirty="0" smtClean="0"/>
              <a:t>A51 Macro Assembler from </a:t>
            </a:r>
            <a:r>
              <a:rPr lang="en-US" dirty="0" err="1" smtClean="0"/>
              <a:t>Keil</a:t>
            </a:r>
            <a:r>
              <a:rPr lang="en-US" dirty="0" smtClean="0"/>
              <a:t> software is a popular assembler for the 8051 family micro controller.</a:t>
            </a:r>
          </a:p>
          <a:p>
            <a:pPr>
              <a:buFont typeface="Wingdings" pitchFamily="2" charset="2"/>
              <a:buChar char="Ø"/>
            </a:pPr>
            <a:r>
              <a:rPr lang="en-US" dirty="0" smtClean="0"/>
              <a:t>Microsoft macro assembler, MASM software is used for 8086 processor.</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3"/>
          <a:srcRect/>
          <a:stretch>
            <a:fillRect/>
          </a:stretch>
        </p:blipFill>
        <p:spPr bwMode="auto">
          <a:xfrm>
            <a:off x="457200" y="914400"/>
            <a:ext cx="7924800" cy="4038600"/>
          </a:xfrm>
          <a:prstGeom prst="rect">
            <a:avLst/>
          </a:prstGeom>
          <a:noFill/>
          <a:ln w="9525">
            <a:solidFill>
              <a:srgbClr val="7030A0"/>
            </a:solidFill>
            <a:miter lim="800000"/>
            <a:headEnd/>
            <a:tailEnd/>
          </a:ln>
        </p:spPr>
      </p:pic>
      <p:sp>
        <p:nvSpPr>
          <p:cNvPr id="26629" name="Rectangle 3"/>
          <p:cNvSpPr>
            <a:spLocks noChangeArrowheads="1"/>
          </p:cNvSpPr>
          <p:nvPr/>
        </p:nvSpPr>
        <p:spPr bwMode="auto">
          <a:xfrm>
            <a:off x="2590800" y="4495800"/>
            <a:ext cx="5334000" cy="338138"/>
          </a:xfrm>
          <a:prstGeom prst="rect">
            <a:avLst/>
          </a:prstGeom>
          <a:solidFill>
            <a:schemeClr val="accent5">
              <a:lumMod val="20000"/>
              <a:lumOff val="80000"/>
            </a:schemeClr>
          </a:solidFill>
          <a:ln w="9525">
            <a:solidFill>
              <a:srgbClr val="7030A0"/>
            </a:solidFill>
            <a:miter lim="800000"/>
            <a:headEnd/>
            <a:tailEnd/>
          </a:ln>
        </p:spPr>
        <p:txBody>
          <a:bodyPr anchor="ctr">
            <a:spAutoFit/>
          </a:bodyPr>
          <a:lstStyle/>
          <a:p>
            <a:pPr algn="ctr" eaLnBrk="0" hangingPunct="0">
              <a:defRPr/>
            </a:pPr>
            <a:r>
              <a:rPr lang="en-US" sz="1600" b="1" dirty="0">
                <a:solidFill>
                  <a:srgbClr val="FF0000"/>
                </a:solidFill>
                <a:latin typeface="Calibri" pitchFamily="34" charset="0"/>
                <a:cs typeface="Times New Roman" pitchFamily="18" charset="0"/>
              </a:rPr>
              <a:t>Assembly language to machine language Conversion process</a:t>
            </a:r>
            <a:endParaRPr lang="en-US" sz="1600" b="1" dirty="0">
              <a:solidFill>
                <a:srgbClr val="FF0000"/>
              </a:solidFill>
              <a:latin typeface="Calibri" pitchFamily="34" charset="0"/>
            </a:endParaRPr>
          </a:p>
        </p:txBody>
      </p:sp>
      <p:sp>
        <p:nvSpPr>
          <p:cNvPr id="8" name="Content Placeholder 2"/>
          <p:cNvSpPr txBox="1">
            <a:spLocks/>
          </p:cNvSpPr>
          <p:nvPr/>
        </p:nvSpPr>
        <p:spPr bwMode="auto">
          <a:xfrm>
            <a:off x="228600" y="76200"/>
            <a:ext cx="8686800" cy="762000"/>
          </a:xfrm>
          <a:prstGeom prst="rect">
            <a:avLst/>
          </a:prstGeom>
          <a:solidFill>
            <a:srgbClr val="FFFF00"/>
          </a:solidFill>
          <a:ln w="9525">
            <a:solidFill>
              <a:srgbClr val="7030A0"/>
            </a:solidFill>
            <a:miter lim="800000"/>
            <a:headEnd/>
            <a:tailEnd/>
          </a:ln>
        </p:spPr>
        <p:txBody>
          <a:bodyPr>
            <a:normAutofit fontScale="77500" lnSpcReduction="20000"/>
          </a:bodyPr>
          <a:lstStyle/>
          <a:p>
            <a:pPr marL="0" lvl="1" fontAlgn="auto">
              <a:spcBef>
                <a:spcPct val="20000"/>
              </a:spcBef>
              <a:spcAft>
                <a:spcPts val="0"/>
              </a:spcAft>
              <a:defRPr/>
            </a:pPr>
            <a:r>
              <a:rPr lang="en-US" sz="2800" b="1" dirty="0">
                <a:solidFill>
                  <a:srgbClr val="7030A0"/>
                </a:solidFill>
                <a:latin typeface="+mn-lt"/>
              </a:rPr>
              <a:t>Embedded firmware Development Languages/Options</a:t>
            </a:r>
            <a:r>
              <a:rPr lang="en-US" sz="2800" b="1" dirty="0">
                <a:latin typeface="+mn-lt"/>
              </a:rPr>
              <a:t> – </a:t>
            </a:r>
            <a:r>
              <a:rPr lang="en-US" sz="2800" b="1" dirty="0">
                <a:solidFill>
                  <a:srgbClr val="FF0000"/>
                </a:solidFill>
                <a:latin typeface="+mn-lt"/>
              </a:rPr>
              <a:t>Assembly Language – Source File to Hex File Translation</a:t>
            </a:r>
          </a:p>
          <a:p>
            <a:pPr marL="236538" indent="-236538" algn="just" fontAlgn="auto">
              <a:spcBef>
                <a:spcPct val="20000"/>
              </a:spcBef>
              <a:spcAft>
                <a:spcPts val="0"/>
              </a:spcAft>
              <a:defRPr/>
            </a:pPr>
            <a:endParaRPr lang="en-US" sz="1600" dirty="0">
              <a:latin typeface="+mn-lt"/>
            </a:endParaRPr>
          </a:p>
        </p:txBody>
      </p:sp>
      <p:sp>
        <p:nvSpPr>
          <p:cNvPr id="9" name="Rectangle 8"/>
          <p:cNvSpPr>
            <a:spLocks noChangeArrowheads="1"/>
          </p:cNvSpPr>
          <p:nvPr/>
        </p:nvSpPr>
        <p:spPr bwMode="auto">
          <a:xfrm>
            <a:off x="304800" y="5149850"/>
            <a:ext cx="8305800" cy="1631950"/>
          </a:xfrm>
          <a:prstGeom prst="rect">
            <a:avLst/>
          </a:prstGeom>
          <a:solidFill>
            <a:srgbClr val="99FFCC"/>
          </a:solidFill>
          <a:ln w="9525">
            <a:solidFill>
              <a:srgbClr val="7030A0"/>
            </a:solidFill>
            <a:miter lim="800000"/>
            <a:headEnd/>
            <a:tailEnd/>
          </a:ln>
        </p:spPr>
        <p:txBody>
          <a:bodyPr>
            <a:spAutoFit/>
          </a:bodyPr>
          <a:lstStyle/>
          <a:p>
            <a:pPr marL="173038" lvl="1" indent="-173038" algn="just">
              <a:buClr>
                <a:srgbClr val="FF0000"/>
              </a:buClr>
              <a:buSzPct val="130000"/>
              <a:buFont typeface="Wingdings" pitchFamily="2" charset="2"/>
              <a:buChar char="§"/>
            </a:pPr>
            <a:r>
              <a:rPr lang="en-US" altLang="en-US" sz="2000" b="1">
                <a:solidFill>
                  <a:srgbClr val="7030A0"/>
                </a:solidFill>
                <a:latin typeface="Calibri" pitchFamily="34" charset="0"/>
              </a:rPr>
              <a:t>The Absolute object file created from the object files corresponding to different source code modules contain information about the address where each instruction needs to be placed in code memory</a:t>
            </a:r>
          </a:p>
          <a:p>
            <a:pPr marL="173038" lvl="1" indent="-173038" algn="just">
              <a:buClr>
                <a:srgbClr val="FF0000"/>
              </a:buClr>
              <a:buSzPct val="130000"/>
              <a:buFont typeface="Wingdings" pitchFamily="2" charset="2"/>
              <a:buChar char="§"/>
            </a:pPr>
            <a:r>
              <a:rPr lang="en-US" altLang="en-US" sz="2000" b="1">
                <a:latin typeface="Calibri" pitchFamily="34" charset="0"/>
              </a:rPr>
              <a:t>A software utility called ‘Object to Hex file converter’ translates the absolute object file to corresponding hex file (binary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wipe(down)">
                                      <p:cBhvr>
                                        <p:cTn id="7" dur="500"/>
                                        <p:tgtEl>
                                          <p:spTgt spid="9">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wipe(down)">
                                      <p:cBhvr>
                                        <p:cTn id="10" dur="500"/>
                                        <p:tgtEl>
                                          <p:spTgt spid="9">
                                            <p:txEl>
                                              <p:pRg st="0" end="0"/>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wipe(down)">
                                      <p:cBhvr>
                                        <p:cTn id="13"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14400"/>
            <a:ext cx="8077200" cy="5559552"/>
          </a:xfrm>
        </p:spPr>
        <p:txBody>
          <a:bodyPr>
            <a:normAutofit/>
          </a:bodyPr>
          <a:lstStyle/>
          <a:p>
            <a:pPr algn="just">
              <a:buFont typeface="Wingdings" pitchFamily="2" charset="2"/>
              <a:buChar char="Ø"/>
            </a:pPr>
            <a:r>
              <a:rPr lang="en-US" dirty="0" smtClean="0"/>
              <a:t>Each source file can be assembled separately to examine the syntax errors and incorrect assembly instructions.</a:t>
            </a:r>
          </a:p>
          <a:p>
            <a:pPr algn="just">
              <a:buFont typeface="Wingdings" pitchFamily="2" charset="2"/>
              <a:buChar char="Ø"/>
            </a:pPr>
            <a:r>
              <a:rPr lang="en-US" dirty="0" smtClean="0"/>
              <a:t>  Assembling of each source file generates a corresponding object file. </a:t>
            </a:r>
          </a:p>
          <a:p>
            <a:pPr algn="just">
              <a:buFont typeface="Wingdings" pitchFamily="2" charset="2"/>
              <a:buChar char="Ø"/>
            </a:pPr>
            <a:r>
              <a:rPr lang="en-US" dirty="0" smtClean="0"/>
              <a:t>The object file does not contain the absolute address of where the generated code needs to be placed (a re-locatable code) on the program memory</a:t>
            </a:r>
          </a:p>
          <a:p>
            <a:pPr algn="just">
              <a:buFont typeface="Wingdings" pitchFamily="2" charset="2"/>
              <a:buChar char="Ø"/>
            </a:pPr>
            <a:r>
              <a:rPr lang="en-US" dirty="0" smtClean="0"/>
              <a:t>The software program called linker/locater is responsible for linking various object modules in a multi-module project and assigning absolute address to object files during the linking process</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09600" y="1143000"/>
            <a:ext cx="7467600" cy="4873752"/>
          </a:xfrm>
        </p:spPr>
        <p:txBody>
          <a:bodyPr/>
          <a:lstStyle/>
          <a:p>
            <a:pPr>
              <a:buFont typeface="Wingdings" pitchFamily="2" charset="2"/>
              <a:buChar char="Ø"/>
            </a:pPr>
            <a:r>
              <a:rPr lang="en-US" dirty="0" smtClean="0"/>
              <a:t>The Absolute object file created from the object files corresponding to different source code modules contain information about the address where each instruction needs to be placed in code memory.</a:t>
            </a:r>
          </a:p>
          <a:p>
            <a:pPr>
              <a:buFont typeface="Wingdings" pitchFamily="2" charset="2"/>
              <a:buChar char="Ø"/>
            </a:pPr>
            <a:r>
              <a:rPr lang="en-US" dirty="0" smtClean="0"/>
              <a:t>A software utility called ‘Object to Hex file converter’ translates the absolute object file to corresponding hex file (binary file).</a:t>
            </a:r>
          </a:p>
          <a:p>
            <a:pPr>
              <a:buFont typeface="Wingdings" pitchFamily="2" charset="2"/>
              <a:buChar char="Ø"/>
            </a:pPr>
            <a:r>
              <a:rPr lang="en-US" dirty="0" smtClean="0"/>
              <a:t>Hex files are ASCII files that contain a hexadecimal representation of target application.</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467600" cy="457200"/>
          </a:xfrm>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sz="2700" b="1" dirty="0" smtClean="0"/>
              <a:t> </a:t>
            </a:r>
            <a:r>
              <a:rPr lang="en-US" sz="3600" b="1" dirty="0" smtClean="0">
                <a:solidFill>
                  <a:srgbClr val="FF0000"/>
                </a:solidFill>
              </a:rPr>
              <a:t>Advantages:</a:t>
            </a:r>
            <a:endParaRPr lang="en-US" sz="3600" dirty="0">
              <a:solidFill>
                <a:srgbClr val="FF0000"/>
              </a:solidFill>
            </a:endParaRPr>
          </a:p>
        </p:txBody>
      </p:sp>
      <p:sp>
        <p:nvSpPr>
          <p:cNvPr id="3" name="Content Placeholder 2"/>
          <p:cNvSpPr>
            <a:spLocks noGrp="1"/>
          </p:cNvSpPr>
          <p:nvPr>
            <p:ph sz="quarter" idx="1"/>
          </p:nvPr>
        </p:nvSpPr>
        <p:spPr>
          <a:xfrm>
            <a:off x="228600" y="914400"/>
            <a:ext cx="8382000" cy="5943600"/>
          </a:xfrm>
        </p:spPr>
        <p:txBody>
          <a:bodyPr>
            <a:normAutofit fontScale="32500" lnSpcReduction="20000"/>
          </a:bodyPr>
          <a:lstStyle/>
          <a:p>
            <a:pPr algn="just">
              <a:buFont typeface="Wingdings" pitchFamily="2" charset="2"/>
              <a:buChar char="Ø"/>
            </a:pPr>
            <a:endParaRPr lang="en-US" sz="8000" b="1" dirty="0" smtClean="0"/>
          </a:p>
          <a:p>
            <a:pPr algn="just">
              <a:buFont typeface="Wingdings" pitchFamily="2" charset="2"/>
              <a:buChar char="Ø"/>
            </a:pPr>
            <a:r>
              <a:rPr lang="en-US" sz="8000" b="1" dirty="0" smtClean="0"/>
              <a:t>Efficient Code Memory &amp; Data Memory Usage (Memory Optimization): </a:t>
            </a:r>
          </a:p>
          <a:p>
            <a:pPr algn="just">
              <a:buNone/>
            </a:pPr>
            <a:r>
              <a:rPr lang="en-US" sz="8000" dirty="0" smtClean="0"/>
              <a:t>	 The developer is well aware of the target processor architecture and memory organization, so optimized code can be written for performing operations. </a:t>
            </a:r>
          </a:p>
          <a:p>
            <a:pPr algn="just">
              <a:buNone/>
            </a:pPr>
            <a:r>
              <a:rPr lang="en-US" sz="8000" dirty="0" smtClean="0"/>
              <a:t>	 This leads to less utilization of code memory and efficient utilization of data memory</a:t>
            </a:r>
          </a:p>
          <a:p>
            <a:pPr algn="just">
              <a:buFont typeface="Wingdings" pitchFamily="2" charset="2"/>
              <a:buChar char="Ø"/>
            </a:pPr>
            <a:r>
              <a:rPr lang="en-US" sz="8000" b="1" dirty="0" smtClean="0"/>
              <a:t>High Performance</a:t>
            </a:r>
          </a:p>
          <a:p>
            <a:pPr algn="just">
              <a:buNone/>
            </a:pPr>
            <a:r>
              <a:rPr lang="en-US" sz="8000" b="1" dirty="0" smtClean="0"/>
              <a:t>	</a:t>
            </a:r>
            <a:r>
              <a:rPr lang="en-US" sz="8000" dirty="0" smtClean="0"/>
              <a:t> Optimized code not only improves the code memory usage but also improves the total system performance.</a:t>
            </a:r>
          </a:p>
          <a:p>
            <a:pPr algn="just">
              <a:buNone/>
            </a:pPr>
            <a:r>
              <a:rPr lang="en-US" sz="8000" dirty="0" smtClean="0"/>
              <a:t>	  Through effective assembly coding, optimum performance can be achieved for target processor.</a:t>
            </a:r>
            <a:endParaRPr lang="en-US" sz="8000" b="1" dirty="0" smtClean="0"/>
          </a:p>
          <a:p>
            <a:pPr algn="just">
              <a:buFont typeface="Wingdings" pitchFamily="2" charset="2"/>
              <a:buChar char="Ø"/>
            </a:pPr>
            <a:r>
              <a:rPr lang="en-US" sz="8000" dirty="0" smtClean="0"/>
              <a:t> </a:t>
            </a:r>
            <a:endParaRPr lang="en-US" sz="8000" b="1" dirty="0" smtClean="0"/>
          </a:p>
          <a:p>
            <a:pPr>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62000"/>
            <a:ext cx="8001000" cy="5711952"/>
          </a:xfrm>
        </p:spPr>
        <p:txBody>
          <a:bodyPr>
            <a:normAutofit fontScale="32500" lnSpcReduction="20000"/>
          </a:bodyPr>
          <a:lstStyle/>
          <a:p>
            <a:pPr algn="just">
              <a:buFont typeface="Wingdings" pitchFamily="2" charset="2"/>
              <a:buChar char="Ø"/>
            </a:pPr>
            <a:r>
              <a:rPr lang="en-US" sz="8000" b="1" dirty="0" smtClean="0"/>
              <a:t>Low level Hardware Access</a:t>
            </a:r>
          </a:p>
          <a:p>
            <a:pPr lvl="1" algn="just">
              <a:buNone/>
            </a:pPr>
            <a:r>
              <a:rPr lang="en-US" sz="8000" dirty="0" smtClean="0"/>
              <a:t> Most of the code for low level programming like accessing external device specific registers from OS kernel ,device drivers, and low level interrupt routines, etc are making use of direct assembly coding.</a:t>
            </a:r>
            <a:endParaRPr lang="en-US" sz="8000" b="1" dirty="0" smtClean="0"/>
          </a:p>
          <a:p>
            <a:pPr algn="just">
              <a:buFont typeface="Wingdings" pitchFamily="2" charset="2"/>
              <a:buChar char="Ø"/>
            </a:pPr>
            <a:r>
              <a:rPr lang="en-US" sz="8000" b="1" dirty="0" smtClean="0"/>
              <a:t>Code Reverse Engineering</a:t>
            </a:r>
          </a:p>
          <a:p>
            <a:pPr algn="just">
              <a:buNone/>
            </a:pPr>
            <a:r>
              <a:rPr lang="en-US" sz="8000" dirty="0" smtClean="0"/>
              <a:t>	 It is the process of understanding the technology behind a product by extracting the information from the finished product. </a:t>
            </a:r>
          </a:p>
          <a:p>
            <a:pPr algn="just">
              <a:buNone/>
            </a:pPr>
            <a:r>
              <a:rPr lang="en-US" sz="8000" dirty="0" smtClean="0"/>
              <a:t>	 It can easily be converted into assembly code using a </a:t>
            </a:r>
            <a:r>
              <a:rPr lang="en-US" sz="8000" dirty="0" err="1" smtClean="0"/>
              <a:t>dis</a:t>
            </a:r>
            <a:r>
              <a:rPr lang="en-US" sz="8000" dirty="0" smtClean="0"/>
              <a:t>-assembler program for the target machine.</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228600"/>
            <a:ext cx="8001000" cy="6629400"/>
          </a:xfrm>
        </p:spPr>
        <p:txBody>
          <a:bodyPr>
            <a:normAutofit fontScale="92500" lnSpcReduction="20000"/>
          </a:bodyPr>
          <a:lstStyle/>
          <a:p>
            <a:pPr>
              <a:buNone/>
            </a:pPr>
            <a:endParaRPr lang="en-US" sz="3000" b="1" u="sng" cap="small" dirty="0" smtClean="0">
              <a:solidFill>
                <a:srgbClr val="FF0000"/>
              </a:solidFill>
            </a:endParaRPr>
          </a:p>
          <a:p>
            <a:pPr>
              <a:buNone/>
            </a:pPr>
            <a:r>
              <a:rPr lang="en-US" sz="3000" b="1" u="sng" cap="small" dirty="0" smtClean="0">
                <a:solidFill>
                  <a:srgbClr val="FF0000"/>
                </a:solidFill>
              </a:rPr>
              <a:t>Drawbacks:</a:t>
            </a:r>
          </a:p>
          <a:p>
            <a:pPr>
              <a:buNone/>
            </a:pPr>
            <a:endParaRPr lang="en-US" sz="2800" u="sng" dirty="0" smtClean="0">
              <a:solidFill>
                <a:srgbClr val="FF0000"/>
              </a:solidFill>
            </a:endParaRPr>
          </a:p>
          <a:p>
            <a:pPr algn="just">
              <a:buFont typeface="Wingdings" pitchFamily="2" charset="2"/>
              <a:buChar char="Ø"/>
            </a:pPr>
            <a:r>
              <a:rPr lang="en-US" b="1" dirty="0" smtClean="0"/>
              <a:t>High Development time</a:t>
            </a:r>
          </a:p>
          <a:p>
            <a:pPr algn="just">
              <a:buNone/>
            </a:pPr>
            <a:r>
              <a:rPr lang="en-US" dirty="0" smtClean="0"/>
              <a:t>	 The developer takes lot of time to study about architecture ,memory organization, addressing modes and instruction set of target processor/controller. </a:t>
            </a:r>
          </a:p>
          <a:p>
            <a:pPr algn="just">
              <a:buNone/>
            </a:pPr>
            <a:r>
              <a:rPr lang="en-US" dirty="0" smtClean="0"/>
              <a:t>	 More lines of assembly code is required for performing a simple action.</a:t>
            </a:r>
            <a:endParaRPr lang="en-US" b="1" dirty="0" smtClean="0"/>
          </a:p>
          <a:p>
            <a:pPr algn="just">
              <a:buFont typeface="Wingdings" pitchFamily="2" charset="2"/>
              <a:buChar char="Ø"/>
            </a:pPr>
            <a:r>
              <a:rPr lang="en-US" b="1" dirty="0" smtClean="0"/>
              <a:t>Developer dependency</a:t>
            </a:r>
          </a:p>
          <a:p>
            <a:pPr algn="just">
              <a:buNone/>
            </a:pPr>
            <a:r>
              <a:rPr lang="en-US" dirty="0" smtClean="0"/>
              <a:t>	 There is no common written rule for developing assembly language based applications.</a:t>
            </a:r>
            <a:endParaRPr lang="en-US" b="1" dirty="0" smtClean="0"/>
          </a:p>
          <a:p>
            <a:pPr algn="just">
              <a:buFont typeface="Wingdings" pitchFamily="2" charset="2"/>
              <a:buChar char="Ø"/>
            </a:pPr>
            <a:r>
              <a:rPr lang="en-US" b="1" dirty="0" smtClean="0"/>
              <a:t>Non portable</a:t>
            </a:r>
          </a:p>
          <a:p>
            <a:pPr algn="just">
              <a:buNone/>
            </a:pPr>
            <a:r>
              <a:rPr lang="en-US" dirty="0" smtClean="0"/>
              <a:t>	 Target applications written in assembly instructions are valid only for that particular family of processors and cannot be re-used for another target processors/controllers. </a:t>
            </a:r>
          </a:p>
          <a:p>
            <a:pPr algn="just">
              <a:buNone/>
            </a:pPr>
            <a:r>
              <a:rPr lang="en-US" dirty="0" smtClean="0"/>
              <a:t>	 If the target processor/controller changes, a complete re-writing of the application using assembly language for new target processor/controller is required.</a:t>
            </a:r>
            <a:endParaRPr lang="en-US" b="1" dirty="0" smtClean="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
            </a:r>
            <a:br>
              <a:rPr lang="en-US" b="1" dirty="0" smtClean="0"/>
            </a:br>
            <a:r>
              <a:rPr lang="en-US" b="1" dirty="0" smtClean="0"/>
              <a:t>High Level Language</a:t>
            </a:r>
            <a:br>
              <a:rPr lang="en-US" b="1" dirty="0" smtClean="0"/>
            </a:br>
            <a:endParaRPr lang="en-US" dirty="0"/>
          </a:p>
        </p:txBody>
      </p:sp>
      <p:sp>
        <p:nvSpPr>
          <p:cNvPr id="3" name="Content Placeholder 2"/>
          <p:cNvSpPr>
            <a:spLocks noGrp="1"/>
          </p:cNvSpPr>
          <p:nvPr>
            <p:ph sz="quarter" idx="1"/>
          </p:nvPr>
        </p:nvSpPr>
        <p:spPr>
          <a:xfrm>
            <a:off x="457200" y="990600"/>
            <a:ext cx="8458200" cy="5483352"/>
          </a:xfrm>
        </p:spPr>
        <p:txBody>
          <a:bodyPr>
            <a:normAutofit fontScale="92500" lnSpcReduction="20000"/>
          </a:bodyPr>
          <a:lstStyle/>
          <a:p>
            <a:pPr>
              <a:buFont typeface="Wingdings" pitchFamily="2" charset="2"/>
              <a:buChar char="Ø"/>
            </a:pPr>
            <a:r>
              <a:rPr lang="en-US" dirty="0" smtClean="0"/>
              <a:t>The embedded firmware is written in any high level language like C, C++</a:t>
            </a:r>
          </a:p>
          <a:p>
            <a:pPr>
              <a:buFont typeface="Wingdings" pitchFamily="2" charset="2"/>
              <a:buChar char="Ø"/>
            </a:pPr>
            <a:r>
              <a:rPr lang="en-US" dirty="0" smtClean="0"/>
              <a:t>  A software utility called ‘cross-compiler’ converts the high level language to target processor specific machine code</a:t>
            </a:r>
          </a:p>
          <a:p>
            <a:pPr lvl="0">
              <a:buFont typeface="Wingdings" pitchFamily="2" charset="2"/>
              <a:buChar char="Ø"/>
            </a:pPr>
            <a:r>
              <a:rPr lang="en-US" dirty="0" smtClean="0"/>
              <a:t>The cross-compilation of each module generates a corresponding object file. The object file does not contain the absolute address of where the generated code needs to be placed (a re-locatable code) on the program memory</a:t>
            </a:r>
          </a:p>
          <a:p>
            <a:pPr lvl="0">
              <a:buFont typeface="Wingdings" pitchFamily="2" charset="2"/>
              <a:buChar char="Ø"/>
            </a:pPr>
            <a:r>
              <a:rPr lang="en-US" dirty="0" smtClean="0"/>
              <a:t>The software program called linker/locater is responsible for assigning absolute address to object files during the linking process</a:t>
            </a:r>
          </a:p>
          <a:p>
            <a:pPr lvl="0">
              <a:buFont typeface="Wingdings" pitchFamily="2" charset="2"/>
              <a:buChar char="Ø"/>
            </a:pPr>
            <a:r>
              <a:rPr lang="en-US" dirty="0" smtClean="0"/>
              <a:t>The Absolute object file created from the object files corresponding to different source code modules contain information about the address where each instruction needs to be placed in code memory</a:t>
            </a:r>
          </a:p>
          <a:p>
            <a:pPr lvl="0">
              <a:buFont typeface="Wingdings" pitchFamily="2" charset="2"/>
              <a:buChar char="Ø"/>
            </a:pPr>
            <a:r>
              <a:rPr lang="en-US" dirty="0" smtClean="0"/>
              <a:t>A software utility called ‘Object to Hex file converter’ translates the absolute object file to corresponding hex file (binary file)</a:t>
            </a:r>
          </a:p>
          <a:p>
            <a:pPr>
              <a:buFont typeface="Wingdings" pitchFamily="2" charset="2"/>
              <a:buChar char="Ø"/>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Content Placeholder 2"/>
          <p:cNvSpPr>
            <a:spLocks noGrp="1"/>
          </p:cNvSpPr>
          <p:nvPr>
            <p:ph idx="1"/>
          </p:nvPr>
        </p:nvSpPr>
        <p:spPr>
          <a:xfrm>
            <a:off x="304800" y="76200"/>
            <a:ext cx="8610600" cy="762000"/>
          </a:xfrm>
          <a:solidFill>
            <a:srgbClr val="FFFF00"/>
          </a:solidFill>
          <a:ln>
            <a:solidFill>
              <a:srgbClr val="7030A0"/>
            </a:solidFill>
          </a:ln>
        </p:spPr>
        <p:txBody>
          <a:bodyPr rtlCol="0">
            <a:normAutofit lnSpcReduction="10000"/>
          </a:bodyPr>
          <a:lstStyle/>
          <a:p>
            <a:pPr marL="0" lvl="1" indent="0" eaLnBrk="1" fontAlgn="auto" hangingPunct="1">
              <a:spcAft>
                <a:spcPts val="0"/>
              </a:spcAft>
              <a:buFontTx/>
              <a:buNone/>
              <a:defRPr/>
            </a:pPr>
            <a:r>
              <a:rPr lang="en-US" b="1" dirty="0" smtClean="0"/>
              <a:t>Embedded firmware Development Languages/Options –</a:t>
            </a:r>
          </a:p>
          <a:p>
            <a:pPr marL="0" lvl="1" indent="0" eaLnBrk="1" fontAlgn="auto" hangingPunct="1">
              <a:spcAft>
                <a:spcPts val="0"/>
              </a:spcAft>
              <a:buFontTx/>
              <a:buNone/>
              <a:defRPr/>
            </a:pPr>
            <a:r>
              <a:rPr lang="en-US" b="1" dirty="0" smtClean="0"/>
              <a:t> </a:t>
            </a:r>
            <a:r>
              <a:rPr lang="en-US" b="1" dirty="0" smtClean="0">
                <a:solidFill>
                  <a:srgbClr val="FF0000"/>
                </a:solidFill>
              </a:rPr>
              <a:t>High Level  Language – Source File to Hex File Translation</a:t>
            </a:r>
          </a:p>
          <a:p>
            <a:pPr marL="236538" indent="-236538" algn="just" eaLnBrk="1" fontAlgn="auto" hangingPunct="1">
              <a:spcAft>
                <a:spcPts val="0"/>
              </a:spcAft>
              <a:buFontTx/>
              <a:buNone/>
              <a:defRPr/>
            </a:pPr>
            <a:endParaRPr lang="en-US" sz="1600" dirty="0" smtClean="0"/>
          </a:p>
        </p:txBody>
      </p:sp>
      <p:sp>
        <p:nvSpPr>
          <p:cNvPr id="25603" name="Rectangle 3"/>
          <p:cNvSpPr>
            <a:spLocks noChangeArrowheads="1"/>
          </p:cNvSpPr>
          <p:nvPr/>
        </p:nvSpPr>
        <p:spPr bwMode="auto">
          <a:xfrm>
            <a:off x="2514600" y="6096000"/>
            <a:ext cx="5334000" cy="307975"/>
          </a:xfrm>
          <a:prstGeom prst="rect">
            <a:avLst/>
          </a:prstGeom>
          <a:noFill/>
          <a:ln w="9525">
            <a:noFill/>
            <a:miter lim="800000"/>
            <a:headEnd/>
            <a:tailEnd/>
          </a:ln>
        </p:spPr>
        <p:txBody>
          <a:bodyPr anchor="ctr">
            <a:spAutoFit/>
          </a:bodyPr>
          <a:lstStyle/>
          <a:p>
            <a:pPr algn="ctr" eaLnBrk="0" hangingPunct="0"/>
            <a:r>
              <a:rPr lang="en-US" altLang="en-US" sz="1400" b="1">
                <a:latin typeface="Calibri" pitchFamily="34" charset="0"/>
                <a:cs typeface="Times New Roman" pitchFamily="18" charset="0"/>
              </a:rPr>
              <a:t>High level language to machine language Conversion process</a:t>
            </a:r>
            <a:endParaRPr lang="en-US" altLang="en-US" sz="1400">
              <a:latin typeface="Calibri" pitchFamily="34" charset="0"/>
            </a:endParaRPr>
          </a:p>
        </p:txBody>
      </p:sp>
      <p:sp>
        <p:nvSpPr>
          <p:cNvPr id="25604"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ltLang="en-US">
              <a:latin typeface="Calibri" pitchFamily="34" charset="0"/>
            </a:endParaRPr>
          </a:p>
        </p:txBody>
      </p:sp>
      <p:graphicFrame>
        <p:nvGraphicFramePr>
          <p:cNvPr id="25605" name="Object 1"/>
          <p:cNvGraphicFramePr>
            <a:graphicFrameLocks noChangeAspect="1"/>
          </p:cNvGraphicFramePr>
          <p:nvPr/>
        </p:nvGraphicFramePr>
        <p:xfrm>
          <a:off x="381000" y="1066800"/>
          <a:ext cx="8458200" cy="5486400"/>
        </p:xfrm>
        <a:graphic>
          <a:graphicData uri="http://schemas.openxmlformats.org/presentationml/2006/ole">
            <p:oleObj spid="_x0000_s1026" name="Visio" r:id="rId4" imgW="5623560" imgH="4019550" progId="">
              <p:embed/>
            </p:oleObj>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Advantages:</a:t>
            </a:r>
            <a:r>
              <a:rPr lang="en-US" sz="2400" dirty="0" smtClean="0"/>
              <a:t/>
            </a:r>
            <a:br>
              <a:rPr lang="en-US" sz="2400" dirty="0" smtClean="0"/>
            </a:br>
            <a:endParaRPr lang="en-US" dirty="0"/>
          </a:p>
        </p:txBody>
      </p:sp>
      <p:sp>
        <p:nvSpPr>
          <p:cNvPr id="3" name="Content Placeholder 2"/>
          <p:cNvSpPr>
            <a:spLocks noGrp="1"/>
          </p:cNvSpPr>
          <p:nvPr>
            <p:ph sz="quarter" idx="1"/>
          </p:nvPr>
        </p:nvSpPr>
        <p:spPr>
          <a:xfrm>
            <a:off x="457200" y="1143000"/>
            <a:ext cx="8001000" cy="5330952"/>
          </a:xfrm>
        </p:spPr>
        <p:txBody>
          <a:bodyPr>
            <a:normAutofit/>
          </a:bodyPr>
          <a:lstStyle/>
          <a:p>
            <a:pPr>
              <a:buFont typeface="Wingdings" pitchFamily="2" charset="2"/>
              <a:buChar char="Ø"/>
            </a:pPr>
            <a:r>
              <a:rPr lang="en-US" b="1" dirty="0" smtClean="0"/>
              <a:t>Reduced Development time: </a:t>
            </a:r>
            <a:r>
              <a:rPr lang="en-US" dirty="0" smtClean="0"/>
              <a:t>Developer requires less or little knowledge on internal hardware details and architecture of the target processor/Controller.</a:t>
            </a:r>
          </a:p>
          <a:p>
            <a:pPr>
              <a:buFont typeface="Wingdings" pitchFamily="2" charset="2"/>
              <a:buChar char="Ø"/>
            </a:pPr>
            <a:r>
              <a:rPr lang="en-US" b="1" dirty="0" smtClean="0"/>
              <a:t>Developer independency: </a:t>
            </a:r>
            <a:r>
              <a:rPr lang="en-US" dirty="0" smtClean="0"/>
              <a:t>The syntax used by most of the high level languages are universal and a program written high level can easily understand by a second person knowing the syntax of the language</a:t>
            </a:r>
          </a:p>
          <a:p>
            <a:pPr>
              <a:buFont typeface="Wingdings" pitchFamily="2" charset="2"/>
              <a:buChar char="Ø"/>
            </a:pPr>
            <a:r>
              <a:rPr lang="en-US" b="1" dirty="0" smtClean="0"/>
              <a:t>Portability: </a:t>
            </a:r>
            <a:r>
              <a:rPr lang="en-US" dirty="0" smtClean="0"/>
              <a:t>An Application written in high level language for particular target processor /controller can be easily be converted to another target processor/controller specific application with little or less effort</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Drawbacks:</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sz="quarter" idx="1"/>
          </p:nvPr>
        </p:nvSpPr>
        <p:spPr>
          <a:xfrm>
            <a:off x="152400" y="1295400"/>
            <a:ext cx="8305800" cy="5178552"/>
          </a:xfrm>
        </p:spPr>
        <p:txBody>
          <a:bodyPr/>
          <a:lstStyle/>
          <a:p>
            <a:pPr lvl="1">
              <a:buFont typeface="Wingdings" pitchFamily="2" charset="2"/>
              <a:buChar char="Ø"/>
            </a:pPr>
            <a:r>
              <a:rPr lang="en-US" sz="2800" dirty="0" smtClean="0"/>
              <a:t>The cross compilers may not be efficient in generating the optimized target processor specific instructions.</a:t>
            </a:r>
          </a:p>
          <a:p>
            <a:pPr lvl="1">
              <a:buFont typeface="Wingdings" pitchFamily="2" charset="2"/>
              <a:buChar char="Ø"/>
            </a:pPr>
            <a:r>
              <a:rPr lang="en-US" sz="2800" dirty="0" smtClean="0"/>
              <a:t>Target images created by such compilers may be messy and non- optimized in terms of performance as well as code size.</a:t>
            </a:r>
          </a:p>
          <a:p>
            <a:pPr lvl="1">
              <a:buFont typeface="Wingdings" pitchFamily="2" charset="2"/>
              <a:buChar char="Ø"/>
            </a:pPr>
            <a:r>
              <a:rPr lang="en-US" sz="2800" dirty="0" smtClean="0"/>
              <a:t>The investment required for high level language based development tools (IDE) is high compared to Assembly Language based firmware development tools.</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347</TotalTime>
  <Words>2254</Words>
  <Application>Microsoft Office PowerPoint</Application>
  <PresentationFormat>On-screen Show (4:3)</PresentationFormat>
  <Paragraphs>211</Paragraphs>
  <Slides>38</Slides>
  <Notes>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38</vt:i4>
      </vt:variant>
    </vt:vector>
  </HeadingPairs>
  <TitlesOfParts>
    <vt:vector size="40" baseType="lpstr">
      <vt:lpstr>Oriel</vt:lpstr>
      <vt:lpstr>Visio</vt:lpstr>
      <vt:lpstr>UNIT-4   Embedded Firmware Design &amp; Development </vt:lpstr>
      <vt:lpstr>SYLLABUS</vt:lpstr>
      <vt:lpstr>The embedded firmware</vt:lpstr>
      <vt:lpstr>Slide 4</vt:lpstr>
      <vt:lpstr>Slide 5</vt:lpstr>
      <vt:lpstr>Designing Embedded firmware</vt:lpstr>
      <vt:lpstr>Slide 7</vt:lpstr>
      <vt:lpstr>Slide 8</vt:lpstr>
      <vt:lpstr>embedded firmware design approaches</vt:lpstr>
      <vt:lpstr>The Super loop BASED APPROACH</vt:lpstr>
      <vt:lpstr>Slide 11</vt:lpstr>
      <vt:lpstr>Slide 12</vt:lpstr>
      <vt:lpstr>Slide 13</vt:lpstr>
      <vt:lpstr>Slide 14</vt:lpstr>
      <vt:lpstr>Slide 15</vt:lpstr>
      <vt:lpstr>Embedded firmware Design Approaches – 2.Embedded OS based Approach</vt:lpstr>
      <vt:lpstr>Embedded OS based Approach</vt:lpstr>
      <vt:lpstr>Slide 18</vt:lpstr>
      <vt:lpstr>Slide 19</vt:lpstr>
      <vt:lpstr>Slide 20</vt:lpstr>
      <vt:lpstr>Embedded firmware Development Languages </vt:lpstr>
      <vt:lpstr>  </vt:lpstr>
      <vt:lpstr>Slide 23</vt:lpstr>
      <vt:lpstr>Slide 24</vt:lpstr>
      <vt:lpstr>Slide 25</vt:lpstr>
      <vt:lpstr>Slide 26</vt:lpstr>
      <vt:lpstr>Assembly Language – Source File to Hex File Translation</vt:lpstr>
      <vt:lpstr>Slide 28</vt:lpstr>
      <vt:lpstr>Slide 29</vt:lpstr>
      <vt:lpstr>Slide 30</vt:lpstr>
      <vt:lpstr>Slide 31</vt:lpstr>
      <vt:lpstr>       Advantages:</vt:lpstr>
      <vt:lpstr>Slide 33</vt:lpstr>
      <vt:lpstr>Slide 34</vt:lpstr>
      <vt:lpstr>                           High Level Language </vt:lpstr>
      <vt:lpstr>Slide 36</vt:lpstr>
      <vt:lpstr>Advantages: </vt:lpstr>
      <vt:lpstr>Drawbacks: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UNIT-4     Embedded Firmware Design &amp; Development</dc:title>
  <dc:creator>mrcet</dc:creator>
  <cp:lastModifiedBy>MRCET</cp:lastModifiedBy>
  <cp:revision>78</cp:revision>
  <dcterms:created xsi:type="dcterms:W3CDTF">2006-08-16T00:00:00Z</dcterms:created>
  <dcterms:modified xsi:type="dcterms:W3CDTF">2020-12-14T06:27:31Z</dcterms:modified>
</cp:coreProperties>
</file>
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6" r:id="rId5"/>
    <p:sldId id="260" r:id="rId6"/>
    <p:sldId id="267" r:id="rId7"/>
    <p:sldId id="261" r:id="rId8"/>
    <p:sldId id="268" r:id="rId9"/>
    <p:sldId id="269" r:id="rId10"/>
    <p:sldId id="262" r:id="rId11"/>
    <p:sldId id="263" r:id="rId12"/>
    <p:sldId id="264" r:id="rId13"/>
    <p:sldId id="265"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60" d="100"/>
          <a:sy n="60" d="100"/>
        </p:scale>
        <p:origin x="-1572" y="-17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08-Nov-21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08-Nov-21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08-Nov-21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08-Nov-21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08-Nov-21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08-Nov-21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08-Nov-21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08-Nov-21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08-Nov-21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08-Nov-21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08-Nov-21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08-Nov-21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Metrics</a:t>
            </a:r>
            <a:endParaRPr lang="en-US" dirty="0"/>
          </a:p>
        </p:txBody>
      </p:sp>
      <p:sp>
        <p:nvSpPr>
          <p:cNvPr id="3" name="Content Placeholder 2"/>
          <p:cNvSpPr>
            <a:spLocks noGrp="1"/>
          </p:cNvSpPr>
          <p:nvPr>
            <p:ph idx="1"/>
          </p:nvPr>
        </p:nvSpPr>
        <p:spPr/>
        <p:txBody>
          <a:bodyPr/>
          <a:lstStyle/>
          <a:p>
            <a:pPr algn="just"/>
            <a:r>
              <a:rPr lang="en-US" dirty="0" smtClean="0"/>
              <a:t>Product metrics are software product measures at any stage of their development, from requirements to established systems. Product metrics are related to software features only.</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fontAlgn="base"/>
            <a:r>
              <a:rPr lang="en-US" dirty="0" smtClean="0"/>
              <a:t>Dynamic metrics that are collected by measurements made from a program in execution.</a:t>
            </a:r>
          </a:p>
          <a:p>
            <a:pPr algn="just" fontAlgn="base"/>
            <a:r>
              <a:rPr lang="en-US" dirty="0" smtClean="0"/>
              <a:t>Static metrics that are collected by measurements made from system representations such as design, programs, or documentation.</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Dynamic metrics help in assessing the efficiency and reliability of a program </a:t>
            </a:r>
          </a:p>
          <a:p>
            <a:pPr algn="just"/>
            <a:endParaRPr lang="en-US" dirty="0" smtClean="0"/>
          </a:p>
          <a:p>
            <a:pPr algn="just"/>
            <a:r>
              <a:rPr lang="en-US" dirty="0" smtClean="0"/>
              <a:t>while static metrics help in understanding, understanding and maintaining the complexity of a software system.</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descr="Software Metrics"/>
          <p:cNvPicPr>
            <a:picLocks noChangeAspect="1" noChangeArrowheads="1"/>
          </p:cNvPicPr>
          <p:nvPr/>
        </p:nvPicPr>
        <p:blipFill>
          <a:blip r:embed="rId2"/>
          <a:srcRect b="36557"/>
          <a:stretch>
            <a:fillRect/>
          </a:stretch>
        </p:blipFill>
        <p:spPr bwMode="auto">
          <a:xfrm>
            <a:off x="381000" y="381000"/>
            <a:ext cx="8458200" cy="54102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Metrics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Fan-in/Fan-out</a:t>
            </a:r>
          </a:p>
          <a:p>
            <a:r>
              <a:rPr lang="en-US" dirty="0" smtClean="0"/>
              <a:t>Length of code</a:t>
            </a:r>
          </a:p>
          <a:p>
            <a:r>
              <a:rPr lang="en-US" dirty="0" err="1" smtClean="0"/>
              <a:t>Cyclomatic</a:t>
            </a:r>
            <a:r>
              <a:rPr lang="en-US" dirty="0" smtClean="0"/>
              <a:t> complexity – measure of control complexity</a:t>
            </a:r>
          </a:p>
          <a:p>
            <a:r>
              <a:rPr lang="en-US" dirty="0" smtClean="0"/>
              <a:t>Depth of conditional nesting</a:t>
            </a:r>
          </a:p>
          <a:p>
            <a:r>
              <a:rPr lang="en-US" dirty="0" smtClean="0"/>
              <a:t>Length of identifiers</a:t>
            </a:r>
          </a:p>
          <a:p>
            <a:r>
              <a:rPr lang="en-US" dirty="0" smtClean="0"/>
              <a:t>Fog index – Length of the words, sentences in documentation</a:t>
            </a:r>
            <a:br>
              <a:rPr lang="en-US" dirty="0" smtClean="0"/>
            </a:b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19800"/>
          </a:xfrm>
        </p:spPr>
        <p:txBody>
          <a:bodyPr>
            <a:normAutofit fontScale="92500" lnSpcReduction="20000"/>
          </a:bodyPr>
          <a:lstStyle/>
          <a:p>
            <a:pPr algn="just"/>
            <a:r>
              <a:rPr lang="en-US" b="1" dirty="0" smtClean="0"/>
              <a:t>Metrics for analysis model:</a:t>
            </a:r>
            <a:r>
              <a:rPr lang="en-US" dirty="0" smtClean="0"/>
              <a:t> These address various aspects of the analysis model such as system functionality, system size, and so on.</a:t>
            </a:r>
          </a:p>
          <a:p>
            <a:pPr algn="just"/>
            <a:r>
              <a:rPr lang="en-US" b="1" dirty="0" smtClean="0"/>
              <a:t>Metrics for design model:</a:t>
            </a:r>
            <a:r>
              <a:rPr lang="en-US" dirty="0" smtClean="0"/>
              <a:t> These allow software engineers to assess the quality of design and include architectural design metrics, component-level design metrics, and so on.</a:t>
            </a:r>
          </a:p>
          <a:p>
            <a:pPr algn="just"/>
            <a:r>
              <a:rPr lang="en-US" b="1" dirty="0" smtClean="0"/>
              <a:t>Metrics for source code:</a:t>
            </a:r>
            <a:r>
              <a:rPr lang="en-US" dirty="0" smtClean="0"/>
              <a:t> These assess source code complexity, maintainability, and other characteristics.</a:t>
            </a:r>
          </a:p>
          <a:p>
            <a:pPr algn="just"/>
            <a:r>
              <a:rPr lang="en-US" b="1" dirty="0" smtClean="0"/>
              <a:t>Metrics for testing:</a:t>
            </a:r>
            <a:r>
              <a:rPr lang="en-US" dirty="0" smtClean="0"/>
              <a:t> These help to design efficient and effective test cases and also evaluate the effectiveness of testing.</a:t>
            </a:r>
          </a:p>
          <a:p>
            <a:pPr algn="just"/>
            <a:r>
              <a:rPr lang="en-US" b="1" dirty="0" smtClean="0"/>
              <a:t>Metrics for maintenance:</a:t>
            </a:r>
            <a:r>
              <a:rPr lang="en-US" dirty="0" smtClean="0"/>
              <a:t> These assess the stability of the software product.</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Metrics for Analysis model</a:t>
            </a:r>
            <a:endParaRPr lang="en-US" dirty="0"/>
          </a:p>
        </p:txBody>
      </p:sp>
      <p:sp>
        <p:nvSpPr>
          <p:cNvPr id="3" name="Content Placeholder 2"/>
          <p:cNvSpPr>
            <a:spLocks noGrp="1"/>
          </p:cNvSpPr>
          <p:nvPr>
            <p:ph idx="1"/>
          </p:nvPr>
        </p:nvSpPr>
        <p:spPr/>
        <p:txBody>
          <a:bodyPr/>
          <a:lstStyle/>
          <a:p>
            <a:r>
              <a:rPr lang="en-US" dirty="0" smtClean="0"/>
              <a:t>Function point </a:t>
            </a:r>
          </a:p>
          <a:p>
            <a:r>
              <a:rPr lang="en-US" dirty="0" smtClean="0"/>
              <a:t>lines of code are the commonly used methods for size estimation.</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96000"/>
          </a:xfrm>
        </p:spPr>
        <p:txBody>
          <a:bodyPr>
            <a:normAutofit fontScale="92500"/>
          </a:bodyPr>
          <a:lstStyle/>
          <a:p>
            <a:pPr algn="just"/>
            <a:r>
              <a:rPr lang="en-US" dirty="0" smtClean="0"/>
              <a:t>The function point metric, which was proposed by A.J Albrecht, is used to measure the functionality delivered by the system, </a:t>
            </a:r>
          </a:p>
          <a:p>
            <a:pPr lvl="1" algn="just"/>
            <a:r>
              <a:rPr lang="en-US" dirty="0" smtClean="0"/>
              <a:t>number of errors</a:t>
            </a:r>
          </a:p>
          <a:p>
            <a:pPr lvl="1" algn="just"/>
            <a:r>
              <a:rPr lang="en-US" dirty="0" smtClean="0"/>
              <a:t>estimate the number of components in the system. </a:t>
            </a:r>
          </a:p>
          <a:p>
            <a:pPr algn="just"/>
            <a:r>
              <a:rPr lang="en-US" dirty="0" smtClean="0"/>
              <a:t>Function point is derived by using a relationship between the complexity of software and the information domain value. </a:t>
            </a:r>
          </a:p>
          <a:p>
            <a:pPr algn="just"/>
            <a:r>
              <a:rPr lang="en-US" dirty="0" smtClean="0"/>
              <a:t>Information domain values used in function point include the number of external inputs, external outputs, external inquires, internal logical files, and the number of external interface files.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a:bodyPr>
          <a:lstStyle/>
          <a:p>
            <a:pPr algn="just"/>
            <a:r>
              <a:rPr lang="en-US" dirty="0" smtClean="0"/>
              <a:t>Lines of code (LOC) is one of the most widely used methods for size estimation. LOC can be defined as the number of delivered lines of code, excluding comments and blank lines. </a:t>
            </a:r>
          </a:p>
          <a:p>
            <a:pPr algn="just"/>
            <a:r>
              <a:rPr lang="en-US" dirty="0" smtClean="0"/>
              <a:t>From LOC, simple size-oriented metrics can be derived such as errors per KLOC (thousand lines of code), </a:t>
            </a:r>
          </a:p>
          <a:p>
            <a:pPr lvl="1" algn="just"/>
            <a:r>
              <a:rPr lang="en-US" dirty="0" smtClean="0"/>
              <a:t>defects per KLOC</a:t>
            </a:r>
          </a:p>
          <a:p>
            <a:pPr lvl="1" algn="just"/>
            <a:r>
              <a:rPr lang="en-US" dirty="0" smtClean="0"/>
              <a:t>cost per KLOC</a:t>
            </a:r>
          </a:p>
          <a:p>
            <a:pPr lvl="1" algn="just"/>
            <a:r>
              <a:rPr lang="en-US" dirty="0" smtClean="0"/>
              <a:t>program complexity</a:t>
            </a:r>
          </a:p>
          <a:p>
            <a:pPr lvl="1" algn="just"/>
            <a:r>
              <a:rPr lang="en-US" dirty="0" smtClean="0"/>
              <a:t>development effort</a:t>
            </a:r>
          </a:p>
          <a:p>
            <a:pPr lvl="1" algn="just"/>
            <a:r>
              <a:rPr lang="en-US" dirty="0" smtClean="0"/>
              <a:t>programmer performance</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098" name="Picture 2" descr="https://2.bp.blogspot.com/--o2uyDP_4zY/T789IP7n-jI/AAAAAAAAAZk/jeAfTkFJ0Yw/s1600/Capture.PNG"/>
          <p:cNvPicPr>
            <a:picLocks noChangeAspect="1" noChangeArrowheads="1"/>
          </p:cNvPicPr>
          <p:nvPr/>
        </p:nvPicPr>
        <p:blipFill>
          <a:blip r:embed="rId2"/>
          <a:srcRect/>
          <a:stretch>
            <a:fillRect/>
          </a:stretch>
        </p:blipFill>
        <p:spPr bwMode="auto">
          <a:xfrm>
            <a:off x="533400" y="533400"/>
            <a:ext cx="8005962" cy="53340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 Metrics</a:t>
            </a:r>
            <a:endParaRPr lang="en-US" dirty="0"/>
          </a:p>
        </p:txBody>
      </p:sp>
      <p:sp>
        <p:nvSpPr>
          <p:cNvPr id="3" name="Content Placeholder 2"/>
          <p:cNvSpPr>
            <a:spLocks noGrp="1"/>
          </p:cNvSpPr>
          <p:nvPr>
            <p:ph idx="1"/>
          </p:nvPr>
        </p:nvSpPr>
        <p:spPr/>
        <p:txBody>
          <a:bodyPr/>
          <a:lstStyle/>
          <a:p>
            <a:r>
              <a:rPr lang="en-US" dirty="0" smtClean="0"/>
              <a:t>Metrics for Analysis Model</a:t>
            </a:r>
          </a:p>
          <a:p>
            <a:r>
              <a:rPr lang="en-US" dirty="0" smtClean="0"/>
              <a:t>Metrics for Design Model </a:t>
            </a:r>
          </a:p>
          <a:p>
            <a:r>
              <a:rPr lang="en-US" dirty="0" smtClean="0"/>
              <a:t>Metrics for source code</a:t>
            </a:r>
          </a:p>
          <a:p>
            <a:r>
              <a:rPr lang="en-US" dirty="0" smtClean="0"/>
              <a:t>Metrics for testing </a:t>
            </a:r>
          </a:p>
          <a:p>
            <a:r>
              <a:rPr lang="en-US" dirty="0" smtClean="0"/>
              <a:t>Metrics for maintenance</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dirty="0" smtClean="0"/>
              <a:t>Metrics for Design Model</a:t>
            </a:r>
            <a:endParaRPr lang="en-US" dirty="0"/>
          </a:p>
        </p:txBody>
      </p:sp>
      <p:sp>
        <p:nvSpPr>
          <p:cNvPr id="3" name="Content Placeholder 2"/>
          <p:cNvSpPr>
            <a:spLocks noGrp="1"/>
          </p:cNvSpPr>
          <p:nvPr>
            <p:ph idx="1"/>
          </p:nvPr>
        </p:nvSpPr>
        <p:spPr>
          <a:xfrm>
            <a:off x="457200" y="1676400"/>
            <a:ext cx="8229600" cy="4114800"/>
          </a:xfrm>
        </p:spPr>
        <p:txBody>
          <a:bodyPr/>
          <a:lstStyle/>
          <a:p>
            <a:pPr algn="just"/>
            <a:r>
              <a:rPr lang="en-US" dirty="0" smtClean="0"/>
              <a:t>In designing a product, it is very important to have efficient management of complexity.</a:t>
            </a:r>
          </a:p>
          <a:p>
            <a:pPr algn="just">
              <a:buNone/>
            </a:pPr>
            <a:endParaRPr lang="en-US" dirty="0" smtClean="0"/>
          </a:p>
          <a:p>
            <a:pPr algn="just"/>
            <a:r>
              <a:rPr lang="en-US" dirty="0" smtClean="0"/>
              <a:t>We know that systems are generally complex as they have many interconnected components that make it difficult to understand. </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Glass and Card</a:t>
            </a:r>
            <a:endParaRPr lang="en-US" dirty="0"/>
          </a:p>
        </p:txBody>
      </p:sp>
      <p:sp>
        <p:nvSpPr>
          <p:cNvPr id="3" name="Content Placeholder 2"/>
          <p:cNvSpPr>
            <a:spLocks noGrp="1"/>
          </p:cNvSpPr>
          <p:nvPr>
            <p:ph idx="1"/>
          </p:nvPr>
        </p:nvSpPr>
        <p:spPr/>
        <p:txBody>
          <a:bodyPr/>
          <a:lstStyle/>
          <a:p>
            <a:r>
              <a:rPr lang="en-US" dirty="0" smtClean="0"/>
              <a:t>Structural Complexity </a:t>
            </a:r>
          </a:p>
          <a:p>
            <a:r>
              <a:rPr lang="en-US" dirty="0" smtClean="0"/>
              <a:t>Data Complexity</a:t>
            </a:r>
          </a:p>
          <a:p>
            <a:r>
              <a:rPr lang="en-US" dirty="0" smtClean="0"/>
              <a:t>System Complexity</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Structural Complexity </a:t>
            </a:r>
            <a:endParaRPr lang="en-US" dirty="0"/>
          </a:p>
        </p:txBody>
      </p:sp>
      <p:sp>
        <p:nvSpPr>
          <p:cNvPr id="3" name="Content Placeholder 2"/>
          <p:cNvSpPr>
            <a:spLocks noGrp="1"/>
          </p:cNvSpPr>
          <p:nvPr>
            <p:ph idx="1"/>
          </p:nvPr>
        </p:nvSpPr>
        <p:spPr/>
        <p:txBody>
          <a:bodyPr/>
          <a:lstStyle/>
          <a:p>
            <a:r>
              <a:rPr lang="en-US" dirty="0" smtClean="0"/>
              <a:t>Structural complexity depends upon fan-out for modules. It can be defined as :</a:t>
            </a:r>
            <a:br>
              <a:rPr lang="en-US" dirty="0" smtClean="0"/>
            </a:br>
            <a:r>
              <a:rPr lang="en-US" dirty="0" smtClean="0"/>
              <a:t/>
            </a:r>
            <a:br>
              <a:rPr lang="en-US" dirty="0" smtClean="0"/>
            </a:br>
            <a:r>
              <a:rPr lang="en-US" dirty="0" smtClean="0"/>
              <a:t>		S(k) = f</a:t>
            </a:r>
            <a:r>
              <a:rPr lang="en-US" baseline="30000" dirty="0" smtClean="0"/>
              <a:t>2</a:t>
            </a:r>
            <a:r>
              <a:rPr lang="en-US" baseline="-25000" dirty="0" smtClean="0"/>
              <a:t>out</a:t>
            </a:r>
            <a:r>
              <a:rPr lang="en-US" dirty="0" smtClean="0"/>
              <a:t>(k)</a:t>
            </a:r>
          </a:p>
          <a:p>
            <a:r>
              <a:rPr lang="en-US" dirty="0" smtClean="0"/>
              <a:t>Where </a:t>
            </a:r>
            <a:r>
              <a:rPr lang="en-US" b="1" dirty="0" err="1" smtClean="0"/>
              <a:t>f</a:t>
            </a:r>
            <a:r>
              <a:rPr lang="en-US" b="1" baseline="-25000" dirty="0" err="1" smtClean="0"/>
              <a:t>out</a:t>
            </a:r>
            <a:r>
              <a:rPr lang="en-US" dirty="0" smtClean="0"/>
              <a:t> represents </a:t>
            </a:r>
            <a:r>
              <a:rPr lang="en-US" dirty="0" err="1" smtClean="0"/>
              <a:t>fanout</a:t>
            </a:r>
            <a:r>
              <a:rPr lang="en-US" dirty="0" smtClean="0"/>
              <a:t> for module k (fan-out means number of modules that are subordinating module k).</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Data Complexity</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Data complexity is complexity within interface of internal module. </a:t>
            </a:r>
          </a:p>
          <a:p>
            <a:r>
              <a:rPr lang="en-US" dirty="0" smtClean="0"/>
              <a:t>It is size and intricacy of data. For some module k, it can be defined as</a:t>
            </a:r>
          </a:p>
          <a:p>
            <a:pPr>
              <a:buNone/>
            </a:pPr>
            <a:r>
              <a:rPr lang="en-US" dirty="0" smtClean="0"/>
              <a:t>		</a:t>
            </a:r>
          </a:p>
          <a:p>
            <a:pPr>
              <a:buNone/>
            </a:pPr>
            <a:r>
              <a:rPr lang="en-US" dirty="0" smtClean="0"/>
              <a:t>			D(k) = </a:t>
            </a:r>
            <a:r>
              <a:rPr lang="en-US" dirty="0" err="1" smtClean="0"/>
              <a:t>tot_var</a:t>
            </a:r>
            <a:r>
              <a:rPr lang="en-US" dirty="0" smtClean="0"/>
              <a:t>(k) / [</a:t>
            </a:r>
            <a:r>
              <a:rPr lang="en-US" dirty="0" err="1" smtClean="0"/>
              <a:t>f</a:t>
            </a:r>
            <a:r>
              <a:rPr lang="en-US" baseline="-25000" dirty="0" err="1" smtClean="0"/>
              <a:t>out</a:t>
            </a:r>
            <a:r>
              <a:rPr lang="en-US" dirty="0" smtClean="0"/>
              <a:t>(k)+1]</a:t>
            </a:r>
          </a:p>
          <a:p>
            <a:pPr>
              <a:buNone/>
            </a:pPr>
            <a:endParaRPr lang="en-US" dirty="0" smtClean="0"/>
          </a:p>
          <a:p>
            <a:pPr>
              <a:buNone/>
            </a:pPr>
            <a:r>
              <a:rPr lang="en-US" dirty="0" smtClean="0"/>
              <a:t>Where </a:t>
            </a:r>
            <a:r>
              <a:rPr lang="en-US" i="1" dirty="0" err="1" smtClean="0"/>
              <a:t>tot_var</a:t>
            </a:r>
            <a:r>
              <a:rPr lang="en-US" dirty="0" smtClean="0"/>
              <a:t> is total number of input and output variables going to and coming out of module.</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System Complexity</a:t>
            </a:r>
            <a:endParaRPr lang="en-US" dirty="0"/>
          </a:p>
        </p:txBody>
      </p:sp>
      <p:sp>
        <p:nvSpPr>
          <p:cNvPr id="3" name="Content Placeholder 2"/>
          <p:cNvSpPr>
            <a:spLocks noGrp="1"/>
          </p:cNvSpPr>
          <p:nvPr>
            <p:ph idx="1"/>
          </p:nvPr>
        </p:nvSpPr>
        <p:spPr/>
        <p:txBody>
          <a:bodyPr/>
          <a:lstStyle/>
          <a:p>
            <a:r>
              <a:rPr lang="en-US" dirty="0" smtClean="0"/>
              <a:t>System complexity is combination of structural and data complexity. It can be denoted as</a:t>
            </a:r>
          </a:p>
          <a:p>
            <a:endParaRPr lang="en-US" dirty="0" smtClean="0"/>
          </a:p>
          <a:p>
            <a:pPr>
              <a:buNone/>
            </a:pPr>
            <a:r>
              <a:rPr lang="en-US" dirty="0" smtClean="0"/>
              <a:t>				</a:t>
            </a:r>
            <a:r>
              <a:rPr lang="en-US" dirty="0" err="1" smtClean="0"/>
              <a:t>Sy</a:t>
            </a:r>
            <a:r>
              <a:rPr lang="en-US" dirty="0" smtClean="0"/>
              <a:t>(k) = S(k)+D(k)</a:t>
            </a:r>
          </a:p>
          <a:p>
            <a:pPr>
              <a:buNone/>
            </a:pPr>
            <a:endParaRPr lang="en-US" dirty="0" smtClean="0"/>
          </a:p>
          <a:p>
            <a:r>
              <a:rPr lang="en-US" dirty="0" smtClean="0"/>
              <a:t>When structural, data, and system complexity get increased, overall architectural complexity also gets increased.</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err="1" smtClean="0"/>
              <a:t>Cyclomatic</a:t>
            </a:r>
            <a:r>
              <a:rPr lang="en-US" dirty="0" smtClean="0"/>
              <a:t> Complexity</a:t>
            </a:r>
            <a:endParaRPr lang="en-US" dirty="0"/>
          </a:p>
        </p:txBody>
      </p:sp>
      <p:sp>
        <p:nvSpPr>
          <p:cNvPr id="3" name="Content Placeholder 2"/>
          <p:cNvSpPr>
            <a:spLocks noGrp="1"/>
          </p:cNvSpPr>
          <p:nvPr>
            <p:ph idx="1"/>
          </p:nvPr>
        </p:nvSpPr>
        <p:spPr/>
        <p:txBody>
          <a:bodyPr/>
          <a:lstStyle/>
          <a:p>
            <a:r>
              <a:rPr lang="en-US" dirty="0" smtClean="0"/>
              <a:t>The computation </a:t>
            </a:r>
            <a:r>
              <a:rPr lang="en-US" dirty="0" smtClean="0"/>
              <a:t>of</a:t>
            </a:r>
            <a:r>
              <a:rPr lang="en-US" dirty="0" smtClean="0"/>
              <a:t> </a:t>
            </a:r>
            <a:r>
              <a:rPr lang="en-US" dirty="0" err="1" smtClean="0"/>
              <a:t>Cyclomatic</a:t>
            </a:r>
            <a:r>
              <a:rPr lang="en-US" dirty="0" smtClean="0"/>
              <a:t> complexity can be done with help of a flow graph</a:t>
            </a:r>
          </a:p>
          <a:p>
            <a:pPr>
              <a:buNone/>
            </a:pPr>
            <a:r>
              <a:rPr lang="en-US" dirty="0" smtClean="0"/>
              <a:t>		</a:t>
            </a:r>
          </a:p>
          <a:p>
            <a:pPr>
              <a:buNone/>
            </a:pPr>
            <a:r>
              <a:rPr lang="en-US" dirty="0" smtClean="0"/>
              <a:t>		</a:t>
            </a:r>
            <a:r>
              <a:rPr lang="en-US" dirty="0" err="1" smtClean="0"/>
              <a:t>Cyclomatic</a:t>
            </a:r>
            <a:r>
              <a:rPr lang="en-US" dirty="0" smtClean="0"/>
              <a:t> complexity= E - N + 2 </a:t>
            </a:r>
          </a:p>
          <a:p>
            <a:pPr>
              <a:buNone/>
            </a:pPr>
            <a:endParaRPr lang="en-US" dirty="0" smtClean="0"/>
          </a:p>
          <a:p>
            <a:pPr>
              <a:buNone/>
            </a:pPr>
            <a:r>
              <a:rPr lang="en-US" dirty="0" smtClean="0"/>
              <a:t>Where, E is total number of edges and N is total number of nodes.</a:t>
            </a:r>
          </a:p>
          <a:p>
            <a:endParaRPr lang="en-US"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Lightbox"/>
          <p:cNvPicPr>
            <a:picLocks noChangeAspect="1" noChangeArrowheads="1"/>
          </p:cNvPicPr>
          <p:nvPr/>
        </p:nvPicPr>
        <p:blipFill>
          <a:blip r:embed="rId2"/>
          <a:srcRect/>
          <a:stretch>
            <a:fillRect/>
          </a:stretch>
        </p:blipFill>
        <p:spPr bwMode="auto">
          <a:xfrm>
            <a:off x="152400" y="457200"/>
            <a:ext cx="8839200" cy="5943600"/>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Given, E = 10, N = 8 </a:t>
            </a:r>
          </a:p>
          <a:p>
            <a:pPr>
              <a:buNone/>
            </a:pPr>
            <a:r>
              <a:rPr lang="en-US" dirty="0" smtClean="0"/>
              <a:t>So, </a:t>
            </a:r>
            <a:r>
              <a:rPr lang="en-US" dirty="0" err="1" smtClean="0"/>
              <a:t>Cyclomatic</a:t>
            </a:r>
            <a:r>
              <a:rPr lang="en-US" dirty="0" smtClean="0"/>
              <a:t> complexity = E - N + 2 </a:t>
            </a:r>
          </a:p>
          <a:p>
            <a:pPr>
              <a:buNone/>
            </a:pPr>
            <a:r>
              <a:rPr lang="en-US" dirty="0" smtClean="0"/>
              <a:t>					        = 10 – 8 + 2 = 4 </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Henry and </a:t>
            </a:r>
            <a:r>
              <a:rPr lang="en-US" dirty="0" err="1" smtClean="0"/>
              <a:t>Kafura</a:t>
            </a:r>
            <a:r>
              <a:rPr lang="en-US" dirty="0" smtClean="0"/>
              <a:t> Metric</a:t>
            </a:r>
            <a:endParaRPr lang="en-US" dirty="0"/>
          </a:p>
        </p:txBody>
      </p:sp>
      <p:sp>
        <p:nvSpPr>
          <p:cNvPr id="3" name="Content Placeholder 2"/>
          <p:cNvSpPr>
            <a:spLocks noGrp="1"/>
          </p:cNvSpPr>
          <p:nvPr>
            <p:ph idx="1"/>
          </p:nvPr>
        </p:nvSpPr>
        <p:spPr>
          <a:xfrm>
            <a:off x="457200" y="1143000"/>
            <a:ext cx="8229600" cy="4983163"/>
          </a:xfrm>
        </p:spPr>
        <p:txBody>
          <a:bodyPr>
            <a:normAutofit fontScale="92500" lnSpcReduction="10000"/>
          </a:bodyPr>
          <a:lstStyle/>
          <a:p>
            <a:pPr algn="just"/>
            <a:r>
              <a:rPr lang="en-US" dirty="0" smtClean="0"/>
              <a:t>An earlier </a:t>
            </a:r>
            <a:r>
              <a:rPr lang="en-US" dirty="0" smtClean="0">
                <a:solidFill>
                  <a:srgbClr val="FF0000"/>
                </a:solidFill>
              </a:rPr>
              <a:t>high-level architectural design </a:t>
            </a:r>
            <a:r>
              <a:rPr lang="en-US" dirty="0" smtClean="0"/>
              <a:t>metric proposed by Henry and </a:t>
            </a:r>
            <a:r>
              <a:rPr lang="en-US" dirty="0" err="1" smtClean="0"/>
              <a:t>Kafura</a:t>
            </a:r>
            <a:r>
              <a:rPr lang="en-US" dirty="0" smtClean="0"/>
              <a:t>  also makes use the </a:t>
            </a:r>
            <a:r>
              <a:rPr lang="en-US" dirty="0" smtClean="0">
                <a:solidFill>
                  <a:srgbClr val="FF0000"/>
                </a:solidFill>
              </a:rPr>
              <a:t>fan-in and fan-out, applicable to call and return architectures,</a:t>
            </a:r>
          </a:p>
          <a:p>
            <a:pPr algn="just">
              <a:buNone/>
            </a:pPr>
            <a:r>
              <a:rPr lang="en-US" dirty="0" smtClean="0"/>
              <a:t/>
            </a:r>
            <a:br>
              <a:rPr lang="en-US" dirty="0" smtClean="0"/>
            </a:br>
            <a:r>
              <a:rPr lang="en-US" b="1" dirty="0" smtClean="0"/>
              <a:t>         HKM = length(</a:t>
            </a:r>
            <a:r>
              <a:rPr lang="en-US" b="1" dirty="0" err="1" smtClean="0"/>
              <a:t>i</a:t>
            </a:r>
            <a:r>
              <a:rPr lang="en-US" b="1" dirty="0" smtClean="0"/>
              <a:t>)  x [ fin(</a:t>
            </a:r>
            <a:r>
              <a:rPr lang="en-US" b="1" dirty="0" err="1" smtClean="0"/>
              <a:t>i</a:t>
            </a:r>
            <a:r>
              <a:rPr lang="en-US" b="1" dirty="0" smtClean="0"/>
              <a:t>) + </a:t>
            </a:r>
            <a:r>
              <a:rPr lang="en-US" b="1" dirty="0" err="1" smtClean="0"/>
              <a:t>fout</a:t>
            </a:r>
            <a:r>
              <a:rPr lang="en-US" b="1" dirty="0" smtClean="0"/>
              <a:t>(</a:t>
            </a:r>
            <a:r>
              <a:rPr lang="en-US" b="1" dirty="0" err="1" smtClean="0"/>
              <a:t>i</a:t>
            </a:r>
            <a:r>
              <a:rPr lang="en-US" b="1" dirty="0" smtClean="0"/>
              <a:t>)]2 </a:t>
            </a:r>
          </a:p>
          <a:p>
            <a:pPr algn="just">
              <a:buNone/>
            </a:pPr>
            <a:endParaRPr lang="en-US" dirty="0" smtClean="0"/>
          </a:p>
          <a:p>
            <a:pPr algn="just">
              <a:buNone/>
            </a:pPr>
            <a:r>
              <a:rPr lang="en-US" dirty="0" smtClean="0"/>
              <a:t>where length(</a:t>
            </a:r>
            <a:r>
              <a:rPr lang="en-US" dirty="0" err="1" smtClean="0"/>
              <a:t>i</a:t>
            </a:r>
            <a:r>
              <a:rPr lang="en-US" dirty="0" smtClean="0"/>
              <a:t>) is the number of programming language statements in a module </a:t>
            </a:r>
            <a:r>
              <a:rPr lang="en-US" dirty="0" err="1" smtClean="0"/>
              <a:t>i</a:t>
            </a:r>
            <a:r>
              <a:rPr lang="en-US" dirty="0" smtClean="0"/>
              <a:t> </a:t>
            </a:r>
          </a:p>
          <a:p>
            <a:pPr algn="just">
              <a:buNone/>
            </a:pPr>
            <a:r>
              <a:rPr lang="en-US" dirty="0" smtClean="0"/>
              <a:t>		fin(</a:t>
            </a:r>
            <a:r>
              <a:rPr lang="en-US" dirty="0" err="1" smtClean="0"/>
              <a:t>i</a:t>
            </a:r>
            <a:r>
              <a:rPr lang="en-US" dirty="0" smtClean="0"/>
              <a:t>) is the fan-in of a module </a:t>
            </a:r>
            <a:r>
              <a:rPr lang="en-US" dirty="0" err="1" smtClean="0"/>
              <a:t>i</a:t>
            </a:r>
            <a:endParaRPr lang="en-US" dirty="0" smtClean="0"/>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Fenton Metrics</a:t>
            </a:r>
            <a:endParaRPr lang="en-US" dirty="0"/>
          </a:p>
        </p:txBody>
      </p:sp>
      <p:sp>
        <p:nvSpPr>
          <p:cNvPr id="3" name="Content Placeholder 2"/>
          <p:cNvSpPr>
            <a:spLocks noGrp="1"/>
          </p:cNvSpPr>
          <p:nvPr>
            <p:ph idx="1"/>
          </p:nvPr>
        </p:nvSpPr>
        <p:spPr>
          <a:xfrm>
            <a:off x="457200" y="1066800"/>
            <a:ext cx="8229600" cy="5059363"/>
          </a:xfrm>
        </p:spPr>
        <p:txBody>
          <a:bodyPr/>
          <a:lstStyle/>
          <a:p>
            <a:pPr algn="just"/>
            <a:r>
              <a:rPr lang="en-US" dirty="0" smtClean="0"/>
              <a:t>Fenton suggests a </a:t>
            </a:r>
            <a:r>
              <a:rPr lang="en-US" dirty="0" smtClean="0">
                <a:solidFill>
                  <a:srgbClr val="FF0000"/>
                </a:solidFill>
              </a:rPr>
              <a:t>simple shape metrics </a:t>
            </a:r>
            <a:r>
              <a:rPr lang="en-US" dirty="0" smtClean="0"/>
              <a:t>that enable different program architectures to be compared using a set of straightforward dimensions.</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31746" name="Picture 2" descr="https://4.bp.blogspot.com/-k-wYvBbeRJY/T79Ch17TGyI/AAAAAAAAAZ8/rUH0sfkiL4g/s1600/Capture.PNG"/>
          <p:cNvPicPr>
            <a:picLocks noChangeAspect="1" noChangeArrowheads="1"/>
          </p:cNvPicPr>
          <p:nvPr/>
        </p:nvPicPr>
        <p:blipFill>
          <a:blip r:embed="rId2"/>
          <a:srcRect/>
          <a:stretch>
            <a:fillRect/>
          </a:stretch>
        </p:blipFill>
        <p:spPr bwMode="auto">
          <a:xfrm>
            <a:off x="381000" y="457200"/>
            <a:ext cx="8382000" cy="5791200"/>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5029200"/>
          </a:xfrm>
        </p:spPr>
        <p:txBody>
          <a:bodyPr>
            <a:normAutofit/>
          </a:bodyPr>
          <a:lstStyle/>
          <a:p>
            <a:r>
              <a:rPr lang="en-US" b="1" dirty="0" smtClean="0"/>
              <a:t>size = n + a</a:t>
            </a:r>
            <a:endParaRPr lang="en-US" dirty="0" smtClean="0"/>
          </a:p>
          <a:p>
            <a:pPr>
              <a:buNone/>
            </a:pPr>
            <a:r>
              <a:rPr lang="en-US" dirty="0" smtClean="0"/>
              <a:t>where n is the number of nodes and a is the number of arcs</a:t>
            </a:r>
          </a:p>
          <a:p>
            <a:r>
              <a:rPr lang="en-US" i="1" dirty="0" smtClean="0"/>
              <a:t>depth = the longest path from the root (top) node to a leaf node</a:t>
            </a:r>
          </a:p>
          <a:p>
            <a:r>
              <a:rPr lang="en-US" i="1" dirty="0" smtClean="0"/>
              <a:t>width = maximum number of nodes at any one level of the architecture</a:t>
            </a:r>
          </a:p>
          <a:p>
            <a:r>
              <a:rPr lang="en-US" i="1" dirty="0" smtClean="0"/>
              <a:t>arc-to-node ratio, r = a/n, </a:t>
            </a:r>
            <a:r>
              <a:rPr lang="en-US" dirty="0" smtClean="0"/>
              <a:t/>
            </a:r>
            <a:br>
              <a:rPr lang="en-US" dirty="0" smtClean="0"/>
            </a:br>
            <a:endParaRPr lang="en-US" dirty="0" smtClean="0"/>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DSQI</a:t>
            </a:r>
            <a:endParaRPr lang="en-US" dirty="0"/>
          </a:p>
        </p:txBody>
      </p:sp>
      <p:sp>
        <p:nvSpPr>
          <p:cNvPr id="3" name="Content Placeholder 2"/>
          <p:cNvSpPr>
            <a:spLocks noGrp="1"/>
          </p:cNvSpPr>
          <p:nvPr>
            <p:ph idx="1"/>
          </p:nvPr>
        </p:nvSpPr>
        <p:spPr>
          <a:xfrm>
            <a:off x="457200" y="990600"/>
            <a:ext cx="8229600" cy="5486400"/>
          </a:xfrm>
        </p:spPr>
        <p:txBody>
          <a:bodyPr>
            <a:normAutofit fontScale="47500" lnSpcReduction="20000"/>
          </a:bodyPr>
          <a:lstStyle/>
          <a:p>
            <a:pPr algn="just"/>
            <a:r>
              <a:rPr lang="en-US" sz="3600" dirty="0" smtClean="0"/>
              <a:t>The U.S. Air Force Systems Command  has developed a IEEE Std. 982.1-1988 , the Air Force uses </a:t>
            </a:r>
            <a:r>
              <a:rPr lang="en-US" sz="3600" b="1" dirty="0" smtClean="0">
                <a:solidFill>
                  <a:srgbClr val="FF0000"/>
                </a:solidFill>
              </a:rPr>
              <a:t>Design Structure Quality Index (</a:t>
            </a:r>
            <a:r>
              <a:rPr lang="en-US" sz="3600" b="1" dirty="0" smtClean="0">
                <a:solidFill>
                  <a:srgbClr val="FF0000"/>
                </a:solidFill>
              </a:rPr>
              <a:t>DSQI) </a:t>
            </a:r>
            <a:r>
              <a:rPr lang="en-US" sz="3600" dirty="0" smtClean="0"/>
              <a:t>that ranges from 0 to 1. The following values must be ascertained to compute the DSQI :</a:t>
            </a:r>
          </a:p>
          <a:p>
            <a:pPr>
              <a:buNone/>
            </a:pPr>
            <a:r>
              <a:rPr lang="en-US" sz="3600" dirty="0" smtClean="0"/>
              <a:t/>
            </a:r>
            <a:br>
              <a:rPr lang="en-US" sz="3600" dirty="0" smtClean="0"/>
            </a:br>
            <a:r>
              <a:rPr lang="en-US" sz="5100" b="1" dirty="0" smtClean="0"/>
              <a:t>S1 </a:t>
            </a:r>
            <a:r>
              <a:rPr lang="en-US" sz="5100" dirty="0" smtClean="0"/>
              <a:t>= the total number of modules defined in the program architecture.</a:t>
            </a:r>
            <a:br>
              <a:rPr lang="en-US" sz="5100" dirty="0" smtClean="0"/>
            </a:br>
            <a:r>
              <a:rPr lang="en-US" sz="5100" b="1" dirty="0" smtClean="0"/>
              <a:t>S2 </a:t>
            </a:r>
            <a:r>
              <a:rPr lang="en-US" sz="5100" dirty="0" smtClean="0"/>
              <a:t>= the number of modules whose correct function depends on the source of data input or that produce data to be used elsewhere</a:t>
            </a:r>
          </a:p>
          <a:p>
            <a:pPr>
              <a:buNone/>
            </a:pPr>
            <a:r>
              <a:rPr lang="en-US" sz="5100" b="1" dirty="0" smtClean="0"/>
              <a:t>	S3</a:t>
            </a:r>
            <a:r>
              <a:rPr lang="en-US" sz="5100" dirty="0" smtClean="0"/>
              <a:t> = the number of modules whose correct function depends on prior processing.</a:t>
            </a:r>
            <a:br>
              <a:rPr lang="en-US" sz="5100" dirty="0" smtClean="0"/>
            </a:br>
            <a:r>
              <a:rPr lang="en-US" sz="5100" b="1" dirty="0" smtClean="0"/>
              <a:t>S4</a:t>
            </a:r>
            <a:r>
              <a:rPr lang="en-US" sz="5100" dirty="0" smtClean="0"/>
              <a:t> = the number of database items (includes data objects and all attributes that define objects).</a:t>
            </a:r>
            <a:br>
              <a:rPr lang="en-US" sz="5100" dirty="0" smtClean="0"/>
            </a:br>
            <a:r>
              <a:rPr lang="en-US" sz="5100" b="1" dirty="0" smtClean="0"/>
              <a:t>S5</a:t>
            </a:r>
            <a:r>
              <a:rPr lang="en-US" sz="5100" dirty="0" smtClean="0"/>
              <a:t> = the total number of unique database items.</a:t>
            </a:r>
            <a:br>
              <a:rPr lang="en-US" sz="5100" dirty="0" smtClean="0"/>
            </a:br>
            <a:r>
              <a:rPr lang="en-US" sz="5100" b="1" dirty="0" smtClean="0"/>
              <a:t>S6</a:t>
            </a:r>
            <a:r>
              <a:rPr lang="en-US" sz="5100" dirty="0" smtClean="0"/>
              <a:t> = the number of database segments (different records or individual objects).</a:t>
            </a:r>
            <a:br>
              <a:rPr lang="en-US" sz="5100" dirty="0" smtClean="0"/>
            </a:br>
            <a:r>
              <a:rPr lang="en-US" sz="5100" b="1" dirty="0" smtClean="0"/>
              <a:t>S7</a:t>
            </a:r>
            <a:r>
              <a:rPr lang="en-US" sz="5100" dirty="0" smtClean="0"/>
              <a:t> = the number of modules with a single entry and exit</a:t>
            </a:r>
          </a:p>
          <a:p>
            <a:pPr>
              <a:buNone/>
            </a:pPr>
            <a:r>
              <a:rPr lang="en-US" sz="3600" dirty="0" smtClean="0"/>
              <a:t/>
            </a:r>
            <a:br>
              <a:rPr lang="en-US" sz="3600" dirty="0" smtClean="0"/>
            </a:b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96000"/>
          </a:xfrm>
        </p:spPr>
        <p:txBody>
          <a:bodyPr>
            <a:normAutofit fontScale="25000" lnSpcReduction="20000"/>
          </a:bodyPr>
          <a:lstStyle/>
          <a:p>
            <a:pPr algn="just"/>
            <a:r>
              <a:rPr lang="en-US" sz="10400" dirty="0" smtClean="0"/>
              <a:t>Once values S1 through S7 are determined for a computer program, the following intermediate values can be computed:</a:t>
            </a:r>
          </a:p>
          <a:p>
            <a:pPr algn="just"/>
            <a:r>
              <a:rPr lang="en-US" sz="10400" dirty="0" smtClean="0"/>
              <a:t/>
            </a:r>
            <a:br>
              <a:rPr lang="en-US" sz="10400" dirty="0" smtClean="0"/>
            </a:br>
            <a:r>
              <a:rPr lang="en-US" sz="10400" b="1" dirty="0" smtClean="0"/>
              <a:t>Program structure:</a:t>
            </a:r>
            <a:r>
              <a:rPr lang="en-US" sz="10400" dirty="0" smtClean="0"/>
              <a:t> D1, where D1 is defined as follows: If the architectural design was developed using a distinct method (e.g., data flow-oriented design or object-oriented design), then D1 = 1, otherwise D1 = 0.</a:t>
            </a:r>
            <a:br>
              <a:rPr lang="en-US" sz="10400" dirty="0" smtClean="0"/>
            </a:br>
            <a:endParaRPr lang="en-US" sz="10400" dirty="0" smtClean="0"/>
          </a:p>
          <a:p>
            <a:pPr algn="just"/>
            <a:endParaRPr lang="en-US" sz="10400" dirty="0" smtClean="0"/>
          </a:p>
          <a:p>
            <a:r>
              <a:rPr lang="en-US" sz="9600" b="1" dirty="0" smtClean="0"/>
              <a:t>Module independence</a:t>
            </a:r>
            <a:r>
              <a:rPr lang="en-US" sz="9600" dirty="0" smtClean="0"/>
              <a:t>: D2 = 1 (S2/S1)</a:t>
            </a:r>
            <a:br>
              <a:rPr lang="en-US" sz="9600" dirty="0" smtClean="0"/>
            </a:br>
            <a:r>
              <a:rPr lang="en-US" sz="9600" b="1" dirty="0" smtClean="0"/>
              <a:t>Modules not dependent on prior processing</a:t>
            </a:r>
            <a:r>
              <a:rPr lang="en-US" sz="9600" dirty="0" smtClean="0"/>
              <a:t>: D3 = 1 (S3/S1)</a:t>
            </a:r>
            <a:br>
              <a:rPr lang="en-US" sz="9600" dirty="0" smtClean="0"/>
            </a:br>
            <a:r>
              <a:rPr lang="en-US" sz="9600" b="1" dirty="0" smtClean="0"/>
              <a:t>Database size:</a:t>
            </a:r>
            <a:r>
              <a:rPr lang="en-US" sz="9600" dirty="0" smtClean="0"/>
              <a:t> D4 = 1 (S5/S4)</a:t>
            </a:r>
            <a:br>
              <a:rPr lang="en-US" sz="9600" dirty="0" smtClean="0"/>
            </a:br>
            <a:r>
              <a:rPr lang="en-US" sz="9600" b="1" dirty="0" smtClean="0"/>
              <a:t>Database compartmentalization:</a:t>
            </a:r>
            <a:r>
              <a:rPr lang="en-US" sz="9600" dirty="0" smtClean="0"/>
              <a:t> D5 = 1 (S6/S4)</a:t>
            </a:r>
            <a:br>
              <a:rPr lang="en-US" sz="9600" dirty="0" smtClean="0"/>
            </a:br>
            <a:r>
              <a:rPr lang="en-US" sz="9600" b="1" dirty="0" smtClean="0"/>
              <a:t>Module entrance/exit characteristic</a:t>
            </a:r>
            <a:r>
              <a:rPr lang="en-US" sz="9600" dirty="0" smtClean="0"/>
              <a:t>: D6 = 1 (S7/S1)</a:t>
            </a:r>
          </a:p>
          <a:p>
            <a:pPr>
              <a:buNone/>
            </a:pPr>
            <a:r>
              <a:rPr lang="en-US" sz="5100" dirty="0" smtClean="0"/>
              <a:t/>
            </a:r>
            <a:br>
              <a:rPr lang="en-US" sz="5100" dirty="0" smtClean="0"/>
            </a:br>
            <a:endParaRPr lang="en-US" dirty="0" smtClean="0"/>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pPr algn="just">
              <a:buNone/>
            </a:pPr>
            <a:r>
              <a:rPr lang="en-US" dirty="0" smtClean="0"/>
              <a:t>With these intermediate values determined, the DSQI is computed in the following manner:</a:t>
            </a:r>
          </a:p>
          <a:p>
            <a:pPr algn="just">
              <a:buNone/>
            </a:pPr>
            <a:r>
              <a:rPr lang="en-US" dirty="0" smtClean="0"/>
              <a:t/>
            </a:r>
            <a:br>
              <a:rPr lang="en-US" dirty="0" smtClean="0"/>
            </a:br>
            <a:r>
              <a:rPr lang="en-US" b="1" dirty="0" smtClean="0"/>
              <a:t>         DSQI = </a:t>
            </a:r>
            <a:r>
              <a:rPr lang="en-US" b="1" dirty="0" err="1" smtClean="0"/>
              <a:t>wiDi</a:t>
            </a:r>
            <a:endParaRPr lang="en-US" b="1" dirty="0" smtClean="0"/>
          </a:p>
          <a:p>
            <a:pPr algn="just">
              <a:buNone/>
            </a:pPr>
            <a:endParaRPr lang="en-US" dirty="0" smtClean="0"/>
          </a:p>
          <a:p>
            <a:pPr algn="just"/>
            <a:r>
              <a:rPr lang="en-US" dirty="0" smtClean="0"/>
              <a:t>where </a:t>
            </a:r>
            <a:r>
              <a:rPr lang="en-US" dirty="0" err="1" smtClean="0"/>
              <a:t>i</a:t>
            </a:r>
            <a:r>
              <a:rPr lang="en-US" dirty="0" smtClean="0"/>
              <a:t> = 1 to 6, </a:t>
            </a:r>
            <a:r>
              <a:rPr lang="en-US" dirty="0" err="1" smtClean="0"/>
              <a:t>wi</a:t>
            </a:r>
            <a:r>
              <a:rPr lang="en-US" dirty="0" smtClean="0"/>
              <a:t> is the relative weighting of the importance of each of the intermediate values, and </a:t>
            </a:r>
            <a:r>
              <a:rPr lang="en-US" dirty="0" err="1" smtClean="0"/>
              <a:t>wi</a:t>
            </a:r>
            <a:r>
              <a:rPr lang="en-US" dirty="0" smtClean="0"/>
              <a:t> = 1 (if all Di are weighted equally, then </a:t>
            </a:r>
            <a:r>
              <a:rPr lang="en-US" dirty="0" err="1" smtClean="0"/>
              <a:t>wi</a:t>
            </a:r>
            <a:r>
              <a:rPr lang="en-US" dirty="0" smtClean="0"/>
              <a:t> = 0.167).</a:t>
            </a:r>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US" dirty="0" smtClean="0"/>
              <a:t>Metrics for Component-level Design</a:t>
            </a:r>
            <a:endParaRPr lang="en-US" dirty="0"/>
          </a:p>
        </p:txBody>
      </p:sp>
      <p:sp>
        <p:nvSpPr>
          <p:cNvPr id="3" name="Content Placeholder 2"/>
          <p:cNvSpPr>
            <a:spLocks noGrp="1"/>
          </p:cNvSpPr>
          <p:nvPr>
            <p:ph idx="1"/>
          </p:nvPr>
        </p:nvSpPr>
        <p:spPr>
          <a:xfrm>
            <a:off x="457200" y="990600"/>
            <a:ext cx="8229600" cy="5562600"/>
          </a:xfrm>
        </p:spPr>
        <p:txBody>
          <a:bodyPr>
            <a:normAutofit fontScale="85000" lnSpcReduction="20000"/>
          </a:bodyPr>
          <a:lstStyle/>
          <a:p>
            <a:pPr algn="just"/>
            <a:r>
              <a:rPr lang="en-US" b="1" dirty="0" smtClean="0"/>
              <a:t>Cohesion metrics:</a:t>
            </a:r>
            <a:r>
              <a:rPr lang="en-US" dirty="0" smtClean="0"/>
              <a:t> Cohesiveness of a module can be indicated by the definitions of the following five concepts and measures.</a:t>
            </a:r>
          </a:p>
          <a:p>
            <a:pPr algn="just"/>
            <a:r>
              <a:rPr lang="en-US" b="1" dirty="0" smtClean="0"/>
              <a:t>Data slice:</a:t>
            </a:r>
            <a:r>
              <a:rPr lang="en-US" dirty="0" smtClean="0"/>
              <a:t> Defined as a backward walk through a module, which looks for values of data that affect the state of the module as the walk starts</a:t>
            </a:r>
          </a:p>
          <a:p>
            <a:pPr algn="just"/>
            <a:r>
              <a:rPr lang="en-US" b="1" dirty="0" smtClean="0"/>
              <a:t>Data tokens:</a:t>
            </a:r>
            <a:r>
              <a:rPr lang="en-US" dirty="0" smtClean="0"/>
              <a:t> Defined as a set of variables defined for a module</a:t>
            </a:r>
          </a:p>
          <a:p>
            <a:pPr algn="just"/>
            <a:r>
              <a:rPr lang="en-US" b="1" dirty="0" smtClean="0"/>
              <a:t>Glue tokens:</a:t>
            </a:r>
            <a:r>
              <a:rPr lang="en-US" dirty="0" smtClean="0"/>
              <a:t> Defined as a set of data tokens, which lies on one or more data slice</a:t>
            </a:r>
          </a:p>
          <a:p>
            <a:pPr algn="just"/>
            <a:r>
              <a:rPr lang="en-US" b="1" dirty="0" smtClean="0"/>
              <a:t>Superglue tokens:</a:t>
            </a:r>
            <a:r>
              <a:rPr lang="en-US" dirty="0" smtClean="0"/>
              <a:t> Defined as tokens, which are present in every data slice in the module</a:t>
            </a:r>
          </a:p>
          <a:p>
            <a:pPr algn="just"/>
            <a:r>
              <a:rPr lang="en-US" b="1" dirty="0" smtClean="0"/>
              <a:t>Stickiness:</a:t>
            </a:r>
            <a:r>
              <a:rPr lang="en-US" dirty="0" smtClean="0"/>
              <a:t> Defined as the stickiness of the glue token, which depends on the number of data slices that it binds.</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normAutofit fontScale="47500" lnSpcReduction="20000"/>
          </a:bodyPr>
          <a:lstStyle/>
          <a:p>
            <a:pPr marL="0" indent="0" algn="just">
              <a:buNone/>
            </a:pPr>
            <a:r>
              <a:rPr lang="en-US" sz="4200" b="1" dirty="0" smtClean="0"/>
              <a:t>Coupling Metrics:</a:t>
            </a:r>
            <a:r>
              <a:rPr lang="en-US" sz="4200" dirty="0" smtClean="0"/>
              <a:t> This metric indicates the degree to which a module is connected to other modules, global data and the outside environment. A metric for module coupling has been proposed, which includes </a:t>
            </a:r>
            <a:r>
              <a:rPr lang="en-US" sz="4200" b="1" dirty="0" smtClean="0"/>
              <a:t>data and control flow coupling, global coupling, and environmental coupling.</a:t>
            </a:r>
          </a:p>
          <a:p>
            <a:endParaRPr lang="en-US" sz="4200" dirty="0" smtClean="0"/>
          </a:p>
          <a:p>
            <a:r>
              <a:rPr lang="en-US" sz="4200" dirty="0" err="1" smtClean="0"/>
              <a:t>d</a:t>
            </a:r>
            <a:r>
              <a:rPr lang="en-US" sz="4200" baseline="-25000" dirty="0" err="1" smtClean="0"/>
              <a:t>i</a:t>
            </a:r>
            <a:r>
              <a:rPr lang="en-US" sz="4200" baseline="-25000" dirty="0" smtClean="0"/>
              <a:t> </a:t>
            </a:r>
            <a:r>
              <a:rPr lang="en-US" sz="4200" dirty="0" smtClean="0"/>
              <a:t>= total number of input data parameters</a:t>
            </a:r>
          </a:p>
          <a:p>
            <a:r>
              <a:rPr lang="en-US" sz="4200" dirty="0" err="1" smtClean="0"/>
              <a:t>c</a:t>
            </a:r>
            <a:r>
              <a:rPr lang="en-US" sz="4200" baseline="-25000" dirty="0" err="1" smtClean="0"/>
              <a:t>i</a:t>
            </a:r>
            <a:r>
              <a:rPr lang="en-US" sz="4200" baseline="-25000" dirty="0" smtClean="0"/>
              <a:t> </a:t>
            </a:r>
            <a:r>
              <a:rPr lang="en-US" sz="4200" dirty="0" smtClean="0"/>
              <a:t>= total number of input control parameters</a:t>
            </a:r>
          </a:p>
          <a:p>
            <a:r>
              <a:rPr lang="en-US" sz="4200" dirty="0" smtClean="0"/>
              <a:t>d</a:t>
            </a:r>
            <a:r>
              <a:rPr lang="en-US" sz="4200" baseline="-25000" dirty="0" smtClean="0"/>
              <a:t>o</a:t>
            </a:r>
            <a:r>
              <a:rPr lang="en-US" sz="4200" dirty="0" smtClean="0"/>
              <a:t>= total number of output data parameters</a:t>
            </a:r>
          </a:p>
          <a:p>
            <a:r>
              <a:rPr lang="en-US" sz="4200" dirty="0" smtClean="0"/>
              <a:t>c</a:t>
            </a:r>
            <a:r>
              <a:rPr lang="en-US" sz="4200" baseline="-25000" dirty="0" smtClean="0"/>
              <a:t>o</a:t>
            </a:r>
            <a:r>
              <a:rPr lang="en-US" sz="4200" dirty="0" smtClean="0"/>
              <a:t>= total number of output control parameters</a:t>
            </a:r>
          </a:p>
          <a:p>
            <a:endParaRPr lang="en-US" sz="4200" dirty="0" smtClean="0"/>
          </a:p>
          <a:p>
            <a:pPr algn="ctr">
              <a:buNone/>
            </a:pPr>
            <a:r>
              <a:rPr lang="en-US" sz="4200" b="1" dirty="0" smtClean="0"/>
              <a:t>		Measures for global coupling</a:t>
            </a:r>
          </a:p>
          <a:p>
            <a:pPr algn="ctr">
              <a:buNone/>
            </a:pPr>
            <a:endParaRPr lang="en-US" sz="4200" b="1" dirty="0" smtClean="0"/>
          </a:p>
          <a:p>
            <a:r>
              <a:rPr lang="en-US" sz="4200" dirty="0" err="1" smtClean="0"/>
              <a:t>g</a:t>
            </a:r>
            <a:r>
              <a:rPr lang="en-US" sz="4200" baseline="-25000" dirty="0" err="1" smtClean="0"/>
              <a:t>d</a:t>
            </a:r>
            <a:r>
              <a:rPr lang="en-US" sz="4200" dirty="0" smtClean="0"/>
              <a:t>= number of global variables utilized as data</a:t>
            </a:r>
          </a:p>
          <a:p>
            <a:r>
              <a:rPr lang="en-US" sz="4200" dirty="0" err="1" smtClean="0"/>
              <a:t>g</a:t>
            </a:r>
            <a:r>
              <a:rPr lang="en-US" sz="4200" baseline="-25000" dirty="0" err="1" smtClean="0"/>
              <a:t>c</a:t>
            </a:r>
            <a:r>
              <a:rPr lang="en-US" sz="4200" dirty="0" smtClean="0"/>
              <a:t> = number of global variables utilized as control</a:t>
            </a:r>
          </a:p>
          <a:p>
            <a:endParaRPr lang="en-US" sz="4200" dirty="0" smtClean="0"/>
          </a:p>
          <a:p>
            <a:pPr algn="ctr">
              <a:buNone/>
            </a:pPr>
            <a:r>
              <a:rPr lang="en-US" sz="4200" b="1" dirty="0" smtClean="0"/>
              <a:t>	Measures for environmental coupling</a:t>
            </a:r>
          </a:p>
          <a:p>
            <a:pPr algn="ctr">
              <a:buNone/>
            </a:pPr>
            <a:endParaRPr lang="en-US" sz="4200" b="1" dirty="0" smtClean="0"/>
          </a:p>
          <a:p>
            <a:r>
              <a:rPr lang="en-US" sz="4200" dirty="0" smtClean="0"/>
              <a:t>w = number of modules called</a:t>
            </a:r>
          </a:p>
          <a:p>
            <a:r>
              <a:rPr lang="en-US" sz="4200" dirty="0" smtClean="0"/>
              <a:t>r = number of modules calling the modules under consideration</a:t>
            </a:r>
            <a:r>
              <a:rPr lang="en-US" dirty="0" smtClean="0"/>
              <a:t/>
            </a:r>
            <a:br>
              <a:rPr lang="en-US" dirty="0" smtClean="0"/>
            </a:b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smtClean="0"/>
              <a:t>By using the above mentioned measures, module-coupling indicator (m</a:t>
            </a:r>
            <a:r>
              <a:rPr lang="en-US" baseline="-25000" dirty="0" smtClean="0"/>
              <a:t>c</a:t>
            </a:r>
            <a:r>
              <a:rPr lang="en-US" dirty="0" smtClean="0"/>
              <a:t>) is calculated by using the following equation.</a:t>
            </a:r>
          </a:p>
          <a:p>
            <a:pPr>
              <a:buNone/>
            </a:pPr>
            <a:endParaRPr lang="en-US" sz="6600" dirty="0" smtClean="0"/>
          </a:p>
          <a:p>
            <a:pPr>
              <a:buNone/>
            </a:pPr>
            <a:r>
              <a:rPr lang="en-US" dirty="0" smtClean="0"/>
              <a:t>			m</a:t>
            </a:r>
            <a:r>
              <a:rPr lang="en-US" baseline="-25000" dirty="0" smtClean="0"/>
              <a:t>c</a:t>
            </a:r>
            <a:r>
              <a:rPr lang="en-US" dirty="0" smtClean="0"/>
              <a:t> = K/M</a:t>
            </a:r>
            <a:endParaRPr lang="en-US" sz="6600" dirty="0" smtClean="0"/>
          </a:p>
          <a:p>
            <a:endParaRPr lang="en-US" dirty="0" smtClean="0"/>
          </a:p>
          <a:p>
            <a:pPr>
              <a:buNone/>
            </a:pPr>
            <a:r>
              <a:rPr lang="en-US" dirty="0" smtClean="0"/>
              <a:t>K = proportionality constant</a:t>
            </a:r>
            <a:endParaRPr lang="en-US" sz="6600" dirty="0" smtClean="0"/>
          </a:p>
          <a:p>
            <a:pPr>
              <a:buNone/>
            </a:pPr>
            <a:r>
              <a:rPr lang="en-US" dirty="0" smtClean="0"/>
              <a:t>M = </a:t>
            </a:r>
            <a:r>
              <a:rPr lang="en-US" dirty="0" err="1" smtClean="0"/>
              <a:t>d</a:t>
            </a:r>
            <a:r>
              <a:rPr lang="en-US" baseline="-25000" dirty="0" err="1" smtClean="0"/>
              <a:t>i</a:t>
            </a:r>
            <a:r>
              <a:rPr lang="en-US" dirty="0" smtClean="0"/>
              <a:t> + (a*</a:t>
            </a:r>
            <a:r>
              <a:rPr lang="en-US" dirty="0" err="1" smtClean="0"/>
              <a:t>c</a:t>
            </a:r>
            <a:r>
              <a:rPr lang="en-US" baseline="-25000" dirty="0" err="1" smtClean="0"/>
              <a:t>i</a:t>
            </a:r>
            <a:r>
              <a:rPr lang="en-US" dirty="0" smtClean="0"/>
              <a:t>) + d</a:t>
            </a:r>
            <a:r>
              <a:rPr lang="en-US" baseline="-25000" dirty="0" smtClean="0"/>
              <a:t>o</a:t>
            </a:r>
            <a:r>
              <a:rPr lang="en-US" dirty="0" smtClean="0"/>
              <a:t>+ (b*c</a:t>
            </a:r>
            <a:r>
              <a:rPr lang="en-US" baseline="-25000" dirty="0" smtClean="0"/>
              <a:t>o</a:t>
            </a:r>
            <a:r>
              <a:rPr lang="en-US" dirty="0" smtClean="0"/>
              <a:t>)+ </a:t>
            </a:r>
            <a:r>
              <a:rPr lang="en-US" dirty="0" err="1" smtClean="0"/>
              <a:t>g</a:t>
            </a:r>
            <a:r>
              <a:rPr lang="en-US" baseline="-25000" dirty="0" err="1" smtClean="0"/>
              <a:t>d</a:t>
            </a:r>
            <a:r>
              <a:rPr lang="en-US" dirty="0" smtClean="0"/>
              <a:t>+ (c*</a:t>
            </a:r>
            <a:r>
              <a:rPr lang="en-US" dirty="0" err="1" smtClean="0"/>
              <a:t>g</a:t>
            </a:r>
            <a:r>
              <a:rPr lang="en-US" baseline="-25000" dirty="0" err="1" smtClean="0"/>
              <a:t>c</a:t>
            </a:r>
            <a:r>
              <a:rPr lang="en-US" dirty="0" smtClean="0"/>
              <a:t>) + w + r.</a:t>
            </a:r>
            <a:endParaRPr lang="en-US" sz="6600" dirty="0" smtClean="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US" b="1" dirty="0" smtClean="0"/>
              <a:t>Metrics for Object-Oriented Design</a:t>
            </a:r>
            <a:endParaRPr lang="en-US" dirty="0"/>
          </a:p>
        </p:txBody>
      </p:sp>
      <p:sp>
        <p:nvSpPr>
          <p:cNvPr id="3" name="Content Placeholder 2"/>
          <p:cNvSpPr>
            <a:spLocks noGrp="1"/>
          </p:cNvSpPr>
          <p:nvPr>
            <p:ph idx="1"/>
          </p:nvPr>
        </p:nvSpPr>
        <p:spPr>
          <a:xfrm>
            <a:off x="457200" y="1219200"/>
            <a:ext cx="8229600" cy="5334000"/>
          </a:xfrm>
        </p:spPr>
        <p:txBody>
          <a:bodyPr>
            <a:normAutofit lnSpcReduction="10000"/>
          </a:bodyPr>
          <a:lstStyle/>
          <a:p>
            <a:pPr algn="just"/>
            <a:r>
              <a:rPr lang="en-US" b="1" dirty="0" smtClean="0"/>
              <a:t>Complexity:</a:t>
            </a:r>
            <a:r>
              <a:rPr lang="en-US" dirty="0" smtClean="0"/>
              <a:t> Determined by assessing how classes are related to each other</a:t>
            </a:r>
          </a:p>
          <a:p>
            <a:pPr algn="just"/>
            <a:r>
              <a:rPr lang="en-US" b="1" dirty="0" smtClean="0"/>
              <a:t>Coupling:</a:t>
            </a:r>
            <a:r>
              <a:rPr lang="en-US" dirty="0" smtClean="0"/>
              <a:t> Defined as the physical connection between OO design elements</a:t>
            </a:r>
          </a:p>
          <a:p>
            <a:pPr algn="just"/>
            <a:r>
              <a:rPr lang="en-US" b="1" dirty="0" smtClean="0"/>
              <a:t>Sufficiency:</a:t>
            </a:r>
            <a:r>
              <a:rPr lang="en-US" dirty="0" smtClean="0"/>
              <a:t> Defined as the degree to which an abstraction possesses the features required of it</a:t>
            </a:r>
          </a:p>
          <a:p>
            <a:pPr algn="just"/>
            <a:r>
              <a:rPr lang="en-US" b="1" dirty="0" smtClean="0"/>
              <a:t>Cohesion:</a:t>
            </a:r>
            <a:r>
              <a:rPr lang="en-US" dirty="0" smtClean="0"/>
              <a:t> Determined by analyzing the degree to which a set of properties that the class possesses is part of the problem domain or design domain</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a:bodyPr>
          <a:lstStyle/>
          <a:p>
            <a:pPr algn="just"/>
            <a:r>
              <a:rPr lang="en-US" b="1" dirty="0" smtClean="0"/>
              <a:t>Primitiveness:</a:t>
            </a:r>
            <a:r>
              <a:rPr lang="en-US" dirty="0" smtClean="0"/>
              <a:t> Indicates the degree to which the operation is atomic</a:t>
            </a:r>
          </a:p>
          <a:p>
            <a:pPr algn="just"/>
            <a:r>
              <a:rPr lang="en-US" b="1" dirty="0" smtClean="0"/>
              <a:t>Similarity:</a:t>
            </a:r>
            <a:r>
              <a:rPr lang="en-US" dirty="0" smtClean="0"/>
              <a:t> Indicates similarity between two or more classes in terms of their structure, function, behavior, or purpose</a:t>
            </a:r>
          </a:p>
          <a:p>
            <a:pPr algn="just"/>
            <a:r>
              <a:rPr lang="en-US" b="1" dirty="0" smtClean="0"/>
              <a:t>Volatility:</a:t>
            </a:r>
            <a:r>
              <a:rPr lang="en-US" dirty="0" smtClean="0"/>
              <a:t> Defined as the probability of occurrence of change in the OO design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lnSpcReduction="10000"/>
          </a:bodyPr>
          <a:lstStyle/>
          <a:p>
            <a:pPr algn="just"/>
            <a:r>
              <a:rPr lang="en-US" b="1" dirty="0" smtClean="0"/>
              <a:t>Size:</a:t>
            </a:r>
            <a:r>
              <a:rPr lang="en-US" dirty="0" smtClean="0"/>
              <a:t> Defined with the help of four different views, namely, </a:t>
            </a:r>
            <a:r>
              <a:rPr lang="en-US" b="1" dirty="0" smtClean="0"/>
              <a:t>population, volume, length, and functionality</a:t>
            </a:r>
            <a:r>
              <a:rPr lang="en-US" dirty="0" smtClean="0"/>
              <a:t>. </a:t>
            </a:r>
          </a:p>
          <a:p>
            <a:pPr lvl="1" algn="just"/>
            <a:r>
              <a:rPr lang="en-US" b="1" dirty="0" smtClean="0"/>
              <a:t>Population</a:t>
            </a:r>
            <a:r>
              <a:rPr lang="en-US" dirty="0" smtClean="0"/>
              <a:t> is measured by calculating the total number of OO entities, which can be in the form of classes or operations. </a:t>
            </a:r>
          </a:p>
          <a:p>
            <a:pPr lvl="1" algn="just"/>
            <a:r>
              <a:rPr lang="en-US" b="1" dirty="0" smtClean="0"/>
              <a:t>Volume</a:t>
            </a:r>
            <a:r>
              <a:rPr lang="en-US" dirty="0" smtClean="0"/>
              <a:t> measures are collected dynamically at any given point of time. </a:t>
            </a:r>
          </a:p>
          <a:p>
            <a:pPr lvl="1" algn="just"/>
            <a:r>
              <a:rPr lang="en-US" b="1" dirty="0" smtClean="0"/>
              <a:t>Length</a:t>
            </a:r>
            <a:r>
              <a:rPr lang="en-US" dirty="0" smtClean="0"/>
              <a:t> is a measure of interconnected designs such as depth of inheritance tree. </a:t>
            </a:r>
          </a:p>
          <a:p>
            <a:pPr lvl="1" algn="just"/>
            <a:r>
              <a:rPr lang="en-US" b="1" dirty="0" smtClean="0"/>
              <a:t>Functionality</a:t>
            </a:r>
            <a:r>
              <a:rPr lang="en-US" dirty="0" smtClean="0"/>
              <a:t> indicates the value rendered to the user by the OO application.</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b="1" dirty="0" smtClean="0"/>
              <a:t>Metrics for Coding</a:t>
            </a:r>
            <a:endParaRPr lang="en-US" dirty="0"/>
          </a:p>
        </p:txBody>
      </p:sp>
      <p:sp>
        <p:nvSpPr>
          <p:cNvPr id="3" name="Content Placeholder 2"/>
          <p:cNvSpPr>
            <a:spLocks noGrp="1"/>
          </p:cNvSpPr>
          <p:nvPr>
            <p:ph idx="1"/>
          </p:nvPr>
        </p:nvSpPr>
        <p:spPr>
          <a:xfrm>
            <a:off x="457200" y="1066800"/>
            <a:ext cx="8229600" cy="5059363"/>
          </a:xfrm>
        </p:spPr>
        <p:txBody>
          <a:bodyPr/>
          <a:lstStyle/>
          <a:p>
            <a:pPr algn="just"/>
            <a:r>
              <a:rPr lang="en-US" dirty="0" smtClean="0"/>
              <a:t>Halstead proposed the first analytic laws, which can be derived once the code is generated</a:t>
            </a:r>
          </a:p>
          <a:p>
            <a:pPr algn="just">
              <a:buNone/>
            </a:pPr>
            <a:endParaRPr lang="en-US" dirty="0" smtClean="0"/>
          </a:p>
          <a:p>
            <a:pPr algn="just"/>
            <a:r>
              <a:rPr lang="en-US" dirty="0" err="1" smtClean="0"/>
              <a:t>n</a:t>
            </a:r>
            <a:r>
              <a:rPr lang="en-US" baseline="-25000" dirty="0" err="1" smtClean="0"/>
              <a:t>l</a:t>
            </a:r>
            <a:r>
              <a:rPr lang="en-US" dirty="0" smtClean="0"/>
              <a:t> = number of distinct operators in a program</a:t>
            </a:r>
          </a:p>
          <a:p>
            <a:pPr algn="just"/>
            <a:r>
              <a:rPr lang="en-US" dirty="0" smtClean="0"/>
              <a:t>n</a:t>
            </a:r>
            <a:r>
              <a:rPr lang="en-US" baseline="-25000" dirty="0" smtClean="0"/>
              <a:t>2</a:t>
            </a:r>
            <a:r>
              <a:rPr lang="en-US" dirty="0" smtClean="0"/>
              <a:t> = number of distinct operands in a program</a:t>
            </a:r>
          </a:p>
          <a:p>
            <a:pPr algn="just"/>
            <a:r>
              <a:rPr lang="en-US" dirty="0" smtClean="0"/>
              <a:t>N</a:t>
            </a:r>
            <a:r>
              <a:rPr lang="en-US" baseline="-25000" dirty="0" smtClean="0"/>
              <a:t>1</a:t>
            </a:r>
            <a:r>
              <a:rPr lang="en-US" dirty="0" smtClean="0"/>
              <a:t> = total number of operators</a:t>
            </a:r>
          </a:p>
          <a:p>
            <a:pPr algn="just"/>
            <a:r>
              <a:rPr lang="en-US" dirty="0" smtClean="0"/>
              <a:t>N</a:t>
            </a:r>
            <a:r>
              <a:rPr lang="en-US" baseline="-25000" dirty="0" smtClean="0"/>
              <a:t>2</a:t>
            </a:r>
            <a:r>
              <a:rPr lang="en-US" dirty="0" smtClean="0"/>
              <a:t>= total number of operands.</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943600"/>
          </a:xfrm>
        </p:spPr>
        <p:txBody>
          <a:bodyPr>
            <a:normAutofit/>
          </a:bodyPr>
          <a:lstStyle/>
          <a:p>
            <a:pPr algn="just"/>
            <a:r>
              <a:rPr lang="en-US" dirty="0" smtClean="0"/>
              <a:t>By using these measures, Halstead developed an expression for overall </a:t>
            </a:r>
            <a:r>
              <a:rPr lang="en-US" b="1" dirty="0" smtClean="0"/>
              <a:t>program length, program volume, program difficulty, development effort</a:t>
            </a:r>
            <a:endParaRPr lang="en-US" dirty="0" smtClean="0"/>
          </a:p>
          <a:p>
            <a:pPr algn="just"/>
            <a:r>
              <a:rPr lang="en-US" dirty="0" smtClean="0"/>
              <a:t>Program length (N) can be calculated by using the following equation.</a:t>
            </a:r>
          </a:p>
          <a:p>
            <a:pPr algn="just">
              <a:buNone/>
            </a:pPr>
            <a:r>
              <a:rPr lang="en-US" dirty="0" smtClean="0"/>
              <a:t>			N = n</a:t>
            </a:r>
            <a:r>
              <a:rPr lang="en-US" baseline="-25000" dirty="0" smtClean="0"/>
              <a:t>1</a:t>
            </a:r>
            <a:r>
              <a:rPr lang="en-US" dirty="0" smtClean="0"/>
              <a:t>log</a:t>
            </a:r>
            <a:r>
              <a:rPr lang="en-US" baseline="-25000" dirty="0" smtClean="0"/>
              <a:t>2</a:t>
            </a:r>
            <a:r>
              <a:rPr lang="en-US" dirty="0" smtClean="0"/>
              <a:t>n</a:t>
            </a:r>
            <a:r>
              <a:rPr lang="en-US" baseline="-25000" dirty="0" smtClean="0"/>
              <a:t>l </a:t>
            </a:r>
            <a:r>
              <a:rPr lang="en-US" dirty="0" smtClean="0"/>
              <a:t>+ n</a:t>
            </a:r>
            <a:r>
              <a:rPr lang="en-US" baseline="-25000" dirty="0" smtClean="0"/>
              <a:t>2</a:t>
            </a:r>
            <a:r>
              <a:rPr lang="en-US" dirty="0" smtClean="0"/>
              <a:t> log</a:t>
            </a:r>
            <a:r>
              <a:rPr lang="en-US" baseline="-25000" dirty="0" smtClean="0"/>
              <a:t>2</a:t>
            </a:r>
            <a:r>
              <a:rPr lang="en-US" dirty="0" smtClean="0"/>
              <a:t>n</a:t>
            </a:r>
            <a:r>
              <a:rPr lang="en-US" baseline="-25000" dirty="0" smtClean="0"/>
              <a:t>2</a:t>
            </a:r>
            <a:endParaRPr lang="en-US" dirty="0" smtClean="0"/>
          </a:p>
          <a:p>
            <a:pPr algn="just"/>
            <a:r>
              <a:rPr lang="en-US" dirty="0" smtClean="0"/>
              <a:t>Program volume (V) can be calculated by using the following equation.</a:t>
            </a:r>
          </a:p>
          <a:p>
            <a:pPr algn="just">
              <a:buNone/>
            </a:pPr>
            <a:r>
              <a:rPr lang="en-US" dirty="0" smtClean="0"/>
              <a:t>			V = N log</a:t>
            </a:r>
            <a:r>
              <a:rPr lang="en-US" baseline="-25000" dirty="0" smtClean="0"/>
              <a:t>2</a:t>
            </a:r>
            <a:r>
              <a:rPr lang="en-US" dirty="0" smtClean="0"/>
              <a:t> (n</a:t>
            </a:r>
            <a:r>
              <a:rPr lang="en-US" baseline="-25000" dirty="0" smtClean="0"/>
              <a:t>1</a:t>
            </a:r>
            <a:r>
              <a:rPr lang="en-US" dirty="0" smtClean="0"/>
              <a:t>+n</a:t>
            </a:r>
            <a:r>
              <a:rPr lang="en-US" baseline="-25000" dirty="0" smtClean="0"/>
              <a:t>2</a:t>
            </a:r>
            <a:r>
              <a:rPr lang="en-US" dirty="0" smtClean="0"/>
              <a:t>).</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US" dirty="0" smtClean="0"/>
              <a:t>Volume ratio (L)can be calculated by using the following equation.</a:t>
            </a:r>
          </a:p>
          <a:p>
            <a:pPr>
              <a:buNone/>
            </a:pPr>
            <a:endParaRPr lang="en-US" dirty="0" smtClean="0"/>
          </a:p>
          <a:p>
            <a:pPr algn="ctr">
              <a:buNone/>
            </a:pPr>
            <a:r>
              <a:rPr lang="en-US" dirty="0" smtClean="0"/>
              <a:t>L = Volume of the most compact form of a program / Volume of the actual program</a:t>
            </a:r>
          </a:p>
          <a:p>
            <a:pPr algn="ctr">
              <a:buNone/>
            </a:pPr>
            <a:endParaRPr lang="en-US" dirty="0" smtClean="0"/>
          </a:p>
          <a:p>
            <a:r>
              <a:rPr lang="en-US" dirty="0" smtClean="0"/>
              <a:t>Where, value of L must be less than 1. </a:t>
            </a:r>
          </a:p>
          <a:p>
            <a:r>
              <a:rPr lang="en-US" dirty="0" smtClean="0"/>
              <a:t>Volume ratio can also be calculated by using the following equation.</a:t>
            </a:r>
          </a:p>
          <a:p>
            <a:pPr>
              <a:buNone/>
            </a:pPr>
            <a:r>
              <a:rPr lang="en-US" dirty="0" smtClean="0"/>
              <a:t>			L = (2/n</a:t>
            </a:r>
            <a:r>
              <a:rPr lang="en-US" baseline="-25000" dirty="0" smtClean="0"/>
              <a:t>1</a:t>
            </a:r>
            <a:r>
              <a:rPr lang="en-US" dirty="0" smtClean="0"/>
              <a:t>)* (n</a:t>
            </a:r>
            <a:r>
              <a:rPr lang="en-US" baseline="-25000" dirty="0" smtClean="0"/>
              <a:t>2</a:t>
            </a:r>
            <a:r>
              <a:rPr lang="en-US" dirty="0" smtClean="0"/>
              <a:t>/N</a:t>
            </a:r>
            <a:r>
              <a:rPr lang="en-US" baseline="-25000" dirty="0" smtClean="0"/>
              <a:t>2</a:t>
            </a:r>
            <a:r>
              <a:rPr lang="en-US" dirty="0" smtClean="0"/>
              <a:t>).</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r>
              <a:rPr lang="en-US" dirty="0" smtClean="0"/>
              <a:t>Program difficulty level (D) and effort (E)can be calculated by using the following equations.</a:t>
            </a:r>
          </a:p>
          <a:p>
            <a:pPr algn="ctr">
              <a:buNone/>
            </a:pPr>
            <a:r>
              <a:rPr lang="en-US" dirty="0" smtClean="0"/>
              <a:t>D = (n</a:t>
            </a:r>
            <a:r>
              <a:rPr lang="en-US" baseline="-25000" dirty="0" smtClean="0"/>
              <a:t>1</a:t>
            </a:r>
            <a:r>
              <a:rPr lang="en-US" dirty="0" smtClean="0"/>
              <a:t>/2)*(N</a:t>
            </a:r>
            <a:r>
              <a:rPr lang="en-US" baseline="-25000" dirty="0" smtClean="0"/>
              <a:t>2</a:t>
            </a:r>
            <a:r>
              <a:rPr lang="en-US" dirty="0" smtClean="0"/>
              <a:t>/n</a:t>
            </a:r>
            <a:r>
              <a:rPr lang="en-US" baseline="-25000" dirty="0" smtClean="0"/>
              <a:t>2</a:t>
            </a:r>
            <a:r>
              <a:rPr lang="en-US" dirty="0" smtClean="0"/>
              <a:t>).</a:t>
            </a:r>
          </a:p>
          <a:p>
            <a:pPr algn="ctr">
              <a:buNone/>
            </a:pPr>
            <a:r>
              <a:rPr lang="en-US" dirty="0" smtClean="0"/>
              <a:t>E = D * V.</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b="1" dirty="0" smtClean="0"/>
              <a:t>Metrics for Software Testing</a:t>
            </a:r>
            <a:endParaRPr lang="en-US" dirty="0"/>
          </a:p>
        </p:txBody>
      </p:sp>
      <p:sp>
        <p:nvSpPr>
          <p:cNvPr id="3" name="Content Placeholder 2"/>
          <p:cNvSpPr>
            <a:spLocks noGrp="1"/>
          </p:cNvSpPr>
          <p:nvPr>
            <p:ph idx="1"/>
          </p:nvPr>
        </p:nvSpPr>
        <p:spPr>
          <a:xfrm>
            <a:off x="457200" y="1066800"/>
            <a:ext cx="8229600" cy="5410200"/>
          </a:xfrm>
        </p:spPr>
        <p:txBody>
          <a:bodyPr>
            <a:normAutofit fontScale="77500" lnSpcReduction="20000"/>
          </a:bodyPr>
          <a:lstStyle/>
          <a:p>
            <a:r>
              <a:rPr lang="en-US" dirty="0" smtClean="0"/>
              <a:t>Halstead measures can be used to derive metrics for testing effort. By using program volume (V) and program level (PL),Halstead effort (e)can be calculated by the following equations.</a:t>
            </a:r>
          </a:p>
          <a:p>
            <a:pPr>
              <a:buNone/>
            </a:pPr>
            <a:r>
              <a:rPr lang="en-US" dirty="0" smtClean="0"/>
              <a:t>				e = V/ PL</a:t>
            </a:r>
          </a:p>
          <a:p>
            <a:pPr>
              <a:buNone/>
            </a:pPr>
            <a:r>
              <a:rPr lang="en-US" dirty="0" smtClean="0"/>
              <a:t>Where</a:t>
            </a:r>
          </a:p>
          <a:p>
            <a:pPr>
              <a:buNone/>
            </a:pPr>
            <a:r>
              <a:rPr lang="en-US" dirty="0" smtClean="0"/>
              <a:t>			PL = 1/ [(n</a:t>
            </a:r>
            <a:r>
              <a:rPr lang="en-US" baseline="-25000" dirty="0" smtClean="0"/>
              <a:t>1</a:t>
            </a:r>
            <a:r>
              <a:rPr lang="en-US" dirty="0" smtClean="0"/>
              <a:t>/2) * (N</a:t>
            </a:r>
            <a:r>
              <a:rPr lang="en-US" baseline="-25000" dirty="0" smtClean="0"/>
              <a:t>2</a:t>
            </a:r>
            <a:r>
              <a:rPr lang="en-US" dirty="0" smtClean="0"/>
              <a:t>/n</a:t>
            </a:r>
            <a:r>
              <a:rPr lang="en-US" baseline="-25000" dirty="0" smtClean="0"/>
              <a:t>2</a:t>
            </a:r>
            <a:r>
              <a:rPr lang="en-US" dirty="0" smtClean="0"/>
              <a:t>)]     … (1)</a:t>
            </a:r>
          </a:p>
          <a:p>
            <a:r>
              <a:rPr lang="en-US" dirty="0" smtClean="0"/>
              <a:t>For a particular module (z), the percentage of overall testing effort allocated can be calculated by the following equation.</a:t>
            </a:r>
          </a:p>
          <a:p>
            <a:pPr>
              <a:buNone/>
            </a:pPr>
            <a:r>
              <a:rPr lang="en-US" dirty="0" smtClean="0"/>
              <a:t>			Percentage of testing effort (z) = e(z)/∑e(</a:t>
            </a:r>
            <a:r>
              <a:rPr lang="en-US" dirty="0" err="1" smtClean="0"/>
              <a:t>i</a:t>
            </a:r>
            <a:r>
              <a:rPr lang="en-US" dirty="0" smtClean="0"/>
              <a:t>)</a:t>
            </a:r>
          </a:p>
          <a:p>
            <a:pPr>
              <a:buNone/>
            </a:pPr>
            <a:endParaRPr lang="en-US" dirty="0" smtClean="0"/>
          </a:p>
          <a:p>
            <a:r>
              <a:rPr lang="en-US" dirty="0" smtClean="0"/>
              <a:t>Where, e(z) is calculated for module z with the help of equation (1). Summation in the denominator is the sum of Halstead effort (e) in all the modules of the system.</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fontScale="85000" lnSpcReduction="10000"/>
          </a:bodyPr>
          <a:lstStyle/>
          <a:p>
            <a:pPr>
              <a:buNone/>
            </a:pPr>
            <a:r>
              <a:rPr lang="en-US" dirty="0" smtClean="0"/>
              <a:t>A set of metrics proposed for </a:t>
            </a:r>
            <a:r>
              <a:rPr lang="en-US" b="1" dirty="0" smtClean="0"/>
              <a:t>OO testing </a:t>
            </a:r>
            <a:r>
              <a:rPr lang="en-US" dirty="0" smtClean="0"/>
              <a:t>is listed below.</a:t>
            </a:r>
          </a:p>
          <a:p>
            <a:pPr>
              <a:buNone/>
            </a:pPr>
            <a:endParaRPr lang="en-US" dirty="0" smtClean="0"/>
          </a:p>
          <a:p>
            <a:pPr algn="just"/>
            <a:r>
              <a:rPr lang="en-US" b="1" dirty="0" smtClean="0"/>
              <a:t>Lack of cohesion in methods (LCOM):</a:t>
            </a:r>
            <a:r>
              <a:rPr lang="en-US" dirty="0" smtClean="0"/>
              <a:t> This indicates the number of states to be tested. LCOM indicates the number of methods that access one or more same attributes. The value of LCOM is 0, if no methods access the same attributes. As the value of LCOM increases, more states need to be tested.</a:t>
            </a:r>
          </a:p>
          <a:p>
            <a:pPr algn="just"/>
            <a:endParaRPr lang="en-US" dirty="0" smtClean="0"/>
          </a:p>
          <a:p>
            <a:pPr algn="just"/>
            <a:r>
              <a:rPr lang="en-US" b="1" dirty="0" smtClean="0"/>
              <a:t>Percent public and protected (PAP):</a:t>
            </a:r>
            <a:r>
              <a:rPr lang="en-US" dirty="0" smtClean="0"/>
              <a:t> This shows the number of class attributes, which are public or protected. Probability of adverse effects among classes increases with increase in value of PAP as public and protected attributes lead to potentially higher coupling.</a:t>
            </a:r>
          </a:p>
          <a:p>
            <a:pPr>
              <a:buNone/>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6096000"/>
          </a:xfrm>
        </p:spPr>
        <p:txBody>
          <a:bodyPr>
            <a:normAutofit fontScale="92500" lnSpcReduction="20000"/>
          </a:bodyPr>
          <a:lstStyle/>
          <a:p>
            <a:pPr algn="just"/>
            <a:r>
              <a:rPr lang="en-US" b="1" dirty="0" smtClean="0"/>
              <a:t>Public access to data members (PAD):</a:t>
            </a:r>
            <a:r>
              <a:rPr lang="en-US" dirty="0" smtClean="0"/>
              <a:t> This shows the number of classes that can access attributes of another class. Adverse effects among classes increase as the value of PAD increases.</a:t>
            </a:r>
          </a:p>
          <a:p>
            <a:pPr algn="just"/>
            <a:endParaRPr lang="en-US" dirty="0" smtClean="0"/>
          </a:p>
          <a:p>
            <a:pPr algn="just"/>
            <a:r>
              <a:rPr lang="en-US" b="1" dirty="0" smtClean="0"/>
              <a:t>Number of root classes (NOR):</a:t>
            </a:r>
            <a:r>
              <a:rPr lang="en-US" dirty="0" smtClean="0"/>
              <a:t> This specifies the number of different class hierarchies, which are described in the design model. Testing effort increases with increase in NOR.</a:t>
            </a:r>
          </a:p>
          <a:p>
            <a:pPr algn="just"/>
            <a:endParaRPr lang="en-US" dirty="0" smtClean="0"/>
          </a:p>
          <a:p>
            <a:pPr algn="just"/>
            <a:r>
              <a:rPr lang="en-US" b="1" dirty="0" smtClean="0"/>
              <a:t>Fan-in (FIN):</a:t>
            </a:r>
            <a:r>
              <a:rPr lang="en-US" dirty="0" smtClean="0"/>
              <a:t> This indicates multiple inheritances. If value of FIN is greater than 1, it indicates that the class inherits its attributes and operations from many root classes.</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dirty="0" smtClean="0"/>
              <a:t>Metrics for Software Maintenance</a:t>
            </a:r>
            <a:endParaRPr lang="en-US" dirty="0"/>
          </a:p>
        </p:txBody>
      </p:sp>
      <p:sp>
        <p:nvSpPr>
          <p:cNvPr id="3" name="Content Placeholder 2"/>
          <p:cNvSpPr>
            <a:spLocks noGrp="1"/>
          </p:cNvSpPr>
          <p:nvPr>
            <p:ph idx="1"/>
          </p:nvPr>
        </p:nvSpPr>
        <p:spPr>
          <a:xfrm>
            <a:off x="457200" y="1066800"/>
            <a:ext cx="8229600" cy="5410200"/>
          </a:xfrm>
        </p:spPr>
        <p:txBody>
          <a:bodyPr>
            <a:noAutofit/>
          </a:bodyPr>
          <a:lstStyle/>
          <a:p>
            <a:pPr marL="0" indent="0" algn="just">
              <a:buNone/>
            </a:pPr>
            <a:r>
              <a:rPr lang="en-US" sz="2400" dirty="0" smtClean="0"/>
              <a:t>EEE have proposed Software Maturity Index (SMI), which provides indications relating to the stability of software product. For calculating SMI, following parameters are considered</a:t>
            </a:r>
          </a:p>
          <a:p>
            <a:pPr marL="0" indent="0" algn="just">
              <a:buNone/>
            </a:pPr>
            <a:endParaRPr lang="en-US" sz="2400" dirty="0" smtClean="0"/>
          </a:p>
          <a:p>
            <a:pPr algn="just"/>
            <a:r>
              <a:rPr lang="en-US" sz="2400" dirty="0" smtClean="0"/>
              <a:t>Number of modules in current release (M</a:t>
            </a:r>
            <a:r>
              <a:rPr lang="en-US" sz="2400" baseline="-25000" dirty="0" smtClean="0"/>
              <a:t>T</a:t>
            </a:r>
            <a:r>
              <a:rPr lang="en-US" sz="2400" dirty="0" smtClean="0"/>
              <a:t>)</a:t>
            </a:r>
          </a:p>
          <a:p>
            <a:pPr algn="just"/>
            <a:r>
              <a:rPr lang="en-US" sz="2400" dirty="0" smtClean="0"/>
              <a:t>Number of modules that have been changed in the current release (F</a:t>
            </a:r>
            <a:r>
              <a:rPr lang="en-US" sz="2400" baseline="-25000" dirty="0" smtClean="0"/>
              <a:t>e</a:t>
            </a:r>
            <a:r>
              <a:rPr lang="en-US" sz="2400" dirty="0" smtClean="0"/>
              <a:t>)</a:t>
            </a:r>
          </a:p>
          <a:p>
            <a:pPr algn="just"/>
            <a:r>
              <a:rPr lang="en-US" sz="2400" dirty="0" smtClean="0"/>
              <a:t>Number of modules that have been added in the current release (</a:t>
            </a:r>
            <a:r>
              <a:rPr lang="en-US" sz="2400" dirty="0" err="1" smtClean="0"/>
              <a:t>F</a:t>
            </a:r>
            <a:r>
              <a:rPr lang="en-US" sz="2400" baseline="-25000" dirty="0" err="1" smtClean="0"/>
              <a:t>a</a:t>
            </a:r>
            <a:r>
              <a:rPr lang="en-US" sz="2400" dirty="0" smtClean="0"/>
              <a:t>)</a:t>
            </a:r>
          </a:p>
          <a:p>
            <a:pPr algn="just"/>
            <a:r>
              <a:rPr lang="en-US" sz="2400" dirty="0" smtClean="0"/>
              <a:t>Number of modules that have been deleted from the current release (</a:t>
            </a:r>
            <a:r>
              <a:rPr lang="en-US" sz="2400" dirty="0" err="1" smtClean="0"/>
              <a:t>F</a:t>
            </a:r>
            <a:r>
              <a:rPr lang="en-US" sz="2400" baseline="-25000" dirty="0" err="1" smtClean="0"/>
              <a:t>d</a:t>
            </a:r>
            <a:r>
              <a:rPr lang="en-US" sz="2400" dirty="0" smtClean="0"/>
              <a:t>)</a:t>
            </a:r>
          </a:p>
          <a:p>
            <a:pPr marL="0" indent="0" algn="just">
              <a:buNone/>
            </a:pPr>
            <a:endParaRPr lang="en-US" sz="2400" dirty="0" smtClean="0"/>
          </a:p>
          <a:p>
            <a:pPr marL="0" indent="0" algn="just">
              <a:buNone/>
            </a:pPr>
            <a:r>
              <a:rPr lang="en-US" sz="2400" dirty="0" smtClean="0"/>
              <a:t>		SMI </a:t>
            </a:r>
            <a:r>
              <a:rPr lang="en-US" sz="2400" dirty="0" smtClean="0"/>
              <a:t>= [M</a:t>
            </a:r>
            <a:r>
              <a:rPr lang="en-US" sz="2400" baseline="-25000" dirty="0" smtClean="0"/>
              <a:t>T</a:t>
            </a:r>
            <a:r>
              <a:rPr lang="en-US" sz="2400" dirty="0" smtClean="0"/>
              <a:t>– (</a:t>
            </a:r>
            <a:r>
              <a:rPr lang="en-US" sz="2400" dirty="0" err="1" smtClean="0"/>
              <a:t>F</a:t>
            </a:r>
            <a:r>
              <a:rPr lang="en-US" sz="2400" baseline="-25000" dirty="0" err="1" smtClean="0"/>
              <a:t>a</a:t>
            </a:r>
            <a:r>
              <a:rPr lang="en-US" sz="2400" dirty="0" smtClean="0"/>
              <a:t>+ F</a:t>
            </a:r>
            <a:r>
              <a:rPr lang="en-US" sz="2400" baseline="-25000" dirty="0" smtClean="0"/>
              <a:t>e</a:t>
            </a:r>
            <a:r>
              <a:rPr lang="en-US" sz="2400" dirty="0" smtClean="0"/>
              <a:t> + </a:t>
            </a:r>
            <a:r>
              <a:rPr lang="en-US" sz="2400" dirty="0" err="1" smtClean="0"/>
              <a:t>F</a:t>
            </a:r>
            <a:r>
              <a:rPr lang="en-US" sz="2400" baseline="-25000" dirty="0" err="1" smtClean="0"/>
              <a:t>d</a:t>
            </a:r>
            <a:r>
              <a:rPr lang="en-US" sz="2400" dirty="0" smtClean="0"/>
              <a:t>)]/M</a:t>
            </a:r>
            <a:r>
              <a:rPr lang="en-US" sz="2400" baseline="-25000" dirty="0" smtClean="0"/>
              <a:t>T</a:t>
            </a:r>
            <a:r>
              <a:rPr lang="en-US" sz="2400" dirty="0" smtClean="0"/>
              <a:t>.</a:t>
            </a:r>
          </a:p>
          <a:p>
            <a:pPr marL="0" indent="0" algn="just">
              <a:buNone/>
            </a:pPr>
            <a:endParaRPr lang="en-US" sz="2400" dirty="0" smtClean="0"/>
          </a:p>
          <a:p>
            <a:pPr marL="0" indent="0" algn="just">
              <a:buNone/>
            </a:pPr>
            <a:endParaRPr lang="en-US" sz="2400" dirty="0" smtClean="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TotalTime>
  <Words>971</Words>
  <Application>Microsoft Office PowerPoint</Application>
  <PresentationFormat>On-screen Show (4:3)</PresentationFormat>
  <Paragraphs>192</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Software Metrics</vt:lpstr>
      <vt:lpstr>Slide 2</vt:lpstr>
      <vt:lpstr>Slide 3</vt:lpstr>
      <vt:lpstr>Slide 4</vt:lpstr>
      <vt:lpstr>Metrics</vt:lpstr>
      <vt:lpstr>Slide 6</vt:lpstr>
      <vt:lpstr>Metrics for Analysis model</vt:lpstr>
      <vt:lpstr>Slide 8</vt:lpstr>
      <vt:lpstr>Slide 9</vt:lpstr>
      <vt:lpstr>Slide 10</vt:lpstr>
      <vt:lpstr>Product Metrics</vt:lpstr>
      <vt:lpstr>Metrics for Design Model</vt:lpstr>
      <vt:lpstr>Glass and Card</vt:lpstr>
      <vt:lpstr>Structural Complexity </vt:lpstr>
      <vt:lpstr>Data Complexity</vt:lpstr>
      <vt:lpstr>System Complexity</vt:lpstr>
      <vt:lpstr>Cyclomatic Complexity</vt:lpstr>
      <vt:lpstr>Slide 18</vt:lpstr>
      <vt:lpstr>Slide 19</vt:lpstr>
      <vt:lpstr>Henry and Kafura Metric</vt:lpstr>
      <vt:lpstr>Fenton Metrics</vt:lpstr>
      <vt:lpstr>Slide 22</vt:lpstr>
      <vt:lpstr>Slide 23</vt:lpstr>
      <vt:lpstr>DSQI</vt:lpstr>
      <vt:lpstr>Slide 25</vt:lpstr>
      <vt:lpstr>Slide 26</vt:lpstr>
      <vt:lpstr>Metrics for Component-level Design</vt:lpstr>
      <vt:lpstr>Slide 28</vt:lpstr>
      <vt:lpstr>Slide 29</vt:lpstr>
      <vt:lpstr>Metrics for Object-Oriented Design</vt:lpstr>
      <vt:lpstr>Slide 31</vt:lpstr>
      <vt:lpstr>Slide 32</vt:lpstr>
      <vt:lpstr>Metrics for Coding</vt:lpstr>
      <vt:lpstr>Slide 34</vt:lpstr>
      <vt:lpstr>Slide 35</vt:lpstr>
      <vt:lpstr>Slide 36</vt:lpstr>
      <vt:lpstr>Metrics for Software Testing</vt:lpstr>
      <vt:lpstr>Slide 38</vt:lpstr>
      <vt:lpstr>Slide 39</vt:lpstr>
      <vt:lpstr>Metrics for Software Maintenance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Metrics</dc:title>
  <dc:creator>A M Viswa Bharathy</dc:creator>
  <cp:lastModifiedBy>MRCET</cp:lastModifiedBy>
  <cp:revision>116</cp:revision>
  <dcterms:created xsi:type="dcterms:W3CDTF">2006-08-16T00:00:00Z</dcterms:created>
  <dcterms:modified xsi:type="dcterms:W3CDTF">2021-11-08T04:53:33Z</dcterms:modified>
</cp:coreProperties>
</file>
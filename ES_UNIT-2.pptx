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5"/>
  </p:notesMasterIdLst>
  <p:sldIdLst>
    <p:sldId id="256" r:id="rId2"/>
    <p:sldId id="257" r:id="rId3"/>
    <p:sldId id="311" r:id="rId4"/>
    <p:sldId id="312" r:id="rId5"/>
    <p:sldId id="313" r:id="rId6"/>
    <p:sldId id="314" r:id="rId7"/>
    <p:sldId id="315" r:id="rId8"/>
    <p:sldId id="316" r:id="rId9"/>
    <p:sldId id="261" r:id="rId10"/>
    <p:sldId id="319" r:id="rId11"/>
    <p:sldId id="317" r:id="rId12"/>
    <p:sldId id="259" r:id="rId13"/>
    <p:sldId id="260"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98" r:id="rId33"/>
    <p:sldId id="299" r:id="rId34"/>
    <p:sldId id="300" r:id="rId35"/>
    <p:sldId id="301" r:id="rId36"/>
    <p:sldId id="302" r:id="rId37"/>
    <p:sldId id="304" r:id="rId38"/>
    <p:sldId id="305" r:id="rId39"/>
    <p:sldId id="306" r:id="rId40"/>
    <p:sldId id="307" r:id="rId41"/>
    <p:sldId id="308" r:id="rId42"/>
    <p:sldId id="309" r:id="rId43"/>
    <p:sldId id="310"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E6AFEA-295B-40F9-8798-28A2C594663E}" type="datetimeFigureOut">
              <a:rPr lang="en-US" smtClean="0"/>
              <a:t>9/4/2021</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0519C0-CFF8-44B8-93F4-8369C5469DE8}"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7002088C-830C-43F6-9373-7015E66E4B99}" type="datetime1">
              <a:rPr lang="en-US" smtClean="0"/>
              <a:t>9/4/2021</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r>
              <a:rPr lang="en-US" smtClean="0"/>
              <a:t>Presented By: Neha Thakur</a:t>
            </a:r>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9CD0E7BC-9D51-4533-B61D-4661C888D2C3}" type="datetime1">
              <a:rPr lang="en-US" smtClean="0"/>
              <a:t>9/4/2021</a:t>
            </a:fld>
            <a:endParaRPr lang="en-US"/>
          </a:p>
        </p:txBody>
      </p:sp>
      <p:sp>
        <p:nvSpPr>
          <p:cNvPr id="9" name="Slide Number Placeholder 8"/>
          <p:cNvSpPr>
            <a:spLocks noGrp="1"/>
          </p:cNvSpPr>
          <p:nvPr>
            <p:ph type="sldNum" sz="quarter" idx="15"/>
          </p:nvPr>
        </p:nvSpPr>
        <p:spPr/>
        <p:txBody>
          <a:bodyPr rtlCol="0"/>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rtlCol="0"/>
          <a:lstStyle/>
          <a:p>
            <a:r>
              <a:rPr lang="en-US" smtClean="0"/>
              <a:t>Presented By: Neha Thakur</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B4C0257E-98B8-4AC6-A982-596CE5518D41}" type="datetime1">
              <a:rPr lang="en-US" smtClean="0"/>
              <a:t>9/4/2021</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r>
              <a:rPr lang="en-US" smtClean="0"/>
              <a:t>Presented By: Neha Thakur</a:t>
            </a:r>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D5F6B747-8693-44DC-8829-4F783761AB66}" type="datetime1">
              <a:rPr lang="en-US" smtClean="0"/>
              <a:t>9/4/2021</a:t>
            </a:fld>
            <a:endParaRPr lang="en-US"/>
          </a:p>
        </p:txBody>
      </p:sp>
      <p:sp>
        <p:nvSpPr>
          <p:cNvPr id="6" name="Footer Placeholder 5"/>
          <p:cNvSpPr>
            <a:spLocks noGrp="1"/>
          </p:cNvSpPr>
          <p:nvPr>
            <p:ph type="ftr" sz="quarter" idx="11"/>
          </p:nvPr>
        </p:nvSpPr>
        <p:spPr/>
        <p:txBody>
          <a:bodyPr/>
          <a:lstStyle/>
          <a:p>
            <a:r>
              <a:rPr lang="en-US" smtClean="0"/>
              <a:t>Presented By: Neha Thakur</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ACE0E9E5-E871-4E8D-9FED-72D710B3F329}" type="datetime1">
              <a:rPr lang="en-US" smtClean="0"/>
              <a:t>9/4/2021</a:t>
            </a:fld>
            <a:endParaRPr lang="en-US"/>
          </a:p>
        </p:txBody>
      </p:sp>
      <p:sp>
        <p:nvSpPr>
          <p:cNvPr id="8" name="Footer Placeholder 7"/>
          <p:cNvSpPr>
            <a:spLocks noGrp="1"/>
          </p:cNvSpPr>
          <p:nvPr>
            <p:ph type="ftr" sz="quarter" idx="11"/>
          </p:nvPr>
        </p:nvSpPr>
        <p:spPr/>
        <p:txBody>
          <a:bodyPr/>
          <a:lstStyle/>
          <a:p>
            <a:r>
              <a:rPr lang="en-US" smtClean="0"/>
              <a:t>Presented By: Neha Thakur</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7C815015-507C-4159-80A8-32290DFC8EE6}" type="datetime1">
              <a:rPr lang="en-US" smtClean="0"/>
              <a:t>9/4/2021</a:t>
            </a:fld>
            <a:endParaRPr lang="en-US"/>
          </a:p>
        </p:txBody>
      </p:sp>
      <p:sp>
        <p:nvSpPr>
          <p:cNvPr id="7" name="Slide Number Placeholder 6"/>
          <p:cNvSpPr>
            <a:spLocks noGrp="1"/>
          </p:cNvSpPr>
          <p:nvPr>
            <p:ph type="sldNum" sz="quarter" idx="11"/>
          </p:nvPr>
        </p:nvSpPr>
        <p:spPr/>
        <p:txBody>
          <a:bodyPr rtlCol="0"/>
          <a:lstStyle/>
          <a:p>
            <a:fld id="{B6F15528-21DE-4FAA-801E-634DDDAF4B2B}" type="slidenum">
              <a:rPr lang="en-US" smtClean="0"/>
              <a:pPr/>
              <a:t>‹#›</a:t>
            </a:fld>
            <a:endParaRPr lang="en-US"/>
          </a:p>
        </p:txBody>
      </p:sp>
      <p:sp>
        <p:nvSpPr>
          <p:cNvPr id="8" name="Footer Placeholder 7"/>
          <p:cNvSpPr>
            <a:spLocks noGrp="1"/>
          </p:cNvSpPr>
          <p:nvPr>
            <p:ph type="ftr" sz="quarter" idx="12"/>
          </p:nvPr>
        </p:nvSpPr>
        <p:spPr/>
        <p:txBody>
          <a:bodyPr rtlCol="0"/>
          <a:lstStyle/>
          <a:p>
            <a:r>
              <a:rPr lang="en-US" smtClean="0"/>
              <a:t>Presented By: Neha Thakur</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1F53A0-34FA-4B5F-A06E-DD147076C858}" type="datetime1">
              <a:rPr lang="en-US" smtClean="0"/>
              <a:t>9/4/2021</a:t>
            </a:fld>
            <a:endParaRPr lang="en-US"/>
          </a:p>
        </p:txBody>
      </p:sp>
      <p:sp>
        <p:nvSpPr>
          <p:cNvPr id="3" name="Footer Placeholder 2"/>
          <p:cNvSpPr>
            <a:spLocks noGrp="1"/>
          </p:cNvSpPr>
          <p:nvPr>
            <p:ph type="ftr" sz="quarter" idx="11"/>
          </p:nvPr>
        </p:nvSpPr>
        <p:spPr/>
        <p:txBody>
          <a:bodyPr/>
          <a:lstStyle/>
          <a:p>
            <a:r>
              <a:rPr lang="en-US" smtClean="0"/>
              <a:t>Presented By: Neha Thakur</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EE55DDDA-9851-4B10-8E03-C0956E535CBE}" type="datetime1">
              <a:rPr lang="en-US" smtClean="0"/>
              <a:t>9/4/2021</a:t>
            </a:fld>
            <a:endParaRPr lang="en-US"/>
          </a:p>
        </p:txBody>
      </p:sp>
      <p:sp>
        <p:nvSpPr>
          <p:cNvPr id="22" name="Slide Number Placeholder 21"/>
          <p:cNvSpPr>
            <a:spLocks noGrp="1"/>
          </p:cNvSpPr>
          <p:nvPr>
            <p:ph type="sldNum" sz="quarter" idx="15"/>
          </p:nvPr>
        </p:nvSpPr>
        <p:spPr/>
        <p:txBody>
          <a:bodyPr rtlCol="0"/>
          <a:lstStyle/>
          <a:p>
            <a:fld id="{B6F15528-21DE-4FAA-801E-634DDDAF4B2B}" type="slidenum">
              <a:rPr lang="en-US" smtClean="0"/>
              <a:pPr/>
              <a:t>‹#›</a:t>
            </a:fld>
            <a:endParaRPr lang="en-US"/>
          </a:p>
        </p:txBody>
      </p:sp>
      <p:sp>
        <p:nvSpPr>
          <p:cNvPr id="23" name="Footer Placeholder 22"/>
          <p:cNvSpPr>
            <a:spLocks noGrp="1"/>
          </p:cNvSpPr>
          <p:nvPr>
            <p:ph type="ftr" sz="quarter" idx="16"/>
          </p:nvPr>
        </p:nvSpPr>
        <p:spPr/>
        <p:txBody>
          <a:bodyPr rtlCol="0"/>
          <a:lstStyle/>
          <a:p>
            <a:r>
              <a:rPr lang="en-US" smtClean="0"/>
              <a:t>Presented By: Neha Thakur</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4A97119B-5068-4E9F-BDD1-F6F30F4949C9}" type="datetime1">
              <a:rPr lang="en-US" smtClean="0"/>
              <a:t>9/4/2021</a:t>
            </a:fld>
            <a:endParaRPr lang="en-US"/>
          </a:p>
        </p:txBody>
      </p:sp>
      <p:sp>
        <p:nvSpPr>
          <p:cNvPr id="18" name="Slide Number Placeholder 17"/>
          <p:cNvSpPr>
            <a:spLocks noGrp="1"/>
          </p:cNvSpPr>
          <p:nvPr>
            <p:ph type="sldNum" sz="quarter" idx="11"/>
          </p:nvPr>
        </p:nvSpPr>
        <p:spPr/>
        <p:txBody>
          <a:bodyPr rtlCol="0"/>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rtlCol="0"/>
          <a:lstStyle/>
          <a:p>
            <a:r>
              <a:rPr lang="en-US" smtClean="0"/>
              <a:t>Presented By: Neha Thakur</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586AADD-BA88-47A3-ADE8-8EC4A6766B64}" type="datetime1">
              <a:rPr lang="en-US" smtClean="0"/>
              <a:t>9/4/2021</a:t>
            </a:fld>
            <a:endParaRPr lang="en-US"/>
          </a:p>
        </p:txBody>
      </p:sp>
      <p:sp>
        <p:nvSpPr>
          <p:cNvPr id="5" name="Footer Placeholder 4"/>
          <p:cNvSpPr>
            <a:spLocks noGrp="1"/>
          </p:cNvSpPr>
          <p:nvPr>
            <p:ph type="ftr" sz="quarter" idx="11"/>
          </p:nvPr>
        </p:nvSpPr>
        <p:spPr/>
        <p:txBody>
          <a:bodyPr/>
          <a:lstStyle/>
          <a:p>
            <a:r>
              <a:rPr lang="en-US" smtClean="0"/>
              <a:t>Presented By: Neha Thakur</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1E5F677-C87C-4561-93CA-4014005907FF}" type="datetime1">
              <a:rPr lang="en-US" smtClean="0"/>
              <a:t>9/4/2021</a:t>
            </a:fld>
            <a:endParaRPr lang="en-US"/>
          </a:p>
        </p:txBody>
      </p:sp>
      <p:sp>
        <p:nvSpPr>
          <p:cNvPr id="5" name="Footer Placeholder 4"/>
          <p:cNvSpPr>
            <a:spLocks noGrp="1"/>
          </p:cNvSpPr>
          <p:nvPr>
            <p:ph type="ftr" sz="quarter" idx="11"/>
          </p:nvPr>
        </p:nvSpPr>
        <p:spPr/>
        <p:txBody>
          <a:bodyPr/>
          <a:lstStyle/>
          <a:p>
            <a:r>
              <a:rPr lang="en-US" smtClean="0"/>
              <a:t>Presented By: Neha Thakur</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1B4C7907-1590-48FD-9A6F-0896DDD12132}" type="datetime1">
              <a:rPr lang="en-US" smtClean="0"/>
              <a:t>9/4/2021</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r>
              <a:rPr lang="en-US" smtClean="0"/>
              <a:t>Presented By: Neha Thakur</a:t>
            </a:r>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en.wikipedia.org/wiki/Charles_Stark_Draper"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5000" y="457200"/>
            <a:ext cx="6781800" cy="5257800"/>
          </a:xfrm>
        </p:spPr>
        <p:txBody>
          <a:bodyPr anchor="ctr" anchorCtr="0">
            <a:normAutofit/>
          </a:bodyPr>
          <a:lstStyle/>
          <a:p>
            <a:pPr algn="ctr"/>
            <a:r>
              <a:rPr lang="en-US" u="heavy" dirty="0" smtClean="0">
                <a:solidFill>
                  <a:srgbClr val="00B0F0"/>
                </a:solidFill>
              </a:rPr>
              <a:t>UNIT-2</a:t>
            </a:r>
            <a:r>
              <a:rPr lang="en-US" u="heavy" dirty="0" smtClean="0"/>
              <a:t/>
            </a:r>
            <a:br>
              <a:rPr lang="en-US" u="heavy" dirty="0" smtClean="0"/>
            </a:br>
            <a:r>
              <a:rPr lang="en-US" u="heavy" dirty="0" smtClean="0"/>
              <a:t/>
            </a:r>
            <a:br>
              <a:rPr lang="en-US" u="heavy" dirty="0" smtClean="0"/>
            </a:br>
            <a:r>
              <a:rPr lang="en-US" sz="4800" u="heavy" dirty="0" smtClean="0">
                <a:solidFill>
                  <a:srgbClr val="FF0000"/>
                </a:solidFill>
              </a:rPr>
              <a:t>Introduction to </a:t>
            </a:r>
            <a:br>
              <a:rPr lang="en-US" sz="4800" u="heavy" dirty="0" smtClean="0">
                <a:solidFill>
                  <a:srgbClr val="FF0000"/>
                </a:solidFill>
              </a:rPr>
            </a:br>
            <a:r>
              <a:rPr lang="en-US" sz="4800" u="heavy" dirty="0" smtClean="0">
                <a:solidFill>
                  <a:srgbClr val="FF0000"/>
                </a:solidFill>
              </a:rPr>
              <a:t>Embedded Systems</a:t>
            </a:r>
            <a:endParaRPr lang="en-US" dirty="0">
              <a:solidFill>
                <a:srgbClr val="FF0000"/>
              </a:solidFill>
            </a:endParaRPr>
          </a:p>
        </p:txBody>
      </p:sp>
      <p:sp>
        <p:nvSpPr>
          <p:cNvPr id="3" name="Date Placeholder 2"/>
          <p:cNvSpPr>
            <a:spLocks noGrp="1"/>
          </p:cNvSpPr>
          <p:nvPr>
            <p:ph type="dt" sz="half" idx="10"/>
          </p:nvPr>
        </p:nvSpPr>
        <p:spPr/>
        <p:txBody>
          <a:bodyPr/>
          <a:lstStyle/>
          <a:p>
            <a:fld id="{8CCBDC76-3906-4970-AA22-9DE2A1FF9051}" type="datetime1">
              <a:rPr lang="en-US" smtClean="0"/>
              <a:t>9/4/2021</a:t>
            </a:fld>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a:p>
        </p:txBody>
      </p:sp>
      <p:sp>
        <p:nvSpPr>
          <p:cNvPr id="5" name="Footer Placeholder 4"/>
          <p:cNvSpPr>
            <a:spLocks noGrp="1"/>
          </p:cNvSpPr>
          <p:nvPr>
            <p:ph type="ftr" sz="quarter" idx="11"/>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68362"/>
          </a:xfrm>
        </p:spPr>
        <p:txBody>
          <a:bodyPr anchor="ctr" anchorCtr="0"/>
          <a:lstStyle/>
          <a:p>
            <a:r>
              <a:rPr lang="en-US" sz="3200" u="heavy" dirty="0" smtClean="0">
                <a:solidFill>
                  <a:srgbClr val="FF0000"/>
                </a:solidFill>
              </a:rPr>
              <a:t>Embedded System</a:t>
            </a:r>
            <a:endParaRPr lang="en-US" dirty="0"/>
          </a:p>
        </p:txBody>
      </p:sp>
      <p:sp>
        <p:nvSpPr>
          <p:cNvPr id="3" name="Content Placeholder 2"/>
          <p:cNvSpPr>
            <a:spLocks noGrp="1"/>
          </p:cNvSpPr>
          <p:nvPr>
            <p:ph sz="quarter" idx="1"/>
          </p:nvPr>
        </p:nvSpPr>
        <p:spPr>
          <a:xfrm>
            <a:off x="228600" y="914400"/>
            <a:ext cx="8686800" cy="5715000"/>
          </a:xfrm>
        </p:spPr>
        <p:txBody>
          <a:bodyPr>
            <a:normAutofit/>
          </a:bodyPr>
          <a:lstStyle/>
          <a:p>
            <a:pPr>
              <a:buFont typeface="Wingdings" pitchFamily="2" charset="2"/>
              <a:buChar char="Ø"/>
            </a:pPr>
            <a:r>
              <a:rPr lang="en-US" dirty="0" smtClean="0"/>
              <a:t>An Electronic/Electro mechanical system which is designed to perform a specific function and is a combination of both hardware and firmware (Software)</a:t>
            </a:r>
          </a:p>
          <a:p>
            <a:pPr>
              <a:buNone/>
            </a:pPr>
            <a:r>
              <a:rPr lang="en-US" b="1" u="sng" dirty="0" smtClean="0"/>
              <a:t>EXAMPLES:</a:t>
            </a:r>
          </a:p>
          <a:p>
            <a:pPr>
              <a:buNone/>
            </a:pPr>
            <a:r>
              <a:rPr lang="en-US" dirty="0" smtClean="0"/>
              <a:t>Electronic Toys,</a:t>
            </a:r>
          </a:p>
          <a:p>
            <a:pPr>
              <a:buNone/>
            </a:pPr>
            <a:r>
              <a:rPr lang="en-US" dirty="0" smtClean="0"/>
              <a:t> Mobile Handsets, </a:t>
            </a:r>
          </a:p>
          <a:p>
            <a:pPr>
              <a:buNone/>
            </a:pPr>
            <a:r>
              <a:rPr lang="en-US" dirty="0" smtClean="0"/>
              <a:t>Washing Machines, Air Conditioners,</a:t>
            </a:r>
          </a:p>
          <a:p>
            <a:pPr>
              <a:buNone/>
            </a:pPr>
            <a:r>
              <a:rPr lang="en-US" dirty="0" smtClean="0"/>
              <a:t> Automotive Control Units, </a:t>
            </a:r>
          </a:p>
          <a:p>
            <a:pPr>
              <a:buNone/>
            </a:pPr>
            <a:r>
              <a:rPr lang="en-US" dirty="0" smtClean="0"/>
              <a:t>Set Top Box, DVD Player etc…</a:t>
            </a:r>
          </a:p>
          <a:p>
            <a:pPr>
              <a:buNone/>
            </a:pPr>
            <a:r>
              <a:rPr lang="en-US" b="1" dirty="0" smtClean="0"/>
              <a:t>Embedded Systems are:</a:t>
            </a:r>
            <a:endParaRPr lang="en-US" sz="2000" dirty="0" smtClean="0"/>
          </a:p>
          <a:p>
            <a:pPr lvl="1">
              <a:buFont typeface="Wingdings" pitchFamily="2" charset="2"/>
              <a:buChar char="Ø"/>
            </a:pPr>
            <a:r>
              <a:rPr lang="en-US" sz="2400" dirty="0" smtClean="0"/>
              <a:t>Unique in character and behavior</a:t>
            </a:r>
            <a:endParaRPr lang="en-US" sz="2000" dirty="0" smtClean="0"/>
          </a:p>
          <a:p>
            <a:pPr lvl="1">
              <a:buFont typeface="Wingdings" pitchFamily="2" charset="2"/>
              <a:buChar char="Ø"/>
            </a:pPr>
            <a:r>
              <a:rPr lang="en-US" sz="2400" dirty="0" smtClean="0"/>
              <a:t>With specialized hardware and software</a:t>
            </a:r>
            <a:endParaRPr lang="en-US" sz="2000" dirty="0" smtClean="0"/>
          </a:p>
          <a:p>
            <a:endParaRPr lang="en-US" dirty="0" smtClean="0"/>
          </a:p>
          <a:p>
            <a:endParaRPr lang="en-US" dirty="0"/>
          </a:p>
        </p:txBody>
      </p:sp>
      <p:sp>
        <p:nvSpPr>
          <p:cNvPr id="4" name="Date Placeholder 3"/>
          <p:cNvSpPr>
            <a:spLocks noGrp="1"/>
          </p:cNvSpPr>
          <p:nvPr>
            <p:ph type="dt" sz="half" idx="14"/>
          </p:nvPr>
        </p:nvSpPr>
        <p:spPr/>
        <p:txBody>
          <a:bodyPr/>
          <a:lstStyle/>
          <a:p>
            <a:fld id="{25203A87-43B9-4BF2-8CC3-ADC6731DD3CF}"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2</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pic>
        <p:nvPicPr>
          <p:cNvPr id="1026" name="Picture 2"/>
          <p:cNvPicPr>
            <a:picLocks noGrp="1" noChangeAspect="1" noChangeArrowheads="1"/>
          </p:cNvPicPr>
          <p:nvPr>
            <p:ph sz="quarter" idx="1"/>
          </p:nvPr>
        </p:nvPicPr>
        <p:blipFill>
          <a:blip r:embed="rId2"/>
          <a:srcRect/>
          <a:stretch>
            <a:fillRect/>
          </a:stretch>
        </p:blipFill>
        <p:spPr bwMode="auto">
          <a:xfrm>
            <a:off x="609600" y="1143000"/>
            <a:ext cx="7924800" cy="4575175"/>
          </a:xfrm>
          <a:prstGeom prst="rect">
            <a:avLst/>
          </a:prstGeom>
          <a:noFill/>
          <a:ln w="9525">
            <a:noFill/>
            <a:miter lim="800000"/>
            <a:headEnd/>
            <a:tailEnd/>
          </a:ln>
          <a:effectLst/>
        </p:spPr>
      </p:pic>
      <p:sp>
        <p:nvSpPr>
          <p:cNvPr id="5" name="Date Placeholder 4"/>
          <p:cNvSpPr>
            <a:spLocks noGrp="1"/>
          </p:cNvSpPr>
          <p:nvPr>
            <p:ph type="dt" sz="half" idx="14"/>
          </p:nvPr>
        </p:nvSpPr>
        <p:spPr/>
        <p:txBody>
          <a:bodyPr/>
          <a:lstStyle/>
          <a:p>
            <a:fld id="{732D77E0-1CEC-4FBC-92EC-94575408D47F}" type="datetime1">
              <a:rPr lang="en-US" smtClean="0"/>
              <a:t>9/4/2021</a:t>
            </a:fld>
            <a:endParaRPr lang="en-US"/>
          </a:p>
        </p:txBody>
      </p:sp>
      <p:sp>
        <p:nvSpPr>
          <p:cNvPr id="6" name="Slide Number Placeholder 5"/>
          <p:cNvSpPr>
            <a:spLocks noGrp="1"/>
          </p:cNvSpPr>
          <p:nvPr>
            <p:ph type="sldNum" sz="quarter" idx="15"/>
          </p:nvPr>
        </p:nvSpPr>
        <p:spPr/>
        <p:txBody>
          <a:bodyPr/>
          <a:lstStyle/>
          <a:p>
            <a:fld id="{B6F15528-21DE-4FAA-801E-634DDDAF4B2B}" type="slidenum">
              <a:rPr lang="en-US" smtClean="0"/>
              <a:pPr/>
              <a:t>3</a:t>
            </a:fld>
            <a:endParaRPr lang="en-US"/>
          </a:p>
        </p:txBody>
      </p:sp>
      <p:sp>
        <p:nvSpPr>
          <p:cNvPr id="7" name="Footer Placeholder 6"/>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pic>
        <p:nvPicPr>
          <p:cNvPr id="2050" name="Picture 2"/>
          <p:cNvPicPr>
            <a:picLocks noGrp="1" noChangeAspect="1" noChangeArrowheads="1"/>
          </p:cNvPicPr>
          <p:nvPr>
            <p:ph sz="quarter" idx="1"/>
          </p:nvPr>
        </p:nvPicPr>
        <p:blipFill>
          <a:blip r:embed="rId2"/>
          <a:srcRect/>
          <a:stretch>
            <a:fillRect/>
          </a:stretch>
        </p:blipFill>
        <p:spPr bwMode="auto">
          <a:xfrm>
            <a:off x="762000" y="457200"/>
            <a:ext cx="8023860" cy="5943600"/>
          </a:xfrm>
          <a:prstGeom prst="rect">
            <a:avLst/>
          </a:prstGeom>
          <a:noFill/>
          <a:ln w="9525">
            <a:noFill/>
            <a:miter lim="800000"/>
            <a:headEnd/>
            <a:tailEnd/>
          </a:ln>
          <a:effectLst/>
        </p:spPr>
      </p:pic>
      <p:sp>
        <p:nvSpPr>
          <p:cNvPr id="5" name="Date Placeholder 4"/>
          <p:cNvSpPr>
            <a:spLocks noGrp="1"/>
          </p:cNvSpPr>
          <p:nvPr>
            <p:ph type="dt" sz="half" idx="14"/>
          </p:nvPr>
        </p:nvSpPr>
        <p:spPr/>
        <p:txBody>
          <a:bodyPr/>
          <a:lstStyle/>
          <a:p>
            <a:fld id="{1853A782-D5E3-4125-9BD5-6F598F52EC0E}" type="datetime1">
              <a:rPr lang="en-US" smtClean="0"/>
              <a:t>9/4/2021</a:t>
            </a:fld>
            <a:endParaRPr lang="en-US"/>
          </a:p>
        </p:txBody>
      </p:sp>
      <p:sp>
        <p:nvSpPr>
          <p:cNvPr id="6" name="Slide Number Placeholder 5"/>
          <p:cNvSpPr>
            <a:spLocks noGrp="1"/>
          </p:cNvSpPr>
          <p:nvPr>
            <p:ph type="sldNum" sz="quarter" idx="15"/>
          </p:nvPr>
        </p:nvSpPr>
        <p:spPr/>
        <p:txBody>
          <a:bodyPr/>
          <a:lstStyle/>
          <a:p>
            <a:fld id="{B6F15528-21DE-4FAA-801E-634DDDAF4B2B}" type="slidenum">
              <a:rPr lang="en-US" smtClean="0"/>
              <a:pPr/>
              <a:t>4</a:t>
            </a:fld>
            <a:endParaRPr lang="en-US"/>
          </a:p>
        </p:txBody>
      </p:sp>
      <p:sp>
        <p:nvSpPr>
          <p:cNvPr id="7" name="Footer Placeholder 6"/>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pic>
        <p:nvPicPr>
          <p:cNvPr id="3074" name="Picture 2"/>
          <p:cNvPicPr>
            <a:picLocks noGrp="1" noChangeAspect="1" noChangeArrowheads="1"/>
          </p:cNvPicPr>
          <p:nvPr>
            <p:ph sz="quarter" idx="1"/>
          </p:nvPr>
        </p:nvPicPr>
        <p:blipFill>
          <a:blip r:embed="rId2"/>
          <a:srcRect/>
          <a:stretch>
            <a:fillRect/>
          </a:stretch>
        </p:blipFill>
        <p:spPr bwMode="auto">
          <a:xfrm>
            <a:off x="685800" y="838200"/>
            <a:ext cx="7203450" cy="5334000"/>
          </a:xfrm>
          <a:prstGeom prst="rect">
            <a:avLst/>
          </a:prstGeom>
          <a:noFill/>
          <a:ln w="9525">
            <a:noFill/>
            <a:miter lim="800000"/>
            <a:headEnd/>
            <a:tailEnd/>
          </a:ln>
          <a:effectLst/>
        </p:spPr>
      </p:pic>
      <p:sp>
        <p:nvSpPr>
          <p:cNvPr id="5" name="Date Placeholder 4"/>
          <p:cNvSpPr>
            <a:spLocks noGrp="1"/>
          </p:cNvSpPr>
          <p:nvPr>
            <p:ph type="dt" sz="half" idx="14"/>
          </p:nvPr>
        </p:nvSpPr>
        <p:spPr/>
        <p:txBody>
          <a:bodyPr/>
          <a:lstStyle/>
          <a:p>
            <a:fld id="{460608EB-B9AC-4499-8A38-4963883939E2}" type="datetime1">
              <a:rPr lang="en-US" smtClean="0"/>
              <a:t>9/4/2021</a:t>
            </a:fld>
            <a:endParaRPr lang="en-US"/>
          </a:p>
        </p:txBody>
      </p:sp>
      <p:sp>
        <p:nvSpPr>
          <p:cNvPr id="6" name="Slide Number Placeholder 5"/>
          <p:cNvSpPr>
            <a:spLocks noGrp="1"/>
          </p:cNvSpPr>
          <p:nvPr>
            <p:ph type="sldNum" sz="quarter" idx="15"/>
          </p:nvPr>
        </p:nvSpPr>
        <p:spPr/>
        <p:txBody>
          <a:bodyPr/>
          <a:lstStyle/>
          <a:p>
            <a:fld id="{B6F15528-21DE-4FAA-801E-634DDDAF4B2B}" type="slidenum">
              <a:rPr lang="en-US" smtClean="0"/>
              <a:pPr/>
              <a:t>5</a:t>
            </a:fld>
            <a:endParaRPr lang="en-US"/>
          </a:p>
        </p:txBody>
      </p:sp>
      <p:sp>
        <p:nvSpPr>
          <p:cNvPr id="7" name="Footer Placeholder 6"/>
          <p:cNvSpPr>
            <a:spLocks noGrp="1"/>
          </p:cNvSpPr>
          <p:nvPr>
            <p:ph type="ftr" sz="quarter" idx="16"/>
          </p:nvPr>
        </p:nvSpPr>
        <p:spPr/>
        <p:txBody>
          <a:bodyPr/>
          <a:lstStyle/>
          <a:p>
            <a:r>
              <a:rPr lang="en-US" smtClean="0"/>
              <a:t>Presented By: Neha Thakur</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pic>
        <p:nvPicPr>
          <p:cNvPr id="4098" name="Picture 2"/>
          <p:cNvPicPr>
            <a:picLocks noGrp="1" noChangeAspect="1" noChangeArrowheads="1"/>
          </p:cNvPicPr>
          <p:nvPr>
            <p:ph sz="quarter" idx="1"/>
          </p:nvPr>
        </p:nvPicPr>
        <p:blipFill>
          <a:blip r:embed="rId2"/>
          <a:srcRect/>
          <a:stretch>
            <a:fillRect/>
          </a:stretch>
        </p:blipFill>
        <p:spPr bwMode="auto">
          <a:xfrm>
            <a:off x="685800" y="533400"/>
            <a:ext cx="7615697" cy="5638800"/>
          </a:xfrm>
          <a:prstGeom prst="rect">
            <a:avLst/>
          </a:prstGeom>
          <a:noFill/>
          <a:ln w="9525">
            <a:noFill/>
            <a:miter lim="800000"/>
            <a:headEnd/>
            <a:tailEnd/>
          </a:ln>
          <a:effectLst/>
        </p:spPr>
      </p:pic>
      <p:sp>
        <p:nvSpPr>
          <p:cNvPr id="5" name="Date Placeholder 4"/>
          <p:cNvSpPr>
            <a:spLocks noGrp="1"/>
          </p:cNvSpPr>
          <p:nvPr>
            <p:ph type="dt" sz="half" idx="14"/>
          </p:nvPr>
        </p:nvSpPr>
        <p:spPr/>
        <p:txBody>
          <a:bodyPr/>
          <a:lstStyle/>
          <a:p>
            <a:fld id="{ABC3EF63-E3A4-4B22-BE94-C95533722392}" type="datetime1">
              <a:rPr lang="en-US" smtClean="0"/>
              <a:t>9/4/2021</a:t>
            </a:fld>
            <a:endParaRPr lang="en-US"/>
          </a:p>
        </p:txBody>
      </p:sp>
      <p:sp>
        <p:nvSpPr>
          <p:cNvPr id="6" name="Slide Number Placeholder 5"/>
          <p:cNvSpPr>
            <a:spLocks noGrp="1"/>
          </p:cNvSpPr>
          <p:nvPr>
            <p:ph type="sldNum" sz="quarter" idx="15"/>
          </p:nvPr>
        </p:nvSpPr>
        <p:spPr/>
        <p:txBody>
          <a:bodyPr/>
          <a:lstStyle/>
          <a:p>
            <a:fld id="{B6F15528-21DE-4FAA-801E-634DDDAF4B2B}" type="slidenum">
              <a:rPr lang="en-US" smtClean="0"/>
              <a:pPr/>
              <a:t>6</a:t>
            </a:fld>
            <a:endParaRPr lang="en-US"/>
          </a:p>
        </p:txBody>
      </p:sp>
      <p:sp>
        <p:nvSpPr>
          <p:cNvPr id="7" name="Footer Placeholder 6"/>
          <p:cNvSpPr>
            <a:spLocks noGrp="1"/>
          </p:cNvSpPr>
          <p:nvPr>
            <p:ph type="ftr" sz="quarter" idx="16"/>
          </p:nvPr>
        </p:nvSpPr>
        <p:spPr/>
        <p:txBody>
          <a:bodyPr/>
          <a:lstStyle/>
          <a:p>
            <a:r>
              <a:rPr lang="en-US" smtClean="0"/>
              <a:t>Presented By: Neha Thakur</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pic>
        <p:nvPicPr>
          <p:cNvPr id="5122" name="Picture 2"/>
          <p:cNvPicPr>
            <a:picLocks noGrp="1" noChangeAspect="1" noChangeArrowheads="1"/>
          </p:cNvPicPr>
          <p:nvPr>
            <p:ph sz="quarter" idx="1"/>
          </p:nvPr>
        </p:nvPicPr>
        <p:blipFill>
          <a:blip r:embed="rId2"/>
          <a:srcRect/>
          <a:stretch>
            <a:fillRect/>
          </a:stretch>
        </p:blipFill>
        <p:spPr bwMode="auto">
          <a:xfrm>
            <a:off x="1143000" y="533400"/>
            <a:ext cx="7055349" cy="5562600"/>
          </a:xfrm>
          <a:prstGeom prst="rect">
            <a:avLst/>
          </a:prstGeom>
          <a:noFill/>
          <a:ln w="9525">
            <a:noFill/>
            <a:miter lim="800000"/>
            <a:headEnd/>
            <a:tailEnd/>
          </a:ln>
          <a:effectLst/>
        </p:spPr>
      </p:pic>
      <p:sp>
        <p:nvSpPr>
          <p:cNvPr id="5" name="Date Placeholder 4"/>
          <p:cNvSpPr>
            <a:spLocks noGrp="1"/>
          </p:cNvSpPr>
          <p:nvPr>
            <p:ph type="dt" sz="half" idx="14"/>
          </p:nvPr>
        </p:nvSpPr>
        <p:spPr/>
        <p:txBody>
          <a:bodyPr/>
          <a:lstStyle/>
          <a:p>
            <a:fld id="{7965E182-6A96-47B0-BCB1-AE8E113CCB99}" type="datetime1">
              <a:rPr lang="en-US" smtClean="0"/>
              <a:t>9/4/2021</a:t>
            </a:fld>
            <a:endParaRPr lang="en-US"/>
          </a:p>
        </p:txBody>
      </p:sp>
      <p:sp>
        <p:nvSpPr>
          <p:cNvPr id="6" name="Slide Number Placeholder 5"/>
          <p:cNvSpPr>
            <a:spLocks noGrp="1"/>
          </p:cNvSpPr>
          <p:nvPr>
            <p:ph type="sldNum" sz="quarter" idx="15"/>
          </p:nvPr>
        </p:nvSpPr>
        <p:spPr/>
        <p:txBody>
          <a:bodyPr/>
          <a:lstStyle/>
          <a:p>
            <a:fld id="{B6F15528-21DE-4FAA-801E-634DDDAF4B2B}" type="slidenum">
              <a:rPr lang="en-US" smtClean="0"/>
              <a:pPr/>
              <a:t>7</a:t>
            </a:fld>
            <a:endParaRPr lang="en-US"/>
          </a:p>
        </p:txBody>
      </p:sp>
      <p:sp>
        <p:nvSpPr>
          <p:cNvPr id="7" name="Footer Placeholder 6"/>
          <p:cNvSpPr>
            <a:spLocks noGrp="1"/>
          </p:cNvSpPr>
          <p:nvPr>
            <p:ph type="ftr" sz="quarter" idx="16"/>
          </p:nvPr>
        </p:nvSpPr>
        <p:spPr/>
        <p:txBody>
          <a:bodyPr/>
          <a:lstStyle/>
          <a:p>
            <a:r>
              <a:rPr lang="en-US" smtClean="0"/>
              <a:t>Presented By: Neha Thakur</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sp>
        <p:nvSpPr>
          <p:cNvPr id="3" name="Content Placeholder 2"/>
          <p:cNvSpPr>
            <a:spLocks noGrp="1"/>
          </p:cNvSpPr>
          <p:nvPr>
            <p:ph sz="quarter" idx="1"/>
          </p:nvPr>
        </p:nvSpPr>
        <p:spPr/>
        <p:txBody>
          <a:bodyPr/>
          <a:lstStyle/>
          <a:p>
            <a:r>
              <a:rPr lang="en-IN" dirty="0" smtClean="0"/>
              <a:t> </a:t>
            </a:r>
            <a:endParaRPr lang="en-IN" dirty="0"/>
          </a:p>
        </p:txBody>
      </p:sp>
      <p:pic>
        <p:nvPicPr>
          <p:cNvPr id="6146" name="Picture 2"/>
          <p:cNvPicPr>
            <a:picLocks noChangeAspect="1" noChangeArrowheads="1"/>
          </p:cNvPicPr>
          <p:nvPr/>
        </p:nvPicPr>
        <p:blipFill>
          <a:blip r:embed="rId2"/>
          <a:srcRect/>
          <a:stretch>
            <a:fillRect/>
          </a:stretch>
        </p:blipFill>
        <p:spPr bwMode="auto">
          <a:xfrm>
            <a:off x="488444" y="609600"/>
            <a:ext cx="7946377" cy="5486399"/>
          </a:xfrm>
          <a:prstGeom prst="rect">
            <a:avLst/>
          </a:prstGeom>
          <a:noFill/>
          <a:ln w="9525">
            <a:noFill/>
            <a:miter lim="800000"/>
            <a:headEnd/>
            <a:tailEnd/>
          </a:ln>
          <a:effectLst/>
        </p:spPr>
      </p:pic>
      <p:sp>
        <p:nvSpPr>
          <p:cNvPr id="5" name="Date Placeholder 4"/>
          <p:cNvSpPr>
            <a:spLocks noGrp="1"/>
          </p:cNvSpPr>
          <p:nvPr>
            <p:ph type="dt" sz="half" idx="14"/>
          </p:nvPr>
        </p:nvSpPr>
        <p:spPr/>
        <p:txBody>
          <a:bodyPr/>
          <a:lstStyle/>
          <a:p>
            <a:fld id="{E91C2A2B-D1B1-4438-A8BB-A06FF03D1AC2}" type="datetime1">
              <a:rPr lang="en-US" smtClean="0"/>
              <a:t>9/4/2021</a:t>
            </a:fld>
            <a:endParaRPr lang="en-US"/>
          </a:p>
        </p:txBody>
      </p:sp>
      <p:sp>
        <p:nvSpPr>
          <p:cNvPr id="6" name="Slide Number Placeholder 5"/>
          <p:cNvSpPr>
            <a:spLocks noGrp="1"/>
          </p:cNvSpPr>
          <p:nvPr>
            <p:ph type="sldNum" sz="quarter" idx="15"/>
          </p:nvPr>
        </p:nvSpPr>
        <p:spPr/>
        <p:txBody>
          <a:bodyPr/>
          <a:lstStyle/>
          <a:p>
            <a:fld id="{B6F15528-21DE-4FAA-801E-634DDDAF4B2B}" type="slidenum">
              <a:rPr lang="en-US" smtClean="0"/>
              <a:pPr/>
              <a:t>8</a:t>
            </a:fld>
            <a:endParaRPr lang="en-US"/>
          </a:p>
        </p:txBody>
      </p:sp>
      <p:sp>
        <p:nvSpPr>
          <p:cNvPr id="7" name="Footer Placeholder 6"/>
          <p:cNvSpPr>
            <a:spLocks noGrp="1"/>
          </p:cNvSpPr>
          <p:nvPr>
            <p:ph type="ftr" sz="quarter" idx="16"/>
          </p:nvPr>
        </p:nvSpPr>
        <p:spPr/>
        <p:txBody>
          <a:bodyPr/>
          <a:lstStyle/>
          <a:p>
            <a:r>
              <a:rPr lang="en-US" smtClean="0"/>
              <a:t>Presented By: Neha Thakur</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normAutofit fontScale="90000"/>
          </a:bodyPr>
          <a:lstStyle/>
          <a:p>
            <a:r>
              <a:rPr lang="en-US" b="1" u="heavy" dirty="0" smtClean="0"/>
              <a:t>History of Embedded Systems:</a:t>
            </a:r>
            <a:r>
              <a:rPr lang="en-US" dirty="0" smtClean="0"/>
              <a:t/>
            </a:r>
            <a:br>
              <a:rPr lang="en-US" dirty="0" smtClean="0"/>
            </a:br>
            <a:r>
              <a:rPr lang="en-US" b="1" dirty="0" smtClean="0"/>
              <a:t> </a:t>
            </a:r>
            <a:endParaRPr lang="en-US" dirty="0"/>
          </a:p>
        </p:txBody>
      </p:sp>
      <p:sp>
        <p:nvSpPr>
          <p:cNvPr id="3" name="Content Placeholder 2"/>
          <p:cNvSpPr>
            <a:spLocks noGrp="1"/>
          </p:cNvSpPr>
          <p:nvPr>
            <p:ph sz="quarter" idx="1"/>
          </p:nvPr>
        </p:nvSpPr>
        <p:spPr>
          <a:xfrm>
            <a:off x="457200" y="685800"/>
            <a:ext cx="8001000" cy="5788152"/>
          </a:xfrm>
        </p:spPr>
        <p:txBody>
          <a:bodyPr>
            <a:normAutofit fontScale="92500" lnSpcReduction="10000"/>
          </a:bodyPr>
          <a:lstStyle/>
          <a:p>
            <a:pPr>
              <a:buNone/>
            </a:pPr>
            <a:endParaRPr lang="en-US" sz="1800" dirty="0" smtClean="0"/>
          </a:p>
          <a:p>
            <a:pPr lvl="0">
              <a:buFont typeface="Wingdings" pitchFamily="2" charset="2"/>
              <a:buChar char="Ø"/>
            </a:pPr>
            <a:r>
              <a:rPr lang="en-US" sz="2800" dirty="0" smtClean="0"/>
              <a:t>First Recognized Modern Embedded System: </a:t>
            </a:r>
            <a:r>
              <a:rPr lang="en-US" dirty="0" smtClean="0"/>
              <a:t>Apollo Guidance Computer (AGC) developed by</a:t>
            </a:r>
            <a:r>
              <a:rPr lang="en-US" dirty="0" smtClean="0">
                <a:hlinkClick r:id="rId2"/>
              </a:rPr>
              <a:t> Charles Stark Draper </a:t>
            </a:r>
            <a:r>
              <a:rPr lang="en-US" dirty="0" smtClean="0"/>
              <a:t>at the MIT Instrumentation Laboratory.</a:t>
            </a:r>
            <a:endParaRPr lang="en-US" sz="2800" dirty="0" smtClean="0"/>
          </a:p>
          <a:p>
            <a:pPr lvl="1">
              <a:buFont typeface="Wingdings" pitchFamily="2" charset="2"/>
              <a:buChar char="Ø"/>
            </a:pPr>
            <a:r>
              <a:rPr lang="en-US" sz="2400" dirty="0" smtClean="0"/>
              <a:t>It has two modules</a:t>
            </a:r>
            <a:endParaRPr lang="en-US" sz="2000" dirty="0" smtClean="0"/>
          </a:p>
          <a:p>
            <a:pPr lvl="1">
              <a:buFont typeface="Wingdings" pitchFamily="2" charset="2"/>
              <a:buChar char="Ø"/>
            </a:pPr>
            <a:r>
              <a:rPr lang="en-US" sz="2400" dirty="0" smtClean="0"/>
              <a:t>1.Command module(CM) 2.Lunar Excursion </a:t>
            </a:r>
            <a:r>
              <a:rPr lang="en-US" dirty="0" smtClean="0"/>
              <a:t>module(LEM)</a:t>
            </a:r>
            <a:endParaRPr lang="en-US" sz="2000" dirty="0" smtClean="0"/>
          </a:p>
          <a:p>
            <a:pPr lvl="1">
              <a:buFont typeface="Wingdings" pitchFamily="2" charset="2"/>
              <a:buChar char="Ø"/>
            </a:pPr>
            <a:r>
              <a:rPr lang="en-US" sz="2400" dirty="0" smtClean="0"/>
              <a:t>RAM size 256 , 1K ,2K words</a:t>
            </a:r>
            <a:endParaRPr lang="en-US" sz="2000" dirty="0" smtClean="0"/>
          </a:p>
          <a:p>
            <a:pPr lvl="1">
              <a:buFont typeface="Wingdings" pitchFamily="2" charset="2"/>
              <a:buChar char="Ø"/>
            </a:pPr>
            <a:r>
              <a:rPr lang="en-US" sz="2400" dirty="0" smtClean="0"/>
              <a:t>ROM size 4K,10K,36K words</a:t>
            </a:r>
            <a:endParaRPr lang="en-US" sz="2800" dirty="0" smtClean="0"/>
          </a:p>
          <a:p>
            <a:pPr lvl="1">
              <a:buFont typeface="Wingdings" pitchFamily="2" charset="2"/>
              <a:buChar char="Ø"/>
            </a:pPr>
            <a:r>
              <a:rPr lang="en-US" sz="2400" dirty="0" smtClean="0"/>
              <a:t>Clock frequency is 1.024MHz</a:t>
            </a:r>
            <a:endParaRPr lang="en-US" sz="2800" dirty="0" smtClean="0"/>
          </a:p>
          <a:p>
            <a:pPr lvl="1">
              <a:buFont typeface="Wingdings" pitchFamily="2" charset="2"/>
              <a:buChar char="Ø"/>
            </a:pPr>
            <a:r>
              <a:rPr lang="en-US" sz="2400" dirty="0" smtClean="0"/>
              <a:t>5000 ,3-input RTL NOR gates are used</a:t>
            </a:r>
            <a:endParaRPr lang="en-US" sz="2800" dirty="0" smtClean="0"/>
          </a:p>
          <a:p>
            <a:pPr lvl="1">
              <a:buFont typeface="Wingdings" pitchFamily="2" charset="2"/>
              <a:buChar char="Ø"/>
            </a:pPr>
            <a:r>
              <a:rPr lang="en-US" sz="2400" dirty="0" smtClean="0"/>
              <a:t>User interface is DSKY(display/Keyboard)</a:t>
            </a:r>
            <a:endParaRPr lang="en-US" sz="2800" dirty="0" smtClean="0"/>
          </a:p>
          <a:p>
            <a:pPr lvl="0">
              <a:buFont typeface="Wingdings" pitchFamily="2" charset="2"/>
              <a:buChar char="Ø"/>
            </a:pPr>
            <a:r>
              <a:rPr lang="en-US" sz="2800" dirty="0" smtClean="0"/>
              <a:t>First Mass Produced Embedded System: </a:t>
            </a:r>
            <a:r>
              <a:rPr lang="en-US" i="1" dirty="0" err="1" smtClean="0"/>
              <a:t>Autonetics</a:t>
            </a:r>
            <a:r>
              <a:rPr lang="en-US" i="1" dirty="0" smtClean="0"/>
              <a:t> </a:t>
            </a:r>
            <a:r>
              <a:rPr lang="en-US" b="1" i="1" dirty="0" smtClean="0"/>
              <a:t>D-17 </a:t>
            </a:r>
            <a:r>
              <a:rPr lang="en-US" i="1" dirty="0" smtClean="0"/>
              <a:t>Guidance computer for Minuteman-I missile</a:t>
            </a:r>
            <a:endParaRPr lang="en-US" sz="3200" dirty="0" smtClean="0"/>
          </a:p>
          <a:p>
            <a:r>
              <a:rPr lang="en-US" sz="800" i="1" dirty="0" smtClean="0"/>
              <a:t> </a:t>
            </a:r>
            <a:endParaRPr lang="en-US" sz="4800" dirty="0" smtClean="0"/>
          </a:p>
          <a:p>
            <a:endParaRPr lang="en-US" dirty="0"/>
          </a:p>
        </p:txBody>
      </p:sp>
      <p:sp>
        <p:nvSpPr>
          <p:cNvPr id="4" name="Date Placeholder 3"/>
          <p:cNvSpPr>
            <a:spLocks noGrp="1"/>
          </p:cNvSpPr>
          <p:nvPr>
            <p:ph type="dt" sz="half" idx="14"/>
          </p:nvPr>
        </p:nvSpPr>
        <p:spPr/>
        <p:txBody>
          <a:bodyPr/>
          <a:lstStyle/>
          <a:p>
            <a:fld id="{D596E646-45A4-4C20-B064-1AE7D0943E17}"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9</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pic>
        <p:nvPicPr>
          <p:cNvPr id="8194" name="Picture 2"/>
          <p:cNvPicPr>
            <a:picLocks noGrp="1" noChangeAspect="1" noChangeArrowheads="1"/>
          </p:cNvPicPr>
          <p:nvPr>
            <p:ph sz="quarter" idx="1"/>
          </p:nvPr>
        </p:nvPicPr>
        <p:blipFill>
          <a:blip r:embed="rId2"/>
          <a:srcRect/>
          <a:stretch>
            <a:fillRect/>
          </a:stretch>
        </p:blipFill>
        <p:spPr bwMode="auto">
          <a:xfrm>
            <a:off x="381000" y="762000"/>
            <a:ext cx="8229600" cy="5410200"/>
          </a:xfrm>
          <a:prstGeom prst="rect">
            <a:avLst/>
          </a:prstGeom>
          <a:noFill/>
          <a:ln w="9525">
            <a:noFill/>
            <a:miter lim="800000"/>
            <a:headEnd/>
            <a:tailEnd/>
          </a:ln>
          <a:effectLst/>
        </p:spPr>
      </p:pic>
      <p:sp>
        <p:nvSpPr>
          <p:cNvPr id="5" name="Date Placeholder 4"/>
          <p:cNvSpPr>
            <a:spLocks noGrp="1"/>
          </p:cNvSpPr>
          <p:nvPr>
            <p:ph type="dt" sz="half" idx="14"/>
          </p:nvPr>
        </p:nvSpPr>
        <p:spPr/>
        <p:txBody>
          <a:bodyPr/>
          <a:lstStyle/>
          <a:p>
            <a:fld id="{90E555E3-AFE0-49AA-934E-E674487E8156}" type="datetime1">
              <a:rPr lang="en-US" smtClean="0"/>
              <a:t>9/4/2021</a:t>
            </a:fld>
            <a:endParaRPr lang="en-US"/>
          </a:p>
        </p:txBody>
      </p:sp>
      <p:sp>
        <p:nvSpPr>
          <p:cNvPr id="6" name="Slide Number Placeholder 5"/>
          <p:cNvSpPr>
            <a:spLocks noGrp="1"/>
          </p:cNvSpPr>
          <p:nvPr>
            <p:ph type="sldNum" sz="quarter" idx="15"/>
          </p:nvPr>
        </p:nvSpPr>
        <p:spPr/>
        <p:txBody>
          <a:bodyPr/>
          <a:lstStyle/>
          <a:p>
            <a:fld id="{B6F15528-21DE-4FAA-801E-634DDDAF4B2B}" type="slidenum">
              <a:rPr lang="en-US" smtClean="0"/>
              <a:pPr/>
              <a:t>10</a:t>
            </a:fld>
            <a:endParaRPr lang="en-US"/>
          </a:p>
        </p:txBody>
      </p:sp>
      <p:sp>
        <p:nvSpPr>
          <p:cNvPr id="7" name="Footer Placeholder 6"/>
          <p:cNvSpPr>
            <a:spLocks noGrp="1"/>
          </p:cNvSpPr>
          <p:nvPr>
            <p:ph type="ftr" sz="quarter" idx="16"/>
          </p:nvPr>
        </p:nvSpPr>
        <p:spPr/>
        <p:txBody>
          <a:bodyPr/>
          <a:lstStyle/>
          <a:p>
            <a:r>
              <a:rPr lang="en-US" smtClean="0"/>
              <a:t>Presented By: Neha Thakur</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pic>
        <p:nvPicPr>
          <p:cNvPr id="7171" name="Picture 3"/>
          <p:cNvPicPr>
            <a:picLocks noGrp="1" noChangeAspect="1" noChangeArrowheads="1"/>
          </p:cNvPicPr>
          <p:nvPr>
            <p:ph sz="quarter" idx="1"/>
          </p:nvPr>
        </p:nvPicPr>
        <p:blipFill>
          <a:blip r:embed="rId2"/>
          <a:srcRect/>
          <a:stretch>
            <a:fillRect/>
          </a:stretch>
        </p:blipFill>
        <p:spPr bwMode="auto">
          <a:xfrm>
            <a:off x="533400" y="457200"/>
            <a:ext cx="7391400" cy="3017837"/>
          </a:xfrm>
          <a:prstGeom prst="rect">
            <a:avLst/>
          </a:prstGeom>
          <a:noFill/>
          <a:ln w="9525">
            <a:noFill/>
            <a:miter lim="800000"/>
            <a:headEnd/>
            <a:tailEnd/>
          </a:ln>
          <a:effectLst/>
        </p:spPr>
      </p:pic>
      <p:pic>
        <p:nvPicPr>
          <p:cNvPr id="7172" name="Picture 4"/>
          <p:cNvPicPr>
            <a:picLocks noChangeAspect="1" noChangeArrowheads="1"/>
          </p:cNvPicPr>
          <p:nvPr/>
        </p:nvPicPr>
        <p:blipFill>
          <a:blip r:embed="rId3"/>
          <a:srcRect/>
          <a:stretch>
            <a:fillRect/>
          </a:stretch>
        </p:blipFill>
        <p:spPr bwMode="auto">
          <a:xfrm>
            <a:off x="533400" y="3429000"/>
            <a:ext cx="7391400" cy="2581275"/>
          </a:xfrm>
          <a:prstGeom prst="rect">
            <a:avLst/>
          </a:prstGeom>
          <a:noFill/>
          <a:ln w="9525">
            <a:noFill/>
            <a:miter lim="800000"/>
            <a:headEnd/>
            <a:tailEnd/>
          </a:ln>
          <a:effectLst/>
        </p:spPr>
      </p:pic>
      <p:sp>
        <p:nvSpPr>
          <p:cNvPr id="7" name="Date Placeholder 6"/>
          <p:cNvSpPr>
            <a:spLocks noGrp="1"/>
          </p:cNvSpPr>
          <p:nvPr>
            <p:ph type="dt" sz="half" idx="14"/>
          </p:nvPr>
        </p:nvSpPr>
        <p:spPr/>
        <p:txBody>
          <a:bodyPr/>
          <a:lstStyle/>
          <a:p>
            <a:fld id="{A0732C6C-A809-4F87-8C61-E289436F4341}" type="datetime1">
              <a:rPr lang="en-US" smtClean="0"/>
              <a:t>9/4/2021</a:t>
            </a:fld>
            <a:endParaRPr lang="en-US"/>
          </a:p>
        </p:txBody>
      </p:sp>
      <p:sp>
        <p:nvSpPr>
          <p:cNvPr id="8" name="Slide Number Placeholder 7"/>
          <p:cNvSpPr>
            <a:spLocks noGrp="1"/>
          </p:cNvSpPr>
          <p:nvPr>
            <p:ph type="sldNum" sz="quarter" idx="15"/>
          </p:nvPr>
        </p:nvSpPr>
        <p:spPr/>
        <p:txBody>
          <a:bodyPr/>
          <a:lstStyle/>
          <a:p>
            <a:fld id="{B6F15528-21DE-4FAA-801E-634DDDAF4B2B}" type="slidenum">
              <a:rPr lang="en-US" smtClean="0"/>
              <a:pPr/>
              <a:t>11</a:t>
            </a:fld>
            <a:endParaRPr lang="en-US"/>
          </a:p>
        </p:txBody>
      </p:sp>
      <p:sp>
        <p:nvSpPr>
          <p:cNvPr id="9" name="Footer Placeholder 8"/>
          <p:cNvSpPr>
            <a:spLocks noGrp="1"/>
          </p:cNvSpPr>
          <p:nvPr>
            <p:ph type="ftr" sz="quarter" idx="16"/>
          </p:nvPr>
        </p:nvSpPr>
        <p:spPr/>
        <p:txBody>
          <a:bodyPr/>
          <a:lstStyle/>
          <a:p>
            <a:r>
              <a:rPr lang="en-US" smtClean="0"/>
              <a:t>Presented By: Neha Thakur</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7467600" cy="1143000"/>
          </a:xfrm>
        </p:spPr>
        <p:txBody>
          <a:bodyPr/>
          <a:lstStyle/>
          <a:p>
            <a:r>
              <a:rPr lang="en-US" u="heavy" dirty="0" smtClean="0"/>
              <a:t>Embedded Systems Vs General Computing Systems:</a:t>
            </a:r>
            <a:endParaRPr lang="en-US" dirty="0"/>
          </a:p>
        </p:txBody>
      </p:sp>
      <p:pic>
        <p:nvPicPr>
          <p:cNvPr id="1026" name="Picture 2"/>
          <p:cNvPicPr>
            <a:picLocks noGrp="1" noChangeAspect="1" noChangeArrowheads="1"/>
          </p:cNvPicPr>
          <p:nvPr>
            <p:ph sz="quarter" idx="1"/>
          </p:nvPr>
        </p:nvPicPr>
        <p:blipFill>
          <a:blip r:embed="rId2"/>
          <a:srcRect/>
          <a:stretch>
            <a:fillRect/>
          </a:stretch>
        </p:blipFill>
        <p:spPr bwMode="auto">
          <a:xfrm>
            <a:off x="381000" y="1219200"/>
            <a:ext cx="8305800" cy="5181600"/>
          </a:xfrm>
          <a:prstGeom prst="rect">
            <a:avLst/>
          </a:prstGeom>
          <a:noFill/>
          <a:ln w="9525">
            <a:noFill/>
            <a:miter lim="800000"/>
            <a:headEnd/>
            <a:tailEnd/>
          </a:ln>
          <a:effectLst/>
        </p:spPr>
      </p:pic>
      <p:sp>
        <p:nvSpPr>
          <p:cNvPr id="4" name="Date Placeholder 3"/>
          <p:cNvSpPr>
            <a:spLocks noGrp="1"/>
          </p:cNvSpPr>
          <p:nvPr>
            <p:ph type="dt" sz="half" idx="14"/>
          </p:nvPr>
        </p:nvSpPr>
        <p:spPr/>
        <p:txBody>
          <a:bodyPr/>
          <a:lstStyle/>
          <a:p>
            <a:fld id="{4970BC2D-6C20-4446-B661-521659DF820C}"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12</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325562"/>
          </a:xfrm>
        </p:spPr>
        <p:txBody>
          <a:bodyPr>
            <a:normAutofit fontScale="90000"/>
          </a:bodyPr>
          <a:lstStyle/>
          <a:p>
            <a:r>
              <a:rPr lang="en-US" b="1" u="heavy" dirty="0" smtClean="0"/>
              <a:t>Classification of Embedded Systems:</a:t>
            </a:r>
            <a:r>
              <a:rPr lang="en-US" sz="2800" dirty="0" smtClean="0"/>
              <a:t/>
            </a:r>
            <a:br>
              <a:rPr lang="en-US" sz="2800" dirty="0" smtClean="0"/>
            </a:br>
            <a:endParaRPr lang="en-US" dirty="0"/>
          </a:p>
        </p:txBody>
      </p:sp>
      <p:sp>
        <p:nvSpPr>
          <p:cNvPr id="3" name="Content Placeholder 2"/>
          <p:cNvSpPr>
            <a:spLocks noGrp="1"/>
          </p:cNvSpPr>
          <p:nvPr>
            <p:ph sz="quarter" idx="1"/>
          </p:nvPr>
        </p:nvSpPr>
        <p:spPr>
          <a:xfrm>
            <a:off x="457200" y="1905000"/>
            <a:ext cx="7772400" cy="4568952"/>
          </a:xfrm>
        </p:spPr>
        <p:txBody>
          <a:bodyPr/>
          <a:lstStyle/>
          <a:p>
            <a:pPr lvl="1">
              <a:buFont typeface="Wingdings" pitchFamily="2" charset="2"/>
              <a:buChar char="Ø"/>
            </a:pPr>
            <a:r>
              <a:rPr lang="en-US" sz="2400" b="1" dirty="0" smtClean="0"/>
              <a:t>Based on Generation</a:t>
            </a:r>
            <a:endParaRPr lang="en-US" sz="2000" dirty="0" smtClean="0"/>
          </a:p>
          <a:p>
            <a:pPr lvl="1">
              <a:buFont typeface="Wingdings" pitchFamily="2" charset="2"/>
              <a:buChar char="Ø"/>
            </a:pPr>
            <a:r>
              <a:rPr lang="en-US" sz="2400" b="1" dirty="0" smtClean="0"/>
              <a:t>Based on Complexity &amp; Performance Requirements</a:t>
            </a:r>
            <a:endParaRPr lang="en-US" sz="3200" dirty="0" smtClean="0"/>
          </a:p>
          <a:p>
            <a:pPr lvl="1">
              <a:buFont typeface="Wingdings" pitchFamily="2" charset="2"/>
              <a:buChar char="Ø"/>
            </a:pPr>
            <a:r>
              <a:rPr lang="en-US" sz="2400" b="1" dirty="0" smtClean="0"/>
              <a:t>Based on deterministic behavior</a:t>
            </a:r>
            <a:endParaRPr lang="en-US" sz="3200" dirty="0" smtClean="0"/>
          </a:p>
          <a:p>
            <a:pPr lvl="1">
              <a:buFont typeface="Wingdings" pitchFamily="2" charset="2"/>
              <a:buChar char="Ø"/>
            </a:pPr>
            <a:r>
              <a:rPr lang="en-US" sz="2400" b="1" dirty="0" smtClean="0"/>
              <a:t>Based on Triggering</a:t>
            </a:r>
            <a:endParaRPr lang="en-US" sz="3200" dirty="0" smtClean="0"/>
          </a:p>
          <a:p>
            <a:endParaRPr lang="en-US" dirty="0"/>
          </a:p>
        </p:txBody>
      </p:sp>
      <p:sp>
        <p:nvSpPr>
          <p:cNvPr id="4" name="Date Placeholder 3"/>
          <p:cNvSpPr>
            <a:spLocks noGrp="1"/>
          </p:cNvSpPr>
          <p:nvPr>
            <p:ph type="dt" sz="half" idx="14"/>
          </p:nvPr>
        </p:nvSpPr>
        <p:spPr/>
        <p:txBody>
          <a:bodyPr/>
          <a:lstStyle/>
          <a:p>
            <a:fld id="{9482F0C8-860C-452F-91C4-71EDE067D1CA}"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13</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chorCtr="0">
            <a:normAutofit fontScale="90000"/>
          </a:bodyPr>
          <a:lstStyle/>
          <a:p>
            <a:pPr lvl="0"/>
            <a:r>
              <a:rPr lang="en-US" b="1" u="heavy" dirty="0" smtClean="0"/>
              <a:t>Embedded Systems - Classification based on Generation</a:t>
            </a:r>
            <a:r>
              <a:rPr lang="en-US" dirty="0" smtClean="0"/>
              <a:t/>
            </a:r>
            <a:br>
              <a:rPr lang="en-US" dirty="0" smtClean="0"/>
            </a:br>
            <a:endParaRPr lang="en-US" dirty="0"/>
          </a:p>
        </p:txBody>
      </p:sp>
      <p:sp>
        <p:nvSpPr>
          <p:cNvPr id="3" name="Content Placeholder 2"/>
          <p:cNvSpPr>
            <a:spLocks noGrp="1"/>
          </p:cNvSpPr>
          <p:nvPr>
            <p:ph sz="quarter" idx="1"/>
          </p:nvPr>
        </p:nvSpPr>
        <p:spPr>
          <a:xfrm>
            <a:off x="457200" y="1295400"/>
            <a:ext cx="8001000" cy="5334000"/>
          </a:xfrm>
        </p:spPr>
        <p:txBody>
          <a:bodyPr>
            <a:normAutofit/>
          </a:bodyPr>
          <a:lstStyle/>
          <a:p>
            <a:pPr>
              <a:buFont typeface="Wingdings" pitchFamily="2" charset="2"/>
              <a:buChar char="Ø"/>
            </a:pPr>
            <a:r>
              <a:rPr lang="en-US" b="1" u="sng" dirty="0" smtClean="0"/>
              <a:t>First Generation: </a:t>
            </a:r>
            <a:r>
              <a:rPr lang="en-US" dirty="0" smtClean="0"/>
              <a:t>The early embedded systems built around 8-bit microprocessors like 8085 and Z80 and 4-bit microcontrollers  with simple hardware and firmware.</a:t>
            </a:r>
          </a:p>
          <a:p>
            <a:pPr>
              <a:buNone/>
            </a:pPr>
            <a:r>
              <a:rPr lang="en-US" b="1" dirty="0" smtClean="0"/>
              <a:t>EX. stepper motor control units, Digital Telephone Keypads etc.</a:t>
            </a:r>
            <a:endParaRPr lang="en-US" dirty="0" smtClean="0"/>
          </a:p>
          <a:p>
            <a:pPr>
              <a:buNone/>
            </a:pPr>
            <a:endParaRPr lang="en-US" dirty="0" smtClean="0"/>
          </a:p>
          <a:p>
            <a:pPr>
              <a:buFont typeface="Wingdings" pitchFamily="2" charset="2"/>
              <a:buChar char="Ø"/>
            </a:pPr>
            <a:r>
              <a:rPr lang="en-US" b="1" u="sng" dirty="0" smtClean="0"/>
              <a:t>Second Generation</a:t>
            </a:r>
            <a:r>
              <a:rPr lang="en-US" dirty="0" smtClean="0"/>
              <a:t>: Embedded Systems built around 16-bit microprocessors and 8 or 16-bit microcontrollers, following the first generation embedded systems</a:t>
            </a:r>
          </a:p>
          <a:p>
            <a:pPr>
              <a:buNone/>
            </a:pPr>
            <a:r>
              <a:rPr lang="en-US" b="1" dirty="0" smtClean="0"/>
              <a:t>EX.SCADA, Data Acquisition Systems etc.</a:t>
            </a:r>
            <a:endParaRPr lang="en-US" dirty="0" smtClean="0"/>
          </a:p>
          <a:p>
            <a:endParaRPr lang="en-US" dirty="0" smtClean="0"/>
          </a:p>
          <a:p>
            <a:endParaRPr lang="en-US" dirty="0"/>
          </a:p>
        </p:txBody>
      </p:sp>
      <p:sp>
        <p:nvSpPr>
          <p:cNvPr id="4" name="Date Placeholder 3"/>
          <p:cNvSpPr>
            <a:spLocks noGrp="1"/>
          </p:cNvSpPr>
          <p:nvPr>
            <p:ph type="dt" sz="half" idx="14"/>
          </p:nvPr>
        </p:nvSpPr>
        <p:spPr/>
        <p:txBody>
          <a:bodyPr/>
          <a:lstStyle/>
          <a:p>
            <a:fld id="{8B38551A-F0E3-475C-A86C-ECB0D13BDB14}"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14</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04800"/>
            <a:ext cx="8305800" cy="6169152"/>
          </a:xfrm>
        </p:spPr>
        <p:txBody>
          <a:bodyPr/>
          <a:lstStyle/>
          <a:p>
            <a:pPr>
              <a:buFont typeface="Wingdings" pitchFamily="2" charset="2"/>
              <a:buChar char="Ø"/>
            </a:pPr>
            <a:r>
              <a:rPr lang="en-US" b="1" u="sng" dirty="0" smtClean="0"/>
              <a:t>Third Generation: </a:t>
            </a:r>
            <a:r>
              <a:rPr lang="en-US" dirty="0" smtClean="0"/>
              <a:t>Embedded Systems built around high performance 16/32 bit Microprocessors/controllers, Application Specific Instruction set processors like Digital Signal Processors (DSPs), and Application Specific Integrated Circuits (ASICs).The instruction set is complex and powerful.</a:t>
            </a:r>
          </a:p>
          <a:p>
            <a:pPr>
              <a:buNone/>
            </a:pPr>
            <a:r>
              <a:rPr lang="en-US" b="1" dirty="0" smtClean="0"/>
              <a:t>EX. Robotics, industrial process control, networking etc.</a:t>
            </a:r>
            <a:endParaRPr lang="en-US" dirty="0" smtClean="0"/>
          </a:p>
          <a:p>
            <a:pPr>
              <a:buFont typeface="Wingdings" pitchFamily="2" charset="2"/>
              <a:buChar char="Ø"/>
            </a:pPr>
            <a:r>
              <a:rPr lang="en-US" b="1" u="sng" dirty="0" smtClean="0"/>
              <a:t>Fourth Generation: </a:t>
            </a:r>
            <a:r>
              <a:rPr lang="en-US" dirty="0" smtClean="0"/>
              <a:t>Embedded Systems built around System on Chips (SoC’s), Re- configurable processors and multicore processors. It brings high performance, tight integration and miniaturization into the embedded device market</a:t>
            </a:r>
          </a:p>
          <a:p>
            <a:pPr>
              <a:buNone/>
            </a:pPr>
            <a:r>
              <a:rPr lang="en-US" b="1" dirty="0" smtClean="0"/>
              <a:t>EX Smart phone devices, MIDs etc.</a:t>
            </a:r>
            <a:endParaRPr lang="en-US" dirty="0" smtClean="0"/>
          </a:p>
          <a:p>
            <a:endParaRPr lang="en-US" dirty="0"/>
          </a:p>
        </p:txBody>
      </p:sp>
      <p:sp>
        <p:nvSpPr>
          <p:cNvPr id="4" name="Date Placeholder 3"/>
          <p:cNvSpPr>
            <a:spLocks noGrp="1"/>
          </p:cNvSpPr>
          <p:nvPr>
            <p:ph type="dt" sz="half" idx="14"/>
          </p:nvPr>
        </p:nvSpPr>
        <p:spPr/>
        <p:txBody>
          <a:bodyPr/>
          <a:lstStyle/>
          <a:p>
            <a:fld id="{30AC6CB4-8AB2-4BAC-8FD1-F6CF34F38D33}"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15</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chorCtr="0">
            <a:normAutofit fontScale="90000"/>
          </a:bodyPr>
          <a:lstStyle/>
          <a:p>
            <a:pPr lvl="0"/>
            <a:r>
              <a:rPr lang="en-US" b="1" u="heavy" dirty="0" smtClean="0"/>
              <a:t>Embedded Systems - Classification based on Complexity &amp; Performance </a:t>
            </a:r>
            <a:r>
              <a:rPr lang="en-US" dirty="0" smtClean="0"/>
              <a:t/>
            </a:r>
            <a:br>
              <a:rPr lang="en-US" dirty="0" smtClean="0"/>
            </a:br>
            <a:endParaRPr lang="en-US" dirty="0"/>
          </a:p>
        </p:txBody>
      </p:sp>
      <p:sp>
        <p:nvSpPr>
          <p:cNvPr id="3" name="Content Placeholder 2"/>
          <p:cNvSpPr>
            <a:spLocks noGrp="1"/>
          </p:cNvSpPr>
          <p:nvPr>
            <p:ph sz="quarter" idx="1"/>
          </p:nvPr>
        </p:nvSpPr>
        <p:spPr>
          <a:xfrm>
            <a:off x="228600" y="1143000"/>
            <a:ext cx="8382000" cy="5330952"/>
          </a:xfrm>
        </p:spPr>
        <p:txBody>
          <a:bodyPr>
            <a:normAutofit/>
          </a:bodyPr>
          <a:lstStyle/>
          <a:p>
            <a:pPr lvl="0">
              <a:buNone/>
            </a:pPr>
            <a:r>
              <a:rPr lang="en-US" b="1" dirty="0" smtClean="0"/>
              <a:t>Small Scale: </a:t>
            </a:r>
          </a:p>
          <a:p>
            <a:pPr lvl="0">
              <a:buFont typeface="Wingdings" pitchFamily="2" charset="2"/>
              <a:buChar char="Ø"/>
            </a:pPr>
            <a:r>
              <a:rPr lang="en-US" dirty="0" smtClean="0"/>
              <a:t>The embedded systems built around low performance and low cost 8 or 16 bit microprocessors/ microcontrollers. </a:t>
            </a:r>
          </a:p>
          <a:p>
            <a:pPr lvl="0">
              <a:buFont typeface="Wingdings" pitchFamily="2" charset="2"/>
              <a:buChar char="Ø"/>
            </a:pPr>
            <a:r>
              <a:rPr lang="en-US" dirty="0" smtClean="0"/>
              <a:t>It is suitable for simple applications and where performance is not time critical. </a:t>
            </a:r>
          </a:p>
          <a:p>
            <a:pPr lvl="0">
              <a:buFont typeface="Wingdings" pitchFamily="2" charset="2"/>
              <a:buChar char="Ø"/>
            </a:pPr>
            <a:r>
              <a:rPr lang="en-US" dirty="0" smtClean="0"/>
              <a:t>It may or may not contain OS.</a:t>
            </a:r>
          </a:p>
          <a:p>
            <a:pPr lvl="0">
              <a:buNone/>
            </a:pPr>
            <a:r>
              <a:rPr lang="en-US" b="1" dirty="0" smtClean="0"/>
              <a:t>Medium Scale</a:t>
            </a:r>
            <a:r>
              <a:rPr lang="en-US" dirty="0" smtClean="0"/>
              <a:t>: </a:t>
            </a:r>
          </a:p>
          <a:p>
            <a:pPr lvl="0">
              <a:buFont typeface="Wingdings" pitchFamily="2" charset="2"/>
              <a:buChar char="Ø"/>
            </a:pPr>
            <a:r>
              <a:rPr lang="en-US" dirty="0" smtClean="0"/>
              <a:t>Embedded Systems built around medium performance, low cost 16 or 32 bit microprocessors / microcontrollers or DSPs.</a:t>
            </a:r>
          </a:p>
          <a:p>
            <a:pPr lvl="0">
              <a:buFont typeface="Wingdings" pitchFamily="2" charset="2"/>
              <a:buChar char="Ø"/>
            </a:pPr>
            <a:r>
              <a:rPr lang="en-US" dirty="0" smtClean="0"/>
              <a:t> These are slightly complex in hardware and firmware. It may contain GPOS/RTOS.</a:t>
            </a:r>
          </a:p>
          <a:p>
            <a:endParaRPr lang="en-US" dirty="0"/>
          </a:p>
        </p:txBody>
      </p:sp>
      <p:sp>
        <p:nvSpPr>
          <p:cNvPr id="4" name="Date Placeholder 3"/>
          <p:cNvSpPr>
            <a:spLocks noGrp="1"/>
          </p:cNvSpPr>
          <p:nvPr>
            <p:ph type="dt" sz="half" idx="14"/>
          </p:nvPr>
        </p:nvSpPr>
        <p:spPr/>
        <p:txBody>
          <a:bodyPr/>
          <a:lstStyle/>
          <a:p>
            <a:fld id="{92EF6E85-319A-421F-ACCB-E59D9D7EE680}"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16</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457200"/>
            <a:ext cx="8153400" cy="6016752"/>
          </a:xfrm>
        </p:spPr>
        <p:txBody>
          <a:bodyPr>
            <a:normAutofit lnSpcReduction="10000"/>
          </a:bodyPr>
          <a:lstStyle/>
          <a:p>
            <a:pPr lvl="0">
              <a:buNone/>
            </a:pPr>
            <a:r>
              <a:rPr lang="en-US" b="1" dirty="0" smtClean="0"/>
              <a:t>Large Scale/Complex: </a:t>
            </a:r>
          </a:p>
          <a:p>
            <a:pPr lvl="0">
              <a:buNone/>
            </a:pPr>
            <a:endParaRPr lang="en-US" b="1" dirty="0" smtClean="0"/>
          </a:p>
          <a:p>
            <a:pPr lvl="0">
              <a:buNone/>
            </a:pPr>
            <a:endParaRPr lang="en-US" b="1" dirty="0" smtClean="0"/>
          </a:p>
          <a:p>
            <a:pPr lvl="0">
              <a:buFont typeface="Wingdings" pitchFamily="2" charset="2"/>
              <a:buChar char="Ø"/>
            </a:pPr>
            <a:r>
              <a:rPr lang="en-US" sz="2800" dirty="0" smtClean="0"/>
              <a:t>Embedded Systems built around high performance 32 or 64 bit RISC processors/controllers, </a:t>
            </a:r>
            <a:r>
              <a:rPr lang="en-US" sz="2800" dirty="0" err="1" smtClean="0"/>
              <a:t>RSoC</a:t>
            </a:r>
            <a:r>
              <a:rPr lang="en-US" sz="2800" dirty="0" smtClean="0"/>
              <a:t> or multi-core processors and PLD.</a:t>
            </a:r>
          </a:p>
          <a:p>
            <a:pPr lvl="0">
              <a:buFont typeface="Wingdings" pitchFamily="2" charset="2"/>
              <a:buChar char="Ø"/>
            </a:pPr>
            <a:r>
              <a:rPr lang="en-US" sz="2800" dirty="0" smtClean="0"/>
              <a:t> It requires complex hardware and software. </a:t>
            </a:r>
          </a:p>
          <a:p>
            <a:pPr lvl="0">
              <a:buFont typeface="Wingdings" pitchFamily="2" charset="2"/>
              <a:buChar char="Ø"/>
            </a:pPr>
            <a:r>
              <a:rPr lang="en-US" sz="2800" dirty="0" smtClean="0"/>
              <a:t>These system may contain multiple processors/controllers and co-units/hardware accelerators for offloading the processing requirements from the main processor. </a:t>
            </a:r>
          </a:p>
          <a:p>
            <a:pPr lvl="0">
              <a:buFont typeface="Wingdings" pitchFamily="2" charset="2"/>
              <a:buChar char="Ø"/>
            </a:pPr>
            <a:r>
              <a:rPr lang="en-US" sz="2800" dirty="0" smtClean="0"/>
              <a:t>It contains RTOS for scheduling, prioritization and management.</a:t>
            </a:r>
          </a:p>
          <a:p>
            <a:endParaRPr lang="en-US" dirty="0"/>
          </a:p>
        </p:txBody>
      </p:sp>
      <p:sp>
        <p:nvSpPr>
          <p:cNvPr id="4" name="Date Placeholder 3"/>
          <p:cNvSpPr>
            <a:spLocks noGrp="1"/>
          </p:cNvSpPr>
          <p:nvPr>
            <p:ph type="dt" sz="half" idx="14"/>
          </p:nvPr>
        </p:nvSpPr>
        <p:spPr/>
        <p:txBody>
          <a:bodyPr/>
          <a:lstStyle/>
          <a:p>
            <a:fld id="{9B9ADF1A-0BA4-4F55-B2C7-73DDECA0FD88}"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17</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heavy" dirty="0" smtClean="0"/>
              <a:t>Embedded Systems - Classification Based on deterministic behavior:</a:t>
            </a:r>
            <a:endParaRPr lang="en-US" dirty="0"/>
          </a:p>
        </p:txBody>
      </p:sp>
      <p:sp>
        <p:nvSpPr>
          <p:cNvPr id="3" name="Content Placeholder 2"/>
          <p:cNvSpPr>
            <a:spLocks noGrp="1"/>
          </p:cNvSpPr>
          <p:nvPr>
            <p:ph sz="quarter" idx="1"/>
          </p:nvPr>
        </p:nvSpPr>
        <p:spPr>
          <a:xfrm>
            <a:off x="228600" y="1600200"/>
            <a:ext cx="8458200" cy="4953000"/>
          </a:xfrm>
        </p:spPr>
        <p:txBody>
          <a:bodyPr>
            <a:normAutofit/>
          </a:bodyPr>
          <a:lstStyle/>
          <a:p>
            <a:pPr lvl="0">
              <a:buNone/>
            </a:pPr>
            <a:r>
              <a:rPr lang="en-US" dirty="0" smtClean="0"/>
              <a:t>It is applicable for Real Time systems. The application/task execution behavior for an embedded system can be either deterministic or non-deterministic</a:t>
            </a:r>
            <a:endParaRPr lang="en-US" sz="2000" dirty="0" smtClean="0"/>
          </a:p>
          <a:p>
            <a:pPr>
              <a:buNone/>
            </a:pPr>
            <a:r>
              <a:rPr lang="en-US" b="1" dirty="0" smtClean="0"/>
              <a:t>These are classified in to two types</a:t>
            </a:r>
            <a:endParaRPr lang="en-US" sz="2000" dirty="0" smtClean="0"/>
          </a:p>
          <a:p>
            <a:endParaRPr lang="en-US" sz="1800" dirty="0" smtClean="0"/>
          </a:p>
          <a:p>
            <a:pPr lvl="1">
              <a:buFont typeface="Wingdings" pitchFamily="2" charset="2"/>
              <a:buChar char="Ø"/>
            </a:pPr>
            <a:r>
              <a:rPr lang="en-US" sz="2400" b="1" dirty="0" smtClean="0"/>
              <a:t>Soft Real time Systems: </a:t>
            </a:r>
            <a:r>
              <a:rPr lang="en-US" sz="2400" dirty="0" smtClean="0"/>
              <a:t>Missing a deadline may not be critical and can be  tolerated to a certain degree</a:t>
            </a:r>
            <a:endParaRPr lang="en-US" sz="1800" dirty="0" smtClean="0"/>
          </a:p>
          <a:p>
            <a:pPr lvl="1">
              <a:buFont typeface="Wingdings" pitchFamily="2" charset="2"/>
              <a:buChar char="Ø"/>
            </a:pPr>
            <a:r>
              <a:rPr lang="en-US" sz="2400" b="1" dirty="0" smtClean="0"/>
              <a:t>Hard Real time systems: </a:t>
            </a:r>
            <a:r>
              <a:rPr lang="en-US" sz="2400" dirty="0" smtClean="0"/>
              <a:t>Missing a program/task execution time deadline can have catastrophic consequences (financial, human loss of life, etc.)</a:t>
            </a:r>
            <a:endParaRPr lang="en-US" sz="2000" dirty="0" smtClean="0"/>
          </a:p>
          <a:p>
            <a:endParaRPr lang="en-US" dirty="0"/>
          </a:p>
        </p:txBody>
      </p:sp>
      <p:sp>
        <p:nvSpPr>
          <p:cNvPr id="4" name="Date Placeholder 3"/>
          <p:cNvSpPr>
            <a:spLocks noGrp="1"/>
          </p:cNvSpPr>
          <p:nvPr>
            <p:ph type="dt" sz="half" idx="14"/>
          </p:nvPr>
        </p:nvSpPr>
        <p:spPr/>
        <p:txBody>
          <a:bodyPr/>
          <a:lstStyle/>
          <a:p>
            <a:fld id="{F0C541F5-1083-4B59-8929-3D845BA94FE2}"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18</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heavy" dirty="0" smtClean="0"/>
              <a:t>Embedded Systems - Classification Based on Triggering:</a:t>
            </a:r>
            <a:r>
              <a:rPr lang="en-US" b="1" dirty="0" smtClean="0"/>
              <a:t> </a:t>
            </a:r>
            <a:endParaRPr lang="en-US" dirty="0"/>
          </a:p>
        </p:txBody>
      </p:sp>
      <p:sp>
        <p:nvSpPr>
          <p:cNvPr id="3" name="Content Placeholder 2"/>
          <p:cNvSpPr>
            <a:spLocks noGrp="1"/>
          </p:cNvSpPr>
          <p:nvPr>
            <p:ph sz="quarter" idx="1"/>
          </p:nvPr>
        </p:nvSpPr>
        <p:spPr>
          <a:xfrm>
            <a:off x="457200" y="1447800"/>
            <a:ext cx="8077200" cy="5026152"/>
          </a:xfrm>
        </p:spPr>
        <p:txBody>
          <a:bodyPr/>
          <a:lstStyle/>
          <a:p>
            <a:pPr lvl="0">
              <a:buNone/>
            </a:pPr>
            <a:r>
              <a:rPr lang="en-US" b="1" dirty="0" smtClean="0"/>
              <a:t>These are classified into two types</a:t>
            </a:r>
          </a:p>
          <a:p>
            <a:pPr lvl="0">
              <a:buNone/>
            </a:pPr>
            <a:endParaRPr lang="en-US" sz="2000" dirty="0" smtClean="0"/>
          </a:p>
          <a:p>
            <a:pPr lvl="1">
              <a:buFont typeface="Wingdings" pitchFamily="2" charset="2"/>
              <a:buChar char="Ø"/>
            </a:pPr>
            <a:r>
              <a:rPr lang="en-US" sz="2400" b="1" dirty="0" smtClean="0"/>
              <a:t>Event Triggered : </a:t>
            </a:r>
            <a:r>
              <a:rPr lang="en-US" sz="2400" dirty="0" smtClean="0"/>
              <a:t>Activities within the system (e.g., task run-times) are dynamic and depend upon occurrence of different events </a:t>
            </a:r>
            <a:r>
              <a:rPr lang="en-US" sz="2400" b="1" dirty="0" smtClean="0"/>
              <a:t>.</a:t>
            </a:r>
            <a:endParaRPr lang="en-US" sz="2000" dirty="0" smtClean="0"/>
          </a:p>
          <a:p>
            <a:pPr>
              <a:buFont typeface="Wingdings" pitchFamily="2" charset="2"/>
              <a:buChar char="Ø"/>
            </a:pPr>
            <a:endParaRPr lang="en-US" sz="1800" dirty="0" smtClean="0"/>
          </a:p>
          <a:p>
            <a:pPr lvl="1">
              <a:buFont typeface="Wingdings" pitchFamily="2" charset="2"/>
              <a:buChar char="Ø"/>
            </a:pPr>
            <a:r>
              <a:rPr lang="en-US" sz="2400" b="1" dirty="0" smtClean="0"/>
              <a:t>Time triggered: </a:t>
            </a:r>
            <a:r>
              <a:rPr lang="en-US" sz="2400" dirty="0" smtClean="0"/>
              <a:t>Activities within the system follow a statically computed schedule (i.e., they are allocated time slots during which they can take place) and thus by nature are predictable.</a:t>
            </a:r>
            <a:endParaRPr lang="en-US" sz="2000" dirty="0" smtClean="0"/>
          </a:p>
          <a:p>
            <a:pPr>
              <a:buFont typeface="Wingdings" pitchFamily="2" charset="2"/>
              <a:buChar char="Ø"/>
            </a:pPr>
            <a:endParaRPr lang="en-US" dirty="0"/>
          </a:p>
        </p:txBody>
      </p:sp>
      <p:sp>
        <p:nvSpPr>
          <p:cNvPr id="4" name="Date Placeholder 3"/>
          <p:cNvSpPr>
            <a:spLocks noGrp="1"/>
          </p:cNvSpPr>
          <p:nvPr>
            <p:ph type="dt" sz="half" idx="14"/>
          </p:nvPr>
        </p:nvSpPr>
        <p:spPr/>
        <p:txBody>
          <a:bodyPr/>
          <a:lstStyle/>
          <a:p>
            <a:fld id="{EA6ED499-431B-48EC-B710-BBEEF81A3762}"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19</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chorCtr="0">
            <a:normAutofit fontScale="90000"/>
          </a:bodyPr>
          <a:lstStyle/>
          <a:p>
            <a:r>
              <a:rPr lang="en-US" b="1" u="heavy" dirty="0" smtClean="0"/>
              <a:t>Major Application Areas of Embedded Systems:</a:t>
            </a:r>
            <a:r>
              <a:rPr lang="en-US" dirty="0" smtClean="0"/>
              <a:t/>
            </a:r>
            <a:br>
              <a:rPr lang="en-US" dirty="0" smtClean="0"/>
            </a:br>
            <a:endParaRPr lang="en-US" dirty="0"/>
          </a:p>
        </p:txBody>
      </p:sp>
      <p:sp>
        <p:nvSpPr>
          <p:cNvPr id="3" name="Content Placeholder 2"/>
          <p:cNvSpPr>
            <a:spLocks noGrp="1"/>
          </p:cNvSpPr>
          <p:nvPr>
            <p:ph sz="quarter" idx="1"/>
          </p:nvPr>
        </p:nvSpPr>
        <p:spPr>
          <a:xfrm>
            <a:off x="457200" y="1371600"/>
            <a:ext cx="8077200" cy="5102352"/>
          </a:xfrm>
        </p:spPr>
        <p:txBody>
          <a:bodyPr>
            <a:normAutofit/>
          </a:bodyPr>
          <a:lstStyle/>
          <a:p>
            <a:pPr lvl="0">
              <a:buFont typeface="Wingdings" pitchFamily="2" charset="2"/>
              <a:buChar char="Ø"/>
            </a:pPr>
            <a:r>
              <a:rPr lang="en-US" b="1" dirty="0" smtClean="0"/>
              <a:t>Consumer Electronics: </a:t>
            </a:r>
            <a:r>
              <a:rPr lang="en-US" dirty="0" smtClean="0"/>
              <a:t>Camcorders, Cameras etc.</a:t>
            </a:r>
          </a:p>
          <a:p>
            <a:pPr lvl="0">
              <a:buFont typeface="Wingdings" pitchFamily="2" charset="2"/>
              <a:buChar char="Ø"/>
            </a:pPr>
            <a:r>
              <a:rPr lang="en-US" b="1" dirty="0" smtClean="0"/>
              <a:t>Household Appliances: </a:t>
            </a:r>
            <a:r>
              <a:rPr lang="en-US" dirty="0" smtClean="0"/>
              <a:t>Television, DVD players, washing machine, Fridge, Microwave Oven etc.</a:t>
            </a:r>
          </a:p>
          <a:p>
            <a:pPr lvl="0">
              <a:buFont typeface="Wingdings" pitchFamily="2" charset="2"/>
              <a:buChar char="Ø"/>
            </a:pPr>
            <a:r>
              <a:rPr lang="en-US" b="1" dirty="0" smtClean="0"/>
              <a:t>Home Automation and Security Systems: </a:t>
            </a:r>
            <a:r>
              <a:rPr lang="en-US" dirty="0" smtClean="0"/>
              <a:t>Air conditioners, sprinklers, Intruder detection alarms, Closed Circuit Television Cameras, Fire alarms etc.</a:t>
            </a:r>
          </a:p>
          <a:p>
            <a:pPr lvl="0">
              <a:buFont typeface="Wingdings" pitchFamily="2" charset="2"/>
              <a:buChar char="Ø"/>
            </a:pPr>
            <a:r>
              <a:rPr lang="en-US" b="1" dirty="0" smtClean="0"/>
              <a:t>Automotive Industry: </a:t>
            </a:r>
            <a:r>
              <a:rPr lang="en-US" dirty="0" smtClean="0"/>
              <a:t>Anti-lock breaking systems (ABS), Engine Control, Ignition Systems, Automatic Navigation Systems etc.</a:t>
            </a:r>
          </a:p>
          <a:p>
            <a:pPr lvl="0">
              <a:buFont typeface="Wingdings" pitchFamily="2" charset="2"/>
              <a:buChar char="Ø"/>
            </a:pPr>
            <a:r>
              <a:rPr lang="en-US" b="1" dirty="0" smtClean="0"/>
              <a:t>Telecom: </a:t>
            </a:r>
            <a:r>
              <a:rPr lang="en-US" dirty="0" smtClean="0"/>
              <a:t>Cellular Telephones, Telephone switches, Handset Multimedia Applications etc.</a:t>
            </a:r>
          </a:p>
        </p:txBody>
      </p:sp>
      <p:sp>
        <p:nvSpPr>
          <p:cNvPr id="4" name="Date Placeholder 3"/>
          <p:cNvSpPr>
            <a:spLocks noGrp="1"/>
          </p:cNvSpPr>
          <p:nvPr>
            <p:ph type="dt" sz="half" idx="14"/>
          </p:nvPr>
        </p:nvSpPr>
        <p:spPr/>
        <p:txBody>
          <a:bodyPr/>
          <a:lstStyle/>
          <a:p>
            <a:fld id="{78340CFA-A53B-492B-A09B-56C2F0562763}"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20</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457200"/>
            <a:ext cx="8077200" cy="6016752"/>
          </a:xfrm>
        </p:spPr>
        <p:txBody>
          <a:bodyPr>
            <a:normAutofit/>
          </a:bodyPr>
          <a:lstStyle/>
          <a:p>
            <a:pPr lvl="0">
              <a:buFont typeface="Wingdings" pitchFamily="2" charset="2"/>
              <a:buChar char="Ø"/>
            </a:pPr>
            <a:r>
              <a:rPr lang="en-US" b="1" dirty="0" smtClean="0"/>
              <a:t>Computer Peripherals: </a:t>
            </a:r>
            <a:r>
              <a:rPr lang="en-US" dirty="0" smtClean="0"/>
              <a:t>Printers, Scanners, Fax machines etc.</a:t>
            </a:r>
          </a:p>
          <a:p>
            <a:pPr lvl="0">
              <a:buFont typeface="Wingdings" pitchFamily="2" charset="2"/>
              <a:buChar char="Ø"/>
            </a:pPr>
            <a:r>
              <a:rPr lang="en-US" b="1" dirty="0" smtClean="0"/>
              <a:t>Computer Networking Systems: </a:t>
            </a:r>
            <a:r>
              <a:rPr lang="en-US" dirty="0" smtClean="0"/>
              <a:t>Network Routers, Switches, Hubs, Firewalls etc.</a:t>
            </a:r>
          </a:p>
          <a:p>
            <a:pPr lvl="0">
              <a:buFont typeface="Wingdings" pitchFamily="2" charset="2"/>
              <a:buChar char="Ø"/>
            </a:pPr>
            <a:r>
              <a:rPr lang="en-US" b="1" dirty="0" smtClean="0"/>
              <a:t>Health Care: </a:t>
            </a:r>
            <a:r>
              <a:rPr lang="en-US" dirty="0" smtClean="0"/>
              <a:t>Different Kinds of Scanners, EEG, ECG Machines etc.</a:t>
            </a:r>
          </a:p>
          <a:p>
            <a:pPr lvl="0">
              <a:buFont typeface="Wingdings" pitchFamily="2" charset="2"/>
              <a:buChar char="Ø"/>
            </a:pPr>
            <a:r>
              <a:rPr lang="en-US" b="1" dirty="0" smtClean="0"/>
              <a:t>Measurement &amp; Instrumentation: </a:t>
            </a:r>
            <a:r>
              <a:rPr lang="en-US" dirty="0" smtClean="0"/>
              <a:t>Digital multi meters, Digital CROs, Logic Analyzers PLC systems etc.</a:t>
            </a:r>
          </a:p>
          <a:p>
            <a:pPr lvl="0">
              <a:buFont typeface="Wingdings" pitchFamily="2" charset="2"/>
              <a:buChar char="Ø"/>
            </a:pPr>
            <a:r>
              <a:rPr lang="en-US" b="1" dirty="0" smtClean="0"/>
              <a:t>Banking &amp; Retail: </a:t>
            </a:r>
            <a:r>
              <a:rPr lang="en-US" dirty="0" smtClean="0"/>
              <a:t>Automatic Teller Machines (ATM) and Currency counters, Point of Sales (POS)</a:t>
            </a:r>
          </a:p>
          <a:p>
            <a:pPr lvl="0">
              <a:buFont typeface="Wingdings" pitchFamily="2" charset="2"/>
              <a:buChar char="Ø"/>
            </a:pPr>
            <a:r>
              <a:rPr lang="en-US" b="1" dirty="0" smtClean="0"/>
              <a:t>Card Readers: </a:t>
            </a:r>
            <a:r>
              <a:rPr lang="en-US" dirty="0" smtClean="0"/>
              <a:t>Barcode, Smart Card Readers, Hand held Devices etc.</a:t>
            </a:r>
          </a:p>
          <a:p>
            <a:endParaRPr lang="en-US" dirty="0"/>
          </a:p>
        </p:txBody>
      </p:sp>
      <p:sp>
        <p:nvSpPr>
          <p:cNvPr id="4" name="Date Placeholder 3"/>
          <p:cNvSpPr>
            <a:spLocks noGrp="1"/>
          </p:cNvSpPr>
          <p:nvPr>
            <p:ph type="dt" sz="half" idx="14"/>
          </p:nvPr>
        </p:nvSpPr>
        <p:spPr/>
        <p:txBody>
          <a:bodyPr/>
          <a:lstStyle/>
          <a:p>
            <a:fld id="{96D26CC3-2B1E-484E-AA24-D40C054E21C8}"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21</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020762"/>
          </a:xfrm>
        </p:spPr>
        <p:txBody>
          <a:bodyPr anchor="t" anchorCtr="0"/>
          <a:lstStyle/>
          <a:p>
            <a:r>
              <a:rPr lang="en-US" b="1" u="heavy" dirty="0" smtClean="0"/>
              <a:t>Purpose of Embedded Systems:</a:t>
            </a:r>
            <a:endParaRPr lang="en-US" dirty="0"/>
          </a:p>
        </p:txBody>
      </p:sp>
      <p:sp>
        <p:nvSpPr>
          <p:cNvPr id="3" name="Content Placeholder 2"/>
          <p:cNvSpPr>
            <a:spLocks noGrp="1"/>
          </p:cNvSpPr>
          <p:nvPr>
            <p:ph sz="quarter" idx="1"/>
          </p:nvPr>
        </p:nvSpPr>
        <p:spPr>
          <a:xfrm>
            <a:off x="457200" y="838200"/>
            <a:ext cx="7467600" cy="5635752"/>
          </a:xfrm>
        </p:spPr>
        <p:txBody>
          <a:bodyPr/>
          <a:lstStyle/>
          <a:p>
            <a:pPr>
              <a:buNone/>
            </a:pPr>
            <a:r>
              <a:rPr lang="en-US" dirty="0" smtClean="0"/>
              <a:t>Each Embedded Systems is designed to serve the purpose of any one or a combination of the following tasks.</a:t>
            </a:r>
            <a:endParaRPr lang="en-US" sz="2000" dirty="0" smtClean="0"/>
          </a:p>
          <a:p>
            <a:pPr>
              <a:buNone/>
            </a:pPr>
            <a:endParaRPr lang="en-US" sz="3200" dirty="0" smtClean="0"/>
          </a:p>
          <a:p>
            <a:pPr lvl="1">
              <a:buFont typeface="Wingdings" pitchFamily="2" charset="2"/>
              <a:buChar char="Ø"/>
            </a:pPr>
            <a:r>
              <a:rPr lang="en-US" sz="2400" dirty="0" smtClean="0"/>
              <a:t>Data Collection/Storage/Representation</a:t>
            </a:r>
            <a:endParaRPr lang="en-US" sz="2000" dirty="0" smtClean="0"/>
          </a:p>
          <a:p>
            <a:pPr lvl="1">
              <a:buFont typeface="Wingdings" pitchFamily="2" charset="2"/>
              <a:buChar char="Ø"/>
            </a:pPr>
            <a:r>
              <a:rPr lang="en-US" sz="2400" dirty="0" smtClean="0"/>
              <a:t>Data Communication</a:t>
            </a:r>
            <a:endParaRPr lang="en-US" sz="2000" dirty="0" smtClean="0"/>
          </a:p>
          <a:p>
            <a:pPr lvl="1">
              <a:buFont typeface="Wingdings" pitchFamily="2" charset="2"/>
              <a:buChar char="Ø"/>
            </a:pPr>
            <a:r>
              <a:rPr lang="en-US" sz="2400" dirty="0" smtClean="0"/>
              <a:t>Data (Signal) Processing</a:t>
            </a:r>
            <a:endParaRPr lang="en-US" sz="2000" dirty="0" smtClean="0"/>
          </a:p>
          <a:p>
            <a:pPr lvl="1">
              <a:buFont typeface="Wingdings" pitchFamily="2" charset="2"/>
              <a:buChar char="Ø"/>
            </a:pPr>
            <a:r>
              <a:rPr lang="en-US" sz="2400" dirty="0" smtClean="0"/>
              <a:t>Monitoring</a:t>
            </a:r>
            <a:endParaRPr lang="en-US" sz="2000" dirty="0" smtClean="0"/>
          </a:p>
          <a:p>
            <a:pPr lvl="1">
              <a:buFont typeface="Wingdings" pitchFamily="2" charset="2"/>
              <a:buChar char="Ø"/>
            </a:pPr>
            <a:r>
              <a:rPr lang="en-US" sz="2400" dirty="0" smtClean="0"/>
              <a:t>Control</a:t>
            </a:r>
            <a:endParaRPr lang="en-US" sz="2000" dirty="0" smtClean="0"/>
          </a:p>
          <a:p>
            <a:pPr lvl="1">
              <a:buFont typeface="Wingdings" pitchFamily="2" charset="2"/>
              <a:buChar char="Ø"/>
            </a:pPr>
            <a:r>
              <a:rPr lang="en-US" sz="2400" dirty="0" smtClean="0"/>
              <a:t>Application Specific User Interface</a:t>
            </a:r>
            <a:endParaRPr lang="en-US" sz="2000" dirty="0" smtClean="0"/>
          </a:p>
          <a:p>
            <a:endParaRPr lang="en-US" dirty="0"/>
          </a:p>
        </p:txBody>
      </p:sp>
      <p:sp>
        <p:nvSpPr>
          <p:cNvPr id="4" name="Date Placeholder 3"/>
          <p:cNvSpPr>
            <a:spLocks noGrp="1"/>
          </p:cNvSpPr>
          <p:nvPr>
            <p:ph type="dt" sz="half" idx="14"/>
          </p:nvPr>
        </p:nvSpPr>
        <p:spPr/>
        <p:txBody>
          <a:bodyPr/>
          <a:lstStyle/>
          <a:p>
            <a:fld id="{6D5812AC-A594-488D-BBFD-5F5E319BDC82}"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22</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53400" cy="1143000"/>
          </a:xfrm>
        </p:spPr>
        <p:txBody>
          <a:bodyPr>
            <a:normAutofit fontScale="90000"/>
          </a:bodyPr>
          <a:lstStyle/>
          <a:p>
            <a:pPr lvl="0"/>
            <a:r>
              <a:rPr lang="en-US" b="1" u="heavy" dirty="0" smtClean="0"/>
              <a:t>Data Collection/Storage/Representation</a:t>
            </a:r>
            <a:r>
              <a:rPr lang="en-US" dirty="0" smtClean="0"/>
              <a:t/>
            </a:r>
            <a:br>
              <a:rPr lang="en-US" dirty="0" smtClean="0"/>
            </a:br>
            <a:endParaRPr lang="en-US" dirty="0"/>
          </a:p>
        </p:txBody>
      </p:sp>
      <p:sp>
        <p:nvSpPr>
          <p:cNvPr id="3" name="Content Placeholder 2"/>
          <p:cNvSpPr>
            <a:spLocks noGrp="1"/>
          </p:cNvSpPr>
          <p:nvPr>
            <p:ph sz="quarter" idx="1"/>
          </p:nvPr>
        </p:nvSpPr>
        <p:spPr>
          <a:xfrm>
            <a:off x="0" y="1066800"/>
            <a:ext cx="8534400" cy="5407152"/>
          </a:xfrm>
        </p:spPr>
        <p:txBody>
          <a:bodyPr>
            <a:normAutofit/>
          </a:bodyPr>
          <a:lstStyle/>
          <a:p>
            <a:pPr lvl="1">
              <a:buFont typeface="Wingdings" pitchFamily="2" charset="2"/>
              <a:buChar char="Ø"/>
            </a:pPr>
            <a:r>
              <a:rPr lang="en-US" sz="2400" dirty="0" smtClean="0"/>
              <a:t>Performs acquisition of data from the external world.</a:t>
            </a:r>
          </a:p>
          <a:p>
            <a:pPr lvl="1">
              <a:buFont typeface="Wingdings" pitchFamily="2" charset="2"/>
              <a:buChar char="Ø"/>
            </a:pPr>
            <a:r>
              <a:rPr lang="en-US" sz="2400" dirty="0" smtClean="0"/>
              <a:t>The collected data can be either analog or digital</a:t>
            </a:r>
          </a:p>
          <a:p>
            <a:pPr lvl="1">
              <a:buFont typeface="Wingdings" pitchFamily="2" charset="2"/>
              <a:buChar char="Ø"/>
            </a:pPr>
            <a:r>
              <a:rPr lang="en-US" dirty="0" smtClean="0"/>
              <a:t> </a:t>
            </a:r>
            <a:r>
              <a:rPr lang="en-US" sz="2100" dirty="0" smtClean="0"/>
              <a:t>Data collection is usually done for storage, analysis, manipulation and transmission</a:t>
            </a:r>
          </a:p>
          <a:p>
            <a:pPr lvl="1">
              <a:buFont typeface="Wingdings" pitchFamily="2" charset="2"/>
              <a:buChar char="Ø"/>
            </a:pPr>
            <a:r>
              <a:rPr lang="en-US" dirty="0" smtClean="0"/>
              <a:t> </a:t>
            </a:r>
            <a:r>
              <a:rPr lang="en-US" sz="2100" dirty="0" smtClean="0"/>
              <a:t>The collected data may be stored directly in the system or may be transmitted to some other systems or it may be processed by the system or it may be deleted instantly after giving a meaningful representation</a:t>
            </a:r>
            <a:endParaRPr lang="en-US" sz="1700" dirty="0" smtClean="0"/>
          </a:p>
          <a:p>
            <a:endParaRPr lang="en-US" dirty="0"/>
          </a:p>
        </p:txBody>
      </p:sp>
      <p:pic>
        <p:nvPicPr>
          <p:cNvPr id="1026" name="Picture 2"/>
          <p:cNvPicPr>
            <a:picLocks noChangeAspect="1" noChangeArrowheads="1"/>
          </p:cNvPicPr>
          <p:nvPr/>
        </p:nvPicPr>
        <p:blipFill>
          <a:blip r:embed="rId2"/>
          <a:srcRect/>
          <a:stretch>
            <a:fillRect/>
          </a:stretch>
        </p:blipFill>
        <p:spPr bwMode="auto">
          <a:xfrm>
            <a:off x="2590800" y="4191000"/>
            <a:ext cx="3429000" cy="2257425"/>
          </a:xfrm>
          <a:prstGeom prst="rect">
            <a:avLst/>
          </a:prstGeom>
          <a:noFill/>
          <a:ln w="9525">
            <a:noFill/>
            <a:miter lim="800000"/>
            <a:headEnd/>
            <a:tailEnd/>
          </a:ln>
          <a:effectLst/>
        </p:spPr>
      </p:pic>
      <p:sp>
        <p:nvSpPr>
          <p:cNvPr id="5" name="Date Placeholder 4"/>
          <p:cNvSpPr>
            <a:spLocks noGrp="1"/>
          </p:cNvSpPr>
          <p:nvPr>
            <p:ph type="dt" sz="half" idx="14"/>
          </p:nvPr>
        </p:nvSpPr>
        <p:spPr/>
        <p:txBody>
          <a:bodyPr/>
          <a:lstStyle/>
          <a:p>
            <a:fld id="{D5E0AA96-E0B7-428E-B327-2514B6AB56E5}" type="datetime1">
              <a:rPr lang="en-US" smtClean="0"/>
              <a:t>9/4/2021</a:t>
            </a:fld>
            <a:endParaRPr lang="en-US"/>
          </a:p>
        </p:txBody>
      </p:sp>
      <p:sp>
        <p:nvSpPr>
          <p:cNvPr id="6" name="Slide Number Placeholder 5"/>
          <p:cNvSpPr>
            <a:spLocks noGrp="1"/>
          </p:cNvSpPr>
          <p:nvPr>
            <p:ph type="sldNum" sz="quarter" idx="15"/>
          </p:nvPr>
        </p:nvSpPr>
        <p:spPr/>
        <p:txBody>
          <a:bodyPr/>
          <a:lstStyle/>
          <a:p>
            <a:fld id="{B6F15528-21DE-4FAA-801E-634DDDAF4B2B}" type="slidenum">
              <a:rPr lang="en-US" smtClean="0"/>
              <a:pPr/>
              <a:t>23</a:t>
            </a:fld>
            <a:endParaRPr lang="en-US"/>
          </a:p>
        </p:txBody>
      </p:sp>
      <p:sp>
        <p:nvSpPr>
          <p:cNvPr id="7" name="Footer Placeholder 6"/>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467600" cy="1417638"/>
          </a:xfrm>
        </p:spPr>
        <p:txBody>
          <a:bodyPr>
            <a:normAutofit fontScale="90000"/>
          </a:bodyPr>
          <a:lstStyle/>
          <a:p>
            <a:pPr lvl="0"/>
            <a:r>
              <a:rPr lang="en-US" b="1" u="heavy" dirty="0" smtClean="0"/>
              <a:t>Data Communication:-</a:t>
            </a:r>
            <a:r>
              <a:rPr lang="en-US" dirty="0" smtClean="0"/>
              <a:t/>
            </a:r>
            <a:br>
              <a:rPr lang="en-US" dirty="0" smtClean="0"/>
            </a:br>
            <a:r>
              <a:rPr lang="en-US" b="1" dirty="0" smtClean="0"/>
              <a:t> </a:t>
            </a:r>
            <a:r>
              <a:rPr lang="en-US" dirty="0" smtClean="0"/>
              <a:t/>
            </a:r>
            <a:br>
              <a:rPr lang="en-US" dirty="0" smtClean="0"/>
            </a:br>
            <a:endParaRPr lang="en-US" dirty="0"/>
          </a:p>
        </p:txBody>
      </p:sp>
      <p:sp>
        <p:nvSpPr>
          <p:cNvPr id="3" name="Content Placeholder 2"/>
          <p:cNvSpPr>
            <a:spLocks noGrp="1"/>
          </p:cNvSpPr>
          <p:nvPr>
            <p:ph sz="quarter" idx="1"/>
          </p:nvPr>
        </p:nvSpPr>
        <p:spPr>
          <a:xfrm>
            <a:off x="457200" y="990600"/>
            <a:ext cx="8305800" cy="5483352"/>
          </a:xfrm>
        </p:spPr>
        <p:txBody>
          <a:bodyPr>
            <a:normAutofit/>
          </a:bodyPr>
          <a:lstStyle/>
          <a:p>
            <a:pPr>
              <a:buFont typeface="Wingdings" pitchFamily="2" charset="2"/>
              <a:buChar char="Ø"/>
            </a:pPr>
            <a:r>
              <a:rPr lang="en-US" dirty="0" smtClean="0"/>
              <a:t>Embedded Data communication systems are deployed in applications ranging from complex satellite communication systems to simple home networking systems</a:t>
            </a:r>
          </a:p>
          <a:p>
            <a:pPr>
              <a:buFont typeface="Wingdings" pitchFamily="2" charset="2"/>
              <a:buChar char="Ø"/>
            </a:pPr>
            <a:r>
              <a:rPr lang="en-US" dirty="0" smtClean="0"/>
              <a:t>Embedded Data communication systems are dedicated for data communication</a:t>
            </a:r>
          </a:p>
          <a:p>
            <a:pPr>
              <a:buFont typeface="Wingdings" pitchFamily="2" charset="2"/>
              <a:buChar char="Ø"/>
            </a:pPr>
            <a:r>
              <a:rPr lang="en-US" dirty="0" smtClean="0"/>
              <a:t>The data communication can happen through a wired interface (like Ethernet, RS-232C/USB/IEEE1394 etc) or wireless interface (like Wi-Fi, GSM,/GPRS, Bluetooth, </a:t>
            </a:r>
            <a:r>
              <a:rPr lang="en-US" dirty="0" err="1" smtClean="0"/>
              <a:t>ZigBee</a:t>
            </a:r>
            <a:r>
              <a:rPr lang="en-US" dirty="0" smtClean="0"/>
              <a:t> etc)</a:t>
            </a:r>
          </a:p>
          <a:p>
            <a:pPr>
              <a:buFont typeface="Wingdings" pitchFamily="2" charset="2"/>
              <a:buChar char="Ø"/>
            </a:pPr>
            <a:r>
              <a:rPr lang="en-US" dirty="0" smtClean="0"/>
              <a:t>Network hubs, Routers, switches, Modems etc are typical examples for dedicated data transmission embedded systems</a:t>
            </a:r>
          </a:p>
          <a:p>
            <a:endParaRPr lang="en-US" dirty="0"/>
          </a:p>
        </p:txBody>
      </p:sp>
      <p:sp>
        <p:nvSpPr>
          <p:cNvPr id="4" name="Date Placeholder 3"/>
          <p:cNvSpPr>
            <a:spLocks noGrp="1"/>
          </p:cNvSpPr>
          <p:nvPr>
            <p:ph type="dt" sz="half" idx="14"/>
          </p:nvPr>
        </p:nvSpPr>
        <p:spPr/>
        <p:txBody>
          <a:bodyPr/>
          <a:lstStyle/>
          <a:p>
            <a:fld id="{942FE4D8-4E0D-4FEB-B266-B70AB9DA27C4}"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24</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sz="quarter" idx="1"/>
          </p:nvPr>
        </p:nvPicPr>
        <p:blipFill>
          <a:blip r:embed="rId2"/>
          <a:srcRect/>
          <a:stretch>
            <a:fillRect/>
          </a:stretch>
        </p:blipFill>
        <p:spPr bwMode="auto">
          <a:xfrm>
            <a:off x="1219201" y="990601"/>
            <a:ext cx="6019800" cy="4641850"/>
          </a:xfrm>
          <a:prstGeom prst="rect">
            <a:avLst/>
          </a:prstGeom>
          <a:noFill/>
          <a:ln w="9525">
            <a:noFill/>
            <a:miter lim="800000"/>
            <a:headEnd/>
            <a:tailEnd/>
          </a:ln>
          <a:effectLst/>
        </p:spPr>
      </p:pic>
      <p:sp>
        <p:nvSpPr>
          <p:cNvPr id="3" name="Date Placeholder 2"/>
          <p:cNvSpPr>
            <a:spLocks noGrp="1"/>
          </p:cNvSpPr>
          <p:nvPr>
            <p:ph type="dt" sz="half" idx="14"/>
          </p:nvPr>
        </p:nvSpPr>
        <p:spPr/>
        <p:txBody>
          <a:bodyPr/>
          <a:lstStyle/>
          <a:p>
            <a:fld id="{6BEA4F6B-D302-41C9-9B5E-163456610E76}" type="datetime1">
              <a:rPr lang="en-US" smtClean="0"/>
              <a:t>9/4/2021</a:t>
            </a:fld>
            <a:endParaRPr lang="en-US"/>
          </a:p>
        </p:txBody>
      </p:sp>
      <p:sp>
        <p:nvSpPr>
          <p:cNvPr id="4" name="Slide Number Placeholder 3"/>
          <p:cNvSpPr>
            <a:spLocks noGrp="1"/>
          </p:cNvSpPr>
          <p:nvPr>
            <p:ph type="sldNum" sz="quarter" idx="15"/>
          </p:nvPr>
        </p:nvSpPr>
        <p:spPr/>
        <p:txBody>
          <a:bodyPr/>
          <a:lstStyle/>
          <a:p>
            <a:fld id="{B6F15528-21DE-4FAA-801E-634DDDAF4B2B}" type="slidenum">
              <a:rPr lang="en-US" smtClean="0"/>
              <a:pPr/>
              <a:t>25</a:t>
            </a:fld>
            <a:endParaRPr lang="en-US"/>
          </a:p>
        </p:txBody>
      </p:sp>
      <p:sp>
        <p:nvSpPr>
          <p:cNvPr id="5" name="Footer Placeholder 4"/>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944562"/>
          </a:xfrm>
        </p:spPr>
        <p:txBody>
          <a:bodyPr/>
          <a:lstStyle/>
          <a:p>
            <a:pPr lvl="1" algn="l" rtl="0">
              <a:spcBef>
                <a:spcPct val="0"/>
              </a:spcBef>
            </a:pPr>
            <a:r>
              <a:rPr lang="en-US" sz="2700" b="1" u="heavy" kern="1200" cap="small" dirty="0">
                <a:solidFill>
                  <a:schemeClr val="tx2"/>
                </a:solidFill>
                <a:latin typeface="+mj-lt"/>
                <a:ea typeface="+mj-ea"/>
                <a:cs typeface="+mj-cs"/>
              </a:rPr>
              <a:t>Data (Signal) Processing</a:t>
            </a:r>
            <a:r>
              <a:rPr lang="en-US" sz="2000" dirty="0" smtClean="0"/>
              <a:t/>
            </a:r>
            <a:br>
              <a:rPr lang="en-US" sz="2000" dirty="0" smtClean="0"/>
            </a:br>
            <a:endParaRPr lang="en-US" dirty="0"/>
          </a:p>
        </p:txBody>
      </p:sp>
      <p:sp>
        <p:nvSpPr>
          <p:cNvPr id="3" name="Content Placeholder 2"/>
          <p:cNvSpPr>
            <a:spLocks noGrp="1"/>
          </p:cNvSpPr>
          <p:nvPr>
            <p:ph sz="quarter" idx="1"/>
          </p:nvPr>
        </p:nvSpPr>
        <p:spPr>
          <a:xfrm>
            <a:off x="457200" y="1219200"/>
            <a:ext cx="8305800" cy="5254752"/>
          </a:xfrm>
        </p:spPr>
        <p:txBody>
          <a:bodyPr/>
          <a:lstStyle/>
          <a:p>
            <a:pPr algn="just">
              <a:buFont typeface="Wingdings" pitchFamily="2" charset="2"/>
              <a:buChar char="Ø"/>
            </a:pPr>
            <a:r>
              <a:rPr lang="en-US" dirty="0" smtClean="0"/>
              <a:t>Embedded systems with Signal processing functionalities are employed in applications demanding signal processing like Speech coding, synthesis, audio video codec, transmission applications etc</a:t>
            </a:r>
          </a:p>
          <a:p>
            <a:pPr algn="just">
              <a:buFont typeface="Wingdings" pitchFamily="2" charset="2"/>
              <a:buChar char="Ø"/>
            </a:pPr>
            <a:r>
              <a:rPr lang="en-US" dirty="0" smtClean="0"/>
              <a:t>Computational intensive systems Employs Digital Signal Processors (DSPs)</a:t>
            </a:r>
          </a:p>
          <a:p>
            <a:pPr>
              <a:buNone/>
            </a:pPr>
            <a:endParaRPr lang="en-US" dirty="0" smtClean="0"/>
          </a:p>
          <a:p>
            <a:endParaRPr lang="en-US" dirty="0"/>
          </a:p>
        </p:txBody>
      </p:sp>
      <p:pic>
        <p:nvPicPr>
          <p:cNvPr id="3075" name="Picture 3"/>
          <p:cNvPicPr>
            <a:picLocks noChangeAspect="1" noChangeArrowheads="1"/>
          </p:cNvPicPr>
          <p:nvPr/>
        </p:nvPicPr>
        <p:blipFill>
          <a:blip r:embed="rId2"/>
          <a:srcRect/>
          <a:stretch>
            <a:fillRect/>
          </a:stretch>
        </p:blipFill>
        <p:spPr bwMode="auto">
          <a:xfrm>
            <a:off x="2438400" y="3733800"/>
            <a:ext cx="4343400" cy="2971800"/>
          </a:xfrm>
          <a:prstGeom prst="rect">
            <a:avLst/>
          </a:prstGeom>
          <a:noFill/>
          <a:ln w="9525">
            <a:noFill/>
            <a:miter lim="800000"/>
            <a:headEnd/>
            <a:tailEnd/>
          </a:ln>
          <a:effectLst/>
        </p:spPr>
      </p:pic>
      <p:sp>
        <p:nvSpPr>
          <p:cNvPr id="5" name="Date Placeholder 4"/>
          <p:cNvSpPr>
            <a:spLocks noGrp="1"/>
          </p:cNvSpPr>
          <p:nvPr>
            <p:ph type="dt" sz="half" idx="14"/>
          </p:nvPr>
        </p:nvSpPr>
        <p:spPr/>
        <p:txBody>
          <a:bodyPr/>
          <a:lstStyle/>
          <a:p>
            <a:fld id="{50D0B796-B309-446F-B300-7085FCCFAF9A}" type="datetime1">
              <a:rPr lang="en-US" smtClean="0"/>
              <a:t>9/4/2021</a:t>
            </a:fld>
            <a:endParaRPr lang="en-US"/>
          </a:p>
        </p:txBody>
      </p:sp>
      <p:sp>
        <p:nvSpPr>
          <p:cNvPr id="6" name="Slide Number Placeholder 5"/>
          <p:cNvSpPr>
            <a:spLocks noGrp="1"/>
          </p:cNvSpPr>
          <p:nvPr>
            <p:ph type="sldNum" sz="quarter" idx="15"/>
          </p:nvPr>
        </p:nvSpPr>
        <p:spPr/>
        <p:txBody>
          <a:bodyPr/>
          <a:lstStyle/>
          <a:p>
            <a:fld id="{B6F15528-21DE-4FAA-801E-634DDDAF4B2B}" type="slidenum">
              <a:rPr lang="en-US" smtClean="0"/>
              <a:pPr/>
              <a:t>26</a:t>
            </a:fld>
            <a:endParaRPr lang="en-US"/>
          </a:p>
        </p:txBody>
      </p:sp>
      <p:sp>
        <p:nvSpPr>
          <p:cNvPr id="7" name="Footer Placeholder 6"/>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1265238"/>
          </a:xfrm>
        </p:spPr>
        <p:txBody>
          <a:bodyPr>
            <a:normAutofit fontScale="90000"/>
          </a:bodyPr>
          <a:lstStyle/>
          <a:p>
            <a:pPr lvl="0"/>
            <a:r>
              <a:rPr lang="en-US" b="1" u="heavy" dirty="0" smtClean="0"/>
              <a:t/>
            </a:r>
            <a:br>
              <a:rPr lang="en-US" b="1" u="heavy" dirty="0" smtClean="0"/>
            </a:br>
            <a:r>
              <a:rPr lang="en-US" b="1" u="heavy" dirty="0" smtClean="0"/>
              <a:t/>
            </a:r>
            <a:br>
              <a:rPr lang="en-US" b="1" u="heavy" dirty="0" smtClean="0"/>
            </a:br>
            <a:r>
              <a:rPr lang="en-US" b="1" u="heavy" dirty="0" smtClean="0"/>
              <a:t>4.Monitoring:-</a:t>
            </a:r>
            <a:r>
              <a:rPr lang="en-US" dirty="0" smtClean="0"/>
              <a:t/>
            </a:r>
            <a:br>
              <a:rPr lang="en-US" dirty="0" smtClean="0"/>
            </a:br>
            <a:r>
              <a:rPr lang="en-US" b="1" dirty="0" smtClean="0"/>
              <a:t> </a:t>
            </a:r>
            <a:r>
              <a:rPr lang="en-US" dirty="0" smtClean="0"/>
              <a:t/>
            </a:r>
            <a:br>
              <a:rPr lang="en-US" dirty="0" smtClean="0"/>
            </a:br>
            <a:endParaRPr lang="en-US" dirty="0"/>
          </a:p>
        </p:txBody>
      </p:sp>
      <p:sp>
        <p:nvSpPr>
          <p:cNvPr id="3" name="Content Placeholder 2"/>
          <p:cNvSpPr>
            <a:spLocks noGrp="1"/>
          </p:cNvSpPr>
          <p:nvPr>
            <p:ph sz="quarter" idx="1"/>
          </p:nvPr>
        </p:nvSpPr>
        <p:spPr>
          <a:xfrm>
            <a:off x="457200" y="1295400"/>
            <a:ext cx="8229600" cy="5178552"/>
          </a:xfrm>
        </p:spPr>
        <p:txBody>
          <a:bodyPr>
            <a:normAutofit/>
          </a:bodyPr>
          <a:lstStyle/>
          <a:p>
            <a:pPr>
              <a:buFont typeface="Wingdings" pitchFamily="2" charset="2"/>
              <a:buChar char="Ø"/>
            </a:pPr>
            <a:r>
              <a:rPr lang="en-US" dirty="0" smtClean="0"/>
              <a:t>Embedded systems coming under this category are specifically designed for monitoring purpose</a:t>
            </a:r>
          </a:p>
          <a:p>
            <a:pPr>
              <a:buFont typeface="Wingdings" pitchFamily="2" charset="2"/>
              <a:buChar char="Ø"/>
            </a:pPr>
            <a:r>
              <a:rPr lang="en-US" dirty="0" smtClean="0"/>
              <a:t>They are used for determining the state of some variables using input sensors</a:t>
            </a:r>
          </a:p>
          <a:p>
            <a:pPr>
              <a:buFont typeface="Wingdings" pitchFamily="2" charset="2"/>
              <a:buChar char="Ø"/>
            </a:pPr>
            <a:r>
              <a:rPr lang="en-US" dirty="0" smtClean="0"/>
              <a:t>They cannot impose control over variables.</a:t>
            </a:r>
          </a:p>
          <a:p>
            <a:pPr>
              <a:buFont typeface="Wingdings" pitchFamily="2" charset="2"/>
              <a:buChar char="Ø"/>
            </a:pPr>
            <a:r>
              <a:rPr lang="en-US" dirty="0" smtClean="0"/>
              <a:t>Measuring instruments like Digital CRO, Digital Multi meter, Logic Analyzer etc used in Control &amp; Instrumentation applications are also examples of embedded systems for monitoring purpose</a:t>
            </a:r>
          </a:p>
          <a:p>
            <a:pPr>
              <a:buFont typeface="Wingdings" pitchFamily="2" charset="2"/>
              <a:buChar char="Ø"/>
            </a:pPr>
            <a:endParaRPr lang="en-US" dirty="0" smtClean="0"/>
          </a:p>
          <a:p>
            <a:endParaRPr lang="en-US" dirty="0"/>
          </a:p>
        </p:txBody>
      </p:sp>
      <p:sp>
        <p:nvSpPr>
          <p:cNvPr id="4" name="Date Placeholder 3"/>
          <p:cNvSpPr>
            <a:spLocks noGrp="1"/>
          </p:cNvSpPr>
          <p:nvPr>
            <p:ph type="dt" sz="half" idx="14"/>
          </p:nvPr>
        </p:nvSpPr>
        <p:spPr/>
        <p:txBody>
          <a:bodyPr/>
          <a:lstStyle/>
          <a:p>
            <a:fld id="{735FCD23-DC12-4F87-A35B-3B1A64B95C9C}"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27</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609600"/>
            <a:ext cx="7924800" cy="5864352"/>
          </a:xfrm>
        </p:spPr>
        <p:txBody>
          <a:bodyPr/>
          <a:lstStyle/>
          <a:p>
            <a:pPr>
              <a:buFont typeface="Wingdings" pitchFamily="2" charset="2"/>
              <a:buChar char="Ø"/>
            </a:pPr>
            <a:r>
              <a:rPr lang="en-US" dirty="0" smtClean="0"/>
              <a:t>Electro Cardiogram (ECG) machine for monitoring the heart beat of a patient is a typical example for this</a:t>
            </a:r>
          </a:p>
          <a:p>
            <a:pPr>
              <a:buFont typeface="Wingdings" pitchFamily="2" charset="2"/>
              <a:buChar char="Ø"/>
            </a:pPr>
            <a:r>
              <a:rPr lang="en-US" dirty="0" smtClean="0"/>
              <a:t>The sensors used in ECG are the different Electrodes connected to the patient’s body</a:t>
            </a:r>
          </a:p>
          <a:p>
            <a:endParaRPr lang="en-US" dirty="0"/>
          </a:p>
        </p:txBody>
      </p:sp>
      <p:pic>
        <p:nvPicPr>
          <p:cNvPr id="4099" name="Picture 3"/>
          <p:cNvPicPr>
            <a:picLocks noChangeAspect="1" noChangeArrowheads="1"/>
          </p:cNvPicPr>
          <p:nvPr/>
        </p:nvPicPr>
        <p:blipFill>
          <a:blip r:embed="rId2"/>
          <a:srcRect/>
          <a:stretch>
            <a:fillRect/>
          </a:stretch>
        </p:blipFill>
        <p:spPr bwMode="auto">
          <a:xfrm>
            <a:off x="2590800" y="3429000"/>
            <a:ext cx="3581400" cy="2819400"/>
          </a:xfrm>
          <a:prstGeom prst="rect">
            <a:avLst/>
          </a:prstGeom>
          <a:noFill/>
          <a:ln w="9525">
            <a:noFill/>
            <a:miter lim="800000"/>
            <a:headEnd/>
            <a:tailEnd/>
          </a:ln>
          <a:effectLst/>
        </p:spPr>
      </p:pic>
      <p:sp>
        <p:nvSpPr>
          <p:cNvPr id="4" name="Date Placeholder 3"/>
          <p:cNvSpPr>
            <a:spLocks noGrp="1"/>
          </p:cNvSpPr>
          <p:nvPr>
            <p:ph type="dt" sz="half" idx="14"/>
          </p:nvPr>
        </p:nvSpPr>
        <p:spPr/>
        <p:txBody>
          <a:bodyPr/>
          <a:lstStyle/>
          <a:p>
            <a:fld id="{E45F0C3F-9B65-4236-902F-AC8342125D77}"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28</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u="heavy" dirty="0" smtClean="0"/>
              <a:t>5.Control:- </a:t>
            </a:r>
            <a:r>
              <a:rPr lang="en-US" dirty="0" smtClean="0"/>
              <a:t/>
            </a:r>
            <a:br>
              <a:rPr lang="en-US" dirty="0" smtClean="0"/>
            </a:br>
            <a:endParaRPr lang="en-US" dirty="0"/>
          </a:p>
        </p:txBody>
      </p:sp>
      <p:sp>
        <p:nvSpPr>
          <p:cNvPr id="3" name="Content Placeholder 2"/>
          <p:cNvSpPr>
            <a:spLocks noGrp="1"/>
          </p:cNvSpPr>
          <p:nvPr>
            <p:ph sz="quarter" idx="1"/>
          </p:nvPr>
        </p:nvSpPr>
        <p:spPr>
          <a:xfrm>
            <a:off x="457200" y="1143000"/>
            <a:ext cx="8305800" cy="5562600"/>
          </a:xfrm>
        </p:spPr>
        <p:txBody>
          <a:bodyPr>
            <a:normAutofit lnSpcReduction="10000"/>
          </a:bodyPr>
          <a:lstStyle/>
          <a:p>
            <a:pPr>
              <a:buFont typeface="Wingdings" pitchFamily="2" charset="2"/>
              <a:buChar char="Ø"/>
            </a:pPr>
            <a:r>
              <a:rPr lang="en-US" dirty="0" smtClean="0"/>
              <a:t>Embedded systems with control functionalities are used for imposing control over some variables according to the changes in input variables</a:t>
            </a:r>
          </a:p>
          <a:p>
            <a:pPr>
              <a:buFont typeface="Wingdings" pitchFamily="2" charset="2"/>
              <a:buChar char="Ø"/>
            </a:pPr>
            <a:r>
              <a:rPr lang="en-US" dirty="0" smtClean="0"/>
              <a:t>Embedded system with control functionality contains both sensors and actuators</a:t>
            </a:r>
          </a:p>
          <a:p>
            <a:pPr>
              <a:buFont typeface="Wingdings" pitchFamily="2" charset="2"/>
              <a:buChar char="Ø"/>
            </a:pPr>
            <a:r>
              <a:rPr lang="en-US" dirty="0" smtClean="0"/>
              <a:t>Sensors are connected to the input port for capturing the changes in environmental variable or measuring variable</a:t>
            </a:r>
          </a:p>
          <a:p>
            <a:pPr>
              <a:buFont typeface="Wingdings" pitchFamily="2" charset="2"/>
              <a:buChar char="Ø"/>
            </a:pPr>
            <a:r>
              <a:rPr lang="en-US" dirty="0" smtClean="0"/>
              <a:t>The actuators connected to the output port are controlled according to the changes in input variable to put an impact on the controlling variable to bring the controlled variable to the specified range</a:t>
            </a:r>
          </a:p>
          <a:p>
            <a:pPr>
              <a:buFont typeface="Wingdings" pitchFamily="2" charset="2"/>
              <a:buChar char="Ø"/>
            </a:pPr>
            <a:r>
              <a:rPr lang="en-US" dirty="0" smtClean="0"/>
              <a:t>Air conditioner for controlling room temperature is a typical example for embedded system with „Control‟ functionality</a:t>
            </a:r>
          </a:p>
          <a:p>
            <a:pPr>
              <a:buNone/>
            </a:pPr>
            <a:endParaRPr lang="en-US" dirty="0" smtClean="0"/>
          </a:p>
          <a:p>
            <a:endParaRPr lang="en-US" dirty="0"/>
          </a:p>
        </p:txBody>
      </p:sp>
      <p:sp>
        <p:nvSpPr>
          <p:cNvPr id="4" name="Date Placeholder 3"/>
          <p:cNvSpPr>
            <a:spLocks noGrp="1"/>
          </p:cNvSpPr>
          <p:nvPr>
            <p:ph type="dt" sz="half" idx="14"/>
          </p:nvPr>
        </p:nvSpPr>
        <p:spPr/>
        <p:txBody>
          <a:bodyPr/>
          <a:lstStyle/>
          <a:p>
            <a:fld id="{958E61C8-7EEA-48F0-9279-E7632BABD950}"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29</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28600"/>
            <a:ext cx="8382000" cy="6245352"/>
          </a:xfrm>
        </p:spPr>
        <p:txBody>
          <a:bodyPr/>
          <a:lstStyle/>
          <a:p>
            <a:pPr>
              <a:buFont typeface="Wingdings" pitchFamily="2" charset="2"/>
              <a:buChar char="Ø"/>
            </a:pPr>
            <a:r>
              <a:rPr lang="en-US" dirty="0" smtClean="0"/>
              <a:t>Air conditioner contains a room temperature sensing element (sensor) which may be a </a:t>
            </a:r>
            <a:r>
              <a:rPr lang="en-US" dirty="0" err="1" smtClean="0"/>
              <a:t>thermistor</a:t>
            </a:r>
            <a:r>
              <a:rPr lang="en-US" dirty="0" smtClean="0"/>
              <a:t> and a handheld unit for setting up (feeding) the desired temperature</a:t>
            </a:r>
          </a:p>
          <a:p>
            <a:pPr>
              <a:buFont typeface="Wingdings" pitchFamily="2" charset="2"/>
              <a:buChar char="Ø"/>
            </a:pPr>
            <a:r>
              <a:rPr lang="en-US" dirty="0" smtClean="0"/>
              <a:t>The air compressor unit acts as the actuator. The compressor is controlled according to the current room temperature and the desired temperature set by the end user.</a:t>
            </a:r>
            <a:br>
              <a:rPr lang="en-US" dirty="0" smtClean="0"/>
            </a:br>
            <a:endParaRPr lang="en-US" dirty="0" smtClean="0"/>
          </a:p>
          <a:p>
            <a:endParaRPr lang="en-US" dirty="0"/>
          </a:p>
        </p:txBody>
      </p:sp>
      <p:pic>
        <p:nvPicPr>
          <p:cNvPr id="5122" name="Picture 2"/>
          <p:cNvPicPr>
            <a:picLocks noChangeAspect="1" noChangeArrowheads="1"/>
          </p:cNvPicPr>
          <p:nvPr/>
        </p:nvPicPr>
        <p:blipFill>
          <a:blip r:embed="rId2"/>
          <a:srcRect/>
          <a:stretch>
            <a:fillRect/>
          </a:stretch>
        </p:blipFill>
        <p:spPr bwMode="auto">
          <a:xfrm>
            <a:off x="2057400" y="3429000"/>
            <a:ext cx="4419600" cy="2895600"/>
          </a:xfrm>
          <a:prstGeom prst="rect">
            <a:avLst/>
          </a:prstGeom>
          <a:noFill/>
          <a:ln w="9525">
            <a:noFill/>
            <a:miter lim="800000"/>
            <a:headEnd/>
            <a:tailEnd/>
          </a:ln>
          <a:effectLst/>
        </p:spPr>
      </p:pic>
      <p:sp>
        <p:nvSpPr>
          <p:cNvPr id="4" name="Date Placeholder 3"/>
          <p:cNvSpPr>
            <a:spLocks noGrp="1"/>
          </p:cNvSpPr>
          <p:nvPr>
            <p:ph type="dt" sz="half" idx="14"/>
          </p:nvPr>
        </p:nvSpPr>
        <p:spPr/>
        <p:txBody>
          <a:bodyPr/>
          <a:lstStyle/>
          <a:p>
            <a:fld id="{E730F06C-6218-4084-974A-9F097E14420A}"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30</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heavy" dirty="0" smtClean="0"/>
              <a:t>Application Specific User Interface:-</a:t>
            </a:r>
            <a:endParaRPr lang="en-US" dirty="0"/>
          </a:p>
        </p:txBody>
      </p:sp>
      <p:sp>
        <p:nvSpPr>
          <p:cNvPr id="3" name="Content Placeholder 2"/>
          <p:cNvSpPr>
            <a:spLocks noGrp="1"/>
          </p:cNvSpPr>
          <p:nvPr>
            <p:ph sz="quarter" idx="1"/>
          </p:nvPr>
        </p:nvSpPr>
        <p:spPr>
          <a:xfrm>
            <a:off x="457200" y="1371600"/>
            <a:ext cx="8229600" cy="5102352"/>
          </a:xfrm>
        </p:spPr>
        <p:txBody>
          <a:bodyPr/>
          <a:lstStyle/>
          <a:p>
            <a:pPr>
              <a:buFont typeface="Wingdings" pitchFamily="2" charset="2"/>
              <a:buChar char="Ø"/>
            </a:pPr>
            <a:r>
              <a:rPr lang="en-US" dirty="0" smtClean="0"/>
              <a:t>Embedded systems which are designed for a specific application </a:t>
            </a:r>
          </a:p>
          <a:p>
            <a:pPr>
              <a:buFont typeface="Wingdings" pitchFamily="2" charset="2"/>
              <a:buChar char="Ø"/>
            </a:pPr>
            <a:r>
              <a:rPr lang="en-US" dirty="0" smtClean="0"/>
              <a:t>Contains Application Specific User interface (rather than general standard UI ) like key board, Display units etc </a:t>
            </a:r>
          </a:p>
          <a:p>
            <a:pPr>
              <a:buFont typeface="Wingdings" pitchFamily="2" charset="2"/>
              <a:buChar char="Ø"/>
            </a:pPr>
            <a:r>
              <a:rPr lang="en-US" dirty="0" smtClean="0"/>
              <a:t>Aimed at a specific target group of users</a:t>
            </a:r>
          </a:p>
          <a:p>
            <a:pPr>
              <a:buFont typeface="Wingdings" pitchFamily="2" charset="2"/>
              <a:buChar char="Ø"/>
            </a:pPr>
            <a:r>
              <a:rPr lang="en-US" dirty="0" smtClean="0"/>
              <a:t>Mobile handsets, Control units in industrial applications etc are examples</a:t>
            </a:r>
          </a:p>
          <a:p>
            <a:endParaRPr lang="en-US" dirty="0"/>
          </a:p>
        </p:txBody>
      </p:sp>
      <p:sp>
        <p:nvSpPr>
          <p:cNvPr id="4" name="Date Placeholder 3"/>
          <p:cNvSpPr>
            <a:spLocks noGrp="1"/>
          </p:cNvSpPr>
          <p:nvPr>
            <p:ph type="dt" sz="half" idx="14"/>
          </p:nvPr>
        </p:nvSpPr>
        <p:spPr/>
        <p:txBody>
          <a:bodyPr/>
          <a:lstStyle/>
          <a:p>
            <a:fld id="{F278B164-1EBF-4933-B097-6E3D988A2D26}"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31</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heavy" dirty="0" smtClean="0"/>
              <a:t>Characteristics of Embedded systems</a:t>
            </a:r>
            <a:r>
              <a:rPr lang="en-US" dirty="0" smtClean="0"/>
              <a:t>:</a:t>
            </a:r>
            <a:endParaRPr lang="en-US" dirty="0"/>
          </a:p>
        </p:txBody>
      </p:sp>
      <p:sp>
        <p:nvSpPr>
          <p:cNvPr id="3" name="Content Placeholder 2"/>
          <p:cNvSpPr>
            <a:spLocks noGrp="1"/>
          </p:cNvSpPr>
          <p:nvPr>
            <p:ph sz="quarter" idx="1"/>
          </p:nvPr>
        </p:nvSpPr>
        <p:spPr>
          <a:xfrm>
            <a:off x="152400" y="1676400"/>
            <a:ext cx="8610600" cy="4797552"/>
          </a:xfrm>
        </p:spPr>
        <p:txBody>
          <a:bodyPr>
            <a:normAutofit/>
          </a:bodyPr>
          <a:lstStyle/>
          <a:p>
            <a:pPr>
              <a:buNone/>
            </a:pPr>
            <a:r>
              <a:rPr lang="en-US" dirty="0" smtClean="0"/>
              <a:t>Embedded systems possess certain specific characteristics and these are unique to each Embedded system.</a:t>
            </a:r>
          </a:p>
          <a:p>
            <a:pPr lvl="1">
              <a:buFont typeface="Wingdings" pitchFamily="2" charset="2"/>
              <a:buChar char="Ø"/>
            </a:pPr>
            <a:r>
              <a:rPr lang="en-US" dirty="0" smtClean="0"/>
              <a:t>Application and domain specific</a:t>
            </a:r>
          </a:p>
          <a:p>
            <a:pPr lvl="1">
              <a:buFont typeface="Wingdings" pitchFamily="2" charset="2"/>
              <a:buChar char="Ø"/>
            </a:pPr>
            <a:r>
              <a:rPr lang="en-US" dirty="0" smtClean="0"/>
              <a:t>Reactive and Real Time</a:t>
            </a:r>
          </a:p>
          <a:p>
            <a:pPr lvl="1">
              <a:buFont typeface="Wingdings" pitchFamily="2" charset="2"/>
              <a:buChar char="Ø"/>
            </a:pPr>
            <a:r>
              <a:rPr lang="en-US" dirty="0" smtClean="0"/>
              <a:t>Operates in harsh environments</a:t>
            </a:r>
          </a:p>
          <a:p>
            <a:pPr lvl="1">
              <a:buFont typeface="Wingdings" pitchFamily="2" charset="2"/>
              <a:buChar char="Ø"/>
            </a:pPr>
            <a:r>
              <a:rPr lang="en-US" dirty="0" smtClean="0"/>
              <a:t>Distributed</a:t>
            </a:r>
          </a:p>
          <a:p>
            <a:pPr lvl="1">
              <a:buFont typeface="Wingdings" pitchFamily="2" charset="2"/>
              <a:buChar char="Ø"/>
            </a:pPr>
            <a:r>
              <a:rPr lang="en-US" dirty="0" smtClean="0"/>
              <a:t>Small Size and weight</a:t>
            </a:r>
          </a:p>
          <a:p>
            <a:pPr lvl="1">
              <a:buFont typeface="Wingdings" pitchFamily="2" charset="2"/>
              <a:buChar char="Ø"/>
            </a:pPr>
            <a:r>
              <a:rPr lang="en-US" dirty="0" smtClean="0"/>
              <a:t>Power concerns</a:t>
            </a:r>
          </a:p>
          <a:p>
            <a:endParaRPr lang="en-US" dirty="0"/>
          </a:p>
        </p:txBody>
      </p:sp>
      <p:sp>
        <p:nvSpPr>
          <p:cNvPr id="4" name="Date Placeholder 3"/>
          <p:cNvSpPr>
            <a:spLocks noGrp="1"/>
          </p:cNvSpPr>
          <p:nvPr>
            <p:ph type="dt" sz="half" idx="14"/>
          </p:nvPr>
        </p:nvSpPr>
        <p:spPr/>
        <p:txBody>
          <a:bodyPr/>
          <a:lstStyle/>
          <a:p>
            <a:fld id="{E085504E-1E14-47F9-8B40-7DDD3074230D}"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32</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458200" cy="6245352"/>
          </a:xfrm>
        </p:spPr>
        <p:txBody>
          <a:bodyPr>
            <a:normAutofit/>
          </a:bodyPr>
          <a:lstStyle/>
          <a:p>
            <a:pPr lvl="0">
              <a:buNone/>
            </a:pPr>
            <a:r>
              <a:rPr lang="en-US" b="1" dirty="0" smtClean="0"/>
              <a:t>1.Application and Domain Specific:-</a:t>
            </a:r>
            <a:endParaRPr lang="en-US" sz="2000" dirty="0" smtClean="0"/>
          </a:p>
          <a:p>
            <a:pPr lvl="1">
              <a:buFont typeface="Wingdings" pitchFamily="2" charset="2"/>
              <a:buChar char="Ø"/>
            </a:pPr>
            <a:r>
              <a:rPr lang="en-US" sz="2400" dirty="0" smtClean="0"/>
              <a:t>Each E.S has certain functions to perform and they are developed in such a manner to do the intended functions only.</a:t>
            </a:r>
            <a:endParaRPr lang="en-US" sz="2800" dirty="0" smtClean="0"/>
          </a:p>
          <a:p>
            <a:pPr lvl="1">
              <a:buFont typeface="Wingdings" pitchFamily="2" charset="2"/>
              <a:buChar char="Ø"/>
            </a:pPr>
            <a:r>
              <a:rPr lang="en-US" sz="2400" dirty="0" smtClean="0"/>
              <a:t>They cannot be used for any other purpose.</a:t>
            </a:r>
            <a:endParaRPr lang="en-US" sz="1800" dirty="0" smtClean="0"/>
          </a:p>
          <a:p>
            <a:pPr lvl="1">
              <a:buFont typeface="Wingdings" pitchFamily="2" charset="2"/>
              <a:buChar char="Ø"/>
            </a:pPr>
            <a:r>
              <a:rPr lang="en-US" sz="2400" dirty="0" smtClean="0"/>
              <a:t>Ex – The embedded control units of the microwave oven cannot be replaced with AC’s embedded control unit because the embedded control units of microwave oven and AC are specifically designed to perform certain specific tasks.</a:t>
            </a:r>
            <a:endParaRPr lang="en-US" sz="2000" dirty="0" smtClean="0"/>
          </a:p>
          <a:p>
            <a:endParaRPr lang="en-US" dirty="0"/>
          </a:p>
        </p:txBody>
      </p:sp>
      <p:sp>
        <p:nvSpPr>
          <p:cNvPr id="4" name="Date Placeholder 3"/>
          <p:cNvSpPr>
            <a:spLocks noGrp="1"/>
          </p:cNvSpPr>
          <p:nvPr>
            <p:ph type="dt" sz="half" idx="14"/>
          </p:nvPr>
        </p:nvSpPr>
        <p:spPr/>
        <p:txBody>
          <a:bodyPr/>
          <a:lstStyle/>
          <a:p>
            <a:fld id="{621624D9-2DDE-4F0D-90A1-B74D20FC035A}"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33</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smtClean="0"/>
              <a:t>2.Reactive and Real Time:-</a:t>
            </a:r>
            <a:r>
              <a:rPr lang="en-US" dirty="0" smtClean="0"/>
              <a:t/>
            </a:r>
            <a:br>
              <a:rPr lang="en-US" dirty="0" smtClean="0"/>
            </a:br>
            <a:endParaRPr lang="en-US" dirty="0"/>
          </a:p>
        </p:txBody>
      </p:sp>
      <p:sp>
        <p:nvSpPr>
          <p:cNvPr id="3" name="Content Placeholder 2"/>
          <p:cNvSpPr>
            <a:spLocks noGrp="1"/>
          </p:cNvSpPr>
          <p:nvPr>
            <p:ph sz="quarter" idx="1"/>
          </p:nvPr>
        </p:nvSpPr>
        <p:spPr>
          <a:xfrm>
            <a:off x="0" y="990600"/>
            <a:ext cx="8686800" cy="5483352"/>
          </a:xfrm>
        </p:spPr>
        <p:txBody>
          <a:bodyPr>
            <a:normAutofit fontScale="92500" lnSpcReduction="10000"/>
          </a:bodyPr>
          <a:lstStyle/>
          <a:p>
            <a:pPr lvl="1">
              <a:buFont typeface="Wingdings" pitchFamily="2" charset="2"/>
              <a:buChar char="Ø"/>
            </a:pPr>
            <a:r>
              <a:rPr lang="en-US" sz="2400" dirty="0" smtClean="0"/>
              <a:t>E.S are in constant interaction with the real world through sensors and user-defined input devices which are connected to the input port of the system.</a:t>
            </a:r>
            <a:endParaRPr lang="en-US" sz="2000" dirty="0" smtClean="0"/>
          </a:p>
          <a:p>
            <a:pPr lvl="1">
              <a:buFont typeface="Wingdings" pitchFamily="2" charset="2"/>
              <a:buChar char="Ø"/>
            </a:pPr>
            <a:r>
              <a:rPr lang="en-US" sz="2400" dirty="0" smtClean="0"/>
              <a:t>Any changes in the real world are captured by the sensors or input devices in real time and the control algorithm running inside the unit reacts in a designed manner to bring the controlled output variables to the desired level.</a:t>
            </a:r>
            <a:endParaRPr lang="en-US" sz="2000" dirty="0" smtClean="0"/>
          </a:p>
          <a:p>
            <a:pPr lvl="1">
              <a:buFont typeface="Wingdings" pitchFamily="2" charset="2"/>
              <a:buChar char="Ø"/>
            </a:pPr>
            <a:r>
              <a:rPr lang="en-US" sz="2400" dirty="0" smtClean="0"/>
              <a:t>E.S produce changes in output in response to the changes in the input, so they are referred as reactive systems.</a:t>
            </a:r>
            <a:endParaRPr lang="en-US" sz="2000" dirty="0" smtClean="0"/>
          </a:p>
          <a:p>
            <a:pPr lvl="1">
              <a:buFont typeface="Wingdings" pitchFamily="2" charset="2"/>
              <a:buChar char="Ø"/>
            </a:pPr>
            <a:r>
              <a:rPr lang="en-US" sz="2400" dirty="0" smtClean="0"/>
              <a:t>Real Time system operation means the timing behavior of the system should be deterministic </a:t>
            </a:r>
            <a:r>
              <a:rPr lang="en-US" sz="2400" dirty="0" err="1" smtClean="0"/>
              <a:t>i.e</a:t>
            </a:r>
            <a:r>
              <a:rPr lang="en-US" sz="2400" dirty="0" smtClean="0"/>
              <a:t> the system should respond to requests in a known amount of time.</a:t>
            </a:r>
            <a:endParaRPr lang="en-US" sz="2000" dirty="0" smtClean="0"/>
          </a:p>
          <a:p>
            <a:endParaRPr lang="en-US" sz="1800" dirty="0" smtClean="0"/>
          </a:p>
          <a:p>
            <a:pPr>
              <a:buNone/>
            </a:pPr>
            <a:r>
              <a:rPr lang="en-US" dirty="0" smtClean="0"/>
              <a:t>Example – E.S which are mission critical like flight control systems, Antilock Brake Systems (</a:t>
            </a:r>
            <a:r>
              <a:rPr lang="en-US" b="1" dirty="0" smtClean="0"/>
              <a:t>ABS</a:t>
            </a:r>
            <a:r>
              <a:rPr lang="en-US" dirty="0" smtClean="0"/>
              <a:t>) etc are Real Time systems.</a:t>
            </a:r>
            <a:endParaRPr lang="en-US" dirty="0"/>
          </a:p>
        </p:txBody>
      </p:sp>
      <p:sp>
        <p:nvSpPr>
          <p:cNvPr id="4" name="Date Placeholder 3"/>
          <p:cNvSpPr>
            <a:spLocks noGrp="1"/>
          </p:cNvSpPr>
          <p:nvPr>
            <p:ph type="dt" sz="half" idx="14"/>
          </p:nvPr>
        </p:nvSpPr>
        <p:spPr/>
        <p:txBody>
          <a:bodyPr/>
          <a:lstStyle/>
          <a:p>
            <a:fld id="{FE422FE6-6F78-4BF9-9BC8-DBE862D1D02E}"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34</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152400"/>
            <a:ext cx="8610600" cy="6321552"/>
          </a:xfrm>
        </p:spPr>
        <p:txBody>
          <a:bodyPr>
            <a:normAutofit fontScale="92500" lnSpcReduction="20000"/>
          </a:bodyPr>
          <a:lstStyle/>
          <a:p>
            <a:pPr lvl="0">
              <a:buNone/>
            </a:pPr>
            <a:r>
              <a:rPr lang="en-US" b="1" dirty="0" smtClean="0"/>
              <a:t>3.Operates in Harsh Environment :–</a:t>
            </a:r>
            <a:endParaRPr lang="en-US" sz="2000" dirty="0" smtClean="0"/>
          </a:p>
          <a:p>
            <a:endParaRPr lang="en-US" sz="1800" dirty="0" smtClean="0"/>
          </a:p>
          <a:p>
            <a:pPr lvl="1"/>
            <a:r>
              <a:rPr lang="en-US" sz="2400" dirty="0" smtClean="0"/>
              <a:t>The design of E.S should take care of the operating conditions of the area where the system is going to implement.</a:t>
            </a:r>
            <a:endParaRPr lang="en-US" sz="2000" dirty="0" smtClean="0"/>
          </a:p>
          <a:p>
            <a:pPr lvl="1"/>
            <a:r>
              <a:rPr lang="en-US" sz="2400" dirty="0" smtClean="0"/>
              <a:t>Ex – If the system needs to be deployed in a high temperature zone, then all the components used in the system should be of high temperature grade.</a:t>
            </a:r>
            <a:endParaRPr lang="en-US" sz="2000" dirty="0" smtClean="0"/>
          </a:p>
          <a:p>
            <a:pPr lvl="1"/>
            <a:r>
              <a:rPr lang="en-US" sz="2400" dirty="0" smtClean="0"/>
              <a:t>Also proper shock absorption techniques should be provided to systems which are going to be commissioned in places subject to high shock.</a:t>
            </a:r>
            <a:endParaRPr lang="en-US" sz="2000" dirty="0" smtClean="0"/>
          </a:p>
          <a:p>
            <a:pPr lvl="0">
              <a:buNone/>
            </a:pPr>
            <a:r>
              <a:rPr lang="en-US" b="1" dirty="0" smtClean="0"/>
              <a:t>4.Distributed: –</a:t>
            </a:r>
            <a:endParaRPr lang="en-US" sz="2000" dirty="0" smtClean="0"/>
          </a:p>
          <a:p>
            <a:pPr lvl="1"/>
            <a:r>
              <a:rPr lang="en-US" sz="2400" dirty="0" smtClean="0"/>
              <a:t>It means that embedded systems may be a part of a larger system.</a:t>
            </a:r>
            <a:endParaRPr lang="en-US" sz="2000" dirty="0" smtClean="0"/>
          </a:p>
          <a:p>
            <a:pPr lvl="1"/>
            <a:r>
              <a:rPr lang="en-US" sz="2400" dirty="0" smtClean="0"/>
              <a:t>Many numbers of such distributed embedded systems form a single large embedded control unit.</a:t>
            </a:r>
            <a:endParaRPr lang="en-US" sz="2000" dirty="0" smtClean="0"/>
          </a:p>
          <a:p>
            <a:pPr lvl="1"/>
            <a:r>
              <a:rPr lang="en-US" sz="2400" dirty="0" smtClean="0"/>
              <a:t>Ex – Automatic vending machine. It contains a card reader, a vending unit etc. Each of them are independent embedded units but they work together to perform the overall vending function.</a:t>
            </a:r>
            <a:endParaRPr lang="en-US" sz="2000" dirty="0" smtClean="0"/>
          </a:p>
          <a:p>
            <a:endParaRPr lang="en-US" dirty="0"/>
          </a:p>
        </p:txBody>
      </p:sp>
      <p:sp>
        <p:nvSpPr>
          <p:cNvPr id="4" name="Date Placeholder 3"/>
          <p:cNvSpPr>
            <a:spLocks noGrp="1"/>
          </p:cNvSpPr>
          <p:nvPr>
            <p:ph type="dt" sz="half" idx="14"/>
          </p:nvPr>
        </p:nvSpPr>
        <p:spPr/>
        <p:txBody>
          <a:bodyPr/>
          <a:lstStyle/>
          <a:p>
            <a:fld id="{8F442F87-310E-4ED1-BB27-D2D852CBCDBE}"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35</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534400" cy="6400800"/>
          </a:xfrm>
        </p:spPr>
        <p:txBody>
          <a:bodyPr>
            <a:normAutofit/>
          </a:bodyPr>
          <a:lstStyle/>
          <a:p>
            <a:pPr lvl="0">
              <a:buNone/>
            </a:pPr>
            <a:r>
              <a:rPr lang="en-US" b="1" dirty="0" smtClean="0"/>
              <a:t>5.Small Size and Weight:-</a:t>
            </a:r>
            <a:endParaRPr lang="en-US" sz="2000" dirty="0" smtClean="0"/>
          </a:p>
          <a:p>
            <a:pPr lvl="1"/>
            <a:r>
              <a:rPr lang="en-US" sz="2400" dirty="0" smtClean="0"/>
              <a:t>Product aesthetics (size, weight, shape, style, etc) is an important factor in choosing a product.</a:t>
            </a:r>
            <a:endParaRPr lang="en-US" sz="2000" dirty="0" smtClean="0"/>
          </a:p>
          <a:p>
            <a:pPr lvl="1"/>
            <a:r>
              <a:rPr lang="en-US" sz="2400" dirty="0" smtClean="0"/>
              <a:t>It is convenient to handle a compact device than a bulky product.</a:t>
            </a:r>
          </a:p>
          <a:p>
            <a:pPr lvl="1"/>
            <a:endParaRPr lang="en-US" sz="2000" dirty="0" smtClean="0"/>
          </a:p>
          <a:p>
            <a:pPr lvl="0">
              <a:buNone/>
            </a:pPr>
            <a:r>
              <a:rPr lang="en-US" b="1" dirty="0" smtClean="0"/>
              <a:t>6.Power Concerns:-</a:t>
            </a:r>
            <a:endParaRPr lang="en-US" sz="2000" dirty="0" smtClean="0"/>
          </a:p>
          <a:p>
            <a:pPr lvl="1"/>
            <a:r>
              <a:rPr lang="en-US" sz="2400" dirty="0" smtClean="0"/>
              <a:t>Power management is another important factor that needs to be considered in designing embedded systems.</a:t>
            </a:r>
            <a:endParaRPr lang="en-US" sz="2000" dirty="0" smtClean="0"/>
          </a:p>
          <a:p>
            <a:pPr lvl="1"/>
            <a:r>
              <a:rPr lang="en-US" sz="2400" dirty="0" smtClean="0"/>
              <a:t>E.S should be designed in such a way as to minimize the heat dissipation by the system.</a:t>
            </a:r>
          </a:p>
          <a:p>
            <a:pPr lvl="1"/>
            <a:endParaRPr lang="en-US" sz="2000" dirty="0" smtClean="0"/>
          </a:p>
          <a:p>
            <a:endParaRPr lang="en-US" dirty="0"/>
          </a:p>
        </p:txBody>
      </p:sp>
      <p:sp>
        <p:nvSpPr>
          <p:cNvPr id="4" name="Date Placeholder 3"/>
          <p:cNvSpPr>
            <a:spLocks noGrp="1"/>
          </p:cNvSpPr>
          <p:nvPr>
            <p:ph type="dt" sz="half" idx="14"/>
          </p:nvPr>
        </p:nvSpPr>
        <p:spPr/>
        <p:txBody>
          <a:bodyPr/>
          <a:lstStyle/>
          <a:p>
            <a:fld id="{8567E925-C810-443C-B45D-1F01CAFD0072}"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36</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heavy" dirty="0" smtClean="0"/>
              <a:t>Quality Attributes of Embedded System:</a:t>
            </a:r>
            <a:r>
              <a:rPr lang="en-US" b="1" dirty="0" smtClean="0"/>
              <a:t> </a:t>
            </a:r>
            <a:endParaRPr lang="en-US" dirty="0"/>
          </a:p>
        </p:txBody>
      </p:sp>
      <p:sp>
        <p:nvSpPr>
          <p:cNvPr id="3" name="Content Placeholder 2"/>
          <p:cNvSpPr>
            <a:spLocks noGrp="1"/>
          </p:cNvSpPr>
          <p:nvPr>
            <p:ph sz="quarter" idx="1"/>
          </p:nvPr>
        </p:nvSpPr>
        <p:spPr>
          <a:xfrm>
            <a:off x="0" y="1600200"/>
            <a:ext cx="8763000" cy="4873752"/>
          </a:xfrm>
        </p:spPr>
        <p:txBody>
          <a:bodyPr/>
          <a:lstStyle/>
          <a:p>
            <a:pPr>
              <a:buNone/>
            </a:pPr>
            <a:r>
              <a:rPr lang="en-US" dirty="0" smtClean="0"/>
              <a:t>Quality attributes are the non-functional requirements that need to be documented properly in any system design</a:t>
            </a:r>
          </a:p>
          <a:p>
            <a:pPr>
              <a:buNone/>
            </a:pPr>
            <a:r>
              <a:rPr lang="en-US" dirty="0" smtClean="0"/>
              <a:t>Quality attributes can be classified as</a:t>
            </a:r>
          </a:p>
          <a:p>
            <a:pPr>
              <a:buNone/>
            </a:pPr>
            <a:endParaRPr lang="en-US" dirty="0" smtClean="0"/>
          </a:p>
          <a:p>
            <a:pPr lvl="1">
              <a:buNone/>
            </a:pPr>
            <a:r>
              <a:rPr lang="en-US" b="1" dirty="0" smtClean="0"/>
              <a:t>	    1.Operational quality attributes</a:t>
            </a:r>
            <a:endParaRPr lang="en-US" dirty="0" smtClean="0"/>
          </a:p>
          <a:p>
            <a:pPr lvl="0">
              <a:buNone/>
            </a:pPr>
            <a:r>
              <a:rPr lang="en-US" b="1" dirty="0" smtClean="0"/>
              <a:t> 		2.Non-operational quality attributes.</a:t>
            </a:r>
          </a:p>
          <a:p>
            <a:pPr>
              <a:buNone/>
            </a:pPr>
            <a:r>
              <a:rPr lang="en-US" b="1" u="sng" dirty="0" smtClean="0">
                <a:solidFill>
                  <a:srgbClr val="FF0000"/>
                </a:solidFill>
              </a:rPr>
              <a:t>Operational Quality Attributes: </a:t>
            </a:r>
          </a:p>
          <a:p>
            <a:pPr>
              <a:buFont typeface="Wingdings" pitchFamily="2" charset="2"/>
              <a:buChar char="Ø"/>
            </a:pPr>
            <a:r>
              <a:rPr lang="en-US" dirty="0" smtClean="0"/>
              <a:t>The operational quality attributes represent the quality attributes related to the embedded system when it is in the operational mode or online mode.</a:t>
            </a:r>
          </a:p>
          <a:p>
            <a:pPr lvl="0">
              <a:buNone/>
            </a:pPr>
            <a:endParaRPr lang="en-US" dirty="0" smtClean="0"/>
          </a:p>
          <a:p>
            <a:pPr>
              <a:buNone/>
            </a:pPr>
            <a:endParaRPr lang="en-US" dirty="0"/>
          </a:p>
        </p:txBody>
      </p:sp>
      <p:sp>
        <p:nvSpPr>
          <p:cNvPr id="4" name="Date Placeholder 3"/>
          <p:cNvSpPr>
            <a:spLocks noGrp="1"/>
          </p:cNvSpPr>
          <p:nvPr>
            <p:ph type="dt" sz="half" idx="14"/>
          </p:nvPr>
        </p:nvSpPr>
        <p:spPr/>
        <p:txBody>
          <a:bodyPr/>
          <a:lstStyle/>
          <a:p>
            <a:fld id="{817EAA29-4484-4A12-ABF7-AE5CBF575F98}"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37</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381000"/>
            <a:ext cx="8382000" cy="6092952"/>
          </a:xfrm>
        </p:spPr>
        <p:txBody>
          <a:bodyPr>
            <a:normAutofit fontScale="92500" lnSpcReduction="20000"/>
          </a:bodyPr>
          <a:lstStyle/>
          <a:p>
            <a:pPr lvl="1">
              <a:buNone/>
            </a:pPr>
            <a:r>
              <a:rPr lang="en-US" sz="2400" b="1" dirty="0" smtClean="0">
                <a:solidFill>
                  <a:srgbClr val="FF0000"/>
                </a:solidFill>
              </a:rPr>
              <a:t>1.Response :-</a:t>
            </a:r>
            <a:endParaRPr lang="en-US" sz="2800" dirty="0" smtClean="0">
              <a:solidFill>
                <a:srgbClr val="FF0000"/>
              </a:solidFill>
            </a:endParaRPr>
          </a:p>
          <a:p>
            <a:pPr>
              <a:buFont typeface="Wingdings" pitchFamily="2" charset="2"/>
              <a:buChar char="Ø"/>
            </a:pPr>
            <a:r>
              <a:rPr lang="en-US" dirty="0" smtClean="0"/>
              <a:t>It is the measure of quickness of the system.</a:t>
            </a:r>
            <a:endParaRPr lang="en-US" sz="2000" dirty="0" smtClean="0"/>
          </a:p>
          <a:p>
            <a:pPr>
              <a:buFont typeface="Wingdings" pitchFamily="2" charset="2"/>
              <a:buChar char="Ø"/>
            </a:pPr>
            <a:r>
              <a:rPr lang="en-US" dirty="0" smtClean="0"/>
              <a:t>It tells how fast the system is tracking the changes in input variables. Most of the E.S demands fast response which should be almost real time.</a:t>
            </a:r>
            <a:endParaRPr lang="en-US" sz="2000" dirty="0" smtClean="0"/>
          </a:p>
          <a:p>
            <a:pPr>
              <a:buNone/>
            </a:pPr>
            <a:r>
              <a:rPr lang="en-US" b="1" dirty="0" smtClean="0"/>
              <a:t>		Ex – </a:t>
            </a:r>
            <a:r>
              <a:rPr lang="en-US" dirty="0" smtClean="0"/>
              <a:t>Flight control application.</a:t>
            </a:r>
            <a:endParaRPr lang="en-US" sz="2000" dirty="0" smtClean="0"/>
          </a:p>
          <a:p>
            <a:pPr>
              <a:buNone/>
            </a:pPr>
            <a:r>
              <a:rPr lang="en-US" sz="2000" b="1" dirty="0" smtClean="0">
                <a:solidFill>
                  <a:srgbClr val="FF0000"/>
                </a:solidFill>
              </a:rPr>
              <a:t>2.</a:t>
            </a:r>
            <a:r>
              <a:rPr lang="en-US" sz="2400" b="1" dirty="0" smtClean="0">
                <a:solidFill>
                  <a:srgbClr val="FF0000"/>
                </a:solidFill>
              </a:rPr>
              <a:t>Throughput :-</a:t>
            </a:r>
            <a:endParaRPr lang="en-US" sz="2000" dirty="0" smtClean="0">
              <a:solidFill>
                <a:srgbClr val="FF0000"/>
              </a:solidFill>
            </a:endParaRPr>
          </a:p>
          <a:p>
            <a:pPr>
              <a:buFont typeface="Wingdings" pitchFamily="2" charset="2"/>
              <a:buChar char="Ø"/>
            </a:pPr>
            <a:r>
              <a:rPr lang="en-US" dirty="0" smtClean="0"/>
              <a:t>It deals with the efficiency of a system. </a:t>
            </a:r>
            <a:endParaRPr lang="en-US" sz="1800" dirty="0" smtClean="0"/>
          </a:p>
          <a:p>
            <a:pPr>
              <a:buFont typeface="Wingdings" pitchFamily="2" charset="2"/>
              <a:buChar char="Ø"/>
            </a:pPr>
            <a:r>
              <a:rPr lang="en-US" dirty="0" smtClean="0"/>
              <a:t>It can be defined as the rate of production or operation of a defined process over a stated period of time.</a:t>
            </a:r>
            <a:endParaRPr lang="en-US" sz="1800" dirty="0" smtClean="0"/>
          </a:p>
          <a:p>
            <a:pPr>
              <a:buFont typeface="Wingdings" pitchFamily="2" charset="2"/>
              <a:buChar char="Ø"/>
            </a:pPr>
            <a:r>
              <a:rPr lang="en-US" dirty="0" smtClean="0"/>
              <a:t>The rates can be expressed in terms of products, batches produced or any other meaningful measurements.</a:t>
            </a:r>
            <a:endParaRPr lang="en-US" sz="1800" dirty="0" smtClean="0"/>
          </a:p>
          <a:p>
            <a:pPr>
              <a:buNone/>
            </a:pPr>
            <a:r>
              <a:rPr lang="en-US" dirty="0" smtClean="0"/>
              <a:t>Ex – In case of card reader throughput means how many transactions the reader can perform in a minute or in an hour or in a day.</a:t>
            </a:r>
          </a:p>
          <a:p>
            <a:pPr>
              <a:buFont typeface="Wingdings" pitchFamily="2" charset="2"/>
              <a:buChar char="Ø"/>
            </a:pPr>
            <a:r>
              <a:rPr lang="en-US" dirty="0" smtClean="0"/>
              <a:t>Throughput is generally measured in terms of “Benchmark”.</a:t>
            </a:r>
          </a:p>
          <a:p>
            <a:pPr>
              <a:buFont typeface="Wingdings" pitchFamily="2" charset="2"/>
              <a:buChar char="Ø"/>
            </a:pPr>
            <a:r>
              <a:rPr lang="en-US" dirty="0" smtClean="0"/>
              <a:t>A Benchmark is a reference point by which something can be measured</a:t>
            </a:r>
            <a:endParaRPr lang="en-US" sz="2000" dirty="0" smtClean="0"/>
          </a:p>
          <a:p>
            <a:pPr>
              <a:buNone/>
            </a:pPr>
            <a:endParaRPr lang="en-US" dirty="0"/>
          </a:p>
        </p:txBody>
      </p:sp>
      <p:sp>
        <p:nvSpPr>
          <p:cNvPr id="4" name="Date Placeholder 3"/>
          <p:cNvSpPr>
            <a:spLocks noGrp="1"/>
          </p:cNvSpPr>
          <p:nvPr>
            <p:ph type="dt" sz="half" idx="14"/>
          </p:nvPr>
        </p:nvSpPr>
        <p:spPr/>
        <p:txBody>
          <a:bodyPr/>
          <a:lstStyle/>
          <a:p>
            <a:fld id="{F72BA86A-AB97-428E-BBAF-583F076F033F}"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38</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534400" cy="6245352"/>
          </a:xfrm>
        </p:spPr>
        <p:txBody>
          <a:bodyPr>
            <a:normAutofit fontScale="85000" lnSpcReduction="20000"/>
          </a:bodyPr>
          <a:lstStyle/>
          <a:p>
            <a:pPr lvl="1">
              <a:buNone/>
            </a:pPr>
            <a:r>
              <a:rPr lang="en-US" sz="2400" b="1" dirty="0" smtClean="0">
                <a:solidFill>
                  <a:srgbClr val="FF0000"/>
                </a:solidFill>
              </a:rPr>
              <a:t>3.Reliability :-</a:t>
            </a:r>
            <a:endParaRPr lang="en-US" sz="2000" b="1" dirty="0" smtClean="0">
              <a:solidFill>
                <a:srgbClr val="FF0000"/>
              </a:solidFill>
            </a:endParaRPr>
          </a:p>
          <a:p>
            <a:pPr marL="274320" lvl="2" indent="-274320">
              <a:spcBef>
                <a:spcPts val="600"/>
              </a:spcBef>
              <a:buClr>
                <a:schemeClr val="accent1"/>
              </a:buClr>
              <a:buSzPct val="70000"/>
              <a:buFont typeface="Wingdings" pitchFamily="2" charset="2"/>
              <a:buChar char="Ø"/>
            </a:pPr>
            <a:r>
              <a:rPr lang="en-US" sz="2400" dirty="0" smtClean="0"/>
              <a:t>It is a measure of how much we can rely upon the proper functioning of the system.</a:t>
            </a:r>
          </a:p>
          <a:p>
            <a:pPr marL="274320" lvl="2" indent="-274320">
              <a:spcBef>
                <a:spcPts val="600"/>
              </a:spcBef>
              <a:buClr>
                <a:schemeClr val="accent1"/>
              </a:buClr>
              <a:buSzPct val="70000"/>
              <a:buFont typeface="Wingdings" pitchFamily="2" charset="2"/>
              <a:buChar char="Ø"/>
            </a:pPr>
            <a:r>
              <a:rPr lang="en-US" sz="2400" dirty="0" smtClean="0"/>
              <a:t>Mean Time between Failure (MTBF) and Mean Time To Repair (MTTR) are the terms used in determining system reliability.</a:t>
            </a:r>
          </a:p>
          <a:p>
            <a:pPr marL="274320" lvl="2" indent="-274320">
              <a:spcBef>
                <a:spcPts val="600"/>
              </a:spcBef>
              <a:buClr>
                <a:schemeClr val="accent1"/>
              </a:buClr>
              <a:buSzPct val="70000"/>
              <a:buFont typeface="Wingdings" pitchFamily="2" charset="2"/>
              <a:buChar char="Ø"/>
            </a:pPr>
            <a:r>
              <a:rPr lang="en-US" sz="2400" dirty="0" smtClean="0"/>
              <a:t>MTBF gives the frequency of failures in hours/weeks/months.</a:t>
            </a:r>
          </a:p>
          <a:p>
            <a:pPr marL="274320" lvl="2" indent="-274320">
              <a:spcBef>
                <a:spcPts val="600"/>
              </a:spcBef>
              <a:buClr>
                <a:schemeClr val="accent1"/>
              </a:buClr>
              <a:buSzPct val="70000"/>
              <a:buFont typeface="Wingdings" pitchFamily="2" charset="2"/>
              <a:buChar char="Ø"/>
            </a:pPr>
            <a:r>
              <a:rPr lang="en-US" sz="2400" dirty="0" smtClean="0"/>
              <a:t>MTTR specifies how long the system is allowed to be out of order following a failure.</a:t>
            </a:r>
          </a:p>
          <a:p>
            <a:pPr marL="274320" lvl="2" indent="-274320">
              <a:spcBef>
                <a:spcPts val="600"/>
              </a:spcBef>
              <a:buClr>
                <a:schemeClr val="accent1"/>
              </a:buClr>
              <a:buSzPct val="70000"/>
              <a:buFont typeface="Wingdings" pitchFamily="2" charset="2"/>
              <a:buChar char="Ø"/>
            </a:pPr>
            <a:r>
              <a:rPr lang="en-US" sz="2400" dirty="0" smtClean="0"/>
              <a:t>For embedded system with critical application need, it should be of the order of minutes.</a:t>
            </a:r>
          </a:p>
          <a:p>
            <a:pPr marL="274320" lvl="1">
              <a:spcBef>
                <a:spcPts val="600"/>
              </a:spcBef>
              <a:buSzPct val="70000"/>
              <a:buNone/>
            </a:pPr>
            <a:r>
              <a:rPr lang="en-US" sz="2400" b="1" dirty="0" smtClean="0">
                <a:solidFill>
                  <a:srgbClr val="FF0000"/>
                </a:solidFill>
              </a:rPr>
              <a:t>4.Maintainability:-</a:t>
            </a:r>
          </a:p>
          <a:p>
            <a:pPr marL="274320" lvl="1">
              <a:spcBef>
                <a:spcPts val="600"/>
              </a:spcBef>
              <a:buSzPct val="70000"/>
              <a:buFont typeface="Wingdings" pitchFamily="2" charset="2"/>
              <a:buChar char="Ø"/>
            </a:pPr>
            <a:r>
              <a:rPr lang="en-US" sz="2400" dirty="0" smtClean="0"/>
              <a:t>It deals with support and maintenance to the end user or client in case of technical issues and product failure or on the basis of a routine system checkup.</a:t>
            </a:r>
          </a:p>
          <a:p>
            <a:pPr lvl="0">
              <a:buFont typeface="Wingdings" pitchFamily="2" charset="2"/>
              <a:buChar char="Ø"/>
            </a:pPr>
            <a:r>
              <a:rPr lang="en-US" dirty="0" smtClean="0"/>
              <a:t>Reliability and maintainability are complementary to each other.</a:t>
            </a:r>
            <a:endParaRPr lang="en-US" sz="2000" dirty="0" smtClean="0"/>
          </a:p>
          <a:p>
            <a:pPr lvl="0">
              <a:buFont typeface="Wingdings" pitchFamily="2" charset="2"/>
              <a:buChar char="Ø"/>
            </a:pPr>
            <a:r>
              <a:rPr lang="en-US" dirty="0" smtClean="0"/>
              <a:t>A more reliable system means a system with less corrective maintainability requirements and vice versa.</a:t>
            </a:r>
            <a:endParaRPr lang="en-US" sz="2800" dirty="0" smtClean="0"/>
          </a:p>
          <a:p>
            <a:pPr lvl="0">
              <a:buFont typeface="Wingdings" pitchFamily="2" charset="2"/>
              <a:buChar char="Ø"/>
            </a:pPr>
            <a:r>
              <a:rPr lang="en-US" dirty="0" smtClean="0"/>
              <a:t>Maintainability can be broadly classified into two categories</a:t>
            </a:r>
            <a:endParaRPr lang="en-US" sz="3200" dirty="0" smtClean="0"/>
          </a:p>
          <a:p>
            <a:pPr lvl="0">
              <a:buFont typeface="Wingdings" pitchFamily="2" charset="2"/>
              <a:buChar char="Ø"/>
            </a:pPr>
            <a:r>
              <a:rPr lang="en-US" dirty="0" smtClean="0"/>
              <a:t>Scheduled or Periodic maintenance (Preventive maintenance)</a:t>
            </a:r>
            <a:endParaRPr lang="en-US" sz="3200" dirty="0" smtClean="0"/>
          </a:p>
          <a:p>
            <a:pPr>
              <a:buFont typeface="Wingdings" pitchFamily="2" charset="2"/>
              <a:buChar char="Ø"/>
            </a:pPr>
            <a:r>
              <a:rPr lang="en-US" dirty="0" smtClean="0"/>
              <a:t>Corrective maintenance to unexpected failures</a:t>
            </a:r>
            <a:endParaRPr lang="en-US" dirty="0"/>
          </a:p>
        </p:txBody>
      </p:sp>
      <p:sp>
        <p:nvSpPr>
          <p:cNvPr id="4" name="Date Placeholder 3"/>
          <p:cNvSpPr>
            <a:spLocks noGrp="1"/>
          </p:cNvSpPr>
          <p:nvPr>
            <p:ph type="dt" sz="half" idx="14"/>
          </p:nvPr>
        </p:nvSpPr>
        <p:spPr/>
        <p:txBody>
          <a:bodyPr/>
          <a:lstStyle/>
          <a:p>
            <a:fld id="{09D0B955-5DAE-4633-B67F-89F83A658485}"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39</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304800"/>
            <a:ext cx="8686800" cy="6169152"/>
          </a:xfrm>
        </p:spPr>
        <p:txBody>
          <a:bodyPr>
            <a:normAutofit fontScale="85000" lnSpcReduction="10000"/>
          </a:bodyPr>
          <a:lstStyle/>
          <a:p>
            <a:pPr lvl="1">
              <a:buNone/>
            </a:pPr>
            <a:r>
              <a:rPr lang="en-US" sz="2400" b="1" dirty="0" smtClean="0">
                <a:solidFill>
                  <a:srgbClr val="FF0000"/>
                </a:solidFill>
              </a:rPr>
              <a:t>5.Security:-</a:t>
            </a:r>
            <a:endParaRPr lang="en-US" sz="2000" b="1" dirty="0" smtClean="0">
              <a:solidFill>
                <a:srgbClr val="FF0000"/>
              </a:solidFill>
            </a:endParaRPr>
          </a:p>
          <a:p>
            <a:pPr lvl="0">
              <a:buFont typeface="Wingdings" pitchFamily="2" charset="2"/>
              <a:buChar char="Ø"/>
            </a:pPr>
            <a:r>
              <a:rPr lang="en-US" dirty="0" smtClean="0"/>
              <a:t>Confidentiality, Integrity and availability are the three major measures of information security.</a:t>
            </a:r>
            <a:endParaRPr lang="en-US" sz="2000" dirty="0" smtClean="0"/>
          </a:p>
          <a:p>
            <a:pPr lvl="0">
              <a:buFont typeface="Wingdings" pitchFamily="2" charset="2"/>
              <a:buChar char="Ø"/>
            </a:pPr>
            <a:r>
              <a:rPr lang="en-US" dirty="0" smtClean="0"/>
              <a:t>Confidentiality deals with protection of data and application from unauthorized disclosure.</a:t>
            </a:r>
            <a:endParaRPr lang="en-US" sz="2000" dirty="0" smtClean="0"/>
          </a:p>
          <a:p>
            <a:pPr lvl="0">
              <a:buFont typeface="Wingdings" pitchFamily="2" charset="2"/>
              <a:buChar char="Ø"/>
            </a:pPr>
            <a:r>
              <a:rPr lang="en-US" dirty="0" smtClean="0"/>
              <a:t>Integrity deals with the protection of data and application from unauthorized modification.</a:t>
            </a:r>
            <a:endParaRPr lang="en-US" sz="2000" dirty="0" smtClean="0"/>
          </a:p>
          <a:p>
            <a:pPr lvl="0">
              <a:buFont typeface="Wingdings" pitchFamily="2" charset="2"/>
              <a:buChar char="Ø"/>
            </a:pPr>
            <a:r>
              <a:rPr lang="en-US" dirty="0" smtClean="0"/>
              <a:t>Availability deals with protection of data and application from unauthorized users.</a:t>
            </a:r>
            <a:endParaRPr lang="en-US" sz="2000" dirty="0" smtClean="0"/>
          </a:p>
          <a:p>
            <a:pPr lvl="0">
              <a:buNone/>
            </a:pPr>
            <a:endParaRPr lang="en-US" sz="2800" dirty="0" smtClean="0"/>
          </a:p>
          <a:p>
            <a:pPr lvl="1">
              <a:buNone/>
            </a:pPr>
            <a:r>
              <a:rPr lang="en-US" sz="2400" b="1" dirty="0" smtClean="0">
                <a:solidFill>
                  <a:srgbClr val="FF0000"/>
                </a:solidFill>
              </a:rPr>
              <a:t>6.Safety :-</a:t>
            </a:r>
            <a:endParaRPr lang="en-US" sz="2000" b="1" dirty="0" smtClean="0">
              <a:solidFill>
                <a:srgbClr val="FF0000"/>
              </a:solidFill>
            </a:endParaRPr>
          </a:p>
          <a:p>
            <a:pPr>
              <a:buFont typeface="Wingdings" pitchFamily="2" charset="2"/>
              <a:buChar char="Ø"/>
            </a:pPr>
            <a:r>
              <a:rPr lang="en-US" dirty="0" smtClean="0"/>
              <a:t>Safety deals with the possible damages that can happen to the operator, public and the environment due to the breakdown of an Embedded System.</a:t>
            </a:r>
            <a:endParaRPr lang="en-US" sz="2000" dirty="0" smtClean="0"/>
          </a:p>
          <a:p>
            <a:pPr>
              <a:buFont typeface="Wingdings" pitchFamily="2" charset="2"/>
              <a:buChar char="Ø"/>
            </a:pPr>
            <a:r>
              <a:rPr lang="en-US" dirty="0" smtClean="0"/>
              <a:t>The breakdown of an embedded system may occur due to a hardware failure or a firmware failure.</a:t>
            </a:r>
            <a:endParaRPr lang="en-US" sz="2000" dirty="0" smtClean="0"/>
          </a:p>
          <a:p>
            <a:pPr>
              <a:buFont typeface="Wingdings" pitchFamily="2" charset="2"/>
              <a:buChar char="Ø"/>
            </a:pPr>
            <a:r>
              <a:rPr lang="en-US" dirty="0" smtClean="0"/>
              <a:t>Safety analysis is a must in product engineering to evaluate the anticipated damages and determine the best course of action to bring down the consequences of damage to an acceptable level.</a:t>
            </a:r>
            <a:endParaRPr lang="en-US" sz="2000" dirty="0" smtClean="0"/>
          </a:p>
          <a:p>
            <a:endParaRPr lang="en-US" dirty="0"/>
          </a:p>
        </p:txBody>
      </p:sp>
      <p:sp>
        <p:nvSpPr>
          <p:cNvPr id="4" name="Date Placeholder 3"/>
          <p:cNvSpPr>
            <a:spLocks noGrp="1"/>
          </p:cNvSpPr>
          <p:nvPr>
            <p:ph type="dt" sz="half" idx="14"/>
          </p:nvPr>
        </p:nvSpPr>
        <p:spPr/>
        <p:txBody>
          <a:bodyPr/>
          <a:lstStyle/>
          <a:p>
            <a:fld id="{AB0FB656-4273-4ECA-962B-AAD5D4419BBD}"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40</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848600" cy="1143000"/>
          </a:xfrm>
        </p:spPr>
        <p:txBody>
          <a:bodyPr/>
          <a:lstStyle/>
          <a:p>
            <a:r>
              <a:rPr lang="en-US" b="1" dirty="0" smtClean="0"/>
              <a:t>Non-Operational Quality Attributes: </a:t>
            </a:r>
            <a:endParaRPr lang="en-US" dirty="0"/>
          </a:p>
        </p:txBody>
      </p:sp>
      <p:sp>
        <p:nvSpPr>
          <p:cNvPr id="3" name="Content Placeholder 2"/>
          <p:cNvSpPr>
            <a:spLocks noGrp="1"/>
          </p:cNvSpPr>
          <p:nvPr>
            <p:ph sz="quarter" idx="1"/>
          </p:nvPr>
        </p:nvSpPr>
        <p:spPr>
          <a:xfrm>
            <a:off x="228600" y="1447800"/>
            <a:ext cx="8610600" cy="5026152"/>
          </a:xfrm>
        </p:spPr>
        <p:txBody>
          <a:bodyPr>
            <a:normAutofit fontScale="77500" lnSpcReduction="20000"/>
          </a:bodyPr>
          <a:lstStyle/>
          <a:p>
            <a:pPr lvl="0">
              <a:buNone/>
            </a:pPr>
            <a:r>
              <a:rPr lang="en-US" dirty="0" smtClean="0"/>
              <a:t>The quality attributes that needs to be addressed for the product not on the basis of operational aspects are grouped under this category.</a:t>
            </a:r>
          </a:p>
          <a:p>
            <a:pPr lvl="0">
              <a:buNone/>
            </a:pPr>
            <a:r>
              <a:rPr lang="en-US" b="1" dirty="0" smtClean="0">
                <a:solidFill>
                  <a:srgbClr val="FF0000"/>
                </a:solidFill>
              </a:rPr>
              <a:t> 1.</a:t>
            </a:r>
            <a:r>
              <a:rPr lang="en-US" sz="2400" b="1" dirty="0" smtClean="0">
                <a:solidFill>
                  <a:srgbClr val="FF0000"/>
                </a:solidFill>
              </a:rPr>
              <a:t>Testability and Debug-ability:-</a:t>
            </a:r>
            <a:endParaRPr lang="en-US" sz="2000" b="1" dirty="0" smtClean="0">
              <a:solidFill>
                <a:srgbClr val="FF0000"/>
              </a:solidFill>
            </a:endParaRPr>
          </a:p>
          <a:p>
            <a:pPr lvl="0">
              <a:buFont typeface="Wingdings" pitchFamily="2" charset="2"/>
              <a:buChar char="Ø"/>
            </a:pPr>
            <a:r>
              <a:rPr lang="en-US" dirty="0" smtClean="0"/>
              <a:t>Testability deals with how easily one can test the design, application and by which means it can be done.</a:t>
            </a:r>
            <a:endParaRPr lang="en-US" sz="2000" dirty="0" smtClean="0"/>
          </a:p>
          <a:p>
            <a:pPr lvl="0">
              <a:buFont typeface="Wingdings" pitchFamily="2" charset="2"/>
              <a:buChar char="Ø"/>
            </a:pPr>
            <a:r>
              <a:rPr lang="en-US" dirty="0" smtClean="0"/>
              <a:t>For an E.S testability is applicable to both the embedded hardware and firmware.</a:t>
            </a:r>
            <a:endParaRPr lang="en-US" sz="2000" dirty="0" smtClean="0"/>
          </a:p>
          <a:p>
            <a:pPr>
              <a:buFont typeface="Wingdings" pitchFamily="2" charset="2"/>
              <a:buChar char="Ø"/>
            </a:pPr>
            <a:r>
              <a:rPr lang="en-US" dirty="0" smtClean="0"/>
              <a:t> Embedded hardware testing ensures that the peripherals and total hardware </a:t>
            </a:r>
            <a:r>
              <a:rPr lang="en-US" smtClean="0"/>
              <a:t>functions in the </a:t>
            </a:r>
            <a:r>
              <a:rPr lang="en-US" dirty="0" smtClean="0"/>
              <a:t>desired manner, whereas firmware testing ensures that the firmware is functioning in the expected way</a:t>
            </a:r>
            <a:r>
              <a:rPr lang="en-US" b="1" dirty="0" smtClean="0"/>
              <a:t>.</a:t>
            </a:r>
            <a:endParaRPr lang="en-US" sz="2000" dirty="0" smtClean="0"/>
          </a:p>
          <a:p>
            <a:pPr>
              <a:buFont typeface="Wingdings" pitchFamily="2" charset="2"/>
              <a:buChar char="Ø"/>
            </a:pPr>
            <a:r>
              <a:rPr lang="en-US" b="1" dirty="0" smtClean="0"/>
              <a:t> </a:t>
            </a:r>
            <a:r>
              <a:rPr lang="en-US" dirty="0" smtClean="0"/>
              <a:t>Debug-ability is a means of debugging the product from unexpected behavior in the system</a:t>
            </a:r>
            <a:endParaRPr lang="en-US" sz="2000" dirty="0" smtClean="0"/>
          </a:p>
          <a:p>
            <a:pPr>
              <a:buFont typeface="Wingdings" pitchFamily="2" charset="2"/>
              <a:buChar char="Ø"/>
            </a:pPr>
            <a:r>
              <a:rPr lang="en-US" dirty="0" smtClean="0"/>
              <a:t> Debug-ability is two level process</a:t>
            </a:r>
            <a:endParaRPr lang="en-US" sz="2000" dirty="0" smtClean="0"/>
          </a:p>
          <a:p>
            <a:pPr lvl="0">
              <a:buFont typeface="Wingdings" pitchFamily="2" charset="2"/>
              <a:buChar char="Ø"/>
            </a:pPr>
            <a:r>
              <a:rPr lang="en-US" dirty="0" smtClean="0"/>
              <a:t>1.Hardware level	2.software level</a:t>
            </a:r>
            <a:endParaRPr lang="en-US" sz="2000" dirty="0" smtClean="0"/>
          </a:p>
          <a:p>
            <a:pPr>
              <a:buNone/>
            </a:pPr>
            <a:r>
              <a:rPr lang="en-US" dirty="0" smtClean="0"/>
              <a:t> </a:t>
            </a:r>
            <a:r>
              <a:rPr lang="en-US" b="1" dirty="0" smtClean="0"/>
              <a:t>1. Hardware level: </a:t>
            </a:r>
            <a:r>
              <a:rPr lang="en-US" dirty="0" smtClean="0"/>
              <a:t>It is used for finding the issues created by hardware problems.</a:t>
            </a:r>
            <a:endParaRPr lang="en-US" sz="2000" dirty="0" smtClean="0"/>
          </a:p>
          <a:p>
            <a:pPr>
              <a:buNone/>
            </a:pPr>
            <a:r>
              <a:rPr lang="en-US" sz="2800" b="1" dirty="0" smtClean="0"/>
              <a:t>2. Software level</a:t>
            </a:r>
            <a:r>
              <a:rPr lang="en-US" b="1" dirty="0" smtClean="0"/>
              <a:t>: </a:t>
            </a:r>
            <a:r>
              <a:rPr lang="en-US" dirty="0" smtClean="0"/>
              <a:t>It is employed for finding the errors created by the flaws in the software.</a:t>
            </a:r>
          </a:p>
          <a:p>
            <a:endParaRPr lang="en-US" dirty="0" smtClean="0"/>
          </a:p>
          <a:p>
            <a:pPr>
              <a:buNone/>
            </a:pPr>
            <a:endParaRPr lang="en-US" dirty="0"/>
          </a:p>
        </p:txBody>
      </p:sp>
      <p:sp>
        <p:nvSpPr>
          <p:cNvPr id="4" name="Date Placeholder 3"/>
          <p:cNvSpPr>
            <a:spLocks noGrp="1"/>
          </p:cNvSpPr>
          <p:nvPr>
            <p:ph type="dt" sz="half" idx="14"/>
          </p:nvPr>
        </p:nvSpPr>
        <p:spPr/>
        <p:txBody>
          <a:bodyPr/>
          <a:lstStyle/>
          <a:p>
            <a:fld id="{7BCE1CE4-1335-4CB3-BC66-0FFBB8520036}"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41</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304800"/>
            <a:ext cx="8382000" cy="6169152"/>
          </a:xfrm>
        </p:spPr>
        <p:txBody>
          <a:bodyPr>
            <a:normAutofit fontScale="92500"/>
          </a:bodyPr>
          <a:lstStyle/>
          <a:p>
            <a:pPr lvl="1">
              <a:buNone/>
            </a:pPr>
            <a:r>
              <a:rPr lang="en-US" sz="2400" b="1" dirty="0" smtClean="0">
                <a:solidFill>
                  <a:srgbClr val="FF0000"/>
                </a:solidFill>
              </a:rPr>
              <a:t>2.Evolvability :-</a:t>
            </a:r>
          </a:p>
          <a:p>
            <a:pPr lvl="1"/>
            <a:endParaRPr lang="en-US" sz="2000" dirty="0" smtClean="0"/>
          </a:p>
          <a:p>
            <a:pPr lvl="0">
              <a:buFont typeface="Wingdings" pitchFamily="2" charset="2"/>
              <a:buChar char="Ø"/>
            </a:pPr>
            <a:r>
              <a:rPr lang="en-US" dirty="0" smtClean="0"/>
              <a:t>It is a term which is closely related to Biology.</a:t>
            </a:r>
            <a:endParaRPr lang="en-US" sz="2000" dirty="0" smtClean="0"/>
          </a:p>
          <a:p>
            <a:pPr lvl="0">
              <a:buFont typeface="Wingdings" pitchFamily="2" charset="2"/>
              <a:buChar char="Ø"/>
            </a:pPr>
            <a:r>
              <a:rPr lang="en-US" dirty="0" smtClean="0"/>
              <a:t>It is referred as the non-heritable variation.</a:t>
            </a:r>
            <a:endParaRPr lang="en-US" sz="2000" dirty="0" smtClean="0"/>
          </a:p>
          <a:p>
            <a:pPr lvl="0">
              <a:buFont typeface="Wingdings" pitchFamily="2" charset="2"/>
              <a:buChar char="Ø"/>
            </a:pPr>
            <a:r>
              <a:rPr lang="en-US" dirty="0" smtClean="0"/>
              <a:t>For an embedded system evolvability refers to the ease with which the embedded product can be modified to take advantage of new firmware or hardware technologies.</a:t>
            </a:r>
            <a:endParaRPr lang="en-US" sz="2000" dirty="0" smtClean="0"/>
          </a:p>
          <a:p>
            <a:pPr>
              <a:buNone/>
            </a:pPr>
            <a:endParaRPr lang="en-US" sz="2800" dirty="0" smtClean="0"/>
          </a:p>
          <a:p>
            <a:pPr lvl="1">
              <a:buNone/>
            </a:pPr>
            <a:r>
              <a:rPr lang="en-US" sz="2400" b="1" dirty="0" smtClean="0">
                <a:solidFill>
                  <a:srgbClr val="FF0000"/>
                </a:solidFill>
              </a:rPr>
              <a:t>3.Portability:-</a:t>
            </a:r>
            <a:endParaRPr lang="en-US" sz="2000" b="1" dirty="0" smtClean="0">
              <a:solidFill>
                <a:srgbClr val="FF0000"/>
              </a:solidFill>
            </a:endParaRPr>
          </a:p>
          <a:p>
            <a:pPr lvl="0">
              <a:buFont typeface="Wingdings" pitchFamily="2" charset="2"/>
              <a:buChar char="Ø"/>
            </a:pPr>
            <a:r>
              <a:rPr lang="en-US" dirty="0" smtClean="0"/>
              <a:t>It is the measure of system independence.</a:t>
            </a:r>
            <a:endParaRPr lang="en-US" sz="2000" dirty="0" smtClean="0"/>
          </a:p>
          <a:p>
            <a:pPr lvl="0">
              <a:buFont typeface="Wingdings" pitchFamily="2" charset="2"/>
              <a:buChar char="Ø"/>
            </a:pPr>
            <a:r>
              <a:rPr lang="en-US" dirty="0" smtClean="0"/>
              <a:t>An embedded product is said to be portable if the product is capable of functioning in various environments, target processors and embedded operating systems.</a:t>
            </a:r>
            <a:endParaRPr lang="en-US" sz="2000" dirty="0" smtClean="0"/>
          </a:p>
          <a:p>
            <a:pPr lvl="0">
              <a:buFont typeface="Wingdings" pitchFamily="2" charset="2"/>
              <a:buChar char="Ø"/>
            </a:pPr>
            <a:r>
              <a:rPr lang="en-US" dirty="0" smtClean="0"/>
              <a:t>„Porting‟ represents the migration of embedded firmware written for one target processor to a different target processor.</a:t>
            </a:r>
            <a:endParaRPr lang="en-US" sz="2000" dirty="0" smtClean="0"/>
          </a:p>
          <a:p>
            <a:endParaRPr lang="en-US" sz="2800" dirty="0" smtClean="0"/>
          </a:p>
          <a:p>
            <a:endParaRPr lang="en-US" dirty="0"/>
          </a:p>
        </p:txBody>
      </p:sp>
      <p:sp>
        <p:nvSpPr>
          <p:cNvPr id="4" name="Date Placeholder 3"/>
          <p:cNvSpPr>
            <a:spLocks noGrp="1"/>
          </p:cNvSpPr>
          <p:nvPr>
            <p:ph type="dt" sz="half" idx="14"/>
          </p:nvPr>
        </p:nvSpPr>
        <p:spPr/>
        <p:txBody>
          <a:bodyPr/>
          <a:lstStyle/>
          <a:p>
            <a:fld id="{C2643D00-092E-4DCD-A37C-D62D5B734048}"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42</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304800"/>
            <a:ext cx="8534400" cy="6169152"/>
          </a:xfrm>
        </p:spPr>
        <p:txBody>
          <a:bodyPr>
            <a:normAutofit fontScale="85000" lnSpcReduction="20000"/>
          </a:bodyPr>
          <a:lstStyle/>
          <a:p>
            <a:pPr lvl="1">
              <a:buNone/>
            </a:pPr>
            <a:r>
              <a:rPr lang="en-US" sz="2400" b="1" dirty="0" smtClean="0">
                <a:solidFill>
                  <a:srgbClr val="FF0000"/>
                </a:solidFill>
              </a:rPr>
              <a:t>4.Time-to-Prototype and Market:-</a:t>
            </a:r>
            <a:endParaRPr lang="en-US" sz="2000" b="1" dirty="0" smtClean="0">
              <a:solidFill>
                <a:srgbClr val="FF0000"/>
              </a:solidFill>
            </a:endParaRPr>
          </a:p>
          <a:p>
            <a:pPr lvl="0">
              <a:buFont typeface="Wingdings" pitchFamily="2" charset="2"/>
              <a:buChar char="Ø"/>
            </a:pPr>
            <a:r>
              <a:rPr lang="en-US" dirty="0" smtClean="0"/>
              <a:t>It is the time elapsed between the conceptualization of a product and the time at which the product is ready for selling.</a:t>
            </a:r>
            <a:endParaRPr lang="en-US" sz="2000" dirty="0" smtClean="0"/>
          </a:p>
          <a:p>
            <a:pPr lvl="0">
              <a:buFont typeface="Wingdings" pitchFamily="2" charset="2"/>
              <a:buChar char="Ø"/>
            </a:pPr>
            <a:r>
              <a:rPr lang="en-US" dirty="0" smtClean="0"/>
              <a:t>The commercial embedded product market is highly competitive and time to market the product is critical factor in the success of commercial embedded product.</a:t>
            </a:r>
            <a:endParaRPr lang="en-US" sz="2000" dirty="0" smtClean="0"/>
          </a:p>
          <a:p>
            <a:pPr lvl="0">
              <a:buFont typeface="Wingdings" pitchFamily="2" charset="2"/>
              <a:buChar char="Ø"/>
            </a:pPr>
            <a:r>
              <a:rPr lang="en-US" dirty="0" smtClean="0"/>
              <a:t>There may be multiple players in embedded industry who develop products of the same category (like mobile phone).</a:t>
            </a:r>
            <a:endParaRPr lang="en-US" sz="2000" dirty="0" smtClean="0"/>
          </a:p>
          <a:p>
            <a:pPr lvl="1">
              <a:buNone/>
            </a:pPr>
            <a:endParaRPr lang="en-US" sz="2400" b="1" dirty="0" smtClean="0"/>
          </a:p>
          <a:p>
            <a:pPr lvl="1">
              <a:buNone/>
            </a:pPr>
            <a:r>
              <a:rPr lang="en-US" sz="2400" b="1" dirty="0" smtClean="0">
                <a:solidFill>
                  <a:srgbClr val="FF0000"/>
                </a:solidFill>
              </a:rPr>
              <a:t>5.Per Unit Cost and Revenue:-</a:t>
            </a:r>
          </a:p>
          <a:p>
            <a:pPr lvl="0">
              <a:buFont typeface="Wingdings" pitchFamily="2" charset="2"/>
              <a:buChar char="Ø"/>
            </a:pPr>
            <a:r>
              <a:rPr lang="en-US" dirty="0" smtClean="0"/>
              <a:t>Cost is a factor which is closely monitored by both end user and product manufacturer.</a:t>
            </a:r>
            <a:endParaRPr lang="en-US" sz="2000" dirty="0" smtClean="0"/>
          </a:p>
          <a:p>
            <a:pPr lvl="0">
              <a:buFont typeface="Wingdings" pitchFamily="2" charset="2"/>
              <a:buChar char="Ø"/>
            </a:pPr>
            <a:r>
              <a:rPr lang="en-US" dirty="0" smtClean="0"/>
              <a:t>Cost is highly sensitive factor for commercial products</a:t>
            </a:r>
            <a:endParaRPr lang="en-US" sz="2000" dirty="0" smtClean="0"/>
          </a:p>
          <a:p>
            <a:pPr lvl="0">
              <a:buFont typeface="Wingdings" pitchFamily="2" charset="2"/>
              <a:buChar char="Ø"/>
            </a:pPr>
            <a:r>
              <a:rPr lang="en-US" dirty="0" smtClean="0"/>
              <a:t>Any failure to position the cost of a commercial product at a nominal rate may lead to the failure of the product in the market. </a:t>
            </a:r>
            <a:endParaRPr lang="en-US" sz="1800" dirty="0" smtClean="0"/>
          </a:p>
          <a:p>
            <a:pPr lvl="0">
              <a:buFont typeface="Wingdings" pitchFamily="2" charset="2"/>
              <a:buChar char="Ø"/>
            </a:pPr>
            <a:r>
              <a:rPr lang="en-US" dirty="0" smtClean="0"/>
              <a:t>Proper market study and cost benefit analysis should be carried out before taking a decision on the per-unit cost of the embedded product.</a:t>
            </a:r>
            <a:endParaRPr lang="en-US" sz="2000" dirty="0" smtClean="0"/>
          </a:p>
          <a:p>
            <a:pPr lvl="0">
              <a:buFont typeface="Wingdings" pitchFamily="2" charset="2"/>
              <a:buChar char="Ø"/>
            </a:pPr>
            <a:r>
              <a:rPr lang="en-US" dirty="0" smtClean="0"/>
              <a:t>The ultimate aim of the product is to generate marginal profit so the budget and total cost should be properly balanced to provide a marginal profit.</a:t>
            </a:r>
            <a:endParaRPr lang="en-US" sz="2000" dirty="0" smtClean="0"/>
          </a:p>
          <a:p>
            <a:endParaRPr lang="en-US" dirty="0"/>
          </a:p>
        </p:txBody>
      </p:sp>
      <p:sp>
        <p:nvSpPr>
          <p:cNvPr id="4" name="Date Placeholder 3"/>
          <p:cNvSpPr>
            <a:spLocks noGrp="1"/>
          </p:cNvSpPr>
          <p:nvPr>
            <p:ph type="dt" sz="half" idx="14"/>
          </p:nvPr>
        </p:nvSpPr>
        <p:spPr/>
        <p:txBody>
          <a:bodyPr/>
          <a:lstStyle/>
          <a:p>
            <a:fld id="{F464A003-325C-4CFD-B6E3-4D7F8742C428}" type="datetime1">
              <a:rPr lang="en-US" smtClean="0"/>
              <a:t>9/4/2021</a:t>
            </a:fld>
            <a:endParaRPr lang="en-US"/>
          </a:p>
        </p:txBody>
      </p:sp>
      <p:sp>
        <p:nvSpPr>
          <p:cNvPr id="5" name="Slide Number Placeholder 4"/>
          <p:cNvSpPr>
            <a:spLocks noGrp="1"/>
          </p:cNvSpPr>
          <p:nvPr>
            <p:ph type="sldNum" sz="quarter" idx="15"/>
          </p:nvPr>
        </p:nvSpPr>
        <p:spPr/>
        <p:txBody>
          <a:bodyPr/>
          <a:lstStyle/>
          <a:p>
            <a:fld id="{B6F15528-21DE-4FAA-801E-634DDDAF4B2B}" type="slidenum">
              <a:rPr lang="en-US" smtClean="0"/>
              <a:pPr/>
              <a:t>43</a:t>
            </a:fld>
            <a:endParaRPr lang="en-US"/>
          </a:p>
        </p:txBody>
      </p:sp>
      <p:sp>
        <p:nvSpPr>
          <p:cNvPr id="6" name="Footer Placeholder 5"/>
          <p:cNvSpPr>
            <a:spLocks noGrp="1"/>
          </p:cNvSpPr>
          <p:nvPr>
            <p:ph type="ftr" sz="quarter" idx="16"/>
          </p:nvPr>
        </p:nvSpPr>
        <p:spPr/>
        <p:txBody>
          <a:bodyPr/>
          <a:lstStyle/>
          <a:p>
            <a:r>
              <a:rPr lang="en-US" smtClean="0"/>
              <a:t>Presented By: Neha Thakur</a:t>
            </a:r>
            <a:endParaRPr 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6368249</TotalTime>
  <Words>2689</Words>
  <Application>Microsoft Office PowerPoint</Application>
  <PresentationFormat>On-screen Show (4:3)</PresentationFormat>
  <Paragraphs>368</Paragraphs>
  <Slides>43</Slides>
  <Notes>0</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Oriel</vt:lpstr>
      <vt:lpstr>UNIT-2  Introduction to  Embedded Systems</vt:lpstr>
      <vt:lpstr>Embedded System</vt:lpstr>
      <vt:lpstr> </vt:lpstr>
      <vt:lpstr> </vt:lpstr>
      <vt:lpstr> </vt:lpstr>
      <vt:lpstr> </vt:lpstr>
      <vt:lpstr> </vt:lpstr>
      <vt:lpstr> </vt:lpstr>
      <vt:lpstr>History of Embedded Systems:  </vt:lpstr>
      <vt:lpstr> </vt:lpstr>
      <vt:lpstr> </vt:lpstr>
      <vt:lpstr>Embedded Systems Vs General Computing Systems:</vt:lpstr>
      <vt:lpstr>Classification of Embedded Systems: </vt:lpstr>
      <vt:lpstr>Embedded Systems - Classification based on Generation </vt:lpstr>
      <vt:lpstr>Slide 15</vt:lpstr>
      <vt:lpstr>Embedded Systems - Classification based on Complexity &amp; Performance  </vt:lpstr>
      <vt:lpstr>Slide 17</vt:lpstr>
      <vt:lpstr>Embedded Systems - Classification Based on deterministic behavior:</vt:lpstr>
      <vt:lpstr>Embedded Systems - Classification Based on Triggering: </vt:lpstr>
      <vt:lpstr>Major Application Areas of Embedded Systems: </vt:lpstr>
      <vt:lpstr>Slide 21</vt:lpstr>
      <vt:lpstr>Purpose of Embedded Systems:</vt:lpstr>
      <vt:lpstr>Data Collection/Storage/Representation </vt:lpstr>
      <vt:lpstr>Data Communication:-   </vt:lpstr>
      <vt:lpstr>Slide 25</vt:lpstr>
      <vt:lpstr>Data (Signal) Processing </vt:lpstr>
      <vt:lpstr>  4.Monitoring:-   </vt:lpstr>
      <vt:lpstr>Slide 28</vt:lpstr>
      <vt:lpstr>5.Control:-  </vt:lpstr>
      <vt:lpstr>Slide 30</vt:lpstr>
      <vt:lpstr>Application Specific User Interface:-</vt:lpstr>
      <vt:lpstr>Characteristics of Embedded systems:</vt:lpstr>
      <vt:lpstr>Slide 33</vt:lpstr>
      <vt:lpstr>2.Reactive and Real Time:- </vt:lpstr>
      <vt:lpstr>Slide 35</vt:lpstr>
      <vt:lpstr>Slide 36</vt:lpstr>
      <vt:lpstr>Quality Attributes of Embedded System: </vt:lpstr>
      <vt:lpstr>Slide 38</vt:lpstr>
      <vt:lpstr>Slide 39</vt:lpstr>
      <vt:lpstr>Slide 40</vt:lpstr>
      <vt:lpstr>Non-Operational Quality Attributes: </vt:lpstr>
      <vt:lpstr>Slide 42</vt:lpstr>
      <vt:lpstr>Slide 43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UNIT-1  Introduction to  Embedded Systems</dc:title>
  <dc:creator>MRCET_ECE</dc:creator>
  <cp:lastModifiedBy>MRCETCSE</cp:lastModifiedBy>
  <cp:revision>80</cp:revision>
  <dcterms:created xsi:type="dcterms:W3CDTF">2006-08-16T00:00:00Z</dcterms:created>
  <dcterms:modified xsi:type="dcterms:W3CDTF">2021-09-04T09:45:58Z</dcterms:modified>
</cp:coreProperties>
</file>
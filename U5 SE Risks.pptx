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6" r:id="rId7"/>
    <p:sldId id="261" r:id="rId8"/>
    <p:sldId id="262" r:id="rId9"/>
    <p:sldId id="263" r:id="rId10"/>
    <p:sldId id="264" r:id="rId11"/>
    <p:sldId id="265" r:id="rId12"/>
    <p:sldId id="267" r:id="rId13"/>
    <p:sldId id="268"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4" d="100"/>
          <a:sy n="64" d="100"/>
        </p:scale>
        <p:origin x="-1482"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11-Nov-21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11-Nov-21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11-Nov-21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11-Nov-21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11-Nov-21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11-Nov-21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11-Nov-21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11-Nov-21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11-Nov-21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11-Nov-21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11-Nov-21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11-Nov-21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5387975"/>
            <a:ext cx="7772400" cy="1470025"/>
          </a:xfrm>
        </p:spPr>
        <p:txBody>
          <a:bodyPr/>
          <a:lstStyle/>
          <a:p>
            <a:r>
              <a:rPr lang="en-US" dirty="0" smtClean="0"/>
              <a:t>Software Risks</a:t>
            </a:r>
            <a:endParaRPr lang="en-US" dirty="0"/>
          </a:p>
        </p:txBody>
      </p:sp>
      <p:sp>
        <p:nvSpPr>
          <p:cNvPr id="11266" name="AutoShape 2" descr="Imag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1267" name="Picture 3" descr="C:\Users\KSRCE\Downloads\resource_risk-management_featured-img_730x270.jpg"/>
          <p:cNvPicPr>
            <a:picLocks noChangeAspect="1" noChangeArrowheads="1"/>
          </p:cNvPicPr>
          <p:nvPr/>
        </p:nvPicPr>
        <p:blipFill>
          <a:blip r:embed="rId2" cstate="print"/>
          <a:srcRect/>
          <a:stretch>
            <a:fillRect/>
          </a:stretch>
        </p:blipFill>
        <p:spPr bwMode="auto">
          <a:xfrm>
            <a:off x="152400" y="304800"/>
            <a:ext cx="8762999" cy="5410200"/>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211763"/>
          </a:xfrm>
        </p:spPr>
        <p:txBody>
          <a:bodyPr/>
          <a:lstStyle/>
          <a:p>
            <a:pPr algn="just"/>
            <a:r>
              <a:rPr lang="en-US" dirty="0" smtClean="0"/>
              <a:t>Risk is </a:t>
            </a:r>
            <a:r>
              <a:rPr lang="en-US" b="1" dirty="0" smtClean="0"/>
              <a:t>uncertain events </a:t>
            </a:r>
            <a:r>
              <a:rPr lang="en-US" dirty="0" smtClean="0"/>
              <a:t>associated with </a:t>
            </a:r>
            <a:r>
              <a:rPr lang="en-US" b="1" dirty="0" smtClean="0"/>
              <a:t>future events</a:t>
            </a:r>
            <a:r>
              <a:rPr lang="en-US" dirty="0" smtClean="0"/>
              <a:t> which have a </a:t>
            </a:r>
            <a:r>
              <a:rPr lang="en-US" b="1" dirty="0" smtClean="0"/>
              <a:t>probability of occurrence but it may or may not occur</a:t>
            </a:r>
            <a:r>
              <a:rPr lang="en-US" dirty="0" smtClean="0"/>
              <a:t> and if occurs it </a:t>
            </a:r>
            <a:r>
              <a:rPr lang="en-US" b="1" dirty="0" smtClean="0"/>
              <a:t>brings loss to the project</a:t>
            </a:r>
            <a:r>
              <a:rPr lang="en-US" dirty="0" smtClean="0"/>
              <a:t>. </a:t>
            </a:r>
            <a:endParaRPr lang="en-US" dirty="0" smtClean="0"/>
          </a:p>
          <a:p>
            <a:pPr algn="just">
              <a:buNone/>
            </a:pPr>
            <a:endParaRPr lang="en-US" dirty="0" smtClean="0"/>
          </a:p>
          <a:p>
            <a:pPr algn="just"/>
            <a:r>
              <a:rPr lang="en-US" dirty="0" smtClean="0"/>
              <a:t>Risk </a:t>
            </a:r>
            <a:r>
              <a:rPr lang="en-US" b="1" dirty="0" smtClean="0"/>
              <a:t>identification and management </a:t>
            </a:r>
            <a:r>
              <a:rPr lang="en-US" dirty="0" smtClean="0"/>
              <a:t>are very important task during software project development because success and failure of any software project depends on it.</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buNone/>
            </a:pPr>
            <a:r>
              <a:rPr lang="en-US" dirty="0" smtClean="0"/>
              <a:t>There are three main classifications of risks which can affect a software project:</a:t>
            </a:r>
          </a:p>
          <a:p>
            <a:pPr>
              <a:buNone/>
            </a:pPr>
            <a:endParaRPr lang="en-US" dirty="0" smtClean="0"/>
          </a:p>
          <a:p>
            <a:r>
              <a:rPr lang="en-US" dirty="0" smtClean="0"/>
              <a:t>Project risks</a:t>
            </a:r>
          </a:p>
          <a:p>
            <a:pPr lvl="1"/>
            <a:r>
              <a:rPr lang="en-US" dirty="0" smtClean="0"/>
              <a:t>Schedule</a:t>
            </a:r>
          </a:p>
          <a:p>
            <a:pPr lvl="1"/>
            <a:r>
              <a:rPr lang="en-US" dirty="0" smtClean="0"/>
              <a:t>Budget</a:t>
            </a:r>
          </a:p>
          <a:p>
            <a:pPr lvl="1"/>
            <a:r>
              <a:rPr lang="en-US" dirty="0" smtClean="0"/>
              <a:t>Operational</a:t>
            </a:r>
          </a:p>
          <a:p>
            <a:r>
              <a:rPr lang="en-US" dirty="0" smtClean="0"/>
              <a:t>Technical risks</a:t>
            </a:r>
          </a:p>
          <a:p>
            <a:r>
              <a:rPr lang="en-US" dirty="0" smtClean="0"/>
              <a:t>Business risks</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791200"/>
          </a:xfrm>
        </p:spPr>
        <p:txBody>
          <a:bodyPr>
            <a:normAutofit lnSpcReduction="10000"/>
          </a:bodyPr>
          <a:lstStyle/>
          <a:p>
            <a:pPr algn="just"/>
            <a:r>
              <a:rPr lang="en-US" b="1" dirty="0" smtClean="0"/>
              <a:t>1. Project risks:</a:t>
            </a:r>
            <a:r>
              <a:rPr lang="en-US" dirty="0" smtClean="0"/>
              <a:t> Project risks concern differ forms of </a:t>
            </a:r>
            <a:r>
              <a:rPr lang="en-US" b="1" dirty="0" smtClean="0"/>
              <a:t>budgetary, schedule, personnel, resource, and customer-related problems. </a:t>
            </a:r>
          </a:p>
          <a:p>
            <a:pPr algn="just"/>
            <a:endParaRPr lang="en-US" b="1" dirty="0" smtClean="0"/>
          </a:p>
          <a:p>
            <a:pPr algn="just">
              <a:buNone/>
            </a:pPr>
            <a:r>
              <a:rPr lang="en-US" dirty="0" smtClean="0"/>
              <a:t>A vital project risk is schedule slippage. Since the software is intangible, it is very tough to monitor and control a software project. It is very tough to control something which cannot be identified. For any manufacturing program, such as the manufacturing of cars, the plan executive can recognize the product taking shape. </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019800"/>
          </a:xfrm>
        </p:spPr>
        <p:txBody>
          <a:bodyPr>
            <a:normAutofit fontScale="92500" lnSpcReduction="20000"/>
          </a:bodyPr>
          <a:lstStyle/>
          <a:p>
            <a:pPr algn="just"/>
            <a:r>
              <a:rPr lang="en-US" b="1" dirty="0" smtClean="0"/>
              <a:t>Technical risks:</a:t>
            </a:r>
            <a:r>
              <a:rPr lang="en-US" dirty="0" smtClean="0"/>
              <a:t> Technical risks concern </a:t>
            </a:r>
            <a:r>
              <a:rPr lang="en-US" b="1" dirty="0" smtClean="0"/>
              <a:t>potential method implementation, interfacing, testing</a:t>
            </a:r>
            <a:r>
              <a:rPr lang="en-US" dirty="0" smtClean="0"/>
              <a:t>, and maintenance issue. It also consists of an </a:t>
            </a:r>
            <a:r>
              <a:rPr lang="en-US" b="1" dirty="0" smtClean="0"/>
              <a:t>ambiguous specification, incomplete specification, changing specification, technical uncertainty, and technical obsolescence</a:t>
            </a:r>
            <a:r>
              <a:rPr lang="en-US" dirty="0" smtClean="0"/>
              <a:t>. Most technical risks appear due to the development team's insufficient knowledge about the project.</a:t>
            </a:r>
          </a:p>
          <a:p>
            <a:pPr algn="just"/>
            <a:endParaRPr lang="en-US" dirty="0" smtClean="0"/>
          </a:p>
          <a:p>
            <a:r>
              <a:rPr lang="en-US" dirty="0" smtClean="0"/>
              <a:t>Frequent changes in requirement</a:t>
            </a:r>
          </a:p>
          <a:p>
            <a:r>
              <a:rPr lang="en-US" dirty="0" smtClean="0"/>
              <a:t>Less use of future technologies</a:t>
            </a:r>
          </a:p>
          <a:p>
            <a:r>
              <a:rPr lang="en-US" dirty="0" smtClean="0"/>
              <a:t>Less number of skilled employee</a:t>
            </a:r>
          </a:p>
          <a:p>
            <a:r>
              <a:rPr lang="en-US" dirty="0" smtClean="0"/>
              <a:t>High complexity in implementation</a:t>
            </a:r>
          </a:p>
          <a:p>
            <a:r>
              <a:rPr lang="en-US" dirty="0" smtClean="0"/>
              <a:t>Improper integration of modules</a:t>
            </a:r>
          </a:p>
          <a:p>
            <a:pPr algn="just"/>
            <a:endParaRPr lang="en-US" dirty="0" smtClean="0"/>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943600"/>
          </a:xfrm>
        </p:spPr>
        <p:txBody>
          <a:bodyPr>
            <a:normAutofit/>
          </a:bodyPr>
          <a:lstStyle/>
          <a:p>
            <a:r>
              <a:rPr lang="en-US" b="1" dirty="0" smtClean="0"/>
              <a:t>Business risks:</a:t>
            </a:r>
            <a:r>
              <a:rPr lang="en-US" dirty="0" smtClean="0"/>
              <a:t> This type of risks contain risks of building an excellent product that no one need, losing budgetary or personnel commitments, etc.</a:t>
            </a:r>
          </a:p>
          <a:p>
            <a:endParaRPr lang="en-US" dirty="0" smtClean="0"/>
          </a:p>
          <a:p>
            <a:r>
              <a:rPr lang="en-US" dirty="0" smtClean="0"/>
              <a:t>Rapid development of market</a:t>
            </a:r>
          </a:p>
          <a:p>
            <a:r>
              <a:rPr lang="en-US" dirty="0" smtClean="0"/>
              <a:t>Running out of fund / Limited fund for project development</a:t>
            </a:r>
          </a:p>
          <a:p>
            <a:r>
              <a:rPr lang="en-US" dirty="0" smtClean="0"/>
              <a:t>Changes in Government rules/policy</a:t>
            </a:r>
          </a:p>
          <a:p>
            <a:r>
              <a:rPr lang="en-US" dirty="0" smtClean="0"/>
              <a:t>Loss of contracts due to any reason</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r>
              <a:rPr lang="en-US" b="1" dirty="0" smtClean="0"/>
              <a:t>Schedule Risk :</a:t>
            </a:r>
            <a:r>
              <a:rPr lang="en-US" dirty="0" smtClean="0"/>
              <a:t/>
            </a:r>
            <a:br>
              <a:rPr lang="en-US" dirty="0" smtClean="0"/>
            </a:br>
            <a:r>
              <a:rPr lang="en-US" dirty="0" smtClean="0"/>
              <a:t>Schedule related risks refers to time related risks or project delivery related planning risks. The wrong schedule affects the project development and delivery. </a:t>
            </a:r>
          </a:p>
          <a:p>
            <a:endParaRPr lang="en-US" dirty="0" smtClean="0"/>
          </a:p>
          <a:p>
            <a:r>
              <a:rPr lang="en-US" dirty="0" smtClean="0"/>
              <a:t>Time is not estimated perfectly</a:t>
            </a:r>
          </a:p>
          <a:p>
            <a:r>
              <a:rPr lang="en-US" dirty="0" smtClean="0"/>
              <a:t>Improper resource allocation</a:t>
            </a:r>
          </a:p>
          <a:p>
            <a:r>
              <a:rPr lang="en-US" dirty="0" smtClean="0"/>
              <a:t>Tracking of resources like system, skill, staff etc</a:t>
            </a:r>
          </a:p>
          <a:p>
            <a:r>
              <a:rPr lang="en-US" dirty="0" smtClean="0"/>
              <a:t>Frequent project scope expansion</a:t>
            </a:r>
          </a:p>
          <a:p>
            <a:r>
              <a:rPr lang="en-US" dirty="0" smtClean="0"/>
              <a:t>Failure in function identification and its’ completion</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b="1" dirty="0" smtClean="0"/>
              <a:t>Budget Risk :</a:t>
            </a:r>
            <a:r>
              <a:rPr lang="en-US" dirty="0" smtClean="0"/>
              <a:t/>
            </a:r>
            <a:br>
              <a:rPr lang="en-US" dirty="0" smtClean="0"/>
            </a:br>
            <a:r>
              <a:rPr lang="en-US" dirty="0" smtClean="0"/>
              <a:t>Budget related risks refers to the monetary risks mainly it occurs due to budget overruns. Always the financial aspect for the project should be managed as per decided</a:t>
            </a:r>
          </a:p>
          <a:p>
            <a:endParaRPr lang="en-US" dirty="0" smtClean="0"/>
          </a:p>
          <a:p>
            <a:r>
              <a:rPr lang="en-US" dirty="0" smtClean="0"/>
              <a:t>Wrong/Improper budget estimation</a:t>
            </a:r>
          </a:p>
          <a:p>
            <a:r>
              <a:rPr lang="en-US" dirty="0" smtClean="0"/>
              <a:t>Unexpected Project Scope expansion</a:t>
            </a:r>
          </a:p>
          <a:p>
            <a:r>
              <a:rPr lang="en-US" dirty="0" smtClean="0"/>
              <a:t>Mismanagement in budget handling</a:t>
            </a:r>
          </a:p>
          <a:p>
            <a:r>
              <a:rPr lang="en-US" dirty="0" smtClean="0"/>
              <a:t>Cost overruns</a:t>
            </a:r>
          </a:p>
          <a:p>
            <a:r>
              <a:rPr lang="en-US" dirty="0" smtClean="0"/>
              <a:t>Improper tracking of Budget</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85000" lnSpcReduction="20000"/>
          </a:bodyPr>
          <a:lstStyle/>
          <a:p>
            <a:r>
              <a:rPr lang="en-US" b="1" dirty="0" smtClean="0"/>
              <a:t>Operational Risks :</a:t>
            </a:r>
            <a:r>
              <a:rPr lang="en-US" dirty="0" smtClean="0"/>
              <a:t/>
            </a:r>
            <a:br>
              <a:rPr lang="en-US" dirty="0" smtClean="0"/>
            </a:br>
            <a:r>
              <a:rPr lang="en-US" dirty="0" smtClean="0"/>
              <a:t>Operational risk refers to the procedural risks means these are the risks which happen in day-to-day operational activities during project development due to improper process implementation</a:t>
            </a:r>
          </a:p>
          <a:p>
            <a:endParaRPr lang="en-US" dirty="0" smtClean="0"/>
          </a:p>
          <a:p>
            <a:r>
              <a:rPr lang="en-US" dirty="0" smtClean="0"/>
              <a:t>Insufficient resources</a:t>
            </a:r>
          </a:p>
          <a:p>
            <a:r>
              <a:rPr lang="en-US" dirty="0" smtClean="0"/>
              <a:t>Conflict between tasks and employees</a:t>
            </a:r>
          </a:p>
          <a:p>
            <a:r>
              <a:rPr lang="en-US" dirty="0" smtClean="0"/>
              <a:t>Improper management of tasks</a:t>
            </a:r>
          </a:p>
          <a:p>
            <a:r>
              <a:rPr lang="en-US" dirty="0" smtClean="0"/>
              <a:t>No proper planning about project</a:t>
            </a:r>
          </a:p>
          <a:p>
            <a:r>
              <a:rPr lang="en-US" dirty="0" smtClean="0"/>
              <a:t>Less number of skilled people</a:t>
            </a:r>
          </a:p>
          <a:p>
            <a:r>
              <a:rPr lang="en-US" dirty="0" smtClean="0"/>
              <a:t>Lack of communication and cooperation</a:t>
            </a:r>
          </a:p>
          <a:p>
            <a:r>
              <a:rPr lang="en-US" dirty="0" smtClean="0"/>
              <a:t>Lack of clarity in roles and responsibilities</a:t>
            </a:r>
          </a:p>
          <a:p>
            <a:r>
              <a:rPr lang="en-US" dirty="0" smtClean="0"/>
              <a:t>Insufficient training</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smtClean="0"/>
              <a:t>Other risk categories</a:t>
            </a:r>
            <a:endParaRPr lang="en-US" dirty="0"/>
          </a:p>
        </p:txBody>
      </p:sp>
      <p:sp>
        <p:nvSpPr>
          <p:cNvPr id="3" name="Content Placeholder 2"/>
          <p:cNvSpPr>
            <a:spLocks noGrp="1"/>
          </p:cNvSpPr>
          <p:nvPr>
            <p:ph idx="1"/>
          </p:nvPr>
        </p:nvSpPr>
        <p:spPr>
          <a:xfrm>
            <a:off x="457200" y="1295400"/>
            <a:ext cx="8229600" cy="5181600"/>
          </a:xfrm>
        </p:spPr>
        <p:txBody>
          <a:bodyPr>
            <a:normAutofit fontScale="85000" lnSpcReduction="10000"/>
          </a:bodyPr>
          <a:lstStyle/>
          <a:p>
            <a:pPr algn="just"/>
            <a:r>
              <a:rPr lang="en-US" b="1" dirty="0" smtClean="0"/>
              <a:t>Known risks:</a:t>
            </a:r>
            <a:r>
              <a:rPr lang="en-US" dirty="0" smtClean="0"/>
              <a:t> Those risks that can be uncovered after careful assessment of the project program, the business and technical environment in which the plan is being developed, and more reliable data sources (e.g., unrealistic delivery date)</a:t>
            </a:r>
          </a:p>
          <a:p>
            <a:pPr algn="just"/>
            <a:endParaRPr lang="en-US" dirty="0" smtClean="0"/>
          </a:p>
          <a:p>
            <a:pPr algn="just"/>
            <a:r>
              <a:rPr lang="en-US" b="1" dirty="0" smtClean="0"/>
              <a:t>Predictable risks:</a:t>
            </a:r>
            <a:r>
              <a:rPr lang="en-US" dirty="0" smtClean="0"/>
              <a:t> Those risks that are hypothesized from previous project experience (e.g., past turnover)</a:t>
            </a:r>
          </a:p>
          <a:p>
            <a:pPr algn="just"/>
            <a:endParaRPr lang="en-US" dirty="0" smtClean="0"/>
          </a:p>
          <a:p>
            <a:pPr algn="just"/>
            <a:r>
              <a:rPr lang="en-US" b="1" dirty="0" smtClean="0"/>
              <a:t>Unpredictable risks:</a:t>
            </a:r>
            <a:r>
              <a:rPr lang="en-US" dirty="0" smtClean="0"/>
              <a:t> Those risks that can and do occur, but are extremely tough to identify in advance.</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lgn="just"/>
            <a:r>
              <a:rPr lang="en-US" b="1" dirty="0" smtClean="0"/>
              <a:t>Reactive</a:t>
            </a:r>
            <a:r>
              <a:rPr lang="en-US" dirty="0" smtClean="0"/>
              <a:t> risk management tries to reduce the damage of potential threats and speed an organization’s recovery from them, but assumes that those threats will happen eventually. </a:t>
            </a:r>
          </a:p>
          <a:p>
            <a:pPr algn="just"/>
            <a:endParaRPr lang="en-US" b="1" dirty="0" smtClean="0"/>
          </a:p>
          <a:p>
            <a:pPr algn="just"/>
            <a:r>
              <a:rPr lang="en-US" b="1" dirty="0" smtClean="0"/>
              <a:t>Proactive</a:t>
            </a:r>
            <a:r>
              <a:rPr lang="en-US" dirty="0" smtClean="0"/>
              <a:t> risk management identifies threats and aims to prevent those events from ever happening in the first place.</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943600"/>
          </a:xfrm>
        </p:spPr>
        <p:txBody>
          <a:bodyPr>
            <a:normAutofit/>
          </a:bodyPr>
          <a:lstStyle/>
          <a:p>
            <a:pPr>
              <a:buNone/>
            </a:pPr>
            <a:r>
              <a:rPr lang="en-US" b="1" dirty="0" smtClean="0"/>
              <a:t>reactive risk management strategies involves</a:t>
            </a:r>
          </a:p>
          <a:p>
            <a:pPr>
              <a:buNone/>
            </a:pPr>
            <a:endParaRPr lang="en-US" b="1" dirty="0" smtClean="0"/>
          </a:p>
          <a:p>
            <a:r>
              <a:rPr lang="en-US" dirty="0" smtClean="0"/>
              <a:t>Preventing potential risks from becoming incidents</a:t>
            </a:r>
          </a:p>
          <a:p>
            <a:r>
              <a:rPr lang="en-US" dirty="0" smtClean="0"/>
              <a:t>Mitigating damage from incidents</a:t>
            </a:r>
          </a:p>
          <a:p>
            <a:r>
              <a:rPr lang="en-US" dirty="0" smtClean="0"/>
              <a:t>Stopping small risks from worsening</a:t>
            </a:r>
          </a:p>
          <a:p>
            <a:r>
              <a:rPr lang="en-US" dirty="0" smtClean="0"/>
              <a:t>Evaluating each incident to solve its root cause</a:t>
            </a:r>
          </a:p>
          <a:p>
            <a:r>
              <a:rPr lang="en-US" dirty="0" smtClean="0"/>
              <a:t>Monitoring to ensure that the incident does not recur</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096000"/>
          </a:xfrm>
        </p:spPr>
        <p:txBody>
          <a:bodyPr>
            <a:normAutofit fontScale="92500" lnSpcReduction="20000"/>
          </a:bodyPr>
          <a:lstStyle/>
          <a:p>
            <a:pPr>
              <a:buNone/>
            </a:pPr>
            <a:r>
              <a:rPr lang="en-US" b="1" dirty="0" smtClean="0"/>
              <a:t>Proactive risk management strategies include</a:t>
            </a:r>
          </a:p>
          <a:p>
            <a:endParaRPr lang="en-US" b="1" dirty="0" smtClean="0"/>
          </a:p>
          <a:p>
            <a:endParaRPr lang="en-US" b="1" dirty="0" smtClean="0"/>
          </a:p>
          <a:p>
            <a:r>
              <a:rPr lang="en-US" dirty="0" smtClean="0"/>
              <a:t>Identifying existing risks to the enterprise, business unit, or project </a:t>
            </a:r>
          </a:p>
          <a:p>
            <a:r>
              <a:rPr lang="en-US" dirty="0" smtClean="0"/>
              <a:t>Developing a risk response</a:t>
            </a:r>
          </a:p>
          <a:p>
            <a:r>
              <a:rPr lang="en-US" dirty="0" smtClean="0"/>
              <a:t>Prioritizing identified risks according to the magnitude of their threat</a:t>
            </a:r>
          </a:p>
          <a:p>
            <a:r>
              <a:rPr lang="en-US" dirty="0" smtClean="0"/>
              <a:t>Analyzing risks to determine the best treatment for each</a:t>
            </a:r>
          </a:p>
          <a:p>
            <a:r>
              <a:rPr lang="en-US" dirty="0" smtClean="0"/>
              <a:t>Implementing necessary controls needed to prevent risks from becoming threats or incidents</a:t>
            </a:r>
          </a:p>
          <a:p>
            <a:r>
              <a:rPr lang="en-US" dirty="0" smtClean="0"/>
              <a:t>Monitoring the threat environment continuously.</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TotalTime>
  <Words>471</Words>
  <Application>Microsoft Office PowerPoint</Application>
  <PresentationFormat>On-screen Show (4:3)</PresentationFormat>
  <Paragraphs>77</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Software Risks</vt:lpstr>
      <vt:lpstr>Slide 2</vt:lpstr>
      <vt:lpstr>Slide 3</vt:lpstr>
      <vt:lpstr>Slide 4</vt:lpstr>
      <vt:lpstr>Slide 5</vt:lpstr>
      <vt:lpstr>Slide 6</vt:lpstr>
      <vt:lpstr>Slide 7</vt:lpstr>
      <vt:lpstr>Slide 8</vt:lpstr>
      <vt:lpstr>Slide 9</vt:lpstr>
      <vt:lpstr>Other risk categories</vt:lpstr>
      <vt:lpstr>Slide 11</vt:lpstr>
      <vt:lpstr>Slide 12</vt:lpstr>
      <vt:lpstr>Slide 13</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
  <cp:lastModifiedBy>MRCET</cp:lastModifiedBy>
  <cp:revision>32</cp:revision>
  <dcterms:created xsi:type="dcterms:W3CDTF">2006-08-16T00:00:00Z</dcterms:created>
  <dcterms:modified xsi:type="dcterms:W3CDTF">2021-11-11T05:35:02Z</dcterms:modified>
</cp:coreProperties>
</file>
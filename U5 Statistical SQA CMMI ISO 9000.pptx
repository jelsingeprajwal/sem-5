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25-Nov-21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25-Nov-21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25-Nov-21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25-Nov-21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25-Nov-21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25-Nov-21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25-Nov-21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25-Nov-21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25-Nov-21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25-Nov-21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25-Nov-21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25-Nov-21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Statistical Software Quality Assurance</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638800"/>
          </a:xfrm>
        </p:spPr>
        <p:txBody>
          <a:bodyPr>
            <a:normAutofit lnSpcReduction="10000"/>
          </a:bodyPr>
          <a:lstStyle/>
          <a:p>
            <a:pPr algn="just"/>
            <a:r>
              <a:rPr lang="en-US" dirty="0" smtClean="0"/>
              <a:t>Statistical SQA is a technique that measures the quality in a quantitative fashion. </a:t>
            </a:r>
          </a:p>
          <a:p>
            <a:pPr algn="just"/>
            <a:endParaRPr lang="en-US" dirty="0" smtClean="0"/>
          </a:p>
          <a:p>
            <a:pPr algn="just"/>
            <a:r>
              <a:rPr lang="en-US" dirty="0" smtClean="0"/>
              <a:t>It implies that information about defects is collected and categorized and an attempt is made to trace each defect to underlying cause.</a:t>
            </a:r>
          </a:p>
          <a:p>
            <a:pPr algn="just"/>
            <a:endParaRPr lang="en-US" dirty="0" smtClean="0"/>
          </a:p>
          <a:p>
            <a:pPr algn="just"/>
            <a:r>
              <a:rPr lang="en-US" dirty="0" smtClean="0"/>
              <a:t>It uses Pareto Principle to identify vital causes</a:t>
            </a:r>
          </a:p>
          <a:p>
            <a:pPr algn="just"/>
            <a:endParaRPr lang="en-US" dirty="0" smtClean="0"/>
          </a:p>
          <a:p>
            <a:pPr algn="just"/>
            <a:r>
              <a:rPr lang="en-US" dirty="0" smtClean="0"/>
              <a:t>80% of defects can be traced to 20% of causes</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Category of Defects</a:t>
            </a:r>
            <a:endParaRPr lang="en-US" dirty="0"/>
          </a:p>
        </p:txBody>
      </p:sp>
      <p:sp>
        <p:nvSpPr>
          <p:cNvPr id="3" name="Content Placeholder 2"/>
          <p:cNvSpPr>
            <a:spLocks noGrp="1"/>
          </p:cNvSpPr>
          <p:nvPr>
            <p:ph idx="1"/>
          </p:nvPr>
        </p:nvSpPr>
        <p:spPr>
          <a:xfrm>
            <a:off x="457200" y="1143000"/>
            <a:ext cx="8229600" cy="5181600"/>
          </a:xfrm>
        </p:spPr>
        <p:txBody>
          <a:bodyPr>
            <a:normAutofit fontScale="77500" lnSpcReduction="20000"/>
          </a:bodyPr>
          <a:lstStyle/>
          <a:p>
            <a:pPr>
              <a:buNone/>
            </a:pPr>
            <a:r>
              <a:rPr lang="en-US" dirty="0" smtClean="0"/>
              <a:t>1. Incomplete or erroneous specifications (IES)</a:t>
            </a:r>
          </a:p>
          <a:p>
            <a:pPr>
              <a:buNone/>
            </a:pPr>
            <a:r>
              <a:rPr lang="en-US" dirty="0" smtClean="0"/>
              <a:t>2. Misinterpretation of customer communication (MCC)</a:t>
            </a:r>
          </a:p>
          <a:p>
            <a:pPr>
              <a:buNone/>
            </a:pPr>
            <a:r>
              <a:rPr lang="en-US" dirty="0" smtClean="0"/>
              <a:t>3. Intentional deviation from specifications (IDS)</a:t>
            </a:r>
          </a:p>
          <a:p>
            <a:pPr>
              <a:buNone/>
            </a:pPr>
            <a:r>
              <a:rPr lang="en-US" dirty="0" smtClean="0"/>
              <a:t>4. Violation of programming standards (VPS)</a:t>
            </a:r>
          </a:p>
          <a:p>
            <a:pPr>
              <a:buNone/>
            </a:pPr>
            <a:r>
              <a:rPr lang="en-US" dirty="0" smtClean="0"/>
              <a:t>5. Error in data representation (EDR)</a:t>
            </a:r>
          </a:p>
          <a:p>
            <a:pPr>
              <a:buNone/>
            </a:pPr>
            <a:r>
              <a:rPr lang="fr-FR" dirty="0" smtClean="0"/>
              <a:t>6. </a:t>
            </a:r>
            <a:r>
              <a:rPr lang="fr-FR" dirty="0" err="1" smtClean="0"/>
              <a:t>Inconsistent</a:t>
            </a:r>
            <a:r>
              <a:rPr lang="fr-FR" dirty="0" smtClean="0"/>
              <a:t> component interface (ICI)</a:t>
            </a:r>
          </a:p>
          <a:p>
            <a:pPr>
              <a:buNone/>
            </a:pPr>
            <a:r>
              <a:rPr lang="es-ES" dirty="0" smtClean="0"/>
              <a:t>7. Error in digital </a:t>
            </a:r>
            <a:r>
              <a:rPr lang="es-ES" dirty="0" err="1" smtClean="0"/>
              <a:t>logic</a:t>
            </a:r>
            <a:r>
              <a:rPr lang="es-ES" dirty="0" smtClean="0"/>
              <a:t> (EDL)</a:t>
            </a:r>
          </a:p>
          <a:p>
            <a:pPr>
              <a:buNone/>
            </a:pPr>
            <a:r>
              <a:rPr lang="en-US" dirty="0" smtClean="0"/>
              <a:t>8. Incomplete or erroneous testing (IET)</a:t>
            </a:r>
          </a:p>
          <a:p>
            <a:pPr>
              <a:buNone/>
            </a:pPr>
            <a:r>
              <a:rPr lang="en-US" dirty="0" smtClean="0"/>
              <a:t>9. Inaccurate or incomplete documentation (IID)</a:t>
            </a:r>
          </a:p>
          <a:p>
            <a:pPr>
              <a:buNone/>
            </a:pPr>
            <a:r>
              <a:rPr lang="en-US" dirty="0" smtClean="0"/>
              <a:t>10. Error in programming language translation of design (PLT)</a:t>
            </a:r>
          </a:p>
          <a:p>
            <a:pPr>
              <a:buNone/>
            </a:pPr>
            <a:r>
              <a:rPr lang="fr-FR" dirty="0" smtClean="0"/>
              <a:t>11. </a:t>
            </a:r>
            <a:r>
              <a:rPr lang="fr-FR" dirty="0" err="1" smtClean="0"/>
              <a:t>Ambiguous</a:t>
            </a:r>
            <a:r>
              <a:rPr lang="fr-FR" dirty="0" smtClean="0"/>
              <a:t> or </a:t>
            </a:r>
            <a:r>
              <a:rPr lang="fr-FR" dirty="0" err="1" smtClean="0"/>
              <a:t>inconsistent</a:t>
            </a:r>
            <a:r>
              <a:rPr lang="fr-FR" dirty="0" smtClean="0"/>
              <a:t> </a:t>
            </a:r>
            <a:r>
              <a:rPr lang="fr-FR" dirty="0" err="1" smtClean="0"/>
              <a:t>Human</a:t>
            </a:r>
            <a:r>
              <a:rPr lang="fr-FR" dirty="0" smtClean="0"/>
              <a:t> Computer Interface (HCI)</a:t>
            </a:r>
          </a:p>
          <a:p>
            <a:pPr>
              <a:buNone/>
            </a:pPr>
            <a:r>
              <a:rPr lang="en-US" dirty="0" smtClean="0"/>
              <a:t>12. Miscellaneous (MIS)</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srcRect/>
          <a:stretch>
            <a:fillRect/>
          </a:stretch>
        </p:blipFill>
        <p:spPr bwMode="auto">
          <a:xfrm>
            <a:off x="152400" y="304800"/>
            <a:ext cx="8744391" cy="6096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Error Index (EI)</a:t>
            </a:r>
            <a:endParaRPr lang="en-US" dirty="0"/>
          </a:p>
        </p:txBody>
      </p:sp>
      <p:sp>
        <p:nvSpPr>
          <p:cNvPr id="3" name="Content Placeholder 2"/>
          <p:cNvSpPr>
            <a:spLocks noGrp="1"/>
          </p:cNvSpPr>
          <p:nvPr>
            <p:ph idx="1"/>
          </p:nvPr>
        </p:nvSpPr>
        <p:spPr>
          <a:xfrm>
            <a:off x="457200" y="1066800"/>
            <a:ext cx="8229600" cy="5410200"/>
          </a:xfrm>
        </p:spPr>
        <p:txBody>
          <a:bodyPr>
            <a:normAutofit fontScale="77500" lnSpcReduction="20000"/>
          </a:bodyPr>
          <a:lstStyle/>
          <a:p>
            <a:pPr algn="just"/>
            <a:r>
              <a:rPr lang="en-US" dirty="0" smtClean="0"/>
              <a:t>Another statistical technique known as Error Index (EI) is used to develop an overall indication of improvement in software quality. The EI is computed as follows:</a:t>
            </a:r>
          </a:p>
          <a:p>
            <a:pPr algn="just"/>
            <a:endParaRPr lang="en-US" dirty="0" smtClean="0"/>
          </a:p>
          <a:p>
            <a:r>
              <a:rPr lang="en-US" b="1" dirty="0" err="1" smtClean="0"/>
              <a:t>Ei</a:t>
            </a:r>
            <a:r>
              <a:rPr lang="en-US" b="1" dirty="0" smtClean="0"/>
              <a:t> </a:t>
            </a:r>
            <a:r>
              <a:rPr lang="en-US" dirty="0" smtClean="0"/>
              <a:t>– the total number of errors uncovered during the </a:t>
            </a:r>
            <a:r>
              <a:rPr lang="en-US" dirty="0" err="1" smtClean="0"/>
              <a:t>ith</a:t>
            </a:r>
            <a:r>
              <a:rPr lang="en-US" dirty="0" smtClean="0"/>
              <a:t> step in the SE process</a:t>
            </a:r>
          </a:p>
          <a:p>
            <a:r>
              <a:rPr lang="en-US" b="1" dirty="0" smtClean="0"/>
              <a:t>Si</a:t>
            </a:r>
            <a:r>
              <a:rPr lang="en-US" dirty="0" smtClean="0"/>
              <a:t> – number of serious errors</a:t>
            </a:r>
          </a:p>
          <a:p>
            <a:r>
              <a:rPr lang="en-US" b="1" dirty="0" smtClean="0"/>
              <a:t>Mi</a:t>
            </a:r>
            <a:r>
              <a:rPr lang="en-US" dirty="0" smtClean="0"/>
              <a:t> – number of moderate errors</a:t>
            </a:r>
          </a:p>
          <a:p>
            <a:r>
              <a:rPr lang="en-US" b="1" dirty="0" smtClean="0"/>
              <a:t>Ti</a:t>
            </a:r>
            <a:r>
              <a:rPr lang="en-US" dirty="0" smtClean="0"/>
              <a:t> – number of minor errors</a:t>
            </a:r>
          </a:p>
          <a:p>
            <a:r>
              <a:rPr lang="en-US" b="1" dirty="0" smtClean="0"/>
              <a:t>PS</a:t>
            </a:r>
            <a:r>
              <a:rPr lang="en-US" dirty="0" smtClean="0"/>
              <a:t> – product size at the </a:t>
            </a:r>
            <a:r>
              <a:rPr lang="en-US" dirty="0" err="1" smtClean="0"/>
              <a:t>ith</a:t>
            </a:r>
            <a:r>
              <a:rPr lang="en-US" dirty="0" smtClean="0"/>
              <a:t> step</a:t>
            </a:r>
          </a:p>
          <a:p>
            <a:r>
              <a:rPr lang="en-US" b="1" dirty="0" err="1" smtClean="0"/>
              <a:t>ws</a:t>
            </a:r>
            <a:r>
              <a:rPr lang="en-US" b="1" dirty="0" smtClean="0"/>
              <a:t>, wm, wt </a:t>
            </a:r>
            <a:r>
              <a:rPr lang="en-US" dirty="0" smtClean="0"/>
              <a:t>– weighting factors for serious, moderate, and minor errors.</a:t>
            </a:r>
          </a:p>
          <a:p>
            <a:endParaRPr lang="en-US" dirty="0" smtClean="0"/>
          </a:p>
          <a:p>
            <a:pPr>
              <a:buNone/>
            </a:pPr>
            <a:r>
              <a:rPr lang="en-US" dirty="0" smtClean="0"/>
              <a:t>Recommended values for these are 10, 3, 1 respectively.</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i="1" dirty="0" smtClean="0"/>
              <a:t>Phase Index is computed as</a:t>
            </a:r>
          </a:p>
          <a:p>
            <a:endParaRPr lang="en-US" i="1" dirty="0" smtClean="0"/>
          </a:p>
          <a:p>
            <a:pPr algn="ctr">
              <a:buNone/>
            </a:pPr>
            <a:r>
              <a:rPr lang="en-US" dirty="0" smtClean="0"/>
              <a:t>	</a:t>
            </a:r>
            <a:r>
              <a:rPr lang="en-US" dirty="0" err="1" smtClean="0"/>
              <a:t>PIi</a:t>
            </a:r>
            <a:r>
              <a:rPr lang="en-US" dirty="0" smtClean="0"/>
              <a:t> = </a:t>
            </a:r>
            <a:r>
              <a:rPr lang="en-US" dirty="0" err="1" smtClean="0"/>
              <a:t>ws</a:t>
            </a:r>
            <a:r>
              <a:rPr lang="en-US" dirty="0" smtClean="0"/>
              <a:t>(Si/</a:t>
            </a:r>
            <a:r>
              <a:rPr lang="en-US" dirty="0" err="1" smtClean="0"/>
              <a:t>Ei</a:t>
            </a:r>
            <a:r>
              <a:rPr lang="en-US" dirty="0" smtClean="0"/>
              <a:t>) + wm(Mi/</a:t>
            </a:r>
            <a:r>
              <a:rPr lang="en-US" dirty="0" err="1" smtClean="0"/>
              <a:t>Ei</a:t>
            </a:r>
            <a:r>
              <a:rPr lang="en-US" dirty="0" smtClean="0"/>
              <a:t>) + wt(Ti/</a:t>
            </a:r>
            <a:r>
              <a:rPr lang="en-US" dirty="0" err="1" smtClean="0"/>
              <a:t>Ei</a:t>
            </a:r>
            <a:r>
              <a:rPr lang="en-US" dirty="0" smtClean="0"/>
              <a:t>)</a:t>
            </a:r>
          </a:p>
          <a:p>
            <a:pPr algn="ctr">
              <a:buNone/>
            </a:pPr>
            <a:endParaRPr lang="en-US" dirty="0" smtClean="0"/>
          </a:p>
          <a:p>
            <a:pPr algn="just"/>
            <a:r>
              <a:rPr lang="en-US" dirty="0" smtClean="0"/>
              <a:t>EI is computed as the cumulative effect on each </a:t>
            </a:r>
            <a:r>
              <a:rPr lang="en-US" dirty="0" err="1" smtClean="0"/>
              <a:t>Pii</a:t>
            </a:r>
            <a:endParaRPr lang="en-US" dirty="0" smtClean="0"/>
          </a:p>
          <a:p>
            <a:pPr algn="ctr">
              <a:buNone/>
            </a:pPr>
            <a:r>
              <a:rPr lang="en-US" dirty="0" smtClean="0"/>
              <a:t>E</a:t>
            </a:r>
            <a:r>
              <a:rPr lang="pl-PL" dirty="0" smtClean="0"/>
              <a:t>Ii = Σ(I x PIi)/PS</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Software Reliability</a:t>
            </a:r>
            <a:endParaRPr lang="en-US" dirty="0"/>
          </a:p>
        </p:txBody>
      </p:sp>
      <p:sp>
        <p:nvSpPr>
          <p:cNvPr id="3" name="Content Placeholder 2"/>
          <p:cNvSpPr>
            <a:spLocks noGrp="1"/>
          </p:cNvSpPr>
          <p:nvPr>
            <p:ph idx="1"/>
          </p:nvPr>
        </p:nvSpPr>
        <p:spPr>
          <a:xfrm>
            <a:off x="457200" y="1219200"/>
            <a:ext cx="8229600" cy="4906963"/>
          </a:xfrm>
        </p:spPr>
        <p:txBody>
          <a:bodyPr/>
          <a:lstStyle/>
          <a:p>
            <a:pPr algn="just"/>
            <a:r>
              <a:rPr lang="en-US" dirty="0" smtClean="0"/>
              <a:t>Software reliability is another very important quality factor and is defined as probability of failure free operation of a computer program in a specified environment for a specified time.</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lnSpcReduction="10000"/>
          </a:bodyPr>
          <a:lstStyle/>
          <a:p>
            <a:r>
              <a:rPr lang="en-US" dirty="0" smtClean="0"/>
              <a:t>The reliability of software is determined by </a:t>
            </a:r>
          </a:p>
          <a:p>
            <a:pPr>
              <a:buNone/>
            </a:pPr>
            <a:r>
              <a:rPr lang="en-US" dirty="0" smtClean="0"/>
              <a:t>Mean time between failure (MTBF). MTBF is calculated as:</a:t>
            </a:r>
          </a:p>
          <a:p>
            <a:pPr algn="ctr">
              <a:buNone/>
            </a:pPr>
            <a:endParaRPr lang="en-US" dirty="0" smtClean="0"/>
          </a:p>
          <a:p>
            <a:pPr algn="ctr">
              <a:buNone/>
            </a:pPr>
            <a:r>
              <a:rPr lang="en-US" dirty="0" smtClean="0"/>
              <a:t>MTBF = MTTF + MTTR</a:t>
            </a:r>
          </a:p>
          <a:p>
            <a:pPr algn="ctr">
              <a:buNone/>
            </a:pPr>
            <a:endParaRPr lang="en-US" dirty="0" smtClean="0"/>
          </a:p>
          <a:p>
            <a:r>
              <a:rPr lang="en-US" dirty="0" smtClean="0"/>
              <a:t>MTTF is the Mean Time to Failure and </a:t>
            </a:r>
          </a:p>
          <a:p>
            <a:r>
              <a:rPr lang="en-US" dirty="0" smtClean="0"/>
              <a:t>MTTR is the Mean time required to Repair.</a:t>
            </a:r>
          </a:p>
          <a:p>
            <a:endParaRPr lang="en-US" dirty="0" smtClean="0"/>
          </a:p>
          <a:p>
            <a:pPr algn="ctr">
              <a:buNone/>
            </a:pPr>
            <a:r>
              <a:rPr lang="en-US" dirty="0" smtClean="0"/>
              <a:t>Availability = (MTTF/MTBF) x 100</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CMMI</a:t>
            </a:r>
            <a:endParaRPr lang="en-US" dirty="0"/>
          </a:p>
        </p:txBody>
      </p:sp>
      <p:sp>
        <p:nvSpPr>
          <p:cNvPr id="3" name="Content Placeholder 2"/>
          <p:cNvSpPr>
            <a:spLocks noGrp="1"/>
          </p:cNvSpPr>
          <p:nvPr>
            <p:ph idx="1"/>
          </p:nvPr>
        </p:nvSpPr>
        <p:spPr>
          <a:xfrm>
            <a:off x="457200" y="990600"/>
            <a:ext cx="8229600" cy="5135563"/>
          </a:xfrm>
        </p:spPr>
        <p:txBody>
          <a:bodyPr>
            <a:normAutofit fontScale="92500" lnSpcReduction="20000"/>
          </a:bodyPr>
          <a:lstStyle/>
          <a:p>
            <a:pPr algn="just"/>
            <a:r>
              <a:rPr lang="en-US" dirty="0" smtClean="0"/>
              <a:t>CMM was developed by the Software Engineering Institute (SEI) at Carnegie Mellon University in 1987. </a:t>
            </a:r>
          </a:p>
          <a:p>
            <a:pPr algn="just"/>
            <a:endParaRPr lang="en-US" dirty="0" smtClean="0"/>
          </a:p>
          <a:p>
            <a:pPr fontAlgn="base"/>
            <a:r>
              <a:rPr lang="en-US" dirty="0" smtClean="0"/>
              <a:t>It is not a software process model. It is a framework that is used to analyze the approach and techniques followed by any organization to develop software products.</a:t>
            </a:r>
          </a:p>
          <a:p>
            <a:pPr fontAlgn="base"/>
            <a:endParaRPr lang="en-US" dirty="0" smtClean="0"/>
          </a:p>
          <a:p>
            <a:pPr fontAlgn="base"/>
            <a:r>
              <a:rPr lang="en-US" dirty="0" smtClean="0"/>
              <a:t>It also provides guidelines to further enhance the maturity of the process used to develop those software products.</a:t>
            </a:r>
          </a:p>
          <a:p>
            <a:pPr fontAlgn="base"/>
            <a:endParaRPr lang="en-US" dirty="0" smtClean="0"/>
          </a:p>
          <a:p>
            <a:pPr algn="just"/>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92500"/>
          </a:bodyPr>
          <a:lstStyle/>
          <a:p>
            <a:pPr algn="just" fontAlgn="base"/>
            <a:r>
              <a:rPr lang="en-US" dirty="0" smtClean="0"/>
              <a:t>It is based on profound feedback and development practices adopted by the most successful organizations worldwide.</a:t>
            </a:r>
          </a:p>
          <a:p>
            <a:pPr algn="just" fontAlgn="base"/>
            <a:endParaRPr lang="en-US" dirty="0" smtClean="0"/>
          </a:p>
          <a:p>
            <a:pPr algn="just" fontAlgn="base"/>
            <a:r>
              <a:rPr lang="en-US" dirty="0" smtClean="0"/>
              <a:t>This model describes a strategy for software process improvement that should be followed by moving through 5 different levels.</a:t>
            </a:r>
          </a:p>
          <a:p>
            <a:pPr algn="just" fontAlgn="base"/>
            <a:endParaRPr lang="en-US" dirty="0" smtClean="0"/>
          </a:p>
          <a:p>
            <a:pPr algn="just" fontAlgn="base"/>
            <a:r>
              <a:rPr lang="en-US" dirty="0" smtClean="0"/>
              <a:t>Each level of maturity shows a process capability level. All the levels except level-1 are further described by Key Process Areas (KPA’s).</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Objectives of CMMI</a:t>
            </a:r>
            <a:endParaRPr lang="en-US" dirty="0"/>
          </a:p>
        </p:txBody>
      </p:sp>
      <p:sp>
        <p:nvSpPr>
          <p:cNvPr id="3" name="Content Placeholder 2"/>
          <p:cNvSpPr>
            <a:spLocks noGrp="1"/>
          </p:cNvSpPr>
          <p:nvPr>
            <p:ph idx="1"/>
          </p:nvPr>
        </p:nvSpPr>
        <p:spPr/>
        <p:txBody>
          <a:bodyPr/>
          <a:lstStyle/>
          <a:p>
            <a:pPr fontAlgn="base"/>
            <a:r>
              <a:rPr lang="en-US" dirty="0" smtClean="0"/>
              <a:t>Fulfilling customer needs and expectations.</a:t>
            </a:r>
          </a:p>
          <a:p>
            <a:pPr fontAlgn="base"/>
            <a:r>
              <a:rPr lang="en-US" dirty="0" smtClean="0"/>
              <a:t>Value creation for investors/stockholders.</a:t>
            </a:r>
          </a:p>
          <a:p>
            <a:pPr fontAlgn="base"/>
            <a:r>
              <a:rPr lang="en-US" dirty="0" smtClean="0"/>
              <a:t>Market growth is increased.</a:t>
            </a:r>
          </a:p>
          <a:p>
            <a:pPr fontAlgn="base"/>
            <a:r>
              <a:rPr lang="en-US" dirty="0" smtClean="0"/>
              <a:t>Improved quality of products and services.</a:t>
            </a:r>
          </a:p>
          <a:p>
            <a:pPr fontAlgn="base"/>
            <a:r>
              <a:rPr lang="en-US" dirty="0" smtClean="0"/>
              <a:t>Enhanced reputation in Industry.</a:t>
            </a:r>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CMMI Representation – Staged and Continuous</a:t>
            </a:r>
            <a:endParaRPr lang="en-US" dirty="0"/>
          </a:p>
        </p:txBody>
      </p:sp>
      <p:sp>
        <p:nvSpPr>
          <p:cNvPr id="3" name="Content Placeholder 2"/>
          <p:cNvSpPr>
            <a:spLocks noGrp="1"/>
          </p:cNvSpPr>
          <p:nvPr>
            <p:ph idx="1"/>
          </p:nvPr>
        </p:nvSpPr>
        <p:spPr/>
        <p:txBody>
          <a:bodyPr>
            <a:normAutofit fontScale="92500" lnSpcReduction="20000"/>
          </a:bodyPr>
          <a:lstStyle/>
          <a:p>
            <a:pPr fontAlgn="base"/>
            <a:r>
              <a:rPr lang="en-US" b="1" dirty="0" smtClean="0"/>
              <a:t>Staged Representation :</a:t>
            </a:r>
            <a:endParaRPr lang="en-US" dirty="0" smtClean="0"/>
          </a:p>
          <a:p>
            <a:pPr lvl="1" fontAlgn="base"/>
            <a:r>
              <a:rPr lang="en-US" dirty="0" smtClean="0"/>
              <a:t>uses a pre-defined set of process areas to define improvement path.</a:t>
            </a:r>
          </a:p>
          <a:p>
            <a:pPr lvl="1" fontAlgn="base"/>
            <a:r>
              <a:rPr lang="en-US" dirty="0" smtClean="0"/>
              <a:t>provides a sequence of improvements, where each part in the sequence serves as a foundation for the next.</a:t>
            </a:r>
          </a:p>
          <a:p>
            <a:pPr lvl="1" fontAlgn="base"/>
            <a:r>
              <a:rPr lang="en-US" dirty="0" smtClean="0"/>
              <a:t>an improved path is defined by maturity level.</a:t>
            </a:r>
          </a:p>
          <a:p>
            <a:pPr lvl="1" fontAlgn="base"/>
            <a:r>
              <a:rPr lang="en-US" dirty="0" smtClean="0"/>
              <a:t>maturity level describes the maturity of processes in organization.</a:t>
            </a:r>
          </a:p>
          <a:p>
            <a:pPr lvl="1" fontAlgn="base"/>
            <a:r>
              <a:rPr lang="en-US" dirty="0" smtClean="0"/>
              <a:t>Staged CMMI representation allows comparison between different organizations for multiple maturity levels.</a:t>
            </a:r>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715000"/>
          </a:xfrm>
        </p:spPr>
        <p:txBody>
          <a:bodyPr>
            <a:normAutofit lnSpcReduction="10000"/>
          </a:bodyPr>
          <a:lstStyle/>
          <a:p>
            <a:pPr fontAlgn="base"/>
            <a:r>
              <a:rPr lang="en-US" b="1" dirty="0" smtClean="0"/>
              <a:t>Continuous Representation :</a:t>
            </a:r>
            <a:endParaRPr lang="en-US" dirty="0" smtClean="0"/>
          </a:p>
          <a:p>
            <a:pPr lvl="1" fontAlgn="base"/>
            <a:r>
              <a:rPr lang="en-US" dirty="0" smtClean="0"/>
              <a:t>allows selection of specific process areas.</a:t>
            </a:r>
          </a:p>
          <a:p>
            <a:pPr lvl="1" fontAlgn="base"/>
            <a:r>
              <a:rPr lang="en-US" dirty="0" smtClean="0"/>
              <a:t>uses capability levels that measures improvement of an individual process area.</a:t>
            </a:r>
          </a:p>
          <a:p>
            <a:pPr lvl="1" fontAlgn="base"/>
            <a:r>
              <a:rPr lang="en-US" dirty="0" smtClean="0"/>
              <a:t>Continuous CMMI representation allows comparison between different organizations on a process-area-by-process-area basis.</a:t>
            </a:r>
          </a:p>
          <a:p>
            <a:pPr lvl="1" fontAlgn="base"/>
            <a:r>
              <a:rPr lang="en-US" dirty="0" smtClean="0"/>
              <a:t>allows organizations to select processes which require more improvement.</a:t>
            </a:r>
          </a:p>
          <a:p>
            <a:pPr lvl="1" fontAlgn="base"/>
            <a:r>
              <a:rPr lang="en-US" dirty="0" smtClean="0"/>
              <a:t>In this representation, order of improvement of various processes can be selected which allows the organizations to meet their objectives and eliminate risks.</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8434" name="Picture 2" descr="Lightbox"/>
          <p:cNvPicPr>
            <a:picLocks noChangeAspect="1" noChangeArrowheads="1"/>
          </p:cNvPicPr>
          <p:nvPr/>
        </p:nvPicPr>
        <p:blipFill>
          <a:blip r:embed="rId2"/>
          <a:srcRect/>
          <a:stretch>
            <a:fillRect/>
          </a:stretch>
        </p:blipFill>
        <p:spPr bwMode="auto">
          <a:xfrm>
            <a:off x="1600200" y="457200"/>
            <a:ext cx="6705600" cy="6204502"/>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ctr" fontAlgn="base">
              <a:buNone/>
            </a:pPr>
            <a:r>
              <a:rPr lang="en-US" b="1" dirty="0" smtClean="0"/>
              <a:t>Level-1: Initial </a:t>
            </a:r>
            <a:endParaRPr lang="en-US" dirty="0" smtClean="0"/>
          </a:p>
          <a:p>
            <a:pPr fontAlgn="base"/>
            <a:r>
              <a:rPr lang="en-US" dirty="0" smtClean="0"/>
              <a:t>No KPA’s defined.</a:t>
            </a:r>
          </a:p>
          <a:p>
            <a:pPr fontAlgn="base"/>
            <a:r>
              <a:rPr lang="en-US" dirty="0" smtClean="0"/>
              <a:t>Processes followed are </a:t>
            </a:r>
            <a:r>
              <a:rPr lang="en-US" dirty="0" err="1" smtClean="0"/>
              <a:t>Adhoc</a:t>
            </a:r>
            <a:r>
              <a:rPr lang="en-US" dirty="0" smtClean="0"/>
              <a:t> and immature and are not well defined.</a:t>
            </a:r>
          </a:p>
          <a:p>
            <a:pPr fontAlgn="base"/>
            <a:r>
              <a:rPr lang="en-US" dirty="0" smtClean="0"/>
              <a:t>Unstable environment for software development.</a:t>
            </a:r>
          </a:p>
          <a:p>
            <a:pPr fontAlgn="base"/>
            <a:r>
              <a:rPr lang="en-US" dirty="0" smtClean="0"/>
              <a:t>No basis for predicting product quality, time for completion, etc.</a:t>
            </a: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791200"/>
          </a:xfrm>
        </p:spPr>
        <p:txBody>
          <a:bodyPr>
            <a:normAutofit fontScale="62500" lnSpcReduction="20000"/>
          </a:bodyPr>
          <a:lstStyle/>
          <a:p>
            <a:pPr algn="ctr" fontAlgn="base">
              <a:buNone/>
            </a:pPr>
            <a:r>
              <a:rPr lang="en-US" b="1" dirty="0" smtClean="0"/>
              <a:t>Level-2: Repeatable –</a:t>
            </a:r>
            <a:r>
              <a:rPr lang="en-US" dirty="0" smtClean="0"/>
              <a:t> </a:t>
            </a:r>
          </a:p>
          <a:p>
            <a:pPr fontAlgn="base"/>
            <a:r>
              <a:rPr lang="en-US" dirty="0" smtClean="0"/>
              <a:t>Focuses on establishing basic project management policies.</a:t>
            </a:r>
          </a:p>
          <a:p>
            <a:pPr fontAlgn="base"/>
            <a:r>
              <a:rPr lang="en-US" dirty="0" smtClean="0"/>
              <a:t>Experience with earlier projects is used for managing new similar natured projects.</a:t>
            </a:r>
          </a:p>
          <a:p>
            <a:pPr fontAlgn="base"/>
            <a:r>
              <a:rPr lang="en-US" b="1" dirty="0" smtClean="0"/>
              <a:t>Project Planning- </a:t>
            </a:r>
            <a:r>
              <a:rPr lang="en-US" dirty="0" smtClean="0"/>
              <a:t>It includes defining resources required, goals, constraints, etc. for the project. It presents a detailed plan to be followed systematically for the successful completion of good quality software.</a:t>
            </a:r>
          </a:p>
          <a:p>
            <a:pPr fontAlgn="base"/>
            <a:r>
              <a:rPr lang="en-US" b="1" dirty="0" smtClean="0"/>
              <a:t>Configuration Management-</a:t>
            </a:r>
            <a:r>
              <a:rPr lang="en-US" dirty="0" smtClean="0"/>
              <a:t> The focus is on maintaining the performance of the software product, including all its components, for the entire lifecycle.</a:t>
            </a:r>
          </a:p>
          <a:p>
            <a:pPr fontAlgn="base"/>
            <a:r>
              <a:rPr lang="en-US" b="1" dirty="0" smtClean="0"/>
              <a:t>Requirements Management-</a:t>
            </a:r>
            <a:r>
              <a:rPr lang="en-US" dirty="0" smtClean="0"/>
              <a:t> It includes the management of customer reviews and feedback which result in some changes in the requirement set. It also consists of accommodation of those modified requirements.</a:t>
            </a:r>
          </a:p>
          <a:p>
            <a:pPr fontAlgn="base"/>
            <a:r>
              <a:rPr lang="en-US" b="1" dirty="0" smtClean="0"/>
              <a:t>Subcontract Management- </a:t>
            </a:r>
            <a:r>
              <a:rPr lang="en-US" dirty="0" smtClean="0"/>
              <a:t>It focuses on the effective management of qualified software contractors i.e. it manages the parts of the software which are developed by third parties.</a:t>
            </a:r>
          </a:p>
          <a:p>
            <a:pPr fontAlgn="base"/>
            <a:r>
              <a:rPr lang="en-US" b="1" dirty="0" smtClean="0"/>
              <a:t>Software Quality Assurance-</a:t>
            </a:r>
            <a:r>
              <a:rPr lang="en-US" dirty="0" smtClean="0"/>
              <a:t> It guarantees a good quality software product by following certain rules and quality standard guidelines while developing.</a:t>
            </a:r>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019800"/>
          </a:xfrm>
        </p:spPr>
        <p:txBody>
          <a:bodyPr>
            <a:normAutofit fontScale="77500" lnSpcReduction="20000"/>
          </a:bodyPr>
          <a:lstStyle/>
          <a:p>
            <a:pPr algn="ctr" fontAlgn="base">
              <a:buNone/>
            </a:pPr>
            <a:r>
              <a:rPr lang="en-US" b="1" dirty="0" smtClean="0"/>
              <a:t>Level-3: Defined </a:t>
            </a:r>
            <a:endParaRPr lang="en-US" dirty="0" smtClean="0"/>
          </a:p>
          <a:p>
            <a:pPr fontAlgn="base"/>
            <a:r>
              <a:rPr lang="en-US" dirty="0" smtClean="0"/>
              <a:t>At this level, documentation of the standard guidelines and procedures takes place.</a:t>
            </a:r>
          </a:p>
          <a:p>
            <a:pPr fontAlgn="base"/>
            <a:r>
              <a:rPr lang="en-US" dirty="0" smtClean="0"/>
              <a:t>It is a well-defined integrated set of project-specific software engineering and management processes.</a:t>
            </a:r>
          </a:p>
          <a:p>
            <a:pPr fontAlgn="base"/>
            <a:r>
              <a:rPr lang="en-US" b="1" dirty="0" smtClean="0"/>
              <a:t>Peer Reviews-</a:t>
            </a:r>
            <a:r>
              <a:rPr lang="en-US" dirty="0" smtClean="0"/>
              <a:t> In this method, defects are removed by using a number of review methods like walkthroughs, inspections, buddy checks, etc.</a:t>
            </a:r>
          </a:p>
          <a:p>
            <a:pPr fontAlgn="base"/>
            <a:r>
              <a:rPr lang="en-US" b="1" dirty="0" smtClean="0"/>
              <a:t>Intergroup Coordination-</a:t>
            </a:r>
            <a:r>
              <a:rPr lang="en-US" dirty="0" smtClean="0"/>
              <a:t> It consists of planned interactions between different development teams to ensure efficient and proper fulfillment of customer needs.</a:t>
            </a:r>
          </a:p>
          <a:p>
            <a:pPr fontAlgn="base"/>
            <a:r>
              <a:rPr lang="en-US" b="1" dirty="0" smtClean="0"/>
              <a:t>Organization Process Definition-</a:t>
            </a:r>
            <a:r>
              <a:rPr lang="en-US" dirty="0" smtClean="0"/>
              <a:t> Its key focus is on the development and maintenance of the standard development processes.</a:t>
            </a:r>
          </a:p>
          <a:p>
            <a:pPr fontAlgn="base"/>
            <a:r>
              <a:rPr lang="en-US" b="1" dirty="0" smtClean="0"/>
              <a:t>Training Programs-</a:t>
            </a:r>
            <a:r>
              <a:rPr lang="en-US" dirty="0" smtClean="0"/>
              <a:t> It focuses on the enhancement of knowledge and skills of the team members including the developers and ensuring an increase in work efficiency.</a:t>
            </a:r>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019800"/>
          </a:xfrm>
        </p:spPr>
        <p:txBody>
          <a:bodyPr>
            <a:normAutofit fontScale="92500" lnSpcReduction="20000"/>
          </a:bodyPr>
          <a:lstStyle/>
          <a:p>
            <a:pPr algn="ctr" fontAlgn="base">
              <a:buNone/>
            </a:pPr>
            <a:r>
              <a:rPr lang="en-US" b="1" dirty="0" smtClean="0"/>
              <a:t>Level-4: Managed</a:t>
            </a:r>
            <a:endParaRPr lang="en-US" dirty="0" smtClean="0"/>
          </a:p>
          <a:p>
            <a:pPr fontAlgn="base"/>
            <a:r>
              <a:rPr lang="en-US" dirty="0" smtClean="0"/>
              <a:t>At this stage, quantitative quality goals are set for the organization for software products as well as software processes.</a:t>
            </a:r>
          </a:p>
          <a:p>
            <a:pPr fontAlgn="base"/>
            <a:r>
              <a:rPr lang="en-US" dirty="0" smtClean="0"/>
              <a:t>The measurements made help the organization to predict the product and process quality within some limits defined quantitatively.</a:t>
            </a:r>
          </a:p>
          <a:p>
            <a:pPr fontAlgn="base"/>
            <a:r>
              <a:rPr lang="en-US" b="1" dirty="0" smtClean="0"/>
              <a:t>Software Quality Management-</a:t>
            </a:r>
            <a:r>
              <a:rPr lang="en-US" dirty="0" smtClean="0"/>
              <a:t> It includes the establishment of plans and strategies to develop quantitative analysis and understanding of the product’s quality.</a:t>
            </a:r>
          </a:p>
          <a:p>
            <a:pPr fontAlgn="base"/>
            <a:r>
              <a:rPr lang="en-US" b="1" dirty="0" smtClean="0"/>
              <a:t>Quantitative Management-</a:t>
            </a:r>
            <a:r>
              <a:rPr lang="en-US" dirty="0" smtClean="0"/>
              <a:t> It focuses on controlling the project performance in a quantitative manner.</a:t>
            </a:r>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77500" lnSpcReduction="20000"/>
          </a:bodyPr>
          <a:lstStyle/>
          <a:p>
            <a:pPr algn="ctr" fontAlgn="base">
              <a:buNone/>
            </a:pPr>
            <a:r>
              <a:rPr lang="en-US" b="1" dirty="0" smtClean="0"/>
              <a:t>Level-5: Optimizing </a:t>
            </a:r>
            <a:endParaRPr lang="en-US" dirty="0" smtClean="0"/>
          </a:p>
          <a:p>
            <a:pPr fontAlgn="base"/>
            <a:r>
              <a:rPr lang="en-US" dirty="0" smtClean="0"/>
              <a:t>This is the highest level of process maturity in CMM and focuses on continuous process improvement in the organization using quantitative feedback.</a:t>
            </a:r>
          </a:p>
          <a:p>
            <a:pPr fontAlgn="base"/>
            <a:r>
              <a:rPr lang="en-US" dirty="0" smtClean="0"/>
              <a:t>Use of new tools, techniques, and evaluation of software processes is done to prevent recurrence of known defects.</a:t>
            </a:r>
          </a:p>
          <a:p>
            <a:pPr fontAlgn="base"/>
            <a:r>
              <a:rPr lang="en-US" b="1" dirty="0" smtClean="0"/>
              <a:t>Process Change Management-</a:t>
            </a:r>
            <a:r>
              <a:rPr lang="en-US" dirty="0" smtClean="0"/>
              <a:t> Its focus is on the continuous improvement of the organization’s software processes to improve productivity, quality, and cycle time for the software product.</a:t>
            </a:r>
          </a:p>
          <a:p>
            <a:pPr fontAlgn="base"/>
            <a:r>
              <a:rPr lang="en-US" b="1" dirty="0" smtClean="0"/>
              <a:t>Technology Change Management-</a:t>
            </a:r>
            <a:r>
              <a:rPr lang="en-US" dirty="0" smtClean="0"/>
              <a:t> It consists of the identification and use of new technologies to improve product quality and decrease product development time.</a:t>
            </a:r>
          </a:p>
          <a:p>
            <a:pPr fontAlgn="base"/>
            <a:r>
              <a:rPr lang="en-US" b="1" dirty="0" smtClean="0"/>
              <a:t>Defect Prevention-</a:t>
            </a:r>
            <a:r>
              <a:rPr lang="en-US" dirty="0" smtClean="0"/>
              <a:t> It focuses on the identification of causes of defects and prevents them from recurring in future projects by improving project-defined processes.</a:t>
            </a:r>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rmAutofit fontScale="90000"/>
          </a:bodyPr>
          <a:lstStyle/>
          <a:p>
            <a:r>
              <a:rPr lang="en-US" b="1" dirty="0" smtClean="0"/>
              <a:t>ISO 9000 </a:t>
            </a:r>
            <a:r>
              <a:rPr lang="en-US" b="1" dirty="0" smtClean="0"/>
              <a:t>Standards </a:t>
            </a:r>
            <a:r>
              <a:rPr lang="en-US" b="1" dirty="0" smtClean="0"/>
              <a:t>in Software Engineering</a:t>
            </a:r>
            <a:br>
              <a:rPr lang="en-US" b="1" dirty="0" smtClean="0"/>
            </a:br>
            <a:endParaRPr lang="en-US" dirty="0"/>
          </a:p>
        </p:txBody>
      </p:sp>
      <p:sp>
        <p:nvSpPr>
          <p:cNvPr id="3" name="Content Placeholder 2"/>
          <p:cNvSpPr>
            <a:spLocks noGrp="1"/>
          </p:cNvSpPr>
          <p:nvPr>
            <p:ph idx="1"/>
          </p:nvPr>
        </p:nvSpPr>
        <p:spPr>
          <a:xfrm>
            <a:off x="457200" y="1600200"/>
            <a:ext cx="8229600" cy="4800600"/>
          </a:xfrm>
        </p:spPr>
        <p:txBody>
          <a:bodyPr>
            <a:normAutofit fontScale="77500" lnSpcReduction="20000"/>
          </a:bodyPr>
          <a:lstStyle/>
          <a:p>
            <a:pPr algn="just"/>
            <a:r>
              <a:rPr lang="en-US" dirty="0" smtClean="0"/>
              <a:t>The International organization for Standardization is a world wide federation of national standard bodies. The </a:t>
            </a:r>
            <a:r>
              <a:rPr lang="en-US" b="1" dirty="0" smtClean="0"/>
              <a:t>International standards organization (ISO)</a:t>
            </a:r>
            <a:r>
              <a:rPr lang="en-US" dirty="0" smtClean="0"/>
              <a:t> is a standard which serves as a for contract between independent parties. It specifies guidelines for development of </a:t>
            </a:r>
            <a:r>
              <a:rPr lang="en-US" b="1" dirty="0" smtClean="0"/>
              <a:t>quality system</a:t>
            </a:r>
            <a:r>
              <a:rPr lang="en-US" dirty="0" smtClean="0"/>
              <a:t>.</a:t>
            </a:r>
          </a:p>
          <a:p>
            <a:pPr algn="just"/>
            <a:endParaRPr lang="en-US" dirty="0" smtClean="0"/>
          </a:p>
          <a:p>
            <a:pPr algn="just"/>
            <a:r>
              <a:rPr lang="en-US" dirty="0" smtClean="0"/>
              <a:t>Quality system of an organization means the various activities related to its products or services. Standard of ISO addresses to both aspects i.e. operational and organizational aspects which includes responsibilities, reporting etc. An ISO 9000 standard contains set of guidelines of production process without considering product itself.</a:t>
            </a:r>
          </a:p>
          <a:p>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Why ISO Certification </a:t>
            </a:r>
            <a:r>
              <a:rPr lang="en-US" b="1" dirty="0" smtClean="0"/>
              <a:t>for Software </a:t>
            </a:r>
            <a:r>
              <a:rPr lang="en-US" b="1" dirty="0" smtClean="0"/>
              <a:t>Industry?</a:t>
            </a:r>
            <a:endParaRPr lang="en-US" dirty="0"/>
          </a:p>
        </p:txBody>
      </p:sp>
      <p:sp>
        <p:nvSpPr>
          <p:cNvPr id="3" name="Content Placeholder 2"/>
          <p:cNvSpPr>
            <a:spLocks noGrp="1"/>
          </p:cNvSpPr>
          <p:nvPr>
            <p:ph idx="1"/>
          </p:nvPr>
        </p:nvSpPr>
        <p:spPr>
          <a:xfrm>
            <a:off x="457200" y="1722437"/>
            <a:ext cx="8229600" cy="4525963"/>
          </a:xfrm>
        </p:spPr>
        <p:txBody>
          <a:bodyPr/>
          <a:lstStyle/>
          <a:p>
            <a:pPr algn="just"/>
            <a:r>
              <a:rPr lang="en-US" dirty="0" smtClean="0"/>
              <a:t>This certification has become a standards for international bidding.</a:t>
            </a:r>
          </a:p>
          <a:p>
            <a:pPr algn="just"/>
            <a:r>
              <a:rPr lang="en-US" dirty="0" smtClean="0"/>
              <a:t>It helps in designing high-quality repeatable software products.</a:t>
            </a:r>
          </a:p>
          <a:p>
            <a:pPr algn="just"/>
            <a:r>
              <a:rPr lang="en-US" dirty="0" smtClean="0"/>
              <a:t>It emphasis need for proper documentation.</a:t>
            </a:r>
          </a:p>
          <a:p>
            <a:pPr algn="just"/>
            <a:r>
              <a:rPr lang="en-US" dirty="0" smtClean="0"/>
              <a:t>It facilitates development of optimal processes and </a:t>
            </a:r>
            <a:r>
              <a:rPr lang="en-US" dirty="0" smtClean="0"/>
              <a:t>total </a:t>
            </a:r>
            <a:r>
              <a:rPr lang="en-US" dirty="0" smtClean="0"/>
              <a:t>quality measurements.</a:t>
            </a:r>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2050" name="Picture 2" descr="Lightbox"/>
          <p:cNvPicPr>
            <a:picLocks noChangeAspect="1" noChangeArrowheads="1"/>
          </p:cNvPicPr>
          <p:nvPr/>
        </p:nvPicPr>
        <p:blipFill>
          <a:blip r:embed="rId2"/>
          <a:srcRect/>
          <a:stretch>
            <a:fillRect/>
          </a:stretch>
        </p:blipFill>
        <p:spPr bwMode="auto">
          <a:xfrm>
            <a:off x="228600" y="1524000"/>
            <a:ext cx="8669141" cy="4038600"/>
          </a:xfrm>
          <a:prstGeom prst="rect">
            <a:avLst/>
          </a:prstGeo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fontScale="90000"/>
          </a:bodyPr>
          <a:lstStyle/>
          <a:p>
            <a:r>
              <a:rPr lang="en-US" b="1" dirty="0" smtClean="0"/>
              <a:t>Features of ISO 9001 </a:t>
            </a:r>
            <a:r>
              <a:rPr lang="en-US" b="1" dirty="0" smtClean="0"/>
              <a:t>Requirements</a:t>
            </a:r>
            <a:endParaRPr lang="en-US" dirty="0"/>
          </a:p>
        </p:txBody>
      </p:sp>
      <p:sp>
        <p:nvSpPr>
          <p:cNvPr id="3" name="Content Placeholder 2"/>
          <p:cNvSpPr>
            <a:spLocks noGrp="1"/>
          </p:cNvSpPr>
          <p:nvPr>
            <p:ph idx="1"/>
          </p:nvPr>
        </p:nvSpPr>
        <p:spPr>
          <a:xfrm>
            <a:off x="457200" y="1295400"/>
            <a:ext cx="8229600" cy="5029200"/>
          </a:xfrm>
        </p:spPr>
        <p:txBody>
          <a:bodyPr>
            <a:normAutofit fontScale="77500" lnSpcReduction="20000"/>
          </a:bodyPr>
          <a:lstStyle/>
          <a:p>
            <a:r>
              <a:rPr lang="en-US" b="1" dirty="0" smtClean="0"/>
              <a:t>Document </a:t>
            </a:r>
            <a:r>
              <a:rPr lang="en-US" b="1" dirty="0" smtClean="0"/>
              <a:t>control</a:t>
            </a:r>
            <a:r>
              <a:rPr lang="en-US" dirty="0" smtClean="0"/>
              <a:t/>
            </a:r>
            <a:br>
              <a:rPr lang="en-US" dirty="0" smtClean="0"/>
            </a:br>
            <a:r>
              <a:rPr lang="en-US" dirty="0" smtClean="0"/>
              <a:t>All documents concerned with the development of a software product should be properly managed and controlled.</a:t>
            </a:r>
          </a:p>
          <a:p>
            <a:r>
              <a:rPr lang="en-US" b="1" dirty="0" smtClean="0"/>
              <a:t>Planning</a:t>
            </a:r>
            <a:r>
              <a:rPr lang="en-US" dirty="0" smtClean="0"/>
              <a:t/>
            </a:r>
            <a:br>
              <a:rPr lang="en-US" dirty="0" smtClean="0"/>
            </a:br>
            <a:r>
              <a:rPr lang="en-US" dirty="0" smtClean="0"/>
              <a:t>Proper plans should be prepared and monitored.</a:t>
            </a:r>
          </a:p>
          <a:p>
            <a:r>
              <a:rPr lang="en-US" b="1" dirty="0" smtClean="0"/>
              <a:t>Review</a:t>
            </a:r>
            <a:r>
              <a:rPr lang="en-US" dirty="0" smtClean="0"/>
              <a:t/>
            </a:r>
            <a:br>
              <a:rPr lang="en-US" dirty="0" smtClean="0"/>
            </a:br>
            <a:r>
              <a:rPr lang="en-US" dirty="0" smtClean="0"/>
              <a:t>For effectiveness and correctness all important documents across all phases should be independently checked and reviewed .</a:t>
            </a:r>
          </a:p>
          <a:p>
            <a:r>
              <a:rPr lang="en-US" b="1" dirty="0" smtClean="0"/>
              <a:t>Testing</a:t>
            </a:r>
            <a:r>
              <a:rPr lang="en-US" dirty="0" smtClean="0"/>
              <a:t/>
            </a:r>
            <a:br>
              <a:rPr lang="en-US" dirty="0" smtClean="0"/>
            </a:br>
            <a:r>
              <a:rPr lang="en-US" dirty="0" smtClean="0"/>
              <a:t>The product should be tested against specification.</a:t>
            </a:r>
          </a:p>
          <a:p>
            <a:r>
              <a:rPr lang="en-US" b="1" dirty="0" smtClean="0"/>
              <a:t>Organizational </a:t>
            </a:r>
            <a:r>
              <a:rPr lang="en-US" b="1" dirty="0" smtClean="0"/>
              <a:t>Aspects</a:t>
            </a:r>
            <a:r>
              <a:rPr lang="en-US" dirty="0" smtClean="0"/>
              <a:t/>
            </a:r>
            <a:br>
              <a:rPr lang="en-US" dirty="0" smtClean="0"/>
            </a:br>
            <a:r>
              <a:rPr lang="en-US" dirty="0" smtClean="0"/>
              <a:t>Various organizational aspects should be addressed </a:t>
            </a:r>
            <a:r>
              <a:rPr lang="en-US" dirty="0" smtClean="0"/>
              <a:t>e.g</a:t>
            </a:r>
            <a:r>
              <a:rPr lang="en-US" dirty="0" smtClean="0"/>
              <a:t>., management reporting of the quality team.</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fontScale="90000"/>
          </a:bodyPr>
          <a:lstStyle/>
          <a:p>
            <a:r>
              <a:rPr lang="en-US" b="1" dirty="0" smtClean="0"/>
              <a:t>Advantages of ISO 9000 </a:t>
            </a:r>
            <a:r>
              <a:rPr lang="en-US" b="1" dirty="0" smtClean="0"/>
              <a:t>Certification</a:t>
            </a:r>
            <a:endParaRPr lang="en-US" dirty="0"/>
          </a:p>
        </p:txBody>
      </p:sp>
      <p:sp>
        <p:nvSpPr>
          <p:cNvPr id="3" name="Content Placeholder 2"/>
          <p:cNvSpPr>
            <a:spLocks noGrp="1"/>
          </p:cNvSpPr>
          <p:nvPr>
            <p:ph idx="1"/>
          </p:nvPr>
        </p:nvSpPr>
        <p:spPr>
          <a:xfrm>
            <a:off x="457200" y="1371600"/>
            <a:ext cx="8229600" cy="5105400"/>
          </a:xfrm>
        </p:spPr>
        <p:txBody>
          <a:bodyPr>
            <a:normAutofit fontScale="77500" lnSpcReduction="20000"/>
          </a:bodyPr>
          <a:lstStyle/>
          <a:p>
            <a:pPr algn="just"/>
            <a:r>
              <a:rPr lang="en-US" dirty="0" smtClean="0"/>
              <a:t>ISO-9000 </a:t>
            </a:r>
            <a:r>
              <a:rPr lang="en-US" dirty="0" smtClean="0"/>
              <a:t>certification forces a corporation to specialize in “how they are doing business”. Each procedure and work instruction must be documented and thus becomes a springboard for continuous improvement</a:t>
            </a:r>
            <a:r>
              <a:rPr lang="en-US" dirty="0" smtClean="0"/>
              <a:t>.</a:t>
            </a:r>
          </a:p>
          <a:p>
            <a:pPr algn="just"/>
            <a:endParaRPr lang="en-US" dirty="0" smtClean="0"/>
          </a:p>
          <a:p>
            <a:pPr algn="just"/>
            <a:r>
              <a:rPr lang="en-US" dirty="0" smtClean="0"/>
              <a:t>Employees morale is increased as they’re asked to require control of their processes and document their work </a:t>
            </a:r>
            <a:r>
              <a:rPr lang="en-US" dirty="0" smtClean="0"/>
              <a:t>processes</a:t>
            </a:r>
          </a:p>
          <a:p>
            <a:pPr algn="just"/>
            <a:endParaRPr lang="en-US" dirty="0" smtClean="0"/>
          </a:p>
          <a:p>
            <a:pPr algn="just"/>
            <a:r>
              <a:rPr lang="en-US" dirty="0" smtClean="0"/>
              <a:t>Better products and services result from continuous improvement process</a:t>
            </a:r>
            <a:r>
              <a:rPr lang="en-US" dirty="0" smtClean="0"/>
              <a:t>.</a:t>
            </a:r>
          </a:p>
          <a:p>
            <a:pPr algn="just"/>
            <a:endParaRPr lang="en-US" dirty="0" smtClean="0"/>
          </a:p>
          <a:p>
            <a:pPr algn="just"/>
            <a:r>
              <a:rPr lang="en-US" dirty="0" smtClean="0"/>
              <a:t>Increased employee participation, involvement, awareness and systematic employee training are reduced problems</a:t>
            </a:r>
            <a:r>
              <a:rPr lang="en-US" dirty="0" smtClean="0"/>
              <a:t>.</a:t>
            </a:r>
            <a:endParaRPr lang="en-US" dirty="0" smtClean="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TotalTime>
  <Words>1023</Words>
  <Application>Microsoft Office PowerPoint</Application>
  <PresentationFormat>On-screen Show (4:3)</PresentationFormat>
  <Paragraphs>133</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Statistical Software Quality Assurance</vt:lpstr>
      <vt:lpstr>Slide 2</vt:lpstr>
      <vt:lpstr>Category of Defects</vt:lpstr>
      <vt:lpstr>Slide 4</vt:lpstr>
      <vt:lpstr>Error Index (EI)</vt:lpstr>
      <vt:lpstr>Slide 6</vt:lpstr>
      <vt:lpstr>Software Reliability</vt:lpstr>
      <vt:lpstr>Slide 8</vt:lpstr>
      <vt:lpstr>CMMI</vt:lpstr>
      <vt:lpstr>Slide 10</vt:lpstr>
      <vt:lpstr>Objectives of CMMI</vt:lpstr>
      <vt:lpstr>CMMI Representation – Staged and Continuous</vt:lpstr>
      <vt:lpstr>Slide 13</vt:lpstr>
      <vt:lpstr>Slide 14</vt:lpstr>
      <vt:lpstr>Slide 15</vt:lpstr>
      <vt:lpstr>Slide 16</vt:lpstr>
      <vt:lpstr>Slide 17</vt:lpstr>
      <vt:lpstr>Slide 18</vt:lpstr>
      <vt:lpstr>Slide 19</vt:lpstr>
      <vt:lpstr>ISO 9000 Standards in Software Engineering </vt:lpstr>
      <vt:lpstr>Why ISO Certification for Software Industry?</vt:lpstr>
      <vt:lpstr>Slide 22</vt:lpstr>
      <vt:lpstr>Features of ISO 9001 Requirements</vt:lpstr>
      <vt:lpstr>Advantages of ISO 9000 Certification</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Statistical Software Quality Assurance</dc:title>
  <dc:creator>A M Viswa Bharathy</dc:creator>
  <cp:lastModifiedBy>MRCET</cp:lastModifiedBy>
  <cp:revision>53</cp:revision>
  <dcterms:created xsi:type="dcterms:W3CDTF">2006-08-16T00:00:00Z</dcterms:created>
  <dcterms:modified xsi:type="dcterms:W3CDTF">2021-11-25T05:28:13Z</dcterms:modified>
</cp:coreProperties>
</file>
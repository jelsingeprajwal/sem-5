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5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7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09-Nov-21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09-Nov-21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09-Nov-21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09-Nov-21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09-Nov-21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09-Nov-21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09-Nov-21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09-Nov-21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09-Nov-21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09-Nov-21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09-Nov-21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09-Nov-21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943600"/>
          </a:xfrm>
        </p:spPr>
        <p:txBody>
          <a:bodyPr>
            <a:normAutofit/>
          </a:bodyPr>
          <a:lstStyle/>
          <a:p>
            <a:pPr fontAlgn="base"/>
            <a:r>
              <a:rPr lang="en-US" b="1" dirty="0" smtClean="0"/>
              <a:t>Process </a:t>
            </a:r>
            <a:r>
              <a:rPr lang="en-US" b="1" dirty="0" smtClean="0"/>
              <a:t>Metrics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Process metrics pay particular attention on enhancing the long term process of the team or </a:t>
            </a:r>
            <a:r>
              <a:rPr lang="en-US" dirty="0" err="1" smtClean="0"/>
              <a:t>organisation</a:t>
            </a:r>
            <a:r>
              <a:rPr lang="en-US" dirty="0" smtClean="0"/>
              <a:t>.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b="1" dirty="0" smtClean="0"/>
              <a:t>Project </a:t>
            </a:r>
            <a:r>
              <a:rPr lang="en-US" b="1" dirty="0" smtClean="0"/>
              <a:t>Metrics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Project </a:t>
            </a:r>
            <a:r>
              <a:rPr lang="en-US" dirty="0" smtClean="0"/>
              <a:t>metrics describes </a:t>
            </a:r>
            <a:r>
              <a:rPr lang="en-US" dirty="0" smtClean="0"/>
              <a:t>the project characteristic and execution process.</a:t>
            </a:r>
          </a:p>
          <a:p>
            <a:pPr lvl="2" fontAlgn="base"/>
            <a:r>
              <a:rPr lang="en-US" dirty="0" smtClean="0"/>
              <a:t>Number of software developer</a:t>
            </a:r>
          </a:p>
          <a:p>
            <a:pPr lvl="2" fontAlgn="base"/>
            <a:r>
              <a:rPr lang="en-US" dirty="0" smtClean="0"/>
              <a:t>Staffing pattern over the life cycle of software</a:t>
            </a:r>
          </a:p>
          <a:p>
            <a:pPr lvl="2" fontAlgn="base"/>
            <a:r>
              <a:rPr lang="en-US" dirty="0" smtClean="0"/>
              <a:t>Cost and schedule</a:t>
            </a:r>
          </a:p>
          <a:p>
            <a:pPr lvl="2" fontAlgn="base"/>
            <a:r>
              <a:rPr lang="en-US" dirty="0" smtClean="0"/>
              <a:t>Productivity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Measurement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measurement is an manifestation of the size, quantity, amount or dimension of a particular attributes of a product or process. 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Need of Software </a:t>
            </a:r>
            <a:r>
              <a:rPr lang="en-US" dirty="0" smtClean="0"/>
              <a:t>Measurement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fontAlgn="base"/>
            <a:r>
              <a:rPr lang="en-US" dirty="0" smtClean="0"/>
              <a:t>Imparting quality in the </a:t>
            </a:r>
            <a:r>
              <a:rPr lang="en-US" dirty="0" smtClean="0"/>
              <a:t>current product or </a:t>
            </a:r>
            <a:r>
              <a:rPr lang="en-US" dirty="0" smtClean="0"/>
              <a:t>process</a:t>
            </a:r>
            <a:endParaRPr lang="en-US" dirty="0" smtClean="0"/>
          </a:p>
          <a:p>
            <a:pPr fontAlgn="base"/>
            <a:r>
              <a:rPr lang="en-US" dirty="0" smtClean="0"/>
              <a:t>Anticipate future qualities of the product or </a:t>
            </a:r>
            <a:r>
              <a:rPr lang="en-US" dirty="0" smtClean="0"/>
              <a:t>process</a:t>
            </a:r>
            <a:endParaRPr lang="en-US" dirty="0" smtClean="0"/>
          </a:p>
          <a:p>
            <a:pPr fontAlgn="base"/>
            <a:r>
              <a:rPr lang="en-US" dirty="0" smtClean="0"/>
              <a:t>Enhance the quality of a product or </a:t>
            </a:r>
            <a:r>
              <a:rPr lang="en-US" dirty="0" smtClean="0"/>
              <a:t>process</a:t>
            </a:r>
            <a:endParaRPr lang="en-US" dirty="0" smtClean="0"/>
          </a:p>
          <a:p>
            <a:pPr fontAlgn="base"/>
            <a:r>
              <a:rPr lang="en-US" dirty="0" smtClean="0"/>
              <a:t>Regulate the state of the project in relation to budget and </a:t>
            </a:r>
            <a:r>
              <a:rPr lang="en-US" dirty="0" smtClean="0"/>
              <a:t>schedule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Classification of Software </a:t>
            </a:r>
            <a:r>
              <a:rPr lang="en-US" dirty="0" smtClean="0"/>
              <a:t>Measurement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lnSpcReduction="10000"/>
          </a:bodyPr>
          <a:lstStyle/>
          <a:p>
            <a:pPr fontAlgn="base">
              <a:buNone/>
            </a:pPr>
            <a:r>
              <a:rPr lang="en-US" dirty="0" smtClean="0"/>
              <a:t>There </a:t>
            </a:r>
            <a:r>
              <a:rPr lang="en-US" dirty="0" smtClean="0"/>
              <a:t>are 2 types of software </a:t>
            </a:r>
            <a:r>
              <a:rPr lang="en-US" dirty="0" smtClean="0"/>
              <a:t>measurement</a:t>
            </a:r>
            <a:br>
              <a:rPr lang="en-US" dirty="0" smtClean="0"/>
            </a:br>
            <a:endParaRPr lang="en-US" dirty="0" smtClean="0"/>
          </a:p>
          <a:p>
            <a:pPr fontAlgn="base"/>
            <a:r>
              <a:rPr lang="en-US" b="1" dirty="0" smtClean="0"/>
              <a:t>Direct Measurement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 direct measurement the product, process or thing is measured directly using standard </a:t>
            </a:r>
            <a:r>
              <a:rPr lang="en-US" dirty="0" smtClean="0"/>
              <a:t>scale. </a:t>
            </a:r>
          </a:p>
          <a:p>
            <a:pPr lvl="1" fontAlgn="base"/>
            <a:r>
              <a:rPr lang="en-US" dirty="0" smtClean="0"/>
              <a:t>lines </a:t>
            </a:r>
            <a:r>
              <a:rPr lang="en-US" dirty="0" smtClean="0"/>
              <a:t>of code (LOC</a:t>
            </a:r>
            <a:r>
              <a:rPr lang="en-US" dirty="0" smtClean="0"/>
              <a:t>),</a:t>
            </a:r>
          </a:p>
          <a:p>
            <a:pPr lvl="1" fontAlgn="base"/>
            <a:r>
              <a:rPr lang="en-US" dirty="0" smtClean="0"/>
              <a:t> </a:t>
            </a:r>
            <a:r>
              <a:rPr lang="en-US" dirty="0" smtClean="0"/>
              <a:t>execution speed, </a:t>
            </a:r>
            <a:endParaRPr lang="en-US" dirty="0" smtClean="0"/>
          </a:p>
          <a:p>
            <a:pPr lvl="1" fontAlgn="base"/>
            <a:r>
              <a:rPr lang="en-US" dirty="0" smtClean="0"/>
              <a:t>memory </a:t>
            </a:r>
            <a:r>
              <a:rPr lang="en-US" dirty="0" smtClean="0"/>
              <a:t>size, </a:t>
            </a:r>
            <a:endParaRPr lang="en-US" dirty="0" smtClean="0"/>
          </a:p>
          <a:p>
            <a:pPr lvl="1" fontAlgn="base"/>
            <a:r>
              <a:rPr lang="en-US" dirty="0" smtClean="0"/>
              <a:t>defects </a:t>
            </a:r>
            <a:r>
              <a:rPr lang="en-US" dirty="0" smtClean="0"/>
              <a:t>per reporting time period.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Indirect Measurement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 indirect measurement the quantity or quality to be measured is measured using related parameter i.e. by use of reference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functionality</a:t>
            </a:r>
          </a:p>
          <a:p>
            <a:r>
              <a:rPr lang="en-US" dirty="0" smtClean="0"/>
              <a:t>complexity</a:t>
            </a:r>
          </a:p>
          <a:p>
            <a:r>
              <a:rPr lang="en-US" dirty="0" smtClean="0"/>
              <a:t>efficiency</a:t>
            </a:r>
          </a:p>
          <a:p>
            <a:r>
              <a:rPr lang="en-US" dirty="0" smtClean="0"/>
              <a:t>reliability</a:t>
            </a:r>
          </a:p>
          <a:p>
            <a:r>
              <a:rPr lang="en-US" dirty="0" smtClean="0"/>
              <a:t>maintainability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None/>
            </a:pPr>
            <a:r>
              <a:rPr lang="en-US" dirty="0" smtClean="0"/>
              <a:t>There are 4 functions related to software </a:t>
            </a:r>
            <a:r>
              <a:rPr lang="en-US" dirty="0" smtClean="0"/>
              <a:t>metrics</a:t>
            </a:r>
          </a:p>
          <a:p>
            <a:pPr fontAlgn="base">
              <a:buNone/>
            </a:pPr>
            <a:endParaRPr lang="en-US" dirty="0" smtClean="0"/>
          </a:p>
          <a:p>
            <a:pPr fontAlgn="base"/>
            <a:r>
              <a:rPr lang="en-US" dirty="0" smtClean="0"/>
              <a:t>Planning</a:t>
            </a:r>
          </a:p>
          <a:p>
            <a:pPr fontAlgn="base"/>
            <a:r>
              <a:rPr lang="en-US" dirty="0" smtClean="0"/>
              <a:t>Organizing</a:t>
            </a:r>
          </a:p>
          <a:p>
            <a:pPr fontAlgn="base"/>
            <a:r>
              <a:rPr lang="en-US" dirty="0" smtClean="0"/>
              <a:t>Controlling</a:t>
            </a:r>
          </a:p>
          <a:p>
            <a:pPr fontAlgn="base"/>
            <a:r>
              <a:rPr lang="en-US" dirty="0" smtClean="0"/>
              <a:t>Improving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Characteristics of software </a:t>
            </a:r>
            <a:r>
              <a:rPr lang="en-US" dirty="0" smtClean="0"/>
              <a:t>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fontAlgn="base"/>
            <a:r>
              <a:rPr lang="en-US" b="1" dirty="0" smtClean="0"/>
              <a:t>Quantitative: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Metrics must possess quantitative nature</a:t>
            </a:r>
            <a:r>
              <a:rPr lang="en-US" dirty="0" smtClean="0"/>
              <a:t>. It </a:t>
            </a:r>
            <a:r>
              <a:rPr lang="en-US" dirty="0" smtClean="0"/>
              <a:t>means metrics can be expressed in values.</a:t>
            </a:r>
          </a:p>
          <a:p>
            <a:pPr fontAlgn="base"/>
            <a:r>
              <a:rPr lang="en-US" b="1" dirty="0" smtClean="0"/>
              <a:t>Understandable: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Metric computation should be easily understood ,the method of computing metric should be clearly defined.</a:t>
            </a:r>
          </a:p>
          <a:p>
            <a:pPr fontAlgn="base"/>
            <a:r>
              <a:rPr lang="en-US" b="1" dirty="0" smtClean="0"/>
              <a:t>Applicability: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Metrics should be applicable in the initial phases of development of the software.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 smtClean="0"/>
              <a:t>Repeatable: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metric values should be same when measured repeatedly and consistent in nature.</a:t>
            </a:r>
          </a:p>
          <a:p>
            <a:pPr fontAlgn="base"/>
            <a:r>
              <a:rPr lang="en-US" b="1" dirty="0" smtClean="0"/>
              <a:t>Economical: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Computation of metric should be economical.</a:t>
            </a:r>
          </a:p>
          <a:p>
            <a:pPr fontAlgn="base"/>
            <a:r>
              <a:rPr lang="en-US" b="1" dirty="0" smtClean="0"/>
              <a:t>Language Independent: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Metrics should not depend on any programming language.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Project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en-US" sz="4400" b="1" dirty="0" smtClean="0"/>
              <a:t>Schedule Variance : </a:t>
            </a:r>
            <a:r>
              <a:rPr lang="en-US" sz="4400" dirty="0" smtClean="0"/>
              <a:t>Any difference between the scheduled completion of an activity and the actual completion is known as Schedule Variance. </a:t>
            </a:r>
            <a:endParaRPr lang="en-US" sz="4400" dirty="0" smtClean="0"/>
          </a:p>
          <a:p>
            <a:pPr algn="just">
              <a:buNone/>
            </a:pPr>
            <a:endParaRPr lang="en-US" sz="4400" dirty="0" smtClean="0"/>
          </a:p>
          <a:p>
            <a:pPr algn="just">
              <a:buNone/>
            </a:pPr>
            <a:r>
              <a:rPr lang="en-US" sz="4400" dirty="0" smtClean="0"/>
              <a:t>Schedule </a:t>
            </a:r>
            <a:r>
              <a:rPr lang="en-US" sz="4400" dirty="0" smtClean="0"/>
              <a:t>variance = ((Actual calendar days – Planned calendar days) + Start variance)/ Planned calendar days x 100</a:t>
            </a:r>
            <a:r>
              <a:rPr lang="en-US" sz="4400" dirty="0" smtClean="0"/>
              <a:t>.</a:t>
            </a:r>
          </a:p>
          <a:p>
            <a:pPr algn="just"/>
            <a:endParaRPr lang="en-US" sz="4400" dirty="0" smtClean="0"/>
          </a:p>
          <a:p>
            <a:pPr algn="just"/>
            <a:r>
              <a:rPr lang="en-US" sz="4400" b="1" dirty="0" smtClean="0"/>
              <a:t>Effort Variance: </a:t>
            </a:r>
            <a:r>
              <a:rPr lang="en-US" sz="4400" dirty="0" smtClean="0"/>
              <a:t>Difference between the planned outlined effort and the effort required to actually undertake the task is called Effort variance. </a:t>
            </a:r>
            <a:endParaRPr lang="en-US" sz="4400" dirty="0" smtClean="0"/>
          </a:p>
          <a:p>
            <a:pPr algn="just">
              <a:buNone/>
            </a:pPr>
            <a:endParaRPr lang="en-US" sz="4400" dirty="0" smtClean="0"/>
          </a:p>
          <a:p>
            <a:pPr algn="just">
              <a:buNone/>
            </a:pPr>
            <a:r>
              <a:rPr lang="en-US" sz="4400" dirty="0" smtClean="0"/>
              <a:t>Effort </a:t>
            </a:r>
            <a:r>
              <a:rPr lang="en-US" sz="4400" dirty="0" smtClean="0"/>
              <a:t>variance = (Actual Effort – Planned Effort)/ Planned Effort x 100</a:t>
            </a:r>
            <a:r>
              <a:rPr lang="en-US" sz="4400" dirty="0" smtClean="0"/>
              <a:t>.</a:t>
            </a:r>
          </a:p>
          <a:p>
            <a:pPr algn="just"/>
            <a:endParaRPr lang="en-US" sz="4400" dirty="0" smtClean="0"/>
          </a:p>
          <a:p>
            <a:pPr algn="just"/>
            <a:r>
              <a:rPr lang="en-US" sz="4400" b="1" dirty="0" smtClean="0"/>
              <a:t>Size Variance: </a:t>
            </a:r>
            <a:r>
              <a:rPr lang="en-US" sz="4400" dirty="0" smtClean="0"/>
              <a:t>Difference between the estimated size of the project and the actual size of the project (normally in KLOC or FP) </a:t>
            </a:r>
            <a:endParaRPr lang="en-US" sz="4400" dirty="0" smtClean="0"/>
          </a:p>
          <a:p>
            <a:pPr algn="just">
              <a:buNone/>
            </a:pPr>
            <a:endParaRPr lang="en-US" sz="4400" dirty="0" smtClean="0"/>
          </a:p>
          <a:p>
            <a:pPr algn="just">
              <a:buNone/>
            </a:pPr>
            <a:r>
              <a:rPr lang="en-US" sz="4400" dirty="0" smtClean="0"/>
              <a:t>Size </a:t>
            </a:r>
            <a:r>
              <a:rPr lang="en-US" sz="4400" dirty="0" smtClean="0"/>
              <a:t>variance = (Actual size – Estimated size)/ Estimated size x 100</a:t>
            </a:r>
            <a:r>
              <a:rPr lang="en-US" sz="4400" dirty="0" smtClean="0"/>
              <a:t>.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791200"/>
          </a:xfrm>
        </p:spPr>
        <p:txBody>
          <a:bodyPr/>
          <a:lstStyle/>
          <a:p>
            <a:pPr algn="just"/>
            <a:r>
              <a:rPr lang="en-US" b="1" dirty="0" smtClean="0"/>
              <a:t>Requirement Stability Index: </a:t>
            </a:r>
            <a:r>
              <a:rPr lang="en-US" dirty="0" smtClean="0"/>
              <a:t>Provides visibility and understanding into the magnitude and impact of requirements changes.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RSI </a:t>
            </a:r>
            <a:r>
              <a:rPr lang="en-US" dirty="0" smtClean="0"/>
              <a:t>= 1- ((No of changed + No of deleted + No of added) / Total no of Initial requirements) x100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0960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b="1" dirty="0" smtClean="0"/>
              <a:t>Productivity (Project): </a:t>
            </a:r>
            <a:r>
              <a:rPr lang="en-US" dirty="0" smtClean="0"/>
              <a:t>It is a measure of output from a related process for a unit of input.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>
              <a:buNone/>
            </a:pPr>
            <a:r>
              <a:rPr lang="en-US" dirty="0" smtClean="0"/>
              <a:t>Project </a:t>
            </a:r>
            <a:r>
              <a:rPr lang="en-US" dirty="0" smtClean="0"/>
              <a:t>Productivity = Actual Project Size / Actual Effort spent for the </a:t>
            </a:r>
            <a:r>
              <a:rPr lang="en-US" dirty="0" smtClean="0"/>
              <a:t>project</a:t>
            </a:r>
          </a:p>
          <a:p>
            <a:pPr algn="just">
              <a:buNone/>
            </a:pPr>
            <a:endParaRPr lang="en-US" dirty="0" smtClean="0"/>
          </a:p>
          <a:p>
            <a:pPr algn="just"/>
            <a:r>
              <a:rPr lang="en-US" b="1" dirty="0" smtClean="0"/>
              <a:t>Productivity (for test case preparation</a:t>
            </a:r>
            <a:r>
              <a:rPr lang="en-US" b="1" dirty="0" smtClean="0"/>
              <a:t>)</a:t>
            </a:r>
          </a:p>
          <a:p>
            <a:pPr algn="just">
              <a:buNone/>
            </a:pPr>
            <a:endParaRPr lang="en-US" b="1" dirty="0" smtClean="0"/>
          </a:p>
          <a:p>
            <a:pPr algn="just">
              <a:buNone/>
            </a:pPr>
            <a:r>
              <a:rPr lang="en-US" dirty="0" smtClean="0"/>
              <a:t>Productivity </a:t>
            </a:r>
            <a:r>
              <a:rPr lang="en-US" dirty="0" smtClean="0"/>
              <a:t>in test case preparation = Actual no of test cases/ actual effort spent on test case </a:t>
            </a:r>
            <a:r>
              <a:rPr lang="en-US" dirty="0" smtClean="0"/>
              <a:t>preparation</a:t>
            </a:r>
          </a:p>
          <a:p>
            <a:pPr algn="just">
              <a:buNone/>
            </a:pPr>
            <a:endParaRPr lang="en-US" dirty="0" smtClean="0"/>
          </a:p>
          <a:p>
            <a:pPr algn="just"/>
            <a:r>
              <a:rPr lang="en-US" b="1" dirty="0" smtClean="0"/>
              <a:t>Productivity (for test case execution) </a:t>
            </a:r>
            <a:endParaRPr lang="en-US" b="1" dirty="0" smtClean="0"/>
          </a:p>
          <a:p>
            <a:pPr algn="just"/>
            <a:endParaRPr lang="en-US" b="1" dirty="0" smtClean="0"/>
          </a:p>
          <a:p>
            <a:pPr algn="just">
              <a:buNone/>
            </a:pPr>
            <a:r>
              <a:rPr lang="en-US" dirty="0" smtClean="0"/>
              <a:t>Productivity </a:t>
            </a:r>
            <a:r>
              <a:rPr lang="en-US" dirty="0" smtClean="0"/>
              <a:t>in test case execution = actual number of test cases / actual effort spend on testing.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943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 smtClean="0"/>
              <a:t>Productivity (defect detection) </a:t>
            </a:r>
            <a:endParaRPr lang="en-US" b="1" dirty="0" smtClean="0"/>
          </a:p>
          <a:p>
            <a:pPr algn="just">
              <a:buNone/>
            </a:pPr>
            <a:endParaRPr lang="en-US" b="1" dirty="0" smtClean="0"/>
          </a:p>
          <a:p>
            <a:pPr algn="just">
              <a:buNone/>
            </a:pPr>
            <a:r>
              <a:rPr lang="en-US" dirty="0" smtClean="0"/>
              <a:t>Productivity in defect detection = Actual number of defects (review + testing) / actual effort spent on (review + testing</a:t>
            </a:r>
            <a:r>
              <a:rPr lang="en-US" dirty="0" smtClean="0"/>
              <a:t>)</a:t>
            </a:r>
          </a:p>
          <a:p>
            <a:pPr algn="just">
              <a:buNone/>
            </a:pPr>
            <a:endParaRPr lang="en-US" dirty="0" smtClean="0"/>
          </a:p>
          <a:p>
            <a:pPr algn="just"/>
            <a:r>
              <a:rPr lang="en-US" b="1" dirty="0" smtClean="0"/>
              <a:t>Productivity (defect fixation) </a:t>
            </a:r>
            <a:endParaRPr lang="en-US" b="1" dirty="0" smtClean="0"/>
          </a:p>
          <a:p>
            <a:pPr algn="just">
              <a:buNone/>
            </a:pPr>
            <a:endParaRPr lang="en-US" b="1" dirty="0" smtClean="0"/>
          </a:p>
          <a:p>
            <a:pPr algn="just">
              <a:buNone/>
            </a:pPr>
            <a:r>
              <a:rPr lang="en-US" dirty="0" smtClean="0"/>
              <a:t>Productivity in defect fixation = actual no of defects fixed/ actual effort spent on defect fixation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Schedule variance for a phase: </a:t>
            </a:r>
            <a:r>
              <a:rPr lang="en-US" dirty="0" smtClean="0"/>
              <a:t>The deviation between planned and actual schedule for the phases within a project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Schedule </a:t>
            </a:r>
            <a:r>
              <a:rPr lang="en-US" dirty="0" smtClean="0"/>
              <a:t>variance for a phase = (Actual Calendar days for a phase – Planned calendar days for a phase + Start variance for a phase)/ (Planned calendar days for a phase) x </a:t>
            </a:r>
            <a:r>
              <a:rPr lang="en-US" dirty="0" smtClean="0"/>
              <a:t>100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/>
              <a:t>Effort variance for a phase: </a:t>
            </a:r>
            <a:r>
              <a:rPr lang="en-US" dirty="0" smtClean="0"/>
              <a:t>The deviation between planned and actual effort for various phases within the project. 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Effort </a:t>
            </a:r>
            <a:r>
              <a:rPr lang="en-US" dirty="0" smtClean="0"/>
              <a:t>variance for a phase = (Actual effort for a phase – planned effort for a phase)/ (planned effort for a phase) x 100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Process </a:t>
            </a:r>
            <a:r>
              <a:rPr lang="en-US" dirty="0" smtClean="0"/>
              <a:t>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smtClean="0"/>
              <a:t>Cost of Quality: </a:t>
            </a:r>
            <a:r>
              <a:rPr lang="en-US" dirty="0" smtClean="0"/>
              <a:t>It is a measure in terms of money for the quality performance within an organization 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Cost </a:t>
            </a:r>
            <a:r>
              <a:rPr lang="en-US" dirty="0" smtClean="0"/>
              <a:t>of quality = (review + testing + verification review + verification testing + QA + configuration management + measurement + training + rework review + rework testing)/ total effort x </a:t>
            </a:r>
            <a:r>
              <a:rPr lang="en-US" dirty="0" smtClean="0"/>
              <a:t>100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/>
              <a:t>Cost of poor Quality: </a:t>
            </a:r>
            <a:r>
              <a:rPr lang="en-US" dirty="0" smtClean="0"/>
              <a:t>It is the cost of implementing imperfect processes and products. 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Cost </a:t>
            </a:r>
            <a:r>
              <a:rPr lang="en-US" dirty="0" smtClean="0"/>
              <a:t>of poor quality = rework effort/ total effort x </a:t>
            </a:r>
            <a:r>
              <a:rPr lang="en-US" dirty="0" smtClean="0"/>
              <a:t>100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1500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smtClean="0"/>
              <a:t>Defect Density: </a:t>
            </a:r>
            <a:r>
              <a:rPr lang="en-US" dirty="0" smtClean="0"/>
              <a:t>It is the number of defects detected in the software during the development divided by the size of the software (typically in KLOC or FP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Defect density for a project = Total number of defects/ project size in </a:t>
            </a:r>
            <a:r>
              <a:rPr lang="en-US" dirty="0" smtClean="0"/>
              <a:t>KLOC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/>
              <a:t>Review Efficiency: </a:t>
            </a:r>
            <a:r>
              <a:rPr lang="en-US" dirty="0" smtClean="0"/>
              <a:t>defined as the efficiency in harnessing/ detecting review defects in the verification stage. 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Review </a:t>
            </a:r>
            <a:r>
              <a:rPr lang="en-US" dirty="0" smtClean="0"/>
              <a:t>efficiency = (number of defects caught in review)/ total number of defects caught) x 100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rmAutofit fontScale="92500"/>
          </a:bodyPr>
          <a:lstStyle/>
          <a:p>
            <a:r>
              <a:rPr lang="en-US" b="1" dirty="0" smtClean="0"/>
              <a:t>Testing Efficiency: </a:t>
            </a:r>
            <a:endParaRPr lang="en-US" b="1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Testing </a:t>
            </a:r>
            <a:r>
              <a:rPr lang="en-US" dirty="0" smtClean="0"/>
              <a:t>efficiency = 1 – ((defects found in acceptance)/ total no of testing defects) x </a:t>
            </a:r>
            <a:r>
              <a:rPr lang="en-US" dirty="0" smtClean="0"/>
              <a:t>100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/>
              <a:t>Defect removal efficiency: </a:t>
            </a:r>
            <a:r>
              <a:rPr lang="en-US" dirty="0" smtClean="0"/>
              <a:t>Gives the efficiency with which defects were detected and minimum defects were filtered down to the customer. 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Defect </a:t>
            </a:r>
            <a:r>
              <a:rPr lang="en-US" dirty="0" smtClean="0"/>
              <a:t>removal efficiency = (1 – (total defects caught by customer/ total no of defects)) x 100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736</Words>
  <Application>Microsoft Office PowerPoint</Application>
  <PresentationFormat>On-screen Show (4:3)</PresentationFormat>
  <Paragraphs>102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Software Measurement</vt:lpstr>
      <vt:lpstr>Need of Software Measurement</vt:lpstr>
      <vt:lpstr>Classification of Software Measurement</vt:lpstr>
      <vt:lpstr>Slide 5</vt:lpstr>
      <vt:lpstr>Slide 6</vt:lpstr>
      <vt:lpstr>Characteristics of software Metrics</vt:lpstr>
      <vt:lpstr>Slide 8</vt:lpstr>
      <vt:lpstr>Project Metrics</vt:lpstr>
      <vt:lpstr>Slide 10</vt:lpstr>
      <vt:lpstr>Slide 11</vt:lpstr>
      <vt:lpstr>Slide 12</vt:lpstr>
      <vt:lpstr>Slide 13</vt:lpstr>
      <vt:lpstr>Process Metrics</vt:lpstr>
      <vt:lpstr>Slide 15</vt:lpstr>
      <vt:lpstr>Slide 16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 M Viswa Bharathy</dc:creator>
  <cp:lastModifiedBy>MRCET</cp:lastModifiedBy>
  <cp:revision>43</cp:revision>
  <dcterms:created xsi:type="dcterms:W3CDTF">2006-08-16T00:00:00Z</dcterms:created>
  <dcterms:modified xsi:type="dcterms:W3CDTF">2021-11-09T05:36:11Z</dcterms:modified>
</cp:coreProperties>
</file>
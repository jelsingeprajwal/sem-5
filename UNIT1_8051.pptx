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notesMasterIdLst>
    <p:notesMasterId r:id="rId81"/>
  </p:notesMasterIdLst>
  <p:sldIdLst>
    <p:sldId id="262" r:id="rId2"/>
    <p:sldId id="397" r:id="rId3"/>
    <p:sldId id="398" r:id="rId4"/>
    <p:sldId id="378" r:id="rId5"/>
    <p:sldId id="379" r:id="rId6"/>
    <p:sldId id="384" r:id="rId7"/>
    <p:sldId id="382" r:id="rId8"/>
    <p:sldId id="385" r:id="rId9"/>
    <p:sldId id="449" r:id="rId10"/>
    <p:sldId id="450" r:id="rId11"/>
    <p:sldId id="451" r:id="rId12"/>
    <p:sldId id="452" r:id="rId13"/>
    <p:sldId id="453" r:id="rId14"/>
    <p:sldId id="440" r:id="rId15"/>
    <p:sldId id="399" r:id="rId16"/>
    <p:sldId id="446" r:id="rId17"/>
    <p:sldId id="447" r:id="rId18"/>
    <p:sldId id="448" r:id="rId19"/>
    <p:sldId id="368" r:id="rId20"/>
    <p:sldId id="369" r:id="rId21"/>
    <p:sldId id="367" r:id="rId22"/>
    <p:sldId id="357" r:id="rId23"/>
    <p:sldId id="371" r:id="rId24"/>
    <p:sldId id="396" r:id="rId25"/>
    <p:sldId id="483" r:id="rId26"/>
    <p:sldId id="484" r:id="rId27"/>
    <p:sldId id="485" r:id="rId28"/>
    <p:sldId id="486" r:id="rId29"/>
    <p:sldId id="487" r:id="rId30"/>
    <p:sldId id="498" r:id="rId31"/>
    <p:sldId id="488" r:id="rId32"/>
    <p:sldId id="489" r:id="rId33"/>
    <p:sldId id="490" r:id="rId34"/>
    <p:sldId id="491" r:id="rId35"/>
    <p:sldId id="492" r:id="rId36"/>
    <p:sldId id="493" r:id="rId37"/>
    <p:sldId id="494" r:id="rId38"/>
    <p:sldId id="495" r:id="rId39"/>
    <p:sldId id="496" r:id="rId40"/>
    <p:sldId id="497" r:id="rId41"/>
    <p:sldId id="437" r:id="rId42"/>
    <p:sldId id="436" r:id="rId43"/>
    <p:sldId id="422" r:id="rId44"/>
    <p:sldId id="425" r:id="rId45"/>
    <p:sldId id="372" r:id="rId46"/>
    <p:sldId id="373" r:id="rId47"/>
    <p:sldId id="374" r:id="rId48"/>
    <p:sldId id="375" r:id="rId49"/>
    <p:sldId id="376" r:id="rId50"/>
    <p:sldId id="377" r:id="rId51"/>
    <p:sldId id="454" r:id="rId52"/>
    <p:sldId id="455" r:id="rId53"/>
    <p:sldId id="456" r:id="rId54"/>
    <p:sldId id="457" r:id="rId55"/>
    <p:sldId id="458" r:id="rId56"/>
    <p:sldId id="459" r:id="rId57"/>
    <p:sldId id="460" r:id="rId58"/>
    <p:sldId id="461" r:id="rId59"/>
    <p:sldId id="462" r:id="rId60"/>
    <p:sldId id="463" r:id="rId61"/>
    <p:sldId id="464" r:id="rId62"/>
    <p:sldId id="465" r:id="rId63"/>
    <p:sldId id="466" r:id="rId64"/>
    <p:sldId id="467" r:id="rId65"/>
    <p:sldId id="468" r:id="rId66"/>
    <p:sldId id="469" r:id="rId67"/>
    <p:sldId id="470" r:id="rId68"/>
    <p:sldId id="471" r:id="rId69"/>
    <p:sldId id="472" r:id="rId70"/>
    <p:sldId id="473" r:id="rId71"/>
    <p:sldId id="474" r:id="rId72"/>
    <p:sldId id="475" r:id="rId73"/>
    <p:sldId id="476" r:id="rId74"/>
    <p:sldId id="477" r:id="rId75"/>
    <p:sldId id="478" r:id="rId76"/>
    <p:sldId id="479" r:id="rId77"/>
    <p:sldId id="480" r:id="rId78"/>
    <p:sldId id="481" r:id="rId79"/>
    <p:sldId id="482" r:id="rId8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imes New Roman" pitchFamily="18" charset="0"/>
        <a:ea typeface="+mn-ea"/>
        <a:cs typeface="Times New Roman" pitchFamily="18" charset="0"/>
      </a:defRPr>
    </a:lvl1pPr>
    <a:lvl2pPr marL="457200" algn="l" rtl="0" fontAlgn="base">
      <a:spcBef>
        <a:spcPct val="0"/>
      </a:spcBef>
      <a:spcAft>
        <a:spcPct val="0"/>
      </a:spcAft>
      <a:defRPr kern="1200">
        <a:solidFill>
          <a:schemeClr val="tx1"/>
        </a:solidFill>
        <a:latin typeface="Times New Roman" pitchFamily="18" charset="0"/>
        <a:ea typeface="+mn-ea"/>
        <a:cs typeface="Times New Roman" pitchFamily="18" charset="0"/>
      </a:defRPr>
    </a:lvl2pPr>
    <a:lvl3pPr marL="914400" algn="l" rtl="0" fontAlgn="base">
      <a:spcBef>
        <a:spcPct val="0"/>
      </a:spcBef>
      <a:spcAft>
        <a:spcPct val="0"/>
      </a:spcAft>
      <a:defRPr kern="1200">
        <a:solidFill>
          <a:schemeClr val="tx1"/>
        </a:solidFill>
        <a:latin typeface="Times New Roman" pitchFamily="18" charset="0"/>
        <a:ea typeface="+mn-ea"/>
        <a:cs typeface="Times New Roman" pitchFamily="18" charset="0"/>
      </a:defRPr>
    </a:lvl3pPr>
    <a:lvl4pPr marL="1371600" algn="l" rtl="0" fontAlgn="base">
      <a:spcBef>
        <a:spcPct val="0"/>
      </a:spcBef>
      <a:spcAft>
        <a:spcPct val="0"/>
      </a:spcAft>
      <a:defRPr kern="1200">
        <a:solidFill>
          <a:schemeClr val="tx1"/>
        </a:solidFill>
        <a:latin typeface="Times New Roman" pitchFamily="18" charset="0"/>
        <a:ea typeface="+mn-ea"/>
        <a:cs typeface="Times New Roman" pitchFamily="18" charset="0"/>
      </a:defRPr>
    </a:lvl4pPr>
    <a:lvl5pPr marL="1828800" algn="l" rtl="0" fontAlgn="base">
      <a:spcBef>
        <a:spcPct val="0"/>
      </a:spcBef>
      <a:spcAft>
        <a:spcPct val="0"/>
      </a:spcAft>
      <a:defRPr kern="1200">
        <a:solidFill>
          <a:schemeClr val="tx1"/>
        </a:solidFill>
        <a:latin typeface="Times New Roman" pitchFamily="18" charset="0"/>
        <a:ea typeface="+mn-ea"/>
        <a:cs typeface="Times New Roman" pitchFamily="18" charset="0"/>
      </a:defRPr>
    </a:lvl5pPr>
    <a:lvl6pPr marL="2286000" algn="l" defTabSz="914400" rtl="0" eaLnBrk="1" latinLnBrk="0" hangingPunct="1">
      <a:defRPr kern="1200">
        <a:solidFill>
          <a:schemeClr val="tx1"/>
        </a:solidFill>
        <a:latin typeface="Times New Roman" pitchFamily="18" charset="0"/>
        <a:ea typeface="+mn-ea"/>
        <a:cs typeface="Times New Roman" pitchFamily="18" charset="0"/>
      </a:defRPr>
    </a:lvl6pPr>
    <a:lvl7pPr marL="2743200" algn="l" defTabSz="914400" rtl="0" eaLnBrk="1" latinLnBrk="0" hangingPunct="1">
      <a:defRPr kern="1200">
        <a:solidFill>
          <a:schemeClr val="tx1"/>
        </a:solidFill>
        <a:latin typeface="Times New Roman" pitchFamily="18" charset="0"/>
        <a:ea typeface="+mn-ea"/>
        <a:cs typeface="Times New Roman" pitchFamily="18" charset="0"/>
      </a:defRPr>
    </a:lvl7pPr>
    <a:lvl8pPr marL="3200400" algn="l" defTabSz="914400" rtl="0" eaLnBrk="1" latinLnBrk="0" hangingPunct="1">
      <a:defRPr kern="1200">
        <a:solidFill>
          <a:schemeClr val="tx1"/>
        </a:solidFill>
        <a:latin typeface="Times New Roman" pitchFamily="18" charset="0"/>
        <a:ea typeface="+mn-ea"/>
        <a:cs typeface="Times New Roman" pitchFamily="18" charset="0"/>
      </a:defRPr>
    </a:lvl8pPr>
    <a:lvl9pPr marL="3657600" algn="l" defTabSz="914400" rtl="0" eaLnBrk="1" latinLnBrk="0" hangingPunct="1">
      <a:defRPr kern="1200">
        <a:solidFill>
          <a:schemeClr val="tx1"/>
        </a:solidFill>
        <a:latin typeface="Times New Roman" pitchFamily="18" charset="0"/>
        <a:ea typeface="+mn-ea"/>
        <a:cs typeface="Times New Roman" pitchFamily="18"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FFFF00"/>
    <a:srgbClr val="FF0000"/>
    <a:srgbClr val="000000"/>
    <a:srgbClr val="A4C7FA"/>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21" autoAdjust="0"/>
    <p:restoredTop sz="94660" autoAdjust="0"/>
  </p:normalViewPr>
  <p:slideViewPr>
    <p:cSldViewPr>
      <p:cViewPr varScale="1">
        <p:scale>
          <a:sx n="69" d="100"/>
          <a:sy n="69" d="100"/>
        </p:scale>
        <p:origin x="-141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092"/>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image" Target="../media/image47.jpe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cs typeface="Arial" pitchFamily="34" charset="0"/>
              </a:defRPr>
            </a:lvl1pPr>
          </a:lstStyle>
          <a:p>
            <a:pPr>
              <a:defRPr/>
            </a:pPr>
            <a:endParaRPr lang="en-US"/>
          </a:p>
        </p:txBody>
      </p:sp>
      <p:sp>
        <p:nvSpPr>
          <p:cNvPr id="1105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cs typeface="Arial" pitchFamily="34" charset="0"/>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105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05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cs typeface="Arial" pitchFamily="34" charset="0"/>
              </a:defRPr>
            </a:lvl1pPr>
          </a:lstStyle>
          <a:p>
            <a:pPr>
              <a:defRPr/>
            </a:pPr>
            <a:endParaRPr lang="en-US"/>
          </a:p>
        </p:txBody>
      </p:sp>
      <p:sp>
        <p:nvSpPr>
          <p:cNvPr id="1105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34" charset="0"/>
                <a:cs typeface="Arial" pitchFamily="34" charset="0"/>
              </a:defRPr>
            </a:lvl1pPr>
          </a:lstStyle>
          <a:p>
            <a:pPr>
              <a:defRPr/>
            </a:pPr>
            <a:fld id="{1CA5584C-CB16-4AF7-8945-6955AE32031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94B6421F-1A41-4EA1-AA19-EEE6E4E57FE2}" type="slidenum">
              <a:rPr lang="en-US" altLang="zh-CN" smtClean="0">
                <a:latin typeface="Arial" charset="0"/>
                <a:cs typeface="Arial" charset="0"/>
              </a:rPr>
              <a:pPr/>
              <a:t>8</a:t>
            </a:fld>
            <a:endParaRPr lang="en-US" altLang="zh-CN" smtClean="0">
              <a:latin typeface="Arial" charset="0"/>
              <a:cs typeface="Arial" charset="0"/>
            </a:endParaRPr>
          </a:p>
        </p:txBody>
      </p:sp>
      <p:sp>
        <p:nvSpPr>
          <p:cNvPr id="44035" name="Slide Image Placeholder 1"/>
          <p:cNvSpPr>
            <a:spLocks noGrp="1" noRot="1" noChangeAspect="1" noTextEdit="1"/>
          </p:cNvSpPr>
          <p:nvPr>
            <p:ph type="sldImg"/>
          </p:nvPr>
        </p:nvSpPr>
        <p:spPr>
          <a:ln/>
        </p:spPr>
      </p:sp>
      <p:sp>
        <p:nvSpPr>
          <p:cNvPr id="44036" name="Notes Placeholder 2"/>
          <p:cNvSpPr>
            <a:spLocks noGrp="1"/>
          </p:cNvSpPr>
          <p:nvPr>
            <p:ph type="body" idx="1"/>
          </p:nvPr>
        </p:nvSpPr>
        <p:spPr>
          <a:noFill/>
          <a:ln/>
        </p:spPr>
        <p:txBody>
          <a:bodyPr/>
          <a:lstStyle/>
          <a:p>
            <a:pPr eaLnBrk="1" hangingPunct="1">
              <a:spcBef>
                <a:spcPct val="0"/>
              </a:spcBef>
            </a:pPr>
            <a:endParaRPr lang="zh-CN" altLang="zh-CN" smtClean="0">
              <a:latin typeface="Arial" charset="0"/>
              <a:cs typeface="Arial" charset="0"/>
            </a:endParaRPr>
          </a:p>
        </p:txBody>
      </p:sp>
      <p:sp>
        <p:nvSpPr>
          <p:cNvPr id="44037"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D4DBAE7D-E5C1-46EA-928F-C215DC3A2C2F}" type="slidenum">
              <a:rPr lang="en-US" altLang="zh-CN" sz="1200">
                <a:latin typeface="Calibri" pitchFamily="34" charset="0"/>
              </a:rPr>
              <a:pPr algn="r"/>
              <a:t>8</a:t>
            </a:fld>
            <a:endParaRPr lang="en-US" altLang="zh-CN" sz="1200">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F5E5368-DAFE-459F-8D65-481D3E9EC099}"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lvl1pPr>
              <a:defRPr/>
            </a:lvl1pPr>
          </a:lstStyle>
          <a:p>
            <a:pPr>
              <a:defRPr/>
            </a:pPr>
            <a:fld id="{E06337E7-7C2B-4182-8757-64ACC983A25F}" type="slidenum">
              <a:rPr lang="en-US"/>
              <a:pPr>
                <a:defRPr/>
              </a:pPr>
              <a:t>‹#›</a:t>
            </a:fld>
            <a:endParaRPr lang="en-US"/>
          </a:p>
        </p:txBody>
      </p:sp>
    </p:spTree>
  </p:cSld>
  <p:clrMapOvr>
    <a:masterClrMapping/>
  </p:clrMapOvr>
  <p:transition>
    <p:spli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lvl1pPr>
              <a:defRPr/>
            </a:lvl1pPr>
          </a:lstStyle>
          <a:p>
            <a:pPr>
              <a:defRPr/>
            </a:pPr>
            <a:fld id="{29365B32-0A66-4572-87C9-59177F07ABFF}" type="slidenum">
              <a:rPr lang="en-US"/>
              <a:pPr>
                <a:defRPr/>
              </a:pPr>
              <a:t>‹#›</a:t>
            </a:fld>
            <a:endParaRPr lang="en-US"/>
          </a:p>
        </p:txBody>
      </p:sp>
    </p:spTree>
  </p:cSld>
  <p:clrMapOvr>
    <a:masterClrMapping/>
  </p:clrMapOvr>
  <p:transition>
    <p:spli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26301A5D-F1A2-467C-89CB-9D0DF50C717A}"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lvl1pPr>
              <a:defRPr/>
            </a:lvl1pPr>
          </a:lstStyle>
          <a:p>
            <a:pPr>
              <a:defRPr/>
            </a:pPr>
            <a:fld id="{39892974-A7FB-4DE3-BFAC-239ED55CEF8B}" type="slidenum">
              <a:rPr lang="en-US"/>
              <a:pPr>
                <a:defRPr/>
              </a:pPr>
              <a:t>‹#›</a:t>
            </a:fld>
            <a:endParaRPr lang="en-US"/>
          </a:p>
        </p:txBody>
      </p:sp>
    </p:spTree>
  </p:cSld>
  <p:clrMapOvr>
    <a:masterClrMapping/>
  </p:clrMapOvr>
  <p:transition>
    <p:spli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CC5100F-EA58-48DD-9AC3-B801035BC08A}" type="datetime2">
              <a:rPr lang="en-US" smtClean="0"/>
              <a:pPr>
                <a:defRPr/>
              </a:pPr>
              <a:t>Friday, August 27, 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Neha Thakur,ECE,MRCET</a:t>
            </a:r>
            <a:endParaRPr lang="en-US"/>
          </a:p>
        </p:txBody>
      </p:sp>
      <p:sp>
        <p:nvSpPr>
          <p:cNvPr id="7" name="Slide Number Placeholder 5"/>
          <p:cNvSpPr>
            <a:spLocks noGrp="1"/>
          </p:cNvSpPr>
          <p:nvPr>
            <p:ph type="sldNum" sz="quarter" idx="12"/>
          </p:nvPr>
        </p:nvSpPr>
        <p:spPr/>
        <p:txBody>
          <a:bodyPr/>
          <a:lstStyle>
            <a:lvl1pPr>
              <a:defRPr/>
            </a:lvl1pPr>
          </a:lstStyle>
          <a:p>
            <a:pPr>
              <a:defRPr/>
            </a:pPr>
            <a:fld id="{02B6081B-D113-4F04-84A7-CDCB1344B906}" type="slidenum">
              <a:rPr lang="en-US"/>
              <a:pPr>
                <a:defRPr/>
              </a:pPr>
              <a:t>‹#›</a:t>
            </a:fld>
            <a:endParaRPr lang="en-US"/>
          </a:p>
        </p:txBody>
      </p:sp>
    </p:spTree>
  </p:cSld>
  <p:clrMapOvr>
    <a:masterClrMapping/>
  </p:clrMapOvr>
  <p:transition>
    <p:spli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1528650B-783E-42A3-9F23-2C688E5E6B1A}" type="datetime2">
              <a:rPr lang="en-US" smtClean="0"/>
              <a:pPr>
                <a:defRPr/>
              </a:pPr>
              <a:t>Friday, August 27, 2021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Neha Thakur,ECE,MRCET</a:t>
            </a:r>
            <a:endParaRPr lang="en-US"/>
          </a:p>
        </p:txBody>
      </p:sp>
      <p:sp>
        <p:nvSpPr>
          <p:cNvPr id="9" name="Slide Number Placeholder 5"/>
          <p:cNvSpPr>
            <a:spLocks noGrp="1"/>
          </p:cNvSpPr>
          <p:nvPr>
            <p:ph type="sldNum" sz="quarter" idx="12"/>
          </p:nvPr>
        </p:nvSpPr>
        <p:spPr/>
        <p:txBody>
          <a:bodyPr/>
          <a:lstStyle>
            <a:lvl1pPr>
              <a:defRPr/>
            </a:lvl1pPr>
          </a:lstStyle>
          <a:p>
            <a:pPr>
              <a:defRPr/>
            </a:pPr>
            <a:fld id="{C9DE7F78-CB0C-4721-A3D5-46B5DC6B6D81}" type="slidenum">
              <a:rPr lang="en-US"/>
              <a:pPr>
                <a:defRPr/>
              </a:pPr>
              <a:t>‹#›</a:t>
            </a:fld>
            <a:endParaRPr lang="en-US"/>
          </a:p>
        </p:txBody>
      </p:sp>
    </p:spTree>
  </p:cSld>
  <p:clrMapOvr>
    <a:masterClrMapping/>
  </p:clrMapOvr>
  <p:transition>
    <p:spli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13819384-3B9F-4AA3-9EF9-45F415AEEC75}" type="datetime2">
              <a:rPr lang="en-US" smtClean="0"/>
              <a:pPr>
                <a:defRPr/>
              </a:pPr>
              <a:t>Friday, August 27, 2021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Neha Thakur,ECE,MRCET</a:t>
            </a:r>
            <a:endParaRPr lang="en-US"/>
          </a:p>
        </p:txBody>
      </p:sp>
      <p:sp>
        <p:nvSpPr>
          <p:cNvPr id="5" name="Slide Number Placeholder 5"/>
          <p:cNvSpPr>
            <a:spLocks noGrp="1"/>
          </p:cNvSpPr>
          <p:nvPr>
            <p:ph type="sldNum" sz="quarter" idx="12"/>
          </p:nvPr>
        </p:nvSpPr>
        <p:spPr/>
        <p:txBody>
          <a:bodyPr/>
          <a:lstStyle>
            <a:lvl1pPr>
              <a:defRPr/>
            </a:lvl1pPr>
          </a:lstStyle>
          <a:p>
            <a:pPr>
              <a:defRPr/>
            </a:pPr>
            <a:fld id="{90735788-BFEF-4612-9E0E-42C9D4C71D02}" type="slidenum">
              <a:rPr lang="en-US"/>
              <a:pPr>
                <a:defRPr/>
              </a:pPr>
              <a:t>‹#›</a:t>
            </a:fld>
            <a:endParaRPr lang="en-US"/>
          </a:p>
        </p:txBody>
      </p:sp>
    </p:spTree>
  </p:cSld>
  <p:clrMapOvr>
    <a:masterClrMapping/>
  </p:clrMapOvr>
  <p:transition>
    <p:spli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318AB21-E41C-4B92-A7AA-CD3096D4BA87}" type="datetime2">
              <a:rPr lang="en-US" smtClean="0"/>
              <a:pPr>
                <a:defRPr/>
              </a:pPr>
              <a:t>Friday, August 27, 2021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Neha Thakur,ECE,MRCET</a:t>
            </a:r>
            <a:endParaRPr lang="en-US"/>
          </a:p>
        </p:txBody>
      </p:sp>
      <p:sp>
        <p:nvSpPr>
          <p:cNvPr id="4" name="Slide Number Placeholder 5"/>
          <p:cNvSpPr>
            <a:spLocks noGrp="1"/>
          </p:cNvSpPr>
          <p:nvPr>
            <p:ph type="sldNum" sz="quarter" idx="12"/>
          </p:nvPr>
        </p:nvSpPr>
        <p:spPr/>
        <p:txBody>
          <a:bodyPr/>
          <a:lstStyle>
            <a:lvl1pPr>
              <a:defRPr/>
            </a:lvl1pPr>
          </a:lstStyle>
          <a:p>
            <a:pPr>
              <a:defRPr/>
            </a:pPr>
            <a:fld id="{0806EE18-6C0D-48EE-B7B6-5B85C7C6CF6D}" type="slidenum">
              <a:rPr lang="en-US"/>
              <a:pPr>
                <a:defRPr/>
              </a:pPr>
              <a:t>‹#›</a:t>
            </a:fld>
            <a:endParaRPr lang="en-US"/>
          </a:p>
        </p:txBody>
      </p:sp>
    </p:spTree>
  </p:cSld>
  <p:clrMapOvr>
    <a:masterClrMapping/>
  </p:clrMapOvr>
  <p:transition>
    <p:spli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4539169-6859-45FB-BEB2-3308D7D1B93C}" type="datetime2">
              <a:rPr lang="en-US" smtClean="0"/>
              <a:pPr>
                <a:defRPr/>
              </a:pPr>
              <a:t>Friday, August 27, 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Neha Thakur,ECE,MRCET</a:t>
            </a:r>
            <a:endParaRPr lang="en-US"/>
          </a:p>
        </p:txBody>
      </p:sp>
      <p:sp>
        <p:nvSpPr>
          <p:cNvPr id="7" name="Slide Number Placeholder 5"/>
          <p:cNvSpPr>
            <a:spLocks noGrp="1"/>
          </p:cNvSpPr>
          <p:nvPr>
            <p:ph type="sldNum" sz="quarter" idx="12"/>
          </p:nvPr>
        </p:nvSpPr>
        <p:spPr/>
        <p:txBody>
          <a:bodyPr/>
          <a:lstStyle>
            <a:lvl1pPr>
              <a:defRPr/>
            </a:lvl1pPr>
          </a:lstStyle>
          <a:p>
            <a:pPr>
              <a:defRPr/>
            </a:pPr>
            <a:fld id="{65801ADF-1F81-495F-A317-93D40873645B}" type="slidenum">
              <a:rPr lang="en-US"/>
              <a:pPr>
                <a:defRPr/>
              </a:pPr>
              <a:t>‹#›</a:t>
            </a:fld>
            <a:endParaRPr lang="en-US"/>
          </a:p>
        </p:txBody>
      </p:sp>
    </p:spTree>
  </p:cSld>
  <p:clrMapOvr>
    <a:masterClrMapping/>
  </p:clrMapOvr>
  <p:transition>
    <p:spli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0AD198E-4801-44B1-9490-75BA31F08723}" type="datetime2">
              <a:rPr lang="en-US" smtClean="0"/>
              <a:pPr>
                <a:defRPr/>
              </a:pPr>
              <a:t>Friday, August 27, 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Neha Thakur,ECE,MRCET</a:t>
            </a:r>
            <a:endParaRPr lang="en-US"/>
          </a:p>
        </p:txBody>
      </p:sp>
      <p:sp>
        <p:nvSpPr>
          <p:cNvPr id="7" name="Slide Number Placeholder 5"/>
          <p:cNvSpPr>
            <a:spLocks noGrp="1"/>
          </p:cNvSpPr>
          <p:nvPr>
            <p:ph type="sldNum" sz="quarter" idx="12"/>
          </p:nvPr>
        </p:nvSpPr>
        <p:spPr/>
        <p:txBody>
          <a:bodyPr/>
          <a:lstStyle>
            <a:lvl1pPr>
              <a:defRPr/>
            </a:lvl1pPr>
          </a:lstStyle>
          <a:p>
            <a:pPr>
              <a:defRPr/>
            </a:pPr>
            <a:fld id="{86542C12-6F36-41C6-9BB2-D0C5BCB2643B}" type="slidenum">
              <a:rPr lang="en-US"/>
              <a:pPr>
                <a:defRPr/>
              </a:pPr>
              <a:t>‹#›</a:t>
            </a:fld>
            <a:endParaRPr lang="en-US"/>
          </a:p>
        </p:txBody>
      </p:sp>
    </p:spTree>
  </p:cSld>
  <p:clrMapOvr>
    <a:masterClrMapping/>
  </p:clrMapOvr>
  <p:transition>
    <p:spli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FD7B4C2-92D2-4F52-B9E2-3BD2EEF51E1E}"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lvl1pPr>
              <a:defRPr/>
            </a:lvl1pPr>
          </a:lstStyle>
          <a:p>
            <a:pPr>
              <a:defRPr/>
            </a:pPr>
            <a:fld id="{1B4BD82D-A9B8-4E66-A8E0-BF0293449CFC}" type="slidenum">
              <a:rPr lang="en-US"/>
              <a:pPr>
                <a:defRPr/>
              </a:pPr>
              <a:t>‹#›</a:t>
            </a:fld>
            <a:endParaRPr lang="en-US"/>
          </a:p>
        </p:txBody>
      </p:sp>
    </p:spTree>
  </p:cSld>
  <p:clrMapOvr>
    <a:masterClrMapping/>
  </p:clrMapOvr>
  <p:transition>
    <p:spli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7A45AB1-8EB9-499A-8235-9A74EECFB82F}"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lvl1pPr>
              <a:defRPr/>
            </a:lvl1pPr>
          </a:lstStyle>
          <a:p>
            <a:pPr>
              <a:defRPr/>
            </a:pPr>
            <a:fld id="{4426A122-8BD7-419F-BA8E-2763087DBA6A}" type="slidenum">
              <a:rPr lang="en-US"/>
              <a:pPr>
                <a:defRPr/>
              </a:pPr>
              <a:t>‹#›</a:t>
            </a:fld>
            <a:endParaRPr lang="en-US"/>
          </a:p>
        </p:txBody>
      </p:sp>
    </p:spTree>
  </p:cSld>
  <p:clrMapOvr>
    <a:masterClrMapping/>
  </p:clrMapOvr>
  <p:transition>
    <p:spli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FD8984F-741F-4289-AAF4-4C127BFC99AC}" type="datetime2">
              <a:rPr lang="en-US" smtClean="0"/>
              <a:pPr>
                <a:defRPr/>
              </a:pPr>
              <a:t>Friday, August 27, 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Neha Thakur,ECE,MRCET</a:t>
            </a:r>
            <a:endParaRPr lang="en-US"/>
          </a:p>
        </p:txBody>
      </p:sp>
      <p:sp>
        <p:nvSpPr>
          <p:cNvPr id="7" name="Slide Number Placeholder 5"/>
          <p:cNvSpPr>
            <a:spLocks noGrp="1"/>
          </p:cNvSpPr>
          <p:nvPr>
            <p:ph type="sldNum" sz="quarter" idx="12"/>
          </p:nvPr>
        </p:nvSpPr>
        <p:spPr/>
        <p:txBody>
          <a:bodyPr/>
          <a:lstStyle>
            <a:lvl1pPr>
              <a:defRPr/>
            </a:lvl1pPr>
          </a:lstStyle>
          <a:p>
            <a:pPr>
              <a:defRPr/>
            </a:pPr>
            <a:fld id="{49277092-F6F8-40C6-A04F-DCD538BC4E4E}" type="slidenum">
              <a:rPr lang="en-US"/>
              <a:pPr>
                <a:defRPr/>
              </a:pPr>
              <a:t>‹#›</a:t>
            </a:fld>
            <a:endParaRPr lang="en-US"/>
          </a:p>
        </p:txBody>
      </p:sp>
    </p:spTree>
  </p:cSld>
  <p:clrMapOvr>
    <a:masterClrMapping/>
  </p:clrMapOvr>
  <p:transition>
    <p:spli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4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14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4407707-DAB4-4FA0-8D66-767ACF3E97C6}" type="datetime2">
              <a:rPr lang="en-US" smtClean="0"/>
              <a:pPr>
                <a:defRPr/>
              </a:pPr>
              <a:t>Friday, August 27, 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smtClean="0"/>
              <a:t>Neha Thakur,ECE,MRCET</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7CE2F25A-EFBF-4883-8509-CF7C94ADB03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transition>
    <p:split/>
  </p:transition>
  <p:timing>
    <p:tnLst>
      <p:par>
        <p:cTn id="1" dur="indefinite" restart="never" nodeType="tmRoot"/>
      </p:par>
    </p:tnLst>
  </p:timing>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s>
</file>

<file path=ppt/slides/_rels/slide3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3.v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5" name="WordArt 5">
            <a:hlinkClick r:id="" action="ppaction://noaction" highlightClick="1"/>
            <a:hlinkHover r:id="" action="ppaction://noaction" highlightClick="1"/>
          </p:cNvPr>
          <p:cNvSpPr>
            <a:spLocks noChangeArrowheads="1" noChangeShapeType="1" noTextEdit="1"/>
          </p:cNvSpPr>
          <p:nvPr/>
        </p:nvSpPr>
        <p:spPr bwMode="auto">
          <a:xfrm>
            <a:off x="1428728" y="1000108"/>
            <a:ext cx="5832475" cy="1079500"/>
          </a:xfrm>
          <a:prstGeom prst="rect">
            <a:avLst/>
          </a:prstGeom>
        </p:spPr>
        <p:txBody>
          <a:bodyPr wrap="none" fromWordArt="1">
            <a:prstTxWarp prst="textDoubleWave1">
              <a:avLst>
                <a:gd name="adj1" fmla="val 6500"/>
                <a:gd name="adj2" fmla="val 0"/>
              </a:avLst>
            </a:prstTxWarp>
            <a:scene3d>
              <a:camera prst="perspectiveLeft"/>
              <a:lightRig rig="glow" dir="tl">
                <a:rot lat="0" lon="0" rev="5400000"/>
              </a:lightRig>
            </a:scene3d>
            <a:sp3d contourW="12700">
              <a:bevelT w="25400" h="25400"/>
              <a:contourClr>
                <a:schemeClr val="accent6">
                  <a:shade val="73000"/>
                </a:schemeClr>
              </a:contourClr>
            </a:sp3d>
          </a:bodyPr>
          <a:lstStyle/>
          <a:p>
            <a:pPr algn="ctr">
              <a:defRPr/>
            </a:pPr>
            <a:endParaRPr lang="en-US" sz="3600" b="1" kern="10" normalizeH="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latin typeface="Impact"/>
            </a:endParaRPr>
          </a:p>
        </p:txBody>
      </p:sp>
      <p:pic>
        <p:nvPicPr>
          <p:cNvPr id="7171" name="Picture 6" descr="BALL"/>
          <p:cNvPicPr>
            <a:picLocks noGrp="1" noChangeAspect="1" noChangeArrowheads="1" noCrop="1"/>
          </p:cNvPicPr>
          <p:nvPr>
            <p:ph sz="half" idx="2"/>
          </p:nvPr>
        </p:nvPicPr>
        <p:blipFill>
          <a:blip r:embed="rId2"/>
          <a:srcRect/>
          <a:stretch>
            <a:fillRect/>
          </a:stretch>
        </p:blipFill>
        <p:spPr>
          <a:xfrm>
            <a:off x="1042988" y="4005263"/>
            <a:ext cx="660400" cy="1008062"/>
          </a:xfrm>
          <a:noFill/>
        </p:spPr>
      </p:pic>
      <p:sp>
        <p:nvSpPr>
          <p:cNvPr id="8" name="Slide Number Placeholder 7"/>
          <p:cNvSpPr>
            <a:spLocks noGrp="1"/>
          </p:cNvSpPr>
          <p:nvPr>
            <p:ph type="sldNum" sz="quarter" idx="12"/>
          </p:nvPr>
        </p:nvSpPr>
        <p:spPr/>
        <p:txBody>
          <a:bodyPr/>
          <a:lstStyle/>
          <a:p>
            <a:pPr>
              <a:defRPr/>
            </a:pPr>
            <a:fld id="{689236D6-C374-453E-9F23-4DFA7C0FA82D}" type="slidenum">
              <a:rPr lang="en-US" smtClean="0"/>
              <a:pPr>
                <a:defRPr/>
              </a:pPr>
              <a:t>1</a:t>
            </a:fld>
            <a:endParaRPr lang="en-US" dirty="0"/>
          </a:p>
        </p:txBody>
      </p:sp>
      <p:sp>
        <p:nvSpPr>
          <p:cNvPr id="9" name="Rectangle 8"/>
          <p:cNvSpPr/>
          <p:nvPr/>
        </p:nvSpPr>
        <p:spPr>
          <a:xfrm>
            <a:off x="571472" y="142852"/>
            <a:ext cx="8001056" cy="2585323"/>
          </a:xfrm>
          <a:prstGeom prst="rect">
            <a:avLst/>
          </a:prstGeom>
          <a:noFill/>
          <a:ln>
            <a:solidFill>
              <a:srgbClr val="FF0000"/>
            </a:solidFill>
          </a:ln>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endParaRPr lang="en-US" sz="5400" b="1" kern="10" normalizeH="1" dirty="0">
              <a:ln w="11430"/>
              <a:solidFill>
                <a:srgbClr val="C00000"/>
              </a:solidFill>
              <a:effectLst>
                <a:glow rad="139700">
                  <a:schemeClr val="accent6">
                    <a:satMod val="175000"/>
                    <a:alpha val="40000"/>
                  </a:schemeClr>
                </a:glow>
                <a:innerShdw blurRad="63500" dist="50800" dir="16200000">
                  <a:prstClr val="black">
                    <a:alpha val="50000"/>
                  </a:prstClr>
                </a:innerShdw>
                <a:reflection blurRad="6350" stA="60000" endA="900" endPos="60000" dist="60007" dir="5400000" sy="-100000" algn="bl" rotWithShape="0"/>
              </a:effectLst>
              <a:latin typeface="Impact"/>
            </a:endParaRPr>
          </a:p>
          <a:p>
            <a:pPr algn="ctr">
              <a:defRPr/>
            </a:pPr>
            <a:r>
              <a:rPr lang="en-US" sz="5400" b="1" kern="10" normalizeH="1" dirty="0">
                <a:ln w="11430"/>
                <a:solidFill>
                  <a:srgbClr val="C00000"/>
                </a:solidFill>
                <a:effectLst>
                  <a:glow rad="139700">
                    <a:schemeClr val="accent6">
                      <a:satMod val="175000"/>
                      <a:alpha val="40000"/>
                    </a:schemeClr>
                  </a:glow>
                  <a:innerShdw blurRad="63500" dist="50800" dir="16200000">
                    <a:prstClr val="black">
                      <a:alpha val="50000"/>
                    </a:prstClr>
                  </a:innerShdw>
                  <a:reflection blurRad="6350" stA="60000" endA="900" endPos="60000" dist="60007" dir="5400000" sy="-100000" algn="bl" rotWithShape="0"/>
                </a:effectLst>
                <a:latin typeface="Impact"/>
              </a:rPr>
              <a:t>8051  Microcontroller</a:t>
            </a:r>
          </a:p>
          <a:p>
            <a:pPr algn="ctr">
              <a:defRPr/>
            </a:pPr>
            <a:endParaRPr lang="en-US" sz="5400" b="1" kern="10" normalizeH="1" dirty="0">
              <a:ln w="11430"/>
              <a:solidFill>
                <a:srgbClr val="C00000"/>
              </a:solidFill>
              <a:effectLst>
                <a:glow rad="139700">
                  <a:schemeClr val="accent6">
                    <a:satMod val="175000"/>
                    <a:alpha val="40000"/>
                  </a:schemeClr>
                </a:glow>
                <a:innerShdw blurRad="63500" dist="50800" dir="16200000">
                  <a:prstClr val="black">
                    <a:alpha val="50000"/>
                  </a:prstClr>
                </a:innerShdw>
                <a:reflection blurRad="6350" stA="60000" endA="900" endPos="60000" dist="60007" dir="5400000" sy="-100000" algn="bl" rotWithShape="0"/>
              </a:effectLst>
              <a:latin typeface="Impact"/>
            </a:endParaRPr>
          </a:p>
        </p:txBody>
      </p:sp>
      <p:pic>
        <p:nvPicPr>
          <p:cNvPr id="7174" name="Picture 8"/>
          <p:cNvPicPr>
            <a:picLocks noChangeAspect="1" noChangeArrowheads="1"/>
          </p:cNvPicPr>
          <p:nvPr/>
        </p:nvPicPr>
        <p:blipFill>
          <a:blip r:embed="rId3"/>
          <a:srcRect/>
          <a:stretch>
            <a:fillRect/>
          </a:stretch>
        </p:blipFill>
        <p:spPr bwMode="auto">
          <a:xfrm>
            <a:off x="1857375" y="3214688"/>
            <a:ext cx="5810250" cy="2857500"/>
          </a:xfrm>
          <a:prstGeom prst="rect">
            <a:avLst/>
          </a:prstGeom>
          <a:blipFill dpi="0" rotWithShape="1">
            <a:blip r:embed="rId4"/>
            <a:srcRect/>
            <a:tile tx="0" ty="0" sx="100000" sy="100000" flip="none" algn="tl"/>
          </a:blipFill>
          <a:ln w="12700">
            <a:solidFill>
              <a:srgbClr val="FF0000"/>
            </a:solidFill>
            <a:miter lim="800000"/>
            <a:headEnd type="none" w="sm" len="sm"/>
            <a:tailEnd type="none" w="sm" len="sm"/>
          </a:ln>
        </p:spPr>
      </p:pic>
      <p:sp>
        <p:nvSpPr>
          <p:cNvPr id="10" name="Rectangle 9"/>
          <p:cNvSpPr/>
          <p:nvPr/>
        </p:nvSpPr>
        <p:spPr>
          <a:xfrm>
            <a:off x="2357422" y="3631172"/>
            <a:ext cx="636264" cy="369332"/>
          </a:xfrm>
          <a:prstGeom prst="rect">
            <a:avLst/>
          </a:prstGeom>
        </p:spPr>
        <p:txBody>
          <a:bodyPr wrap="none">
            <a:spAutoFit/>
          </a:bodyPr>
          <a:lstStyle/>
          <a:p>
            <a:pPr algn="ctr">
              <a:defRPr/>
            </a:pPr>
            <a:r>
              <a:rPr lang="en-US" b="1" kern="10" normalizeH="1" dirty="0">
                <a:ln w="11430"/>
                <a:solidFill>
                  <a:srgbClr val="C00000"/>
                </a:solidFill>
                <a:effectLst>
                  <a:glow rad="139700">
                    <a:schemeClr val="accent6">
                      <a:satMod val="175000"/>
                      <a:alpha val="40000"/>
                    </a:schemeClr>
                  </a:glow>
                  <a:innerShdw blurRad="63500" dist="50800" dir="16200000">
                    <a:prstClr val="black">
                      <a:alpha val="50000"/>
                    </a:prstClr>
                  </a:innerShdw>
                  <a:reflection blurRad="6350" stA="60000" endA="900" endPos="60000" dist="60007" dir="5400000" sy="-100000" algn="bl" rotWithShape="0"/>
                </a:effectLst>
                <a:latin typeface="Impact"/>
              </a:rPr>
              <a:t>8051</a:t>
            </a:r>
          </a:p>
        </p:txBody>
      </p:sp>
      <p:sp>
        <p:nvSpPr>
          <p:cNvPr id="11" name="Date Placeholder 10"/>
          <p:cNvSpPr>
            <a:spLocks noGrp="1"/>
          </p:cNvSpPr>
          <p:nvPr>
            <p:ph type="dt" sz="half" idx="10"/>
          </p:nvPr>
        </p:nvSpPr>
        <p:spPr/>
        <p:txBody>
          <a:bodyPr/>
          <a:lstStyle/>
          <a:p>
            <a:pPr>
              <a:defRPr/>
            </a:pPr>
            <a:fld id="{EC0F6337-AEB6-4BA4-B8DE-5185753F7956}" type="datetime2">
              <a:rPr lang="en-US" smtClean="0"/>
              <a:pPr>
                <a:defRPr/>
              </a:pPr>
              <a:t>Friday, August 27, 2021</a:t>
            </a:fld>
            <a:endParaRPr lang="en-US"/>
          </a:p>
        </p:txBody>
      </p:sp>
      <p:sp>
        <p:nvSpPr>
          <p:cNvPr id="12" name="Footer Placeholder 11"/>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6"/>
          <p:cNvSpPr>
            <a:spLocks noGrp="1"/>
          </p:cNvSpPr>
          <p:nvPr>
            <p:ph type="ctrTitle"/>
          </p:nvPr>
        </p:nvSpPr>
        <p:spPr>
          <a:xfrm>
            <a:off x="685800" y="71438"/>
            <a:ext cx="7772400" cy="2428875"/>
          </a:xfrm>
          <a:solidFill>
            <a:schemeClr val="bg1">
              <a:lumMod val="75000"/>
            </a:schemeClr>
          </a:solidFill>
          <a:ln>
            <a:solidFill>
              <a:srgbClr val="FF0000"/>
            </a:solidFill>
          </a:ln>
        </p:spPr>
        <p:txBody>
          <a:bodyPr rtlCol="0">
            <a:normAutofit/>
          </a:bodyPr>
          <a:lstStyle/>
          <a:p>
            <a:pPr algn="just" eaLnBrk="1" fontAlgn="auto" hangingPunct="1">
              <a:spcAft>
                <a:spcPts val="0"/>
              </a:spcAft>
              <a:defRPr/>
            </a:pPr>
            <a:r>
              <a:rPr lang="en-US" sz="3200" dirty="0" smtClean="0">
                <a:solidFill>
                  <a:srgbClr val="0070C0"/>
                </a:solidFill>
              </a:rPr>
              <a:t>Definition: </a:t>
            </a:r>
            <a:r>
              <a:rPr lang="en-US" sz="2800" dirty="0" smtClean="0"/>
              <a:t>A single chip that contains the processor (the CPU), non-volatile memory for the program (ROM or flash), volatile memory for input and output (RAM), a clock and an I/O control unit. Also called a "</a:t>
            </a:r>
            <a:r>
              <a:rPr lang="en-US" sz="2800" dirty="0" smtClean="0">
                <a:solidFill>
                  <a:srgbClr val="00B050"/>
                </a:solidFill>
              </a:rPr>
              <a:t>computer on a chip</a:t>
            </a:r>
            <a:r>
              <a:rPr lang="en-US" sz="2800" dirty="0" smtClean="0"/>
              <a:t>,"</a:t>
            </a:r>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FBD1B91B-0911-4D44-881B-D07BB3EF7415}" type="slidenum">
              <a:rPr lang="en-US"/>
              <a:pPr>
                <a:defRPr/>
              </a:pPr>
              <a:t>2</a:t>
            </a:fld>
            <a:endParaRPr lang="en-US"/>
          </a:p>
        </p:txBody>
      </p:sp>
      <p:pic>
        <p:nvPicPr>
          <p:cNvPr id="9221" name="Picture 2"/>
          <p:cNvPicPr>
            <a:picLocks noChangeAspect="1" noChangeArrowheads="1"/>
          </p:cNvPicPr>
          <p:nvPr/>
        </p:nvPicPr>
        <p:blipFill>
          <a:blip r:embed="rId2"/>
          <a:srcRect/>
          <a:stretch>
            <a:fillRect/>
          </a:stretch>
        </p:blipFill>
        <p:spPr bwMode="auto">
          <a:xfrm>
            <a:off x="2071692" y="2657498"/>
            <a:ext cx="5429266" cy="3986212"/>
          </a:xfrm>
          <a:prstGeom prst="rect">
            <a:avLst/>
          </a:prstGeom>
          <a:noFill/>
          <a:ln w="12700">
            <a:noFill/>
            <a:miter lim="800000"/>
            <a:headEnd type="none" w="sm" len="sm"/>
            <a:tailEnd type="none" w="sm" len="sm"/>
          </a:ln>
          <a:effectLst>
            <a:glow rad="139700">
              <a:schemeClr val="accent2">
                <a:satMod val="175000"/>
                <a:alpha val="40000"/>
              </a:schemeClr>
            </a:glow>
          </a:effectLst>
        </p:spPr>
      </p:pic>
      <p:sp>
        <p:nvSpPr>
          <p:cNvPr id="7" name="Date Placeholder 6"/>
          <p:cNvSpPr>
            <a:spLocks noGrp="1"/>
          </p:cNvSpPr>
          <p:nvPr>
            <p:ph type="dt" sz="half" idx="10"/>
          </p:nvPr>
        </p:nvSpPr>
        <p:spPr/>
        <p:txBody>
          <a:bodyPr/>
          <a:lstStyle/>
          <a:p>
            <a:pPr>
              <a:defRPr/>
            </a:pPr>
            <a:fld id="{99A0350B-F83B-4697-AD60-E70DA85415CF}" type="datetime2">
              <a:rPr lang="en-US" smtClean="0"/>
              <a:pPr>
                <a:defRPr/>
              </a:pPr>
              <a:t>Friday, August 27, 2021</a:t>
            </a:fld>
            <a:endParaRPr lang="en-US"/>
          </a:p>
        </p:txBody>
      </p:sp>
    </p:spTree>
  </p:cSld>
  <p:clrMapOvr>
    <a:masterClrMapping/>
  </p:clrMapOvr>
  <p:transition>
    <p:spli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2500313"/>
            <a:ext cx="8229600" cy="1143000"/>
          </a:xfrm>
          <a:solidFill>
            <a:schemeClr val="bg1">
              <a:lumMod val="75000"/>
            </a:schemeClr>
          </a:solidFill>
          <a:ln>
            <a:solidFill>
              <a:srgbClr val="FF0000"/>
            </a:solidFill>
          </a:ln>
        </p:spPr>
        <p:txBody>
          <a:bodyPr rtlCol="0">
            <a:normAutofit/>
          </a:bodyPr>
          <a:lstStyle/>
          <a:p>
            <a:pPr eaLnBrk="1" fontAlgn="auto" hangingPunct="1">
              <a:spcAft>
                <a:spcPts val="0"/>
              </a:spcAft>
              <a:defRPr/>
            </a:pPr>
            <a:r>
              <a:rPr lang="en-US" altLang="zh-TW" sz="4000" dirty="0" smtClean="0"/>
              <a:t>Microcontroller </a:t>
            </a:r>
            <a:r>
              <a:rPr lang="en-US" altLang="zh-TW" sz="4000" dirty="0" smtClean="0">
                <a:solidFill>
                  <a:srgbClr val="FF0000"/>
                </a:solidFill>
              </a:rPr>
              <a:t>vs</a:t>
            </a:r>
            <a:r>
              <a:rPr lang="en-US" altLang="zh-TW" sz="4000" dirty="0" smtClean="0"/>
              <a:t>. Microprocessors</a:t>
            </a:r>
          </a:p>
        </p:txBody>
      </p:sp>
      <p:sp>
        <p:nvSpPr>
          <p:cNvPr id="3" name="Date Placeholder 2"/>
          <p:cNvSpPr>
            <a:spLocks noGrp="1"/>
          </p:cNvSpPr>
          <p:nvPr>
            <p:ph type="dt" sz="half" idx="10"/>
          </p:nvPr>
        </p:nvSpPr>
        <p:spPr/>
        <p:txBody>
          <a:bodyPr/>
          <a:lstStyle/>
          <a:p>
            <a:pPr>
              <a:defRPr/>
            </a:pPr>
            <a:fld id="{8B2841C5-DD9F-4613-9D5A-877D2163CC63}"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90735788-BFEF-4612-9E0E-42C9D4C71D02}"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9"/>
          <p:cNvSpPr>
            <a:spLocks noChangeArrowheads="1"/>
          </p:cNvSpPr>
          <p:nvPr/>
        </p:nvSpPr>
        <p:spPr bwMode="auto">
          <a:xfrm>
            <a:off x="214313" y="5072063"/>
            <a:ext cx="3995737" cy="1311275"/>
          </a:xfrm>
          <a:prstGeom prst="rect">
            <a:avLst/>
          </a:prstGeom>
          <a:noFill/>
          <a:ln w="12700" cap="sq">
            <a:noFill/>
            <a:miter lim="800000"/>
            <a:headEnd type="none" w="sm" len="sm"/>
            <a:tailEnd type="none" w="sm" len="sm"/>
          </a:ln>
        </p:spPr>
        <p:txBody>
          <a:bodyPr>
            <a:spAutoFit/>
          </a:bodyPr>
          <a:lstStyle/>
          <a:p>
            <a:pPr marL="457200" indent="-457200">
              <a:buFontTx/>
              <a:buAutoNum type="arabicPeriod"/>
            </a:pPr>
            <a:r>
              <a:rPr lang="en-US" altLang="zh-TW" sz="2000"/>
              <a:t>A smaller computer</a:t>
            </a:r>
          </a:p>
          <a:p>
            <a:pPr marL="457200" indent="-457200">
              <a:buFontTx/>
              <a:buAutoNum type="arabicPeriod"/>
            </a:pPr>
            <a:r>
              <a:rPr lang="en-US" altLang="zh-TW" sz="2000"/>
              <a:t>On-chip RAM, ROM, I/O ports...</a:t>
            </a:r>
          </a:p>
          <a:p>
            <a:pPr marL="457200" indent="-457200">
              <a:buFontTx/>
              <a:buAutoNum type="arabicPeriod"/>
            </a:pPr>
            <a:r>
              <a:rPr lang="en-US" altLang="zh-TW" sz="2000"/>
              <a:t>Example: Motorola’s 6811, Intel’s 8051, Zilog’s Z8 and PIC</a:t>
            </a:r>
            <a:endParaRPr lang="en-US" sz="2000"/>
          </a:p>
        </p:txBody>
      </p:sp>
      <p:sp>
        <p:nvSpPr>
          <p:cNvPr id="10243" name="Rectangle 10"/>
          <p:cNvSpPr>
            <a:spLocks noChangeArrowheads="1"/>
          </p:cNvSpPr>
          <p:nvPr/>
        </p:nvSpPr>
        <p:spPr bwMode="auto">
          <a:xfrm>
            <a:off x="4246563" y="5143500"/>
            <a:ext cx="4897437" cy="1006475"/>
          </a:xfrm>
          <a:prstGeom prst="rect">
            <a:avLst/>
          </a:prstGeom>
          <a:noFill/>
          <a:ln w="12700" cap="sq">
            <a:noFill/>
            <a:miter lim="800000"/>
            <a:headEnd type="none" w="sm" len="sm"/>
            <a:tailEnd type="none" w="sm" len="sm"/>
          </a:ln>
        </p:spPr>
        <p:txBody>
          <a:bodyPr>
            <a:spAutoFit/>
          </a:bodyPr>
          <a:lstStyle/>
          <a:p>
            <a:pPr marL="457200" indent="-457200">
              <a:buFontTx/>
              <a:buAutoNum type="arabicPeriod"/>
            </a:pPr>
            <a:r>
              <a:rPr lang="en-US" altLang="zh-TW" sz="2000"/>
              <a:t>CPU for Computers</a:t>
            </a:r>
          </a:p>
          <a:p>
            <a:pPr marL="457200" indent="-457200">
              <a:buFontTx/>
              <a:buAutoNum type="arabicPeriod"/>
            </a:pPr>
            <a:r>
              <a:rPr lang="en-US" altLang="zh-TW" sz="2000"/>
              <a:t>No RAM, ROM, I/O on CPU chip itself</a:t>
            </a:r>
          </a:p>
          <a:p>
            <a:pPr marL="457200" indent="-457200">
              <a:buFontTx/>
              <a:buAutoNum type="arabicPeriod"/>
            </a:pPr>
            <a:r>
              <a:rPr lang="en-US" altLang="zh-TW" sz="2000"/>
              <a:t>Example: Intel’s x86, Motorola’s 680x0</a:t>
            </a:r>
            <a:endParaRPr lang="en-US" sz="2000"/>
          </a:p>
        </p:txBody>
      </p:sp>
      <p:sp>
        <p:nvSpPr>
          <p:cNvPr id="9" name="Slide Number Placeholder 8"/>
          <p:cNvSpPr>
            <a:spLocks noGrp="1"/>
          </p:cNvSpPr>
          <p:nvPr>
            <p:ph type="sldNum" sz="quarter" idx="12"/>
          </p:nvPr>
        </p:nvSpPr>
        <p:spPr/>
        <p:txBody>
          <a:bodyPr/>
          <a:lstStyle/>
          <a:p>
            <a:pPr>
              <a:defRPr/>
            </a:pPr>
            <a:fld id="{AECF7518-9C62-42EB-A1B3-85A5DC7502C0}" type="slidenum">
              <a:rPr lang="en-US"/>
              <a:pPr>
                <a:defRPr/>
              </a:pPr>
              <a:t>4</a:t>
            </a:fld>
            <a:endParaRPr lang="en-US"/>
          </a:p>
        </p:txBody>
      </p:sp>
      <p:pic>
        <p:nvPicPr>
          <p:cNvPr id="11270" name="Picture 2"/>
          <p:cNvPicPr>
            <a:picLocks noChangeAspect="1" noChangeArrowheads="1"/>
          </p:cNvPicPr>
          <p:nvPr/>
        </p:nvPicPr>
        <p:blipFill>
          <a:blip r:embed="rId2"/>
          <a:srcRect/>
          <a:stretch>
            <a:fillRect/>
          </a:stretch>
        </p:blipFill>
        <p:spPr bwMode="auto">
          <a:xfrm>
            <a:off x="571472" y="142885"/>
            <a:ext cx="8143875" cy="4714875"/>
          </a:xfrm>
          <a:prstGeom prst="rect">
            <a:avLst/>
          </a:prstGeom>
          <a:noFill/>
          <a:ln w="9525">
            <a:solidFill>
              <a:srgbClr val="FF0000"/>
            </a:solidFill>
            <a:miter lim="800000"/>
            <a:headEnd/>
            <a:tailEnd/>
          </a:ln>
          <a:effectLst>
            <a:glow rad="228600">
              <a:schemeClr val="accent2">
                <a:satMod val="175000"/>
                <a:alpha val="40000"/>
              </a:schemeClr>
            </a:glow>
          </a:effectLst>
        </p:spPr>
      </p:pic>
      <p:sp>
        <p:nvSpPr>
          <p:cNvPr id="6" name="Date Placeholder 5"/>
          <p:cNvSpPr>
            <a:spLocks noGrp="1"/>
          </p:cNvSpPr>
          <p:nvPr>
            <p:ph type="dt" sz="half" idx="10"/>
          </p:nvPr>
        </p:nvSpPr>
        <p:spPr/>
        <p:txBody>
          <a:bodyPr/>
          <a:lstStyle/>
          <a:p>
            <a:pPr>
              <a:defRPr/>
            </a:pPr>
            <a:fld id="{38D841AB-BC11-4F95-B935-29EF12B10AD1}" type="datetime2">
              <a:rPr lang="en-US" smtClean="0"/>
              <a:pPr>
                <a:defRPr/>
              </a:pPr>
              <a:t>Friday, August 27, 2021</a:t>
            </a:fld>
            <a:endParaRPr lang="en-US"/>
          </a:p>
        </p:txBody>
      </p:sp>
      <p:sp>
        <p:nvSpPr>
          <p:cNvPr id="7" name="Footer Placeholder 6"/>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title"/>
          </p:nvPr>
        </p:nvSpPr>
        <p:spPr>
          <a:xfrm>
            <a:off x="457200" y="274638"/>
            <a:ext cx="8229600" cy="868362"/>
          </a:xfrm>
          <a:solidFill>
            <a:schemeClr val="bg1">
              <a:lumMod val="75000"/>
            </a:schemeClr>
          </a:solidFill>
          <a:ln>
            <a:solidFill>
              <a:srgbClr val="FF0000"/>
            </a:solidFill>
          </a:ln>
        </p:spPr>
        <p:txBody>
          <a:bodyPr rtlCol="0">
            <a:normAutofit/>
          </a:bodyPr>
          <a:lstStyle/>
          <a:p>
            <a:pPr eaLnBrk="1" fontAlgn="auto" hangingPunct="1">
              <a:spcAft>
                <a:spcPts val="0"/>
              </a:spcAft>
              <a:defRPr/>
            </a:pPr>
            <a:r>
              <a:rPr lang="en-US" altLang="zh-TW" sz="3600" dirty="0" smtClean="0"/>
              <a:t>Microcontroller </a:t>
            </a:r>
            <a:r>
              <a:rPr lang="en-US" altLang="zh-TW" sz="3600" dirty="0" smtClean="0">
                <a:solidFill>
                  <a:srgbClr val="FF0000"/>
                </a:solidFill>
              </a:rPr>
              <a:t>vs</a:t>
            </a:r>
            <a:r>
              <a:rPr lang="en-US" altLang="zh-TW" sz="3600" dirty="0" smtClean="0"/>
              <a:t>. Microprocessors</a:t>
            </a:r>
          </a:p>
        </p:txBody>
      </p:sp>
      <p:sp>
        <p:nvSpPr>
          <p:cNvPr id="50183" name="Rectangle 7"/>
          <p:cNvSpPr>
            <a:spLocks noGrp="1" noChangeArrowheads="1"/>
          </p:cNvSpPr>
          <p:nvPr>
            <p:ph idx="1"/>
          </p:nvPr>
        </p:nvSpPr>
        <p:spPr>
          <a:xfrm>
            <a:off x="142875" y="1214438"/>
            <a:ext cx="4786313" cy="5572125"/>
          </a:xfrm>
          <a:solidFill>
            <a:schemeClr val="accent6">
              <a:lumMod val="40000"/>
              <a:lumOff val="60000"/>
            </a:schemeClr>
          </a:solidFill>
          <a:ln>
            <a:solidFill>
              <a:schemeClr val="accent1"/>
            </a:solidFill>
          </a:ln>
        </p:spPr>
        <p:txBody>
          <a:bodyPr rtlCol="0">
            <a:normAutofit/>
          </a:bodyPr>
          <a:lstStyle/>
          <a:p>
            <a:pPr marL="609600" indent="-609600" eaLnBrk="1" fontAlgn="auto" hangingPunct="1">
              <a:spcAft>
                <a:spcPts val="0"/>
              </a:spcAft>
              <a:buFont typeface="Arial" pitchFamily="34" charset="0"/>
              <a:buChar char="•"/>
              <a:defRPr/>
            </a:pPr>
            <a:r>
              <a:rPr lang="en-US" altLang="zh-TW" sz="2400" b="1" u="sng" dirty="0" smtClean="0">
                <a:solidFill>
                  <a:srgbClr val="7030A0"/>
                </a:solidFill>
                <a:latin typeface="Times New Roman" pitchFamily="18" charset="0"/>
                <a:cs typeface="Times New Roman" pitchFamily="18" charset="0"/>
              </a:rPr>
              <a:t>Microprocessor</a:t>
            </a:r>
            <a:r>
              <a:rPr lang="en-US" altLang="zh-TW" sz="2400" b="1" dirty="0" smtClean="0">
                <a:latin typeface="Times New Roman" pitchFamily="18" charset="0"/>
                <a:cs typeface="Times New Roman" pitchFamily="18" charset="0"/>
              </a:rPr>
              <a:t> </a:t>
            </a:r>
          </a:p>
          <a:p>
            <a:pPr marL="609600" indent="-609600" eaLnBrk="1" fontAlgn="auto" hangingPunct="1">
              <a:spcAft>
                <a:spcPts val="0"/>
              </a:spcAft>
              <a:buFont typeface="Symbol" pitchFamily="18" charset="2"/>
              <a:buAutoNum type="arabicPeriod"/>
              <a:defRPr/>
            </a:pPr>
            <a:r>
              <a:rPr lang="en-US" altLang="zh-TW" sz="2200" b="1" dirty="0" smtClean="0">
                <a:latin typeface="Times New Roman" pitchFamily="18" charset="0"/>
                <a:cs typeface="Times New Roman" pitchFamily="18" charset="0"/>
              </a:rPr>
              <a:t>CPU is stand-alone,  RAM, ROM, I/O, timer are separate</a:t>
            </a:r>
          </a:p>
          <a:p>
            <a:pPr marL="609600" indent="-609600" eaLnBrk="1" fontAlgn="auto" hangingPunct="1">
              <a:spcAft>
                <a:spcPts val="0"/>
              </a:spcAft>
              <a:buFont typeface="Symbol" pitchFamily="18" charset="2"/>
              <a:buAutoNum type="arabicPeriod"/>
              <a:defRPr/>
            </a:pPr>
            <a:r>
              <a:rPr lang="en-US" altLang="zh-TW" sz="2000" b="1" dirty="0" smtClean="0">
                <a:latin typeface="Times New Roman" pitchFamily="18" charset="0"/>
                <a:cs typeface="Times New Roman" pitchFamily="18" charset="0"/>
              </a:rPr>
              <a:t>Designer can decide on the  amount of ROM, RAM and I/O ports</a:t>
            </a:r>
            <a:r>
              <a:rPr lang="en-US" altLang="zh-TW" sz="2200" b="1" dirty="0" smtClean="0">
                <a:latin typeface="Times New Roman" pitchFamily="18" charset="0"/>
                <a:cs typeface="Times New Roman" pitchFamily="18" charset="0"/>
              </a:rPr>
              <a:t>.</a:t>
            </a:r>
          </a:p>
          <a:p>
            <a:pPr marL="609600" indent="-609600" eaLnBrk="1" fontAlgn="auto" hangingPunct="1">
              <a:spcAft>
                <a:spcPts val="0"/>
              </a:spcAft>
              <a:buFont typeface="Symbol" pitchFamily="18" charset="2"/>
              <a:buAutoNum type="arabicPeriod"/>
              <a:defRPr/>
            </a:pPr>
            <a:r>
              <a:rPr lang="en-US" altLang="zh-TW" sz="2200" b="1" dirty="0" smtClean="0">
                <a:latin typeface="Times New Roman" pitchFamily="18" charset="0"/>
                <a:cs typeface="Times New Roman" pitchFamily="18" charset="0"/>
              </a:rPr>
              <a:t>Microprocessor based system requires More hardware</a:t>
            </a:r>
          </a:p>
          <a:p>
            <a:pPr marL="609600" indent="-609600" eaLnBrk="1" fontAlgn="auto" hangingPunct="1">
              <a:spcAft>
                <a:spcPts val="0"/>
              </a:spcAft>
              <a:buFont typeface="Symbol" pitchFamily="18" charset="2"/>
              <a:buAutoNum type="arabicPeriod"/>
              <a:defRPr/>
            </a:pPr>
            <a:r>
              <a:rPr lang="en-US" altLang="zh-TW" sz="2200" b="1" dirty="0" smtClean="0">
                <a:latin typeface="Times New Roman" pitchFamily="18" charset="0"/>
                <a:cs typeface="Times New Roman" pitchFamily="18" charset="0"/>
              </a:rPr>
              <a:t>General-purpose Device</a:t>
            </a:r>
          </a:p>
          <a:p>
            <a:pPr marL="609600" indent="-609600" eaLnBrk="1" fontAlgn="auto" hangingPunct="1">
              <a:spcAft>
                <a:spcPts val="0"/>
              </a:spcAft>
              <a:buFont typeface="Symbol" pitchFamily="18" charset="2"/>
              <a:buAutoNum type="arabicPeriod"/>
              <a:defRPr/>
            </a:pPr>
            <a:r>
              <a:rPr lang="en-US" altLang="zh-TW" sz="2200" b="1" dirty="0" smtClean="0">
                <a:latin typeface="Times New Roman" pitchFamily="18" charset="0"/>
                <a:cs typeface="Times New Roman" pitchFamily="18" charset="0"/>
              </a:rPr>
              <a:t>Microprocessor based system is more flexible</a:t>
            </a:r>
          </a:p>
          <a:p>
            <a:pPr marL="609600" indent="-609600" eaLnBrk="1" fontAlgn="auto" hangingPunct="1">
              <a:spcAft>
                <a:spcPts val="0"/>
              </a:spcAft>
              <a:buFont typeface="Symbol" pitchFamily="18" charset="2"/>
              <a:buAutoNum type="arabicPeriod"/>
              <a:defRPr/>
            </a:pPr>
            <a:r>
              <a:rPr lang="en-US" altLang="zh-TW" sz="2200" b="1" dirty="0" smtClean="0">
                <a:latin typeface="Times New Roman" pitchFamily="18" charset="0"/>
                <a:cs typeface="Times New Roman" pitchFamily="18" charset="0"/>
              </a:rPr>
              <a:t>Access time for Memory and I/O is more</a:t>
            </a:r>
          </a:p>
          <a:p>
            <a:pPr marL="609600" indent="-609600" eaLnBrk="1" fontAlgn="auto" hangingPunct="1">
              <a:spcAft>
                <a:spcPts val="0"/>
              </a:spcAft>
              <a:buFont typeface="Symbol" pitchFamily="18" charset="2"/>
              <a:buAutoNum type="arabicPeriod"/>
              <a:defRPr/>
            </a:pPr>
            <a:r>
              <a:rPr lang="en-US" altLang="zh-TW" sz="2200" b="1" dirty="0" smtClean="0">
                <a:latin typeface="Times New Roman" pitchFamily="18" charset="0"/>
                <a:cs typeface="Times New Roman" pitchFamily="18" charset="0"/>
              </a:rPr>
              <a:t>It has many Instructions to move data between memory and CPU</a:t>
            </a:r>
          </a:p>
          <a:p>
            <a:pPr marL="609600" indent="-609600" eaLnBrk="1" fontAlgn="auto" hangingPunct="1">
              <a:spcAft>
                <a:spcPts val="0"/>
              </a:spcAft>
              <a:buFont typeface="Symbol" pitchFamily="18" charset="2"/>
              <a:buAutoNum type="arabicPeriod"/>
              <a:defRPr/>
            </a:pPr>
            <a:endParaRPr lang="en-US" altLang="zh-TW" sz="2200" b="1" dirty="0" smtClean="0">
              <a:latin typeface="Times New Roman" pitchFamily="18" charset="0"/>
              <a:cs typeface="Times New Roman" pitchFamily="18" charset="0"/>
            </a:endParaRPr>
          </a:p>
          <a:p>
            <a:pPr marL="609600" indent="-609600" eaLnBrk="1" fontAlgn="auto" hangingPunct="1">
              <a:spcAft>
                <a:spcPts val="0"/>
              </a:spcAft>
              <a:buFont typeface="Symbol" pitchFamily="18" charset="2"/>
              <a:buAutoNum type="arabicPeriod"/>
              <a:defRPr/>
            </a:pPr>
            <a:endParaRPr lang="en-US" altLang="zh-TW" sz="2200" b="1" dirty="0" smtClean="0">
              <a:latin typeface="Times New Roman" pitchFamily="18" charset="0"/>
              <a:cs typeface="Times New Roman" pitchFamily="18" charset="0"/>
            </a:endParaRPr>
          </a:p>
          <a:p>
            <a:pPr marL="609600" indent="-609600" eaLnBrk="1" fontAlgn="auto" hangingPunct="1">
              <a:spcAft>
                <a:spcPts val="0"/>
              </a:spcAft>
              <a:buFont typeface="Symbol" pitchFamily="18" charset="2"/>
              <a:buAutoNum type="arabicPeriod"/>
              <a:defRPr/>
            </a:pPr>
            <a:endParaRPr lang="en-US" altLang="zh-TW" sz="2200" dirty="0" smtClean="0">
              <a:solidFill>
                <a:srgbClr val="000000"/>
              </a:solidFill>
              <a:effectLst>
                <a:outerShdw blurRad="38100" dist="38100" dir="2700000" algn="tl">
                  <a:srgbClr val="FFFFFF"/>
                </a:outerShdw>
              </a:effectLst>
            </a:endParaRPr>
          </a:p>
        </p:txBody>
      </p:sp>
      <p:sp>
        <p:nvSpPr>
          <p:cNvPr id="7" name="Slide Number Placeholder 6"/>
          <p:cNvSpPr>
            <a:spLocks noGrp="1"/>
          </p:cNvSpPr>
          <p:nvPr>
            <p:ph type="sldNum" sz="quarter" idx="12"/>
          </p:nvPr>
        </p:nvSpPr>
        <p:spPr/>
        <p:txBody>
          <a:bodyPr/>
          <a:lstStyle/>
          <a:p>
            <a:pPr>
              <a:defRPr/>
            </a:pPr>
            <a:fld id="{36F851DD-968E-4DAA-8279-86E71688A9F3}" type="slidenum">
              <a:rPr lang="en-US"/>
              <a:pPr>
                <a:defRPr/>
              </a:pPr>
              <a:t>5</a:t>
            </a:fld>
            <a:endParaRPr lang="en-US"/>
          </a:p>
        </p:txBody>
      </p:sp>
      <p:sp>
        <p:nvSpPr>
          <p:cNvPr id="50184" name="Rectangle 8"/>
          <p:cNvSpPr>
            <a:spLocks noChangeArrowheads="1"/>
          </p:cNvSpPr>
          <p:nvPr/>
        </p:nvSpPr>
        <p:spPr bwMode="auto">
          <a:xfrm>
            <a:off x="4932363" y="1214438"/>
            <a:ext cx="4211637" cy="5643562"/>
          </a:xfrm>
          <a:prstGeom prst="rect">
            <a:avLst/>
          </a:prstGeom>
          <a:solidFill>
            <a:schemeClr val="accent6">
              <a:lumMod val="40000"/>
              <a:lumOff val="60000"/>
            </a:schemeClr>
          </a:solidFill>
          <a:ln w="9525">
            <a:solidFill>
              <a:schemeClr val="accent1"/>
            </a:solidFill>
            <a:miter lim="800000"/>
            <a:headEnd/>
            <a:tailEnd/>
          </a:ln>
          <a:effectLst/>
        </p:spPr>
        <p:txBody>
          <a:bodyPr/>
          <a:lstStyle/>
          <a:p>
            <a:pPr marL="457200" indent="-457200" algn="ctr">
              <a:spcBef>
                <a:spcPct val="20000"/>
              </a:spcBef>
              <a:defRPr/>
            </a:pPr>
            <a:r>
              <a:rPr lang="en-US" altLang="zh-TW" sz="2400" u="sng" dirty="0">
                <a:solidFill>
                  <a:srgbClr val="7030A0"/>
                </a:solidFill>
                <a:effectLst>
                  <a:outerShdw blurRad="38100" dist="38100" dir="2700000" algn="tl">
                    <a:srgbClr val="000000"/>
                  </a:outerShdw>
                </a:effectLst>
                <a:cs typeface="Arial" charset="0"/>
              </a:rPr>
              <a:t>Microcontroller</a:t>
            </a:r>
          </a:p>
          <a:p>
            <a:pPr marL="457200" indent="-457200">
              <a:spcBef>
                <a:spcPct val="20000"/>
              </a:spcBef>
              <a:buClr>
                <a:schemeClr val="tx2"/>
              </a:buClr>
              <a:buSzPct val="90000"/>
              <a:buFont typeface="Symbol" pitchFamily="18" charset="2"/>
              <a:buAutoNum type="arabicPeriod"/>
              <a:defRPr/>
            </a:pPr>
            <a:r>
              <a:rPr lang="en-US" altLang="zh-TW" sz="2200" b="1" dirty="0">
                <a:cs typeface="Arial" charset="0"/>
              </a:rPr>
              <a:t>CPU, RAM, ROM, I/O and timer are all on a single chip</a:t>
            </a:r>
          </a:p>
          <a:p>
            <a:pPr marL="457200" indent="-457200">
              <a:spcBef>
                <a:spcPct val="20000"/>
              </a:spcBef>
              <a:buClr>
                <a:schemeClr val="tx2"/>
              </a:buClr>
              <a:buSzPct val="90000"/>
              <a:buFont typeface="Symbol" pitchFamily="18" charset="2"/>
              <a:buAutoNum type="arabicPeriod"/>
              <a:defRPr/>
            </a:pPr>
            <a:r>
              <a:rPr lang="en-US" altLang="zh-TW" sz="2200" b="1" dirty="0">
                <a:cs typeface="Arial" charset="0"/>
              </a:rPr>
              <a:t>Fixed amount of on-chip ROM, RAM, I/O ports</a:t>
            </a:r>
          </a:p>
          <a:p>
            <a:pPr marL="457200" indent="-457200">
              <a:spcBef>
                <a:spcPct val="20000"/>
              </a:spcBef>
              <a:buClr>
                <a:schemeClr val="tx2"/>
              </a:buClr>
              <a:buSzPct val="90000"/>
              <a:buFont typeface="Symbol" pitchFamily="18" charset="2"/>
              <a:buAutoNum type="arabicPeriod"/>
              <a:defRPr/>
            </a:pPr>
            <a:r>
              <a:rPr lang="en-US" altLang="zh-TW" sz="2200" b="1" dirty="0">
                <a:cs typeface="Arial" charset="0"/>
              </a:rPr>
              <a:t>Microcontroller system requires less hardware</a:t>
            </a:r>
          </a:p>
          <a:p>
            <a:pPr marL="457200" indent="-457200">
              <a:spcBef>
                <a:spcPct val="20000"/>
              </a:spcBef>
              <a:buClr>
                <a:schemeClr val="tx2"/>
              </a:buClr>
              <a:buSzPct val="90000"/>
              <a:buFont typeface="Symbol" pitchFamily="18" charset="2"/>
              <a:buAutoNum type="arabicPeriod"/>
              <a:defRPr/>
            </a:pPr>
            <a:r>
              <a:rPr lang="en-US" altLang="zh-TW" sz="2200" b="1" dirty="0">
                <a:cs typeface="Arial" charset="0"/>
              </a:rPr>
              <a:t>Single/Special purpose Device</a:t>
            </a:r>
          </a:p>
          <a:p>
            <a:pPr marL="457200" indent="-457200">
              <a:spcBef>
                <a:spcPct val="20000"/>
              </a:spcBef>
              <a:buClr>
                <a:schemeClr val="tx2"/>
              </a:buClr>
              <a:buSzPct val="90000"/>
              <a:buFont typeface="Symbol" pitchFamily="18" charset="2"/>
              <a:buAutoNum type="arabicPeriod"/>
              <a:defRPr/>
            </a:pPr>
            <a:r>
              <a:rPr lang="en-US" altLang="zh-TW" sz="2200" dirty="0">
                <a:effectLst>
                  <a:outerShdw blurRad="38100" dist="38100" dir="2700000" algn="tl">
                    <a:srgbClr val="000000"/>
                  </a:outerShdw>
                </a:effectLst>
                <a:cs typeface="Arial" charset="0"/>
              </a:rPr>
              <a:t>Microcontroller</a:t>
            </a:r>
            <a:r>
              <a:rPr lang="en-US" altLang="zh-TW" sz="2200" b="1" dirty="0"/>
              <a:t> based system is not flexible</a:t>
            </a:r>
          </a:p>
          <a:p>
            <a:pPr marL="457200" indent="-457200">
              <a:spcBef>
                <a:spcPct val="20000"/>
              </a:spcBef>
              <a:buClr>
                <a:schemeClr val="tx2"/>
              </a:buClr>
              <a:buSzPct val="90000"/>
              <a:buFont typeface="Symbol" pitchFamily="18" charset="2"/>
              <a:buAutoNum type="arabicPeriod"/>
              <a:defRPr/>
            </a:pPr>
            <a:r>
              <a:rPr lang="en-US" altLang="zh-TW" sz="2200" b="1" dirty="0"/>
              <a:t>Access time for Memory and I/O is less</a:t>
            </a:r>
          </a:p>
          <a:p>
            <a:pPr marL="457200" indent="-457200">
              <a:spcBef>
                <a:spcPct val="20000"/>
              </a:spcBef>
              <a:buClr>
                <a:schemeClr val="tx2"/>
              </a:buClr>
              <a:buSzPct val="90000"/>
              <a:buFont typeface="Symbol" pitchFamily="18" charset="2"/>
              <a:buAutoNum type="arabicPeriod"/>
              <a:defRPr/>
            </a:pPr>
            <a:r>
              <a:rPr lang="en-US" altLang="zh-TW" sz="2200" b="1" dirty="0"/>
              <a:t>It has less Instructions to move data between memory and CPU</a:t>
            </a:r>
          </a:p>
          <a:p>
            <a:pPr marL="457200" indent="-457200">
              <a:spcBef>
                <a:spcPct val="20000"/>
              </a:spcBef>
              <a:buClr>
                <a:schemeClr val="tx2"/>
              </a:buClr>
              <a:buSzPct val="90000"/>
              <a:defRPr/>
            </a:pPr>
            <a:endParaRPr lang="en-US" altLang="zh-TW" sz="2200" b="1" dirty="0"/>
          </a:p>
          <a:p>
            <a:pPr marL="457200" indent="-457200">
              <a:spcBef>
                <a:spcPct val="20000"/>
              </a:spcBef>
              <a:buClr>
                <a:schemeClr val="tx2"/>
              </a:buClr>
              <a:buSzPct val="90000"/>
              <a:buFont typeface="Symbol" pitchFamily="18" charset="2"/>
              <a:buAutoNum type="arabicPeriod"/>
              <a:defRPr/>
            </a:pPr>
            <a:endParaRPr lang="en-US" altLang="zh-TW" sz="2200" b="1" dirty="0"/>
          </a:p>
          <a:p>
            <a:pPr marL="457200" indent="-457200">
              <a:spcBef>
                <a:spcPct val="20000"/>
              </a:spcBef>
              <a:buClr>
                <a:schemeClr val="tx2"/>
              </a:buClr>
              <a:buSzPct val="90000"/>
              <a:buFont typeface="Symbol" pitchFamily="18" charset="2"/>
              <a:buAutoNum type="arabicPeriod"/>
              <a:defRPr/>
            </a:pPr>
            <a:endParaRPr lang="en-US" altLang="zh-TW" sz="2200" dirty="0">
              <a:effectLst>
                <a:outerShdw blurRad="38100" dist="38100" dir="2700000" algn="tl">
                  <a:srgbClr val="000000"/>
                </a:outerShdw>
              </a:effectLst>
              <a:cs typeface="Arial" charset="0"/>
            </a:endParaRPr>
          </a:p>
        </p:txBody>
      </p:sp>
      <p:sp>
        <p:nvSpPr>
          <p:cNvPr id="6" name="Date Placeholder 5"/>
          <p:cNvSpPr>
            <a:spLocks noGrp="1"/>
          </p:cNvSpPr>
          <p:nvPr>
            <p:ph type="dt" sz="half" idx="10"/>
          </p:nvPr>
        </p:nvSpPr>
        <p:spPr/>
        <p:txBody>
          <a:bodyPr/>
          <a:lstStyle/>
          <a:p>
            <a:pPr>
              <a:defRPr/>
            </a:pPr>
            <a:fld id="{36D81A21-A365-42A2-8432-C5CACFF85CDD}" type="datetime2">
              <a:rPr lang="en-US" smtClean="0"/>
              <a:pPr>
                <a:defRPr/>
              </a:pPr>
              <a:t>Friday, August 27, 2021</a:t>
            </a:fld>
            <a:endParaRPr lang="en-US"/>
          </a:p>
        </p:txBody>
      </p:sp>
      <p:sp>
        <p:nvSpPr>
          <p:cNvPr id="8" name="Footer Placeholder 7"/>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642938"/>
            <a:ext cx="8229600" cy="1143000"/>
          </a:xfrm>
          <a:solidFill>
            <a:srgbClr val="00B050"/>
          </a:solidFill>
          <a:ln>
            <a:solidFill>
              <a:srgbClr val="FF0000"/>
            </a:solidFill>
          </a:ln>
        </p:spPr>
        <p:txBody>
          <a:bodyPr/>
          <a:lstStyle/>
          <a:p>
            <a:pPr eaLnBrk="1" hangingPunct="1"/>
            <a:r>
              <a:rPr lang="en-US" smtClean="0"/>
              <a:t>Applications of Microcontrollers</a:t>
            </a:r>
          </a:p>
        </p:txBody>
      </p:sp>
      <p:sp>
        <p:nvSpPr>
          <p:cNvPr id="6" name="Slide Number Placeholder 5"/>
          <p:cNvSpPr>
            <a:spLocks noGrp="1"/>
          </p:cNvSpPr>
          <p:nvPr>
            <p:ph type="sldNum" sz="quarter" idx="12"/>
          </p:nvPr>
        </p:nvSpPr>
        <p:spPr/>
        <p:txBody>
          <a:bodyPr/>
          <a:lstStyle/>
          <a:p>
            <a:pPr>
              <a:defRPr/>
            </a:pPr>
            <a:fld id="{BB1A7FB4-453F-4A0E-A097-B76C915BE9DD}" type="slidenum">
              <a:rPr lang="en-US"/>
              <a:pPr>
                <a:defRPr/>
              </a:pPr>
              <a:t>6</a:t>
            </a:fld>
            <a:endParaRPr lang="en-US"/>
          </a:p>
        </p:txBody>
      </p:sp>
      <p:pic>
        <p:nvPicPr>
          <p:cNvPr id="12292" name="Picture 9"/>
          <p:cNvPicPr>
            <a:picLocks noChangeAspect="1" noChangeArrowheads="1"/>
          </p:cNvPicPr>
          <p:nvPr/>
        </p:nvPicPr>
        <p:blipFill>
          <a:blip r:embed="rId2"/>
          <a:srcRect/>
          <a:stretch>
            <a:fillRect/>
          </a:stretch>
        </p:blipFill>
        <p:spPr bwMode="auto">
          <a:xfrm>
            <a:off x="1571625" y="2214563"/>
            <a:ext cx="6072188" cy="3571875"/>
          </a:xfrm>
          <a:prstGeom prst="rect">
            <a:avLst/>
          </a:prstGeom>
          <a:noFill/>
          <a:ln w="12700">
            <a:solidFill>
              <a:srgbClr val="FF0000"/>
            </a:solidFill>
            <a:miter lim="800000"/>
            <a:headEnd type="none" w="sm" len="sm"/>
            <a:tailEnd type="none" w="sm" len="sm"/>
          </a:ln>
        </p:spPr>
      </p:pic>
      <p:sp>
        <p:nvSpPr>
          <p:cNvPr id="5" name="Date Placeholder 4"/>
          <p:cNvSpPr>
            <a:spLocks noGrp="1"/>
          </p:cNvSpPr>
          <p:nvPr>
            <p:ph type="dt" sz="half" idx="10"/>
          </p:nvPr>
        </p:nvSpPr>
        <p:spPr/>
        <p:txBody>
          <a:bodyPr/>
          <a:lstStyle/>
          <a:p>
            <a:pPr>
              <a:defRPr/>
            </a:pPr>
            <a:fld id="{2AF28393-9B35-4EC4-83FC-AF90F0672488}" type="datetime2">
              <a:rPr lang="en-US" smtClean="0"/>
              <a:pPr>
                <a:defRPr/>
              </a:pPr>
              <a:t>Friday, August 27, 2021</a:t>
            </a:fld>
            <a:endParaRPr lang="en-US"/>
          </a:p>
        </p:txBody>
      </p:sp>
      <p:sp>
        <p:nvSpPr>
          <p:cNvPr id="7" name="Footer Placeholder 6"/>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00063" y="304800"/>
            <a:ext cx="8358187" cy="981075"/>
          </a:xfrm>
          <a:solidFill>
            <a:srgbClr val="FFFF00"/>
          </a:solidFill>
          <a:ln>
            <a:solidFill>
              <a:srgbClr val="FF0000"/>
            </a:solidFill>
          </a:ln>
        </p:spPr>
        <p:txBody>
          <a:bodyPr/>
          <a:lstStyle/>
          <a:p>
            <a:pPr eaLnBrk="1" hangingPunct="1"/>
            <a:r>
              <a:rPr lang="en-US" altLang="zh-TW" sz="3200" smtClean="0">
                <a:solidFill>
                  <a:srgbClr val="0066FF"/>
                </a:solidFill>
              </a:rPr>
              <a:t>Embedded Products Using Microcontrollers</a:t>
            </a:r>
          </a:p>
        </p:txBody>
      </p:sp>
      <p:sp>
        <p:nvSpPr>
          <p:cNvPr id="28675" name="Rectangle 3"/>
          <p:cNvSpPr>
            <a:spLocks noGrp="1" noChangeArrowheads="1"/>
          </p:cNvSpPr>
          <p:nvPr>
            <p:ph idx="1"/>
          </p:nvPr>
        </p:nvSpPr>
        <p:spPr>
          <a:solidFill>
            <a:schemeClr val="accent1">
              <a:lumMod val="20000"/>
              <a:lumOff val="80000"/>
            </a:schemeClr>
          </a:solidFill>
          <a:ln>
            <a:solidFill>
              <a:srgbClr val="FF0000"/>
            </a:solidFill>
          </a:ln>
        </p:spPr>
        <p:txBody>
          <a:bodyPr rtlCol="0">
            <a:normAutofit/>
          </a:bodyPr>
          <a:lstStyle/>
          <a:p>
            <a:pPr algn="just" eaLnBrk="1" fontAlgn="auto" hangingPunct="1">
              <a:spcAft>
                <a:spcPts val="0"/>
              </a:spcAft>
              <a:buFont typeface="Arial" pitchFamily="34" charset="0"/>
              <a:buChar char="•"/>
              <a:defRPr/>
            </a:pPr>
            <a:r>
              <a:rPr lang="en-US" altLang="zh-TW" dirty="0" smtClean="0"/>
              <a:t>	Home-Appliances , intercom, telephones, security systems, garage door openers, answering machines, fax machines, TVs, cable TV tuner, VCR, camcorder, remote controls, video games, cellular phones, musical instruments, sewing machines, lighting control, paging, camera, pinball machines, toys, exercise equipment</a:t>
            </a:r>
          </a:p>
        </p:txBody>
      </p:sp>
      <p:sp>
        <p:nvSpPr>
          <p:cNvPr id="6" name="Slide Number Placeholder 5"/>
          <p:cNvSpPr>
            <a:spLocks noGrp="1"/>
          </p:cNvSpPr>
          <p:nvPr>
            <p:ph type="sldNum" sz="quarter" idx="12"/>
          </p:nvPr>
        </p:nvSpPr>
        <p:spPr/>
        <p:txBody>
          <a:bodyPr/>
          <a:lstStyle/>
          <a:p>
            <a:pPr>
              <a:defRPr/>
            </a:pPr>
            <a:fld id="{286B52FC-F58B-4A3D-B021-8BA6858BE485}" type="slidenum">
              <a:rPr lang="en-US"/>
              <a:pPr>
                <a:defRPr/>
              </a:pPr>
              <a:t>7</a:t>
            </a:fld>
            <a:endParaRPr lang="en-US"/>
          </a:p>
        </p:txBody>
      </p:sp>
      <p:sp>
        <p:nvSpPr>
          <p:cNvPr id="5" name="Date Placeholder 4"/>
          <p:cNvSpPr>
            <a:spLocks noGrp="1"/>
          </p:cNvSpPr>
          <p:nvPr>
            <p:ph type="dt" sz="half" idx="10"/>
          </p:nvPr>
        </p:nvSpPr>
        <p:spPr/>
        <p:txBody>
          <a:bodyPr/>
          <a:lstStyle/>
          <a:p>
            <a:pPr>
              <a:defRPr/>
            </a:pPr>
            <a:fld id="{55FEE88B-3558-440F-B150-31454262CDAE}" type="datetime2">
              <a:rPr lang="en-US" smtClean="0"/>
              <a:pPr>
                <a:defRPr/>
              </a:pPr>
              <a:t>Friday, August 27, 2021</a:t>
            </a:fld>
            <a:endParaRPr lang="en-US"/>
          </a:p>
        </p:txBody>
      </p:sp>
      <p:sp>
        <p:nvSpPr>
          <p:cNvPr id="7" name="Footer Placeholder 6"/>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4281FC0-2945-4CA4-8937-CD2F2725308A}" type="slidenum">
              <a:rPr lang="en-US"/>
              <a:pPr>
                <a:defRPr/>
              </a:pPr>
              <a:t>8</a:t>
            </a:fld>
            <a:endParaRPr lang="en-US"/>
          </a:p>
        </p:txBody>
      </p:sp>
      <p:sp>
        <p:nvSpPr>
          <p:cNvPr id="20482" name="Title 1"/>
          <p:cNvSpPr>
            <a:spLocks noGrp="1"/>
          </p:cNvSpPr>
          <p:nvPr>
            <p:ph type="title" idx="4294967295"/>
          </p:nvPr>
        </p:nvSpPr>
        <p:spPr>
          <a:xfrm>
            <a:off x="0" y="214313"/>
            <a:ext cx="8510588" cy="628650"/>
          </a:xfrm>
          <a:solidFill>
            <a:schemeClr val="accent1">
              <a:lumMod val="50000"/>
            </a:schemeClr>
          </a:solidFill>
        </p:spPr>
        <p:txBody>
          <a:bodyPr rtlCol="0">
            <a:normAutofit fontScale="90000"/>
          </a:bodyPr>
          <a:lstStyle/>
          <a:p>
            <a:pPr eaLnBrk="1" fontAlgn="auto" hangingPunct="1">
              <a:spcAft>
                <a:spcPts val="0"/>
              </a:spcAft>
              <a:defRPr/>
            </a:pPr>
            <a:r>
              <a:rPr lang="en-US" altLang="zh-CN" sz="2900" dirty="0" smtClean="0"/>
              <a:t/>
            </a:r>
            <a:br>
              <a:rPr lang="en-US" altLang="zh-CN" sz="2900" dirty="0" smtClean="0"/>
            </a:br>
            <a:r>
              <a:rPr lang="en-US" altLang="zh-CN" sz="2300" dirty="0" smtClean="0"/>
              <a:t/>
            </a:r>
            <a:br>
              <a:rPr lang="en-US" altLang="zh-CN" sz="2300" dirty="0" smtClean="0"/>
            </a:br>
            <a:r>
              <a:rPr lang="en-US" altLang="zh-CN" sz="4000" dirty="0" smtClean="0">
                <a:solidFill>
                  <a:srgbClr val="FF0000"/>
                </a:solidFill>
              </a:rPr>
              <a:t>Features of 8051</a:t>
            </a:r>
            <a:br>
              <a:rPr lang="en-US" altLang="zh-CN" sz="4000" dirty="0" smtClean="0">
                <a:solidFill>
                  <a:srgbClr val="FF0000"/>
                </a:solidFill>
              </a:rPr>
            </a:br>
            <a:r>
              <a:rPr lang="en-US" altLang="zh-CN" sz="3200" dirty="0" smtClean="0"/>
              <a:t/>
            </a:r>
            <a:br>
              <a:rPr lang="en-US" altLang="zh-CN" sz="3200" dirty="0" smtClean="0"/>
            </a:br>
            <a:endParaRPr lang="en-US" altLang="zh-CN" sz="3200" dirty="0" smtClean="0"/>
          </a:p>
        </p:txBody>
      </p:sp>
      <p:sp>
        <p:nvSpPr>
          <p:cNvPr id="14340" name="Content Placeholder 2"/>
          <p:cNvSpPr>
            <a:spLocks noGrp="1"/>
          </p:cNvSpPr>
          <p:nvPr>
            <p:ph idx="4294967295"/>
          </p:nvPr>
        </p:nvSpPr>
        <p:spPr>
          <a:xfrm>
            <a:off x="0" y="1000108"/>
            <a:ext cx="8540750" cy="5572164"/>
          </a:xfrm>
          <a:solidFill>
            <a:schemeClr val="bg1"/>
          </a:solidFill>
          <a:ln>
            <a:solidFill>
              <a:srgbClr val="FF0000"/>
            </a:solidFill>
          </a:ln>
        </p:spPr>
        <p:txBody>
          <a:bodyPr/>
          <a:lstStyle/>
          <a:p>
            <a:pPr>
              <a:buNone/>
            </a:pPr>
            <a:r>
              <a:rPr lang="en-IN" sz="2800" dirty="0" smtClean="0"/>
              <a:t>1. 4 KB on chip program memory (ROM or EPROM)). </a:t>
            </a:r>
          </a:p>
          <a:p>
            <a:pPr>
              <a:buNone/>
            </a:pPr>
            <a:r>
              <a:rPr lang="en-IN" sz="2800" dirty="0" smtClean="0"/>
              <a:t>2. 128 bytes on chip data memory (RAM). </a:t>
            </a:r>
          </a:p>
          <a:p>
            <a:pPr>
              <a:buNone/>
            </a:pPr>
            <a:r>
              <a:rPr lang="en-IN" sz="2800" dirty="0" smtClean="0"/>
              <a:t>3. 8-bit data bus </a:t>
            </a:r>
          </a:p>
          <a:p>
            <a:pPr>
              <a:buNone/>
            </a:pPr>
            <a:r>
              <a:rPr lang="en-IN" sz="2800" dirty="0" smtClean="0"/>
              <a:t>4. 16-bit address bus </a:t>
            </a:r>
          </a:p>
          <a:p>
            <a:pPr>
              <a:buNone/>
            </a:pPr>
            <a:r>
              <a:rPr lang="en-IN" sz="2800" dirty="0" smtClean="0"/>
              <a:t>5. 32 general purpose registers each of 8bits </a:t>
            </a:r>
          </a:p>
          <a:p>
            <a:pPr>
              <a:buNone/>
            </a:pPr>
            <a:r>
              <a:rPr lang="en-IN" sz="2800" dirty="0" smtClean="0"/>
              <a:t>6. Two -16 bit timers T0 andT1 </a:t>
            </a:r>
          </a:p>
          <a:p>
            <a:pPr>
              <a:buNone/>
            </a:pPr>
            <a:r>
              <a:rPr lang="en-IN" sz="2800" dirty="0" smtClean="0"/>
              <a:t>7. Five Interrupts (3 internal and 2external). </a:t>
            </a:r>
          </a:p>
          <a:p>
            <a:pPr>
              <a:buNone/>
            </a:pPr>
            <a:r>
              <a:rPr lang="en-IN" sz="2800" dirty="0" smtClean="0"/>
              <a:t>8. Four Parallel ports each of 8-bits (PORT0, PORT1, PORT2, PORT3) with a total of 32 I/O lines. </a:t>
            </a:r>
          </a:p>
          <a:p>
            <a:pPr>
              <a:buNone/>
            </a:pPr>
            <a:r>
              <a:rPr lang="en-IN" sz="2800" dirty="0" smtClean="0"/>
              <a:t>9. One 16-bit program counter and one 16-bit DPTR </a:t>
            </a:r>
          </a:p>
          <a:p>
            <a:pPr>
              <a:buNone/>
            </a:pPr>
            <a:r>
              <a:rPr lang="en-IN" sz="2800" dirty="0" smtClean="0"/>
              <a:t>10. One 8-bit stack pointer </a:t>
            </a:r>
          </a:p>
          <a:p>
            <a:endParaRPr lang="en-IN" sz="2800" dirty="0" smtClean="0"/>
          </a:p>
        </p:txBody>
      </p:sp>
      <p:sp>
        <p:nvSpPr>
          <p:cNvPr id="5" name="Date Placeholder 4"/>
          <p:cNvSpPr>
            <a:spLocks noGrp="1"/>
          </p:cNvSpPr>
          <p:nvPr>
            <p:ph type="dt" sz="half" idx="10"/>
          </p:nvPr>
        </p:nvSpPr>
        <p:spPr/>
        <p:txBody>
          <a:bodyPr/>
          <a:lstStyle/>
          <a:p>
            <a:pPr>
              <a:defRPr/>
            </a:pPr>
            <a:fld id="{91FD9E3C-B4E4-496C-B126-A2D5B8E9C829}" type="datetime2">
              <a:rPr lang="en-US" smtClean="0"/>
              <a:pPr>
                <a:defRPr/>
              </a:pPr>
              <a:t>Friday, August 27, 2021</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object 2"/>
          <p:cNvSpPr>
            <a:spLocks noChangeArrowheads="1"/>
          </p:cNvSpPr>
          <p:nvPr/>
        </p:nvSpPr>
        <p:spPr bwMode="auto">
          <a:xfrm>
            <a:off x="0" y="0"/>
            <a:ext cx="9144000" cy="6858000"/>
          </a:xfrm>
          <a:prstGeom prst="rect">
            <a:avLst/>
          </a:prstGeom>
          <a:blipFill dpi="0" rotWithShape="1">
            <a:blip r:embed="rId2"/>
            <a:srcRect/>
            <a:stretch>
              <a:fillRect/>
            </a:stretch>
          </a:blipFill>
          <a:ln w="9525">
            <a:noFill/>
            <a:miter lim="800000"/>
            <a:headEnd/>
            <a:tailEnd/>
          </a:ln>
        </p:spPr>
        <p:txBody>
          <a:bodyPr lIns="0" tIns="0" rIns="0" bIns="0"/>
          <a:lstStyle/>
          <a:p>
            <a:endParaRPr lang="en-US"/>
          </a:p>
        </p:txBody>
      </p:sp>
      <p:sp>
        <p:nvSpPr>
          <p:cNvPr id="16387" name="object 3"/>
          <p:cNvSpPr>
            <a:spLocks noChangeArrowheads="1"/>
          </p:cNvSpPr>
          <p:nvPr/>
        </p:nvSpPr>
        <p:spPr bwMode="auto">
          <a:xfrm>
            <a:off x="914400" y="1371600"/>
            <a:ext cx="1371600" cy="990600"/>
          </a:xfrm>
          <a:prstGeom prst="rect">
            <a:avLst/>
          </a:prstGeom>
          <a:blipFill dpi="0" rotWithShape="1">
            <a:blip r:embed="rId3"/>
            <a:srcRect/>
            <a:stretch>
              <a:fillRect/>
            </a:stretch>
          </a:blipFill>
          <a:ln w="9525">
            <a:noFill/>
            <a:miter lim="800000"/>
            <a:headEnd/>
            <a:tailEnd/>
          </a:ln>
        </p:spPr>
        <p:txBody>
          <a:bodyPr lIns="0" tIns="0" rIns="0" bIns="0"/>
          <a:lstStyle/>
          <a:p>
            <a:endParaRPr lang="en-US"/>
          </a:p>
        </p:txBody>
      </p:sp>
      <p:sp>
        <p:nvSpPr>
          <p:cNvPr id="16388" name="object 4"/>
          <p:cNvSpPr>
            <a:spLocks noChangeArrowheads="1"/>
          </p:cNvSpPr>
          <p:nvPr/>
        </p:nvSpPr>
        <p:spPr bwMode="auto">
          <a:xfrm>
            <a:off x="914400" y="1371600"/>
            <a:ext cx="1371600" cy="990600"/>
          </a:xfrm>
          <a:custGeom>
            <a:avLst/>
            <a:gdLst>
              <a:gd name="T0" fmla="*/ 0 w 1371600"/>
              <a:gd name="T1" fmla="*/ 0 h 990600"/>
              <a:gd name="T2" fmla="*/ 1371600 w 1371600"/>
              <a:gd name="T3" fmla="*/ 990600 h 990600"/>
            </a:gdLst>
            <a:ahLst/>
            <a:cxnLst/>
            <a:rect l="T0" t="T1" r="T2" b="T3"/>
            <a:pathLst>
              <a:path w="1371600" h="990600">
                <a:moveTo>
                  <a:pt x="0" y="138125"/>
                </a:moveTo>
                <a:lnTo>
                  <a:pt x="138125" y="0"/>
                </a:lnTo>
                <a:lnTo>
                  <a:pt x="1371600" y="0"/>
                </a:lnTo>
                <a:lnTo>
                  <a:pt x="1371600" y="852462"/>
                </a:lnTo>
                <a:lnTo>
                  <a:pt x="1233474" y="990599"/>
                </a:lnTo>
                <a:lnTo>
                  <a:pt x="0" y="990599"/>
                </a:lnTo>
                <a:lnTo>
                  <a:pt x="0" y="138125"/>
                </a:lnTo>
                <a:close/>
              </a:path>
            </a:pathLst>
          </a:custGeom>
          <a:noFill/>
          <a:ln w="12700">
            <a:solidFill>
              <a:srgbClr val="000000"/>
            </a:solidFill>
            <a:miter lim="800000"/>
            <a:headEnd/>
            <a:tailEnd/>
          </a:ln>
        </p:spPr>
        <p:txBody>
          <a:bodyPr lIns="0" tIns="0" rIns="0" bIns="0"/>
          <a:lstStyle/>
          <a:p>
            <a:endParaRPr lang="en-US"/>
          </a:p>
        </p:txBody>
      </p:sp>
      <p:sp>
        <p:nvSpPr>
          <p:cNvPr id="16389" name="object 5"/>
          <p:cNvSpPr>
            <a:spLocks noChangeArrowheads="1"/>
          </p:cNvSpPr>
          <p:nvPr/>
        </p:nvSpPr>
        <p:spPr bwMode="auto">
          <a:xfrm>
            <a:off x="914400" y="1371600"/>
            <a:ext cx="1371600" cy="138113"/>
          </a:xfrm>
          <a:custGeom>
            <a:avLst/>
            <a:gdLst>
              <a:gd name="T0" fmla="*/ 0 w 1371600"/>
              <a:gd name="T1" fmla="*/ 0 h 138430"/>
              <a:gd name="T2" fmla="*/ 1371600 w 1371600"/>
              <a:gd name="T3" fmla="*/ 138430 h 138430"/>
            </a:gdLst>
            <a:ahLst/>
            <a:cxnLst/>
            <a:rect l="T0" t="T1" r="T2" b="T3"/>
            <a:pathLst>
              <a:path w="1371600" h="138430">
                <a:moveTo>
                  <a:pt x="0" y="138125"/>
                </a:moveTo>
                <a:lnTo>
                  <a:pt x="1233474" y="138125"/>
                </a:lnTo>
                <a:lnTo>
                  <a:pt x="1371600" y="0"/>
                </a:lnTo>
              </a:path>
            </a:pathLst>
          </a:custGeom>
          <a:noFill/>
          <a:ln w="12699">
            <a:solidFill>
              <a:srgbClr val="000000"/>
            </a:solidFill>
            <a:miter lim="800000"/>
            <a:headEnd/>
            <a:tailEnd/>
          </a:ln>
        </p:spPr>
        <p:txBody>
          <a:bodyPr lIns="0" tIns="0" rIns="0" bIns="0"/>
          <a:lstStyle/>
          <a:p>
            <a:endParaRPr lang="en-US"/>
          </a:p>
        </p:txBody>
      </p:sp>
      <p:sp>
        <p:nvSpPr>
          <p:cNvPr id="16390" name="object 6"/>
          <p:cNvSpPr>
            <a:spLocks noChangeArrowheads="1"/>
          </p:cNvSpPr>
          <p:nvPr/>
        </p:nvSpPr>
        <p:spPr bwMode="auto">
          <a:xfrm>
            <a:off x="2147888" y="1509713"/>
            <a:ext cx="0" cy="852487"/>
          </a:xfrm>
          <a:custGeom>
            <a:avLst/>
            <a:gdLst>
              <a:gd name="T0" fmla="*/ 0 h 852805"/>
              <a:gd name="T1" fmla="*/ 852805 h 852805"/>
            </a:gdLst>
            <a:ahLst/>
            <a:cxnLst/>
            <a:rect l="0" t="T0" r="0" b="T1"/>
            <a:pathLst>
              <a:path h="852805">
                <a:moveTo>
                  <a:pt x="0" y="0"/>
                </a:moveTo>
                <a:lnTo>
                  <a:pt x="0" y="852474"/>
                </a:lnTo>
              </a:path>
            </a:pathLst>
          </a:custGeom>
          <a:noFill/>
          <a:ln w="12700">
            <a:solidFill>
              <a:srgbClr val="000000"/>
            </a:solidFill>
            <a:miter lim="800000"/>
            <a:headEnd/>
            <a:tailEnd/>
          </a:ln>
        </p:spPr>
        <p:txBody>
          <a:bodyPr lIns="0" tIns="0" rIns="0" bIns="0"/>
          <a:lstStyle/>
          <a:p>
            <a:endParaRPr lang="en-US"/>
          </a:p>
        </p:txBody>
      </p:sp>
      <p:sp>
        <p:nvSpPr>
          <p:cNvPr id="16391" name="object 7"/>
          <p:cNvSpPr txBox="1">
            <a:spLocks noChangeArrowheads="1"/>
          </p:cNvSpPr>
          <p:nvPr/>
        </p:nvSpPr>
        <p:spPr bwMode="auto">
          <a:xfrm>
            <a:off x="914400" y="1643063"/>
            <a:ext cx="1227138" cy="573087"/>
          </a:xfrm>
          <a:prstGeom prst="rect">
            <a:avLst/>
          </a:prstGeom>
          <a:noFill/>
          <a:ln w="9525">
            <a:noFill/>
            <a:miter lim="800000"/>
            <a:headEnd/>
            <a:tailEnd/>
          </a:ln>
        </p:spPr>
        <p:txBody>
          <a:bodyPr lIns="0" tIns="12700" rIns="0" bIns="0">
            <a:spAutoFit/>
          </a:bodyPr>
          <a:lstStyle/>
          <a:p>
            <a:pPr marL="269875" indent="-73025">
              <a:spcBef>
                <a:spcPts val="100"/>
              </a:spcBef>
            </a:pPr>
            <a:r>
              <a:rPr lang="en-US">
                <a:solidFill>
                  <a:srgbClr val="FF0000"/>
                </a:solidFill>
                <a:latin typeface="Franklin Gothic Book" pitchFamily="34" charset="0"/>
              </a:rPr>
              <a:t>Interrupt  Control</a:t>
            </a:r>
            <a:endParaRPr lang="en-US">
              <a:latin typeface="Franklin Gothic Book" pitchFamily="34" charset="0"/>
            </a:endParaRPr>
          </a:p>
        </p:txBody>
      </p:sp>
      <p:sp>
        <p:nvSpPr>
          <p:cNvPr id="16392" name="object 8"/>
          <p:cNvSpPr>
            <a:spLocks noChangeArrowheads="1"/>
          </p:cNvSpPr>
          <p:nvPr/>
        </p:nvSpPr>
        <p:spPr bwMode="auto">
          <a:xfrm>
            <a:off x="609600" y="2743200"/>
            <a:ext cx="1752600" cy="1600200"/>
          </a:xfrm>
          <a:prstGeom prst="rect">
            <a:avLst/>
          </a:prstGeom>
          <a:blipFill dpi="0" rotWithShape="1">
            <a:blip r:embed="rId4"/>
            <a:srcRect/>
            <a:stretch>
              <a:fillRect/>
            </a:stretch>
          </a:blipFill>
          <a:ln w="9525">
            <a:noFill/>
            <a:miter lim="800000"/>
            <a:headEnd/>
            <a:tailEnd/>
          </a:ln>
        </p:spPr>
        <p:txBody>
          <a:bodyPr lIns="0" tIns="0" rIns="0" bIns="0"/>
          <a:lstStyle/>
          <a:p>
            <a:endParaRPr lang="en-US"/>
          </a:p>
        </p:txBody>
      </p:sp>
      <p:sp>
        <p:nvSpPr>
          <p:cNvPr id="16393" name="object 9"/>
          <p:cNvSpPr>
            <a:spLocks noChangeArrowheads="1"/>
          </p:cNvSpPr>
          <p:nvPr/>
        </p:nvSpPr>
        <p:spPr bwMode="auto">
          <a:xfrm>
            <a:off x="609600" y="2743200"/>
            <a:ext cx="1752600" cy="1600200"/>
          </a:xfrm>
          <a:custGeom>
            <a:avLst/>
            <a:gdLst>
              <a:gd name="T0" fmla="*/ 0 w 1752600"/>
              <a:gd name="T1" fmla="*/ 0 h 1600200"/>
              <a:gd name="T2" fmla="*/ 1752600 w 1752600"/>
              <a:gd name="T3" fmla="*/ 1600200 h 1600200"/>
            </a:gdLst>
            <a:ahLst/>
            <a:cxnLst/>
            <a:rect l="T0" t="T1" r="T2" b="T3"/>
            <a:pathLst>
              <a:path w="1752600" h="1600200">
                <a:moveTo>
                  <a:pt x="0" y="320548"/>
                </a:moveTo>
                <a:lnTo>
                  <a:pt x="320548" y="0"/>
                </a:lnTo>
                <a:lnTo>
                  <a:pt x="1752600" y="0"/>
                </a:lnTo>
                <a:lnTo>
                  <a:pt x="1752600" y="1279639"/>
                </a:lnTo>
                <a:lnTo>
                  <a:pt x="1432052" y="1600200"/>
                </a:lnTo>
                <a:lnTo>
                  <a:pt x="0" y="1600200"/>
                </a:lnTo>
                <a:lnTo>
                  <a:pt x="0" y="320548"/>
                </a:lnTo>
                <a:close/>
              </a:path>
            </a:pathLst>
          </a:custGeom>
          <a:noFill/>
          <a:ln w="12700">
            <a:solidFill>
              <a:srgbClr val="000000"/>
            </a:solidFill>
            <a:miter lim="800000"/>
            <a:headEnd/>
            <a:tailEnd/>
          </a:ln>
        </p:spPr>
        <p:txBody>
          <a:bodyPr lIns="0" tIns="0" rIns="0" bIns="0"/>
          <a:lstStyle/>
          <a:p>
            <a:endParaRPr lang="en-US"/>
          </a:p>
        </p:txBody>
      </p:sp>
      <p:sp>
        <p:nvSpPr>
          <p:cNvPr id="16394" name="object 10"/>
          <p:cNvSpPr>
            <a:spLocks noChangeArrowheads="1"/>
          </p:cNvSpPr>
          <p:nvPr/>
        </p:nvSpPr>
        <p:spPr bwMode="auto">
          <a:xfrm>
            <a:off x="609600" y="2743200"/>
            <a:ext cx="1752600" cy="320675"/>
          </a:xfrm>
          <a:custGeom>
            <a:avLst/>
            <a:gdLst>
              <a:gd name="T0" fmla="*/ 0 w 1752600"/>
              <a:gd name="T1" fmla="*/ 0 h 320675"/>
              <a:gd name="T2" fmla="*/ 1752600 w 1752600"/>
              <a:gd name="T3" fmla="*/ 320675 h 320675"/>
            </a:gdLst>
            <a:ahLst/>
            <a:cxnLst/>
            <a:rect l="T0" t="T1" r="T2" b="T3"/>
            <a:pathLst>
              <a:path w="1752600" h="320675">
                <a:moveTo>
                  <a:pt x="0" y="320548"/>
                </a:moveTo>
                <a:lnTo>
                  <a:pt x="1432052" y="320548"/>
                </a:lnTo>
                <a:lnTo>
                  <a:pt x="1752600" y="0"/>
                </a:lnTo>
              </a:path>
            </a:pathLst>
          </a:custGeom>
          <a:noFill/>
          <a:ln w="12700">
            <a:solidFill>
              <a:srgbClr val="000000"/>
            </a:solidFill>
            <a:miter lim="800000"/>
            <a:headEnd/>
            <a:tailEnd/>
          </a:ln>
        </p:spPr>
        <p:txBody>
          <a:bodyPr lIns="0" tIns="0" rIns="0" bIns="0"/>
          <a:lstStyle/>
          <a:p>
            <a:endParaRPr lang="en-US"/>
          </a:p>
        </p:txBody>
      </p:sp>
      <p:sp>
        <p:nvSpPr>
          <p:cNvPr id="16395" name="object 11"/>
          <p:cNvSpPr>
            <a:spLocks noChangeArrowheads="1"/>
          </p:cNvSpPr>
          <p:nvPr/>
        </p:nvSpPr>
        <p:spPr bwMode="auto">
          <a:xfrm>
            <a:off x="2041525" y="3063875"/>
            <a:ext cx="0" cy="1279525"/>
          </a:xfrm>
          <a:custGeom>
            <a:avLst/>
            <a:gdLst>
              <a:gd name="T0" fmla="*/ 0 h 1280160"/>
              <a:gd name="T1" fmla="*/ 1280160 h 1280160"/>
            </a:gdLst>
            <a:ahLst/>
            <a:cxnLst/>
            <a:rect l="0" t="T0" r="0" b="T1"/>
            <a:pathLst>
              <a:path h="1280160">
                <a:moveTo>
                  <a:pt x="0" y="0"/>
                </a:moveTo>
                <a:lnTo>
                  <a:pt x="0" y="1279652"/>
                </a:lnTo>
              </a:path>
            </a:pathLst>
          </a:custGeom>
          <a:noFill/>
          <a:ln w="12700">
            <a:solidFill>
              <a:srgbClr val="000000"/>
            </a:solidFill>
            <a:miter lim="800000"/>
            <a:headEnd/>
            <a:tailEnd/>
          </a:ln>
        </p:spPr>
        <p:txBody>
          <a:bodyPr lIns="0" tIns="0" rIns="0" bIns="0"/>
          <a:lstStyle/>
          <a:p>
            <a:endParaRPr lang="en-US"/>
          </a:p>
        </p:txBody>
      </p:sp>
      <p:sp>
        <p:nvSpPr>
          <p:cNvPr id="16396" name="object 12"/>
          <p:cNvSpPr txBox="1">
            <a:spLocks noChangeArrowheads="1"/>
          </p:cNvSpPr>
          <p:nvPr/>
        </p:nvSpPr>
        <p:spPr bwMode="auto">
          <a:xfrm>
            <a:off x="911225" y="3128963"/>
            <a:ext cx="828675" cy="1122362"/>
          </a:xfrm>
          <a:prstGeom prst="rect">
            <a:avLst/>
          </a:prstGeom>
          <a:noFill/>
          <a:ln w="9525">
            <a:noFill/>
            <a:miter lim="800000"/>
            <a:headEnd/>
            <a:tailEnd/>
          </a:ln>
        </p:spPr>
        <p:txBody>
          <a:bodyPr lIns="0" tIns="12700" rIns="0" bIns="0">
            <a:spAutoFit/>
          </a:bodyPr>
          <a:lstStyle/>
          <a:p>
            <a:pPr marL="12700" indent="17463">
              <a:spcBef>
                <a:spcPts val="100"/>
              </a:spcBef>
            </a:pPr>
            <a:r>
              <a:rPr lang="en-US" sz="3600">
                <a:solidFill>
                  <a:srgbClr val="FF0000"/>
                </a:solidFill>
                <a:latin typeface="Franklin Gothic Book" pitchFamily="34" charset="0"/>
              </a:rPr>
              <a:t>8bit  CPU</a:t>
            </a:r>
            <a:endParaRPr lang="en-US" sz="3600">
              <a:latin typeface="Franklin Gothic Book" pitchFamily="34" charset="0"/>
            </a:endParaRPr>
          </a:p>
        </p:txBody>
      </p:sp>
      <p:sp>
        <p:nvSpPr>
          <p:cNvPr id="16397" name="object 13"/>
          <p:cNvSpPr>
            <a:spLocks noChangeArrowheads="1"/>
          </p:cNvSpPr>
          <p:nvPr/>
        </p:nvSpPr>
        <p:spPr bwMode="auto">
          <a:xfrm>
            <a:off x="3124200" y="1143000"/>
            <a:ext cx="1295400" cy="1357313"/>
          </a:xfrm>
          <a:prstGeom prst="rect">
            <a:avLst/>
          </a:prstGeom>
          <a:blipFill dpi="0" rotWithShape="1">
            <a:blip r:embed="rId5"/>
            <a:srcRect/>
            <a:stretch>
              <a:fillRect/>
            </a:stretch>
          </a:blipFill>
          <a:ln w="9525">
            <a:noFill/>
            <a:miter lim="800000"/>
            <a:headEnd/>
            <a:tailEnd/>
          </a:ln>
        </p:spPr>
        <p:txBody>
          <a:bodyPr lIns="0" tIns="0" rIns="0" bIns="0"/>
          <a:lstStyle/>
          <a:p>
            <a:endParaRPr lang="en-US"/>
          </a:p>
        </p:txBody>
      </p:sp>
      <p:sp>
        <p:nvSpPr>
          <p:cNvPr id="16398" name="object 14"/>
          <p:cNvSpPr>
            <a:spLocks noChangeArrowheads="1"/>
          </p:cNvSpPr>
          <p:nvPr/>
        </p:nvSpPr>
        <p:spPr bwMode="auto">
          <a:xfrm>
            <a:off x="3124200" y="1143000"/>
            <a:ext cx="1295400" cy="1357313"/>
          </a:xfrm>
          <a:custGeom>
            <a:avLst/>
            <a:gdLst>
              <a:gd name="T0" fmla="*/ 0 w 1295400"/>
              <a:gd name="T1" fmla="*/ 0 h 1357630"/>
              <a:gd name="T2" fmla="*/ 1295400 w 1295400"/>
              <a:gd name="T3" fmla="*/ 1357630 h 1357630"/>
            </a:gdLst>
            <a:ahLst/>
            <a:cxnLst/>
            <a:rect l="T0" t="T1" r="T2" b="T3"/>
            <a:pathLst>
              <a:path w="1295400" h="1357630">
                <a:moveTo>
                  <a:pt x="0" y="180632"/>
                </a:moveTo>
                <a:lnTo>
                  <a:pt x="180632" y="0"/>
                </a:lnTo>
                <a:lnTo>
                  <a:pt x="1295400" y="0"/>
                </a:lnTo>
                <a:lnTo>
                  <a:pt x="1295400" y="1176680"/>
                </a:lnTo>
                <a:lnTo>
                  <a:pt x="1114767" y="1357312"/>
                </a:lnTo>
                <a:lnTo>
                  <a:pt x="0" y="1357312"/>
                </a:lnTo>
                <a:lnTo>
                  <a:pt x="0" y="180632"/>
                </a:lnTo>
                <a:close/>
              </a:path>
            </a:pathLst>
          </a:custGeom>
          <a:noFill/>
          <a:ln w="12700">
            <a:solidFill>
              <a:srgbClr val="000000"/>
            </a:solidFill>
            <a:miter lim="800000"/>
            <a:headEnd/>
            <a:tailEnd/>
          </a:ln>
        </p:spPr>
        <p:txBody>
          <a:bodyPr lIns="0" tIns="0" rIns="0" bIns="0"/>
          <a:lstStyle/>
          <a:p>
            <a:endParaRPr lang="en-US"/>
          </a:p>
        </p:txBody>
      </p:sp>
      <p:sp>
        <p:nvSpPr>
          <p:cNvPr id="16399" name="object 15"/>
          <p:cNvSpPr>
            <a:spLocks noChangeArrowheads="1"/>
          </p:cNvSpPr>
          <p:nvPr/>
        </p:nvSpPr>
        <p:spPr bwMode="auto">
          <a:xfrm>
            <a:off x="3124200" y="1143000"/>
            <a:ext cx="1295400" cy="180975"/>
          </a:xfrm>
          <a:custGeom>
            <a:avLst/>
            <a:gdLst>
              <a:gd name="T0" fmla="*/ 0 w 1295400"/>
              <a:gd name="T1" fmla="*/ 0 h 180975"/>
              <a:gd name="T2" fmla="*/ 1295400 w 1295400"/>
              <a:gd name="T3" fmla="*/ 180975 h 180975"/>
            </a:gdLst>
            <a:ahLst/>
            <a:cxnLst/>
            <a:rect l="T0" t="T1" r="T2" b="T3"/>
            <a:pathLst>
              <a:path w="1295400" h="180975">
                <a:moveTo>
                  <a:pt x="0" y="180632"/>
                </a:moveTo>
                <a:lnTo>
                  <a:pt x="1114767" y="180632"/>
                </a:lnTo>
                <a:lnTo>
                  <a:pt x="1295400" y="0"/>
                </a:lnTo>
              </a:path>
            </a:pathLst>
          </a:custGeom>
          <a:noFill/>
          <a:ln w="12699">
            <a:solidFill>
              <a:srgbClr val="000000"/>
            </a:solidFill>
            <a:miter lim="800000"/>
            <a:headEnd/>
            <a:tailEnd/>
          </a:ln>
        </p:spPr>
        <p:txBody>
          <a:bodyPr lIns="0" tIns="0" rIns="0" bIns="0"/>
          <a:lstStyle/>
          <a:p>
            <a:endParaRPr lang="en-US"/>
          </a:p>
        </p:txBody>
      </p:sp>
      <p:sp>
        <p:nvSpPr>
          <p:cNvPr id="16400" name="object 16"/>
          <p:cNvSpPr>
            <a:spLocks noChangeArrowheads="1"/>
          </p:cNvSpPr>
          <p:nvPr/>
        </p:nvSpPr>
        <p:spPr bwMode="auto">
          <a:xfrm>
            <a:off x="4238625" y="1323975"/>
            <a:ext cx="0" cy="1176338"/>
          </a:xfrm>
          <a:custGeom>
            <a:avLst/>
            <a:gdLst>
              <a:gd name="T0" fmla="*/ 0 h 1177289"/>
              <a:gd name="T1" fmla="*/ 1177289 h 1177289"/>
            </a:gdLst>
            <a:ahLst/>
            <a:cxnLst/>
            <a:rect l="0" t="T0" r="0" b="T1"/>
            <a:pathLst>
              <a:path h="1177289">
                <a:moveTo>
                  <a:pt x="0" y="0"/>
                </a:moveTo>
                <a:lnTo>
                  <a:pt x="0" y="1176680"/>
                </a:lnTo>
              </a:path>
            </a:pathLst>
          </a:custGeom>
          <a:noFill/>
          <a:ln w="12700">
            <a:solidFill>
              <a:srgbClr val="000000"/>
            </a:solidFill>
            <a:miter lim="800000"/>
            <a:headEnd/>
            <a:tailEnd/>
          </a:ln>
        </p:spPr>
        <p:txBody>
          <a:bodyPr lIns="0" tIns="0" rIns="0" bIns="0"/>
          <a:lstStyle/>
          <a:p>
            <a:endParaRPr lang="en-US"/>
          </a:p>
        </p:txBody>
      </p:sp>
      <p:sp>
        <p:nvSpPr>
          <p:cNvPr id="16401" name="object 17"/>
          <p:cNvSpPr txBox="1">
            <a:spLocks noChangeArrowheads="1"/>
          </p:cNvSpPr>
          <p:nvPr/>
        </p:nvSpPr>
        <p:spPr bwMode="auto">
          <a:xfrm>
            <a:off x="3124200" y="1524000"/>
            <a:ext cx="1108075" cy="757238"/>
          </a:xfrm>
          <a:prstGeom prst="rect">
            <a:avLst/>
          </a:prstGeom>
          <a:noFill/>
          <a:ln w="9525">
            <a:noFill/>
            <a:miter lim="800000"/>
            <a:headEnd/>
            <a:tailEnd/>
          </a:ln>
        </p:spPr>
        <p:txBody>
          <a:bodyPr lIns="0" tIns="12700" rIns="0" bIns="0">
            <a:spAutoFit/>
          </a:bodyPr>
          <a:lstStyle/>
          <a:p>
            <a:pPr marL="242888" indent="125413">
              <a:spcBef>
                <a:spcPts val="100"/>
              </a:spcBef>
            </a:pPr>
            <a:r>
              <a:rPr lang="en-US" sz="2400">
                <a:solidFill>
                  <a:srgbClr val="FF0000"/>
                </a:solidFill>
                <a:latin typeface="Franklin Gothic Book" pitchFamily="34" charset="0"/>
              </a:rPr>
              <a:t>4K  ROM</a:t>
            </a:r>
            <a:endParaRPr lang="en-US" sz="2400">
              <a:latin typeface="Franklin Gothic Book" pitchFamily="34" charset="0"/>
            </a:endParaRPr>
          </a:p>
        </p:txBody>
      </p:sp>
      <p:sp>
        <p:nvSpPr>
          <p:cNvPr id="16402" name="object 18"/>
          <p:cNvSpPr>
            <a:spLocks noChangeArrowheads="1"/>
          </p:cNvSpPr>
          <p:nvPr/>
        </p:nvSpPr>
        <p:spPr bwMode="auto">
          <a:xfrm>
            <a:off x="5089525" y="1357313"/>
            <a:ext cx="1066800" cy="1143000"/>
          </a:xfrm>
          <a:prstGeom prst="rect">
            <a:avLst/>
          </a:prstGeom>
          <a:blipFill dpi="0" rotWithShape="1">
            <a:blip r:embed="rId6"/>
            <a:srcRect/>
            <a:stretch>
              <a:fillRect/>
            </a:stretch>
          </a:blipFill>
          <a:ln w="9525">
            <a:noFill/>
            <a:miter lim="800000"/>
            <a:headEnd/>
            <a:tailEnd/>
          </a:ln>
        </p:spPr>
        <p:txBody>
          <a:bodyPr lIns="0" tIns="0" rIns="0" bIns="0"/>
          <a:lstStyle/>
          <a:p>
            <a:endParaRPr lang="en-US"/>
          </a:p>
        </p:txBody>
      </p:sp>
      <p:sp>
        <p:nvSpPr>
          <p:cNvPr id="16403" name="object 19"/>
          <p:cNvSpPr>
            <a:spLocks noChangeArrowheads="1"/>
          </p:cNvSpPr>
          <p:nvPr/>
        </p:nvSpPr>
        <p:spPr bwMode="auto">
          <a:xfrm>
            <a:off x="5089525" y="1357313"/>
            <a:ext cx="1066800" cy="1143000"/>
          </a:xfrm>
          <a:custGeom>
            <a:avLst/>
            <a:gdLst>
              <a:gd name="T0" fmla="*/ 0 w 1066800"/>
              <a:gd name="T1" fmla="*/ 0 h 1143000"/>
              <a:gd name="T2" fmla="*/ 1066800 w 1066800"/>
              <a:gd name="T3" fmla="*/ 1143000 h 1143000"/>
            </a:gdLst>
            <a:ahLst/>
            <a:cxnLst/>
            <a:rect l="T0" t="T1" r="T2" b="T3"/>
            <a:pathLst>
              <a:path w="1066800" h="1143000">
                <a:moveTo>
                  <a:pt x="0" y="148755"/>
                </a:moveTo>
                <a:lnTo>
                  <a:pt x="148755" y="0"/>
                </a:lnTo>
                <a:lnTo>
                  <a:pt x="1066800" y="0"/>
                </a:lnTo>
                <a:lnTo>
                  <a:pt x="1066800" y="994244"/>
                </a:lnTo>
                <a:lnTo>
                  <a:pt x="918044" y="1143000"/>
                </a:lnTo>
                <a:lnTo>
                  <a:pt x="0" y="1143000"/>
                </a:lnTo>
                <a:lnTo>
                  <a:pt x="0" y="148755"/>
                </a:lnTo>
                <a:close/>
              </a:path>
            </a:pathLst>
          </a:custGeom>
          <a:noFill/>
          <a:ln w="12700">
            <a:solidFill>
              <a:srgbClr val="000000"/>
            </a:solidFill>
            <a:miter lim="800000"/>
            <a:headEnd/>
            <a:tailEnd/>
          </a:ln>
        </p:spPr>
        <p:txBody>
          <a:bodyPr lIns="0" tIns="0" rIns="0" bIns="0"/>
          <a:lstStyle/>
          <a:p>
            <a:endParaRPr lang="en-US"/>
          </a:p>
        </p:txBody>
      </p:sp>
      <p:sp>
        <p:nvSpPr>
          <p:cNvPr id="16404" name="object 20"/>
          <p:cNvSpPr>
            <a:spLocks noChangeArrowheads="1"/>
          </p:cNvSpPr>
          <p:nvPr/>
        </p:nvSpPr>
        <p:spPr bwMode="auto">
          <a:xfrm>
            <a:off x="5089525" y="1357313"/>
            <a:ext cx="1066800" cy="149225"/>
          </a:xfrm>
          <a:custGeom>
            <a:avLst/>
            <a:gdLst>
              <a:gd name="T0" fmla="*/ 0 w 1066800"/>
              <a:gd name="T1" fmla="*/ 0 h 149225"/>
              <a:gd name="T2" fmla="*/ 1066800 w 1066800"/>
              <a:gd name="T3" fmla="*/ 149225 h 149225"/>
            </a:gdLst>
            <a:ahLst/>
            <a:cxnLst/>
            <a:rect l="T0" t="T1" r="T2" b="T3"/>
            <a:pathLst>
              <a:path w="1066800" h="149225">
                <a:moveTo>
                  <a:pt x="0" y="148755"/>
                </a:moveTo>
                <a:lnTo>
                  <a:pt x="918044" y="148755"/>
                </a:lnTo>
                <a:lnTo>
                  <a:pt x="1066800" y="0"/>
                </a:lnTo>
              </a:path>
            </a:pathLst>
          </a:custGeom>
          <a:noFill/>
          <a:ln w="12700">
            <a:solidFill>
              <a:srgbClr val="000000"/>
            </a:solidFill>
            <a:miter lim="800000"/>
            <a:headEnd/>
            <a:tailEnd/>
          </a:ln>
        </p:spPr>
        <p:txBody>
          <a:bodyPr lIns="0" tIns="0" rIns="0" bIns="0"/>
          <a:lstStyle/>
          <a:p>
            <a:endParaRPr lang="en-US"/>
          </a:p>
        </p:txBody>
      </p:sp>
      <p:sp>
        <p:nvSpPr>
          <p:cNvPr id="16405" name="object 21"/>
          <p:cNvSpPr>
            <a:spLocks noChangeArrowheads="1"/>
          </p:cNvSpPr>
          <p:nvPr/>
        </p:nvSpPr>
        <p:spPr bwMode="auto">
          <a:xfrm>
            <a:off x="6007100" y="1506538"/>
            <a:ext cx="0" cy="993775"/>
          </a:xfrm>
          <a:custGeom>
            <a:avLst/>
            <a:gdLst>
              <a:gd name="T0" fmla="*/ 0 h 994410"/>
              <a:gd name="T1" fmla="*/ 994410 h 994410"/>
            </a:gdLst>
            <a:ahLst/>
            <a:cxnLst/>
            <a:rect l="0" t="T0" r="0" b="T1"/>
            <a:pathLst>
              <a:path h="994410">
                <a:moveTo>
                  <a:pt x="0" y="0"/>
                </a:moveTo>
                <a:lnTo>
                  <a:pt x="0" y="994244"/>
                </a:lnTo>
              </a:path>
            </a:pathLst>
          </a:custGeom>
          <a:noFill/>
          <a:ln w="12700">
            <a:solidFill>
              <a:srgbClr val="000000"/>
            </a:solidFill>
            <a:miter lim="800000"/>
            <a:headEnd/>
            <a:tailEnd/>
          </a:ln>
        </p:spPr>
        <p:txBody>
          <a:bodyPr lIns="0" tIns="0" rIns="0" bIns="0"/>
          <a:lstStyle/>
          <a:p>
            <a:endParaRPr lang="en-US"/>
          </a:p>
        </p:txBody>
      </p:sp>
      <p:sp>
        <p:nvSpPr>
          <p:cNvPr id="16406" name="object 22"/>
          <p:cNvSpPr txBox="1">
            <a:spLocks noChangeArrowheads="1"/>
          </p:cNvSpPr>
          <p:nvPr/>
        </p:nvSpPr>
        <p:spPr bwMode="auto">
          <a:xfrm>
            <a:off x="5089525" y="1616075"/>
            <a:ext cx="911225" cy="755650"/>
          </a:xfrm>
          <a:prstGeom prst="rect">
            <a:avLst/>
          </a:prstGeom>
          <a:noFill/>
          <a:ln w="9525">
            <a:noFill/>
            <a:miter lim="800000"/>
            <a:headEnd/>
            <a:tailEnd/>
          </a:ln>
        </p:spPr>
        <p:txBody>
          <a:bodyPr lIns="0" tIns="12700" rIns="0" bIns="0">
            <a:spAutoFit/>
          </a:bodyPr>
          <a:lstStyle/>
          <a:p>
            <a:pPr marL="157163" indent="-96838">
              <a:spcBef>
                <a:spcPts val="100"/>
              </a:spcBef>
            </a:pPr>
            <a:r>
              <a:rPr lang="en-US" sz="2400">
                <a:solidFill>
                  <a:srgbClr val="FF0000"/>
                </a:solidFill>
                <a:latin typeface="Franklin Gothic Book" pitchFamily="34" charset="0"/>
              </a:rPr>
              <a:t>256 B  RAM</a:t>
            </a:r>
            <a:endParaRPr lang="en-US" sz="2400">
              <a:latin typeface="Franklin Gothic Book" pitchFamily="34" charset="0"/>
            </a:endParaRPr>
          </a:p>
        </p:txBody>
      </p:sp>
      <p:sp>
        <p:nvSpPr>
          <p:cNvPr id="16407" name="object 23"/>
          <p:cNvSpPr>
            <a:spLocks noChangeArrowheads="1"/>
          </p:cNvSpPr>
          <p:nvPr/>
        </p:nvSpPr>
        <p:spPr bwMode="auto">
          <a:xfrm>
            <a:off x="914400" y="4876800"/>
            <a:ext cx="1219200" cy="838200"/>
          </a:xfrm>
          <a:prstGeom prst="rect">
            <a:avLst/>
          </a:prstGeom>
          <a:blipFill dpi="0" rotWithShape="1">
            <a:blip r:embed="rId7"/>
            <a:srcRect/>
            <a:stretch>
              <a:fillRect/>
            </a:stretch>
          </a:blipFill>
          <a:ln w="9525">
            <a:noFill/>
            <a:miter lim="800000"/>
            <a:headEnd/>
            <a:tailEnd/>
          </a:ln>
        </p:spPr>
        <p:txBody>
          <a:bodyPr lIns="0" tIns="0" rIns="0" bIns="0"/>
          <a:lstStyle/>
          <a:p>
            <a:endParaRPr lang="en-US"/>
          </a:p>
        </p:txBody>
      </p:sp>
      <p:sp>
        <p:nvSpPr>
          <p:cNvPr id="16408" name="object 24"/>
          <p:cNvSpPr>
            <a:spLocks noChangeArrowheads="1"/>
          </p:cNvSpPr>
          <p:nvPr/>
        </p:nvSpPr>
        <p:spPr bwMode="auto">
          <a:xfrm>
            <a:off x="914400" y="4876800"/>
            <a:ext cx="1219200" cy="838200"/>
          </a:xfrm>
          <a:custGeom>
            <a:avLst/>
            <a:gdLst>
              <a:gd name="T0" fmla="*/ 0 w 1219200"/>
              <a:gd name="T1" fmla="*/ 0 h 838200"/>
              <a:gd name="T2" fmla="*/ 1219200 w 1219200"/>
              <a:gd name="T3" fmla="*/ 838200 h 838200"/>
            </a:gdLst>
            <a:ahLst/>
            <a:cxnLst/>
            <a:rect l="T0" t="T1" r="T2" b="T3"/>
            <a:pathLst>
              <a:path w="1219200" h="838200">
                <a:moveTo>
                  <a:pt x="0" y="116878"/>
                </a:moveTo>
                <a:lnTo>
                  <a:pt x="116878" y="0"/>
                </a:lnTo>
                <a:lnTo>
                  <a:pt x="1219200" y="0"/>
                </a:lnTo>
                <a:lnTo>
                  <a:pt x="1219200" y="721321"/>
                </a:lnTo>
                <a:lnTo>
                  <a:pt x="1102321" y="838200"/>
                </a:lnTo>
                <a:lnTo>
                  <a:pt x="0" y="838200"/>
                </a:lnTo>
                <a:lnTo>
                  <a:pt x="0" y="116878"/>
                </a:lnTo>
                <a:close/>
              </a:path>
            </a:pathLst>
          </a:custGeom>
          <a:noFill/>
          <a:ln w="12700">
            <a:solidFill>
              <a:srgbClr val="000000"/>
            </a:solidFill>
            <a:miter lim="800000"/>
            <a:headEnd/>
            <a:tailEnd/>
          </a:ln>
        </p:spPr>
        <p:txBody>
          <a:bodyPr lIns="0" tIns="0" rIns="0" bIns="0"/>
          <a:lstStyle/>
          <a:p>
            <a:endParaRPr lang="en-US"/>
          </a:p>
        </p:txBody>
      </p:sp>
      <p:sp>
        <p:nvSpPr>
          <p:cNvPr id="16409" name="object 25"/>
          <p:cNvSpPr>
            <a:spLocks noChangeArrowheads="1"/>
          </p:cNvSpPr>
          <p:nvPr/>
        </p:nvSpPr>
        <p:spPr bwMode="auto">
          <a:xfrm>
            <a:off x="914400" y="4876800"/>
            <a:ext cx="1219200" cy="117475"/>
          </a:xfrm>
          <a:custGeom>
            <a:avLst/>
            <a:gdLst>
              <a:gd name="T0" fmla="*/ 0 w 1219200"/>
              <a:gd name="T1" fmla="*/ 0 h 117475"/>
              <a:gd name="T2" fmla="*/ 1219200 w 1219200"/>
              <a:gd name="T3" fmla="*/ 117475 h 117475"/>
            </a:gdLst>
            <a:ahLst/>
            <a:cxnLst/>
            <a:rect l="T0" t="T1" r="T2" b="T3"/>
            <a:pathLst>
              <a:path w="1219200" h="117475">
                <a:moveTo>
                  <a:pt x="0" y="116878"/>
                </a:moveTo>
                <a:lnTo>
                  <a:pt x="1102321" y="116878"/>
                </a:lnTo>
                <a:lnTo>
                  <a:pt x="1219200" y="0"/>
                </a:lnTo>
              </a:path>
            </a:pathLst>
          </a:custGeom>
          <a:noFill/>
          <a:ln w="12700">
            <a:solidFill>
              <a:srgbClr val="000000"/>
            </a:solidFill>
            <a:miter lim="800000"/>
            <a:headEnd/>
            <a:tailEnd/>
          </a:ln>
        </p:spPr>
        <p:txBody>
          <a:bodyPr lIns="0" tIns="0" rIns="0" bIns="0"/>
          <a:lstStyle/>
          <a:p>
            <a:endParaRPr lang="en-US"/>
          </a:p>
        </p:txBody>
      </p:sp>
      <p:sp>
        <p:nvSpPr>
          <p:cNvPr id="16410" name="object 26"/>
          <p:cNvSpPr>
            <a:spLocks noChangeArrowheads="1"/>
          </p:cNvSpPr>
          <p:nvPr/>
        </p:nvSpPr>
        <p:spPr bwMode="auto">
          <a:xfrm>
            <a:off x="2016125" y="4994275"/>
            <a:ext cx="0" cy="720725"/>
          </a:xfrm>
          <a:custGeom>
            <a:avLst/>
            <a:gdLst>
              <a:gd name="T0" fmla="*/ 0 h 721360"/>
              <a:gd name="T1" fmla="*/ 721360 h 721360"/>
            </a:gdLst>
            <a:ahLst/>
            <a:cxnLst/>
            <a:rect l="0" t="T0" r="0" b="T1"/>
            <a:pathLst>
              <a:path h="721360">
                <a:moveTo>
                  <a:pt x="0" y="0"/>
                </a:moveTo>
                <a:lnTo>
                  <a:pt x="0" y="721321"/>
                </a:lnTo>
              </a:path>
            </a:pathLst>
          </a:custGeom>
          <a:noFill/>
          <a:ln w="12700">
            <a:solidFill>
              <a:srgbClr val="000000"/>
            </a:solidFill>
            <a:miter lim="800000"/>
            <a:headEnd/>
            <a:tailEnd/>
          </a:ln>
        </p:spPr>
        <p:txBody>
          <a:bodyPr lIns="0" tIns="0" rIns="0" bIns="0"/>
          <a:lstStyle/>
          <a:p>
            <a:endParaRPr lang="en-US"/>
          </a:p>
        </p:txBody>
      </p:sp>
      <p:sp>
        <p:nvSpPr>
          <p:cNvPr id="16411" name="object 27"/>
          <p:cNvSpPr txBox="1">
            <a:spLocks noChangeArrowheads="1"/>
          </p:cNvSpPr>
          <p:nvPr/>
        </p:nvSpPr>
        <p:spPr bwMode="auto">
          <a:xfrm>
            <a:off x="914400" y="5149850"/>
            <a:ext cx="1095375" cy="390525"/>
          </a:xfrm>
          <a:prstGeom prst="rect">
            <a:avLst/>
          </a:prstGeom>
          <a:noFill/>
          <a:ln w="9525">
            <a:noFill/>
            <a:miter lim="800000"/>
            <a:headEnd/>
            <a:tailEnd/>
          </a:ln>
        </p:spPr>
        <p:txBody>
          <a:bodyPr lIns="0" tIns="12700" rIns="0" bIns="0">
            <a:spAutoFit/>
          </a:bodyPr>
          <a:lstStyle/>
          <a:p>
            <a:pPr marL="276225">
              <a:spcBef>
                <a:spcPts val="100"/>
              </a:spcBef>
            </a:pPr>
            <a:r>
              <a:rPr lang="en-US" sz="2400">
                <a:solidFill>
                  <a:srgbClr val="FF0000"/>
                </a:solidFill>
                <a:latin typeface="Franklin Gothic Book" pitchFamily="34" charset="0"/>
              </a:rPr>
              <a:t>OSC</a:t>
            </a:r>
            <a:endParaRPr lang="en-US" sz="2400">
              <a:latin typeface="Franklin Gothic Book" pitchFamily="34" charset="0"/>
            </a:endParaRPr>
          </a:p>
        </p:txBody>
      </p:sp>
      <p:sp>
        <p:nvSpPr>
          <p:cNvPr id="16412" name="object 28"/>
          <p:cNvSpPr>
            <a:spLocks noChangeArrowheads="1"/>
          </p:cNvSpPr>
          <p:nvPr/>
        </p:nvSpPr>
        <p:spPr bwMode="auto">
          <a:xfrm>
            <a:off x="2819400" y="4745038"/>
            <a:ext cx="1143000" cy="990600"/>
          </a:xfrm>
          <a:prstGeom prst="rect">
            <a:avLst/>
          </a:prstGeom>
          <a:blipFill dpi="0" rotWithShape="1">
            <a:blip r:embed="rId8"/>
            <a:srcRect/>
            <a:stretch>
              <a:fillRect/>
            </a:stretch>
          </a:blipFill>
          <a:ln w="9525">
            <a:noFill/>
            <a:miter lim="800000"/>
            <a:headEnd/>
            <a:tailEnd/>
          </a:ln>
        </p:spPr>
        <p:txBody>
          <a:bodyPr lIns="0" tIns="0" rIns="0" bIns="0"/>
          <a:lstStyle/>
          <a:p>
            <a:endParaRPr lang="en-US"/>
          </a:p>
        </p:txBody>
      </p:sp>
      <p:sp>
        <p:nvSpPr>
          <p:cNvPr id="16413" name="object 29"/>
          <p:cNvSpPr>
            <a:spLocks noChangeArrowheads="1"/>
          </p:cNvSpPr>
          <p:nvPr/>
        </p:nvSpPr>
        <p:spPr bwMode="auto">
          <a:xfrm>
            <a:off x="2819400" y="4745038"/>
            <a:ext cx="1143000" cy="990600"/>
          </a:xfrm>
          <a:custGeom>
            <a:avLst/>
            <a:gdLst>
              <a:gd name="T0" fmla="*/ 0 w 1143000"/>
              <a:gd name="T1" fmla="*/ 0 h 990600"/>
              <a:gd name="T2" fmla="*/ 1143000 w 1143000"/>
              <a:gd name="T3" fmla="*/ 990600 h 990600"/>
            </a:gdLst>
            <a:ahLst/>
            <a:cxnLst/>
            <a:rect l="T0" t="T1" r="T2" b="T3"/>
            <a:pathLst>
              <a:path w="1143000" h="990600">
                <a:moveTo>
                  <a:pt x="0" y="138125"/>
                </a:moveTo>
                <a:lnTo>
                  <a:pt x="138125" y="0"/>
                </a:lnTo>
                <a:lnTo>
                  <a:pt x="1143000" y="0"/>
                </a:lnTo>
                <a:lnTo>
                  <a:pt x="1143000" y="852462"/>
                </a:lnTo>
                <a:lnTo>
                  <a:pt x="1004874" y="990600"/>
                </a:lnTo>
                <a:lnTo>
                  <a:pt x="0" y="990600"/>
                </a:lnTo>
                <a:lnTo>
                  <a:pt x="0" y="138125"/>
                </a:lnTo>
                <a:close/>
              </a:path>
            </a:pathLst>
          </a:custGeom>
          <a:noFill/>
          <a:ln w="12700">
            <a:solidFill>
              <a:srgbClr val="000000"/>
            </a:solidFill>
            <a:miter lim="800000"/>
            <a:headEnd/>
            <a:tailEnd/>
          </a:ln>
        </p:spPr>
        <p:txBody>
          <a:bodyPr lIns="0" tIns="0" rIns="0" bIns="0"/>
          <a:lstStyle/>
          <a:p>
            <a:endParaRPr lang="en-US"/>
          </a:p>
        </p:txBody>
      </p:sp>
      <p:sp>
        <p:nvSpPr>
          <p:cNvPr id="16414" name="object 30"/>
          <p:cNvSpPr>
            <a:spLocks noChangeArrowheads="1"/>
          </p:cNvSpPr>
          <p:nvPr/>
        </p:nvSpPr>
        <p:spPr bwMode="auto">
          <a:xfrm>
            <a:off x="2819400" y="4745038"/>
            <a:ext cx="1143000" cy="138112"/>
          </a:xfrm>
          <a:custGeom>
            <a:avLst/>
            <a:gdLst>
              <a:gd name="T0" fmla="*/ 0 w 1143000"/>
              <a:gd name="T1" fmla="*/ 0 h 138429"/>
              <a:gd name="T2" fmla="*/ 1143000 w 1143000"/>
              <a:gd name="T3" fmla="*/ 138429 h 138429"/>
            </a:gdLst>
            <a:ahLst/>
            <a:cxnLst/>
            <a:rect l="T0" t="T1" r="T2" b="T3"/>
            <a:pathLst>
              <a:path w="1143000" h="138429">
                <a:moveTo>
                  <a:pt x="0" y="138125"/>
                </a:moveTo>
                <a:lnTo>
                  <a:pt x="1004874" y="138125"/>
                </a:lnTo>
                <a:lnTo>
                  <a:pt x="1143000" y="0"/>
                </a:lnTo>
              </a:path>
            </a:pathLst>
          </a:custGeom>
          <a:noFill/>
          <a:ln w="12700">
            <a:solidFill>
              <a:srgbClr val="000000"/>
            </a:solidFill>
            <a:miter lim="800000"/>
            <a:headEnd/>
            <a:tailEnd/>
          </a:ln>
        </p:spPr>
        <p:txBody>
          <a:bodyPr lIns="0" tIns="0" rIns="0" bIns="0"/>
          <a:lstStyle/>
          <a:p>
            <a:endParaRPr lang="en-US"/>
          </a:p>
        </p:txBody>
      </p:sp>
      <p:sp>
        <p:nvSpPr>
          <p:cNvPr id="16415" name="object 31"/>
          <p:cNvSpPr>
            <a:spLocks noChangeArrowheads="1"/>
          </p:cNvSpPr>
          <p:nvPr/>
        </p:nvSpPr>
        <p:spPr bwMode="auto">
          <a:xfrm>
            <a:off x="3824288" y="4883150"/>
            <a:ext cx="0" cy="852488"/>
          </a:xfrm>
          <a:custGeom>
            <a:avLst/>
            <a:gdLst>
              <a:gd name="T0" fmla="*/ 0 h 852804"/>
              <a:gd name="T1" fmla="*/ 852804 h 852804"/>
            </a:gdLst>
            <a:ahLst/>
            <a:cxnLst/>
            <a:rect l="0" t="T0" r="0" b="T1"/>
            <a:pathLst>
              <a:path h="852804">
                <a:moveTo>
                  <a:pt x="0" y="0"/>
                </a:moveTo>
                <a:lnTo>
                  <a:pt x="0" y="852474"/>
                </a:lnTo>
              </a:path>
            </a:pathLst>
          </a:custGeom>
          <a:noFill/>
          <a:ln w="12700">
            <a:solidFill>
              <a:srgbClr val="000000"/>
            </a:solidFill>
            <a:miter lim="800000"/>
            <a:headEnd/>
            <a:tailEnd/>
          </a:ln>
        </p:spPr>
        <p:txBody>
          <a:bodyPr lIns="0" tIns="0" rIns="0" bIns="0"/>
          <a:lstStyle/>
          <a:p>
            <a:endParaRPr lang="en-US"/>
          </a:p>
        </p:txBody>
      </p:sp>
      <p:sp>
        <p:nvSpPr>
          <p:cNvPr id="16416" name="object 32"/>
          <p:cNvSpPr txBox="1">
            <a:spLocks noChangeArrowheads="1"/>
          </p:cNvSpPr>
          <p:nvPr/>
        </p:nvSpPr>
        <p:spPr bwMode="auto">
          <a:xfrm>
            <a:off x="2819400" y="5016500"/>
            <a:ext cx="998538" cy="573088"/>
          </a:xfrm>
          <a:prstGeom prst="rect">
            <a:avLst/>
          </a:prstGeom>
          <a:noFill/>
          <a:ln w="9525">
            <a:noFill/>
            <a:miter lim="800000"/>
            <a:headEnd/>
            <a:tailEnd/>
          </a:ln>
        </p:spPr>
        <p:txBody>
          <a:bodyPr lIns="0" tIns="12700" rIns="0" bIns="0">
            <a:spAutoFit/>
          </a:bodyPr>
          <a:lstStyle/>
          <a:p>
            <a:pPr marL="155575" indent="158750">
              <a:spcBef>
                <a:spcPts val="100"/>
              </a:spcBef>
            </a:pPr>
            <a:r>
              <a:rPr lang="en-US">
                <a:solidFill>
                  <a:srgbClr val="FF0000"/>
                </a:solidFill>
                <a:latin typeface="Franklin Gothic Book" pitchFamily="34" charset="0"/>
              </a:rPr>
              <a:t>Bus  Control</a:t>
            </a:r>
            <a:endParaRPr lang="en-US">
              <a:latin typeface="Franklin Gothic Book" pitchFamily="34" charset="0"/>
            </a:endParaRPr>
          </a:p>
        </p:txBody>
      </p:sp>
      <p:sp>
        <p:nvSpPr>
          <p:cNvPr id="16417" name="object 33"/>
          <p:cNvSpPr>
            <a:spLocks noChangeArrowheads="1"/>
          </p:cNvSpPr>
          <p:nvPr/>
        </p:nvSpPr>
        <p:spPr bwMode="auto">
          <a:xfrm>
            <a:off x="4495800" y="4724400"/>
            <a:ext cx="2286000" cy="990600"/>
          </a:xfrm>
          <a:prstGeom prst="rect">
            <a:avLst/>
          </a:prstGeom>
          <a:blipFill dpi="0" rotWithShape="1">
            <a:blip r:embed="rId9"/>
            <a:srcRect/>
            <a:stretch>
              <a:fillRect/>
            </a:stretch>
          </a:blipFill>
          <a:ln w="9525">
            <a:noFill/>
            <a:miter lim="800000"/>
            <a:headEnd/>
            <a:tailEnd/>
          </a:ln>
        </p:spPr>
        <p:txBody>
          <a:bodyPr lIns="0" tIns="0" rIns="0" bIns="0"/>
          <a:lstStyle/>
          <a:p>
            <a:endParaRPr lang="en-US"/>
          </a:p>
        </p:txBody>
      </p:sp>
      <p:sp>
        <p:nvSpPr>
          <p:cNvPr id="16418" name="object 34"/>
          <p:cNvSpPr>
            <a:spLocks noChangeArrowheads="1"/>
          </p:cNvSpPr>
          <p:nvPr/>
        </p:nvSpPr>
        <p:spPr bwMode="auto">
          <a:xfrm>
            <a:off x="4495800" y="4724400"/>
            <a:ext cx="2286000" cy="990600"/>
          </a:xfrm>
          <a:custGeom>
            <a:avLst/>
            <a:gdLst>
              <a:gd name="T0" fmla="*/ 0 w 2286000"/>
              <a:gd name="T1" fmla="*/ 0 h 990600"/>
              <a:gd name="T2" fmla="*/ 2286000 w 2286000"/>
              <a:gd name="T3" fmla="*/ 990600 h 990600"/>
            </a:gdLst>
            <a:ahLst/>
            <a:cxnLst/>
            <a:rect l="T0" t="T1" r="T2" b="T3"/>
            <a:pathLst>
              <a:path w="2286000" h="990600">
                <a:moveTo>
                  <a:pt x="0" y="138125"/>
                </a:moveTo>
                <a:lnTo>
                  <a:pt x="138125" y="0"/>
                </a:lnTo>
                <a:lnTo>
                  <a:pt x="2286000" y="0"/>
                </a:lnTo>
                <a:lnTo>
                  <a:pt x="2286000" y="852462"/>
                </a:lnTo>
                <a:lnTo>
                  <a:pt x="2147874" y="990600"/>
                </a:lnTo>
                <a:lnTo>
                  <a:pt x="0" y="990600"/>
                </a:lnTo>
                <a:lnTo>
                  <a:pt x="0" y="138125"/>
                </a:lnTo>
                <a:close/>
              </a:path>
            </a:pathLst>
          </a:custGeom>
          <a:noFill/>
          <a:ln w="12700">
            <a:solidFill>
              <a:srgbClr val="000000"/>
            </a:solidFill>
            <a:miter lim="800000"/>
            <a:headEnd/>
            <a:tailEnd/>
          </a:ln>
        </p:spPr>
        <p:txBody>
          <a:bodyPr lIns="0" tIns="0" rIns="0" bIns="0"/>
          <a:lstStyle/>
          <a:p>
            <a:endParaRPr lang="en-US"/>
          </a:p>
        </p:txBody>
      </p:sp>
      <p:sp>
        <p:nvSpPr>
          <p:cNvPr id="16419" name="object 35"/>
          <p:cNvSpPr>
            <a:spLocks noChangeArrowheads="1"/>
          </p:cNvSpPr>
          <p:nvPr/>
        </p:nvSpPr>
        <p:spPr bwMode="auto">
          <a:xfrm>
            <a:off x="4495800" y="4724400"/>
            <a:ext cx="2286000" cy="138113"/>
          </a:xfrm>
          <a:custGeom>
            <a:avLst/>
            <a:gdLst>
              <a:gd name="T0" fmla="*/ 0 w 2286000"/>
              <a:gd name="T1" fmla="*/ 0 h 138429"/>
              <a:gd name="T2" fmla="*/ 2286000 w 2286000"/>
              <a:gd name="T3" fmla="*/ 138429 h 138429"/>
            </a:gdLst>
            <a:ahLst/>
            <a:cxnLst/>
            <a:rect l="T0" t="T1" r="T2" b="T3"/>
            <a:pathLst>
              <a:path w="2286000" h="138429">
                <a:moveTo>
                  <a:pt x="0" y="138125"/>
                </a:moveTo>
                <a:lnTo>
                  <a:pt x="2147874" y="138125"/>
                </a:lnTo>
                <a:lnTo>
                  <a:pt x="2286000" y="0"/>
                </a:lnTo>
              </a:path>
            </a:pathLst>
          </a:custGeom>
          <a:noFill/>
          <a:ln w="12700">
            <a:solidFill>
              <a:srgbClr val="000000"/>
            </a:solidFill>
            <a:miter lim="800000"/>
            <a:headEnd/>
            <a:tailEnd/>
          </a:ln>
        </p:spPr>
        <p:txBody>
          <a:bodyPr lIns="0" tIns="0" rIns="0" bIns="0"/>
          <a:lstStyle/>
          <a:p>
            <a:endParaRPr lang="en-US"/>
          </a:p>
        </p:txBody>
      </p:sp>
      <p:sp>
        <p:nvSpPr>
          <p:cNvPr id="16420" name="object 36"/>
          <p:cNvSpPr>
            <a:spLocks noChangeArrowheads="1"/>
          </p:cNvSpPr>
          <p:nvPr/>
        </p:nvSpPr>
        <p:spPr bwMode="auto">
          <a:xfrm>
            <a:off x="6643688" y="4862513"/>
            <a:ext cx="0" cy="852487"/>
          </a:xfrm>
          <a:custGeom>
            <a:avLst/>
            <a:gdLst>
              <a:gd name="T0" fmla="*/ 0 h 852804"/>
              <a:gd name="T1" fmla="*/ 852804 h 852804"/>
            </a:gdLst>
            <a:ahLst/>
            <a:cxnLst/>
            <a:rect l="0" t="T0" r="0" b="T1"/>
            <a:pathLst>
              <a:path h="852804">
                <a:moveTo>
                  <a:pt x="0" y="0"/>
                </a:moveTo>
                <a:lnTo>
                  <a:pt x="0" y="852474"/>
                </a:lnTo>
              </a:path>
            </a:pathLst>
          </a:custGeom>
          <a:noFill/>
          <a:ln w="12700">
            <a:solidFill>
              <a:srgbClr val="000000"/>
            </a:solidFill>
            <a:miter lim="800000"/>
            <a:headEnd/>
            <a:tailEnd/>
          </a:ln>
        </p:spPr>
        <p:txBody>
          <a:bodyPr lIns="0" tIns="0" rIns="0" bIns="0"/>
          <a:lstStyle/>
          <a:p>
            <a:endParaRPr lang="en-US"/>
          </a:p>
        </p:txBody>
      </p:sp>
      <p:sp>
        <p:nvSpPr>
          <p:cNvPr id="37" name="object 37"/>
          <p:cNvSpPr txBox="1"/>
          <p:nvPr/>
        </p:nvSpPr>
        <p:spPr>
          <a:xfrm>
            <a:off x="4495800" y="5084763"/>
            <a:ext cx="2141538" cy="390525"/>
          </a:xfrm>
          <a:prstGeom prst="rect">
            <a:avLst/>
          </a:prstGeom>
        </p:spPr>
        <p:txBody>
          <a:bodyPr lIns="0" tIns="12700" rIns="0" bIns="0">
            <a:spAutoFit/>
          </a:bodyPr>
          <a:lstStyle/>
          <a:p>
            <a:pPr marL="367665">
              <a:spcBef>
                <a:spcPts val="100"/>
              </a:spcBef>
              <a:defRPr/>
            </a:pPr>
            <a:r>
              <a:rPr sz="2400" dirty="0">
                <a:solidFill>
                  <a:srgbClr val="FF0000"/>
                </a:solidFill>
                <a:latin typeface="Franklin Gothic Book"/>
                <a:cs typeface="Franklin Gothic Book"/>
              </a:rPr>
              <a:t>4 I/O</a:t>
            </a:r>
            <a:r>
              <a:rPr sz="2400" spc="-60" dirty="0">
                <a:solidFill>
                  <a:srgbClr val="FF0000"/>
                </a:solidFill>
                <a:latin typeface="Franklin Gothic Book"/>
                <a:cs typeface="Franklin Gothic Book"/>
              </a:rPr>
              <a:t> </a:t>
            </a:r>
            <a:r>
              <a:rPr sz="2400" spc="5" dirty="0">
                <a:solidFill>
                  <a:srgbClr val="FF0000"/>
                </a:solidFill>
                <a:latin typeface="Franklin Gothic Book"/>
                <a:cs typeface="Franklin Gothic Book"/>
              </a:rPr>
              <a:t>Ports</a:t>
            </a:r>
            <a:endParaRPr sz="2400">
              <a:latin typeface="Franklin Gothic Book"/>
              <a:cs typeface="Franklin Gothic Book"/>
            </a:endParaRPr>
          </a:p>
        </p:txBody>
      </p:sp>
      <p:sp>
        <p:nvSpPr>
          <p:cNvPr id="16422" name="object 38"/>
          <p:cNvSpPr>
            <a:spLocks noChangeArrowheads="1"/>
          </p:cNvSpPr>
          <p:nvPr/>
        </p:nvSpPr>
        <p:spPr bwMode="auto">
          <a:xfrm>
            <a:off x="7162800" y="4724400"/>
            <a:ext cx="1371600" cy="990600"/>
          </a:xfrm>
          <a:prstGeom prst="rect">
            <a:avLst/>
          </a:prstGeom>
          <a:blipFill dpi="0" rotWithShape="1">
            <a:blip r:embed="rId3"/>
            <a:srcRect/>
            <a:stretch>
              <a:fillRect/>
            </a:stretch>
          </a:blipFill>
          <a:ln w="9525">
            <a:noFill/>
            <a:miter lim="800000"/>
            <a:headEnd/>
            <a:tailEnd/>
          </a:ln>
        </p:spPr>
        <p:txBody>
          <a:bodyPr lIns="0" tIns="0" rIns="0" bIns="0"/>
          <a:lstStyle/>
          <a:p>
            <a:endParaRPr lang="en-US"/>
          </a:p>
        </p:txBody>
      </p:sp>
      <p:sp>
        <p:nvSpPr>
          <p:cNvPr id="16423" name="object 39"/>
          <p:cNvSpPr>
            <a:spLocks noChangeArrowheads="1"/>
          </p:cNvSpPr>
          <p:nvPr/>
        </p:nvSpPr>
        <p:spPr bwMode="auto">
          <a:xfrm>
            <a:off x="7162800" y="4724400"/>
            <a:ext cx="1371600" cy="990600"/>
          </a:xfrm>
          <a:custGeom>
            <a:avLst/>
            <a:gdLst>
              <a:gd name="T0" fmla="*/ 0 w 1371600"/>
              <a:gd name="T1" fmla="*/ 0 h 990600"/>
              <a:gd name="T2" fmla="*/ 1371600 w 1371600"/>
              <a:gd name="T3" fmla="*/ 990600 h 990600"/>
            </a:gdLst>
            <a:ahLst/>
            <a:cxnLst/>
            <a:rect l="T0" t="T1" r="T2" b="T3"/>
            <a:pathLst>
              <a:path w="1371600" h="990600">
                <a:moveTo>
                  <a:pt x="0" y="138125"/>
                </a:moveTo>
                <a:lnTo>
                  <a:pt x="138125" y="0"/>
                </a:lnTo>
                <a:lnTo>
                  <a:pt x="1371600" y="0"/>
                </a:lnTo>
                <a:lnTo>
                  <a:pt x="1371600" y="852462"/>
                </a:lnTo>
                <a:lnTo>
                  <a:pt x="1233474" y="990600"/>
                </a:lnTo>
                <a:lnTo>
                  <a:pt x="0" y="990600"/>
                </a:lnTo>
                <a:lnTo>
                  <a:pt x="0" y="138125"/>
                </a:lnTo>
                <a:close/>
              </a:path>
            </a:pathLst>
          </a:custGeom>
          <a:noFill/>
          <a:ln w="12700">
            <a:solidFill>
              <a:srgbClr val="000000"/>
            </a:solidFill>
            <a:miter lim="800000"/>
            <a:headEnd/>
            <a:tailEnd/>
          </a:ln>
        </p:spPr>
        <p:txBody>
          <a:bodyPr lIns="0" tIns="0" rIns="0" bIns="0"/>
          <a:lstStyle/>
          <a:p>
            <a:endParaRPr lang="en-US"/>
          </a:p>
        </p:txBody>
      </p:sp>
      <p:sp>
        <p:nvSpPr>
          <p:cNvPr id="16424" name="object 40"/>
          <p:cNvSpPr>
            <a:spLocks noChangeArrowheads="1"/>
          </p:cNvSpPr>
          <p:nvPr/>
        </p:nvSpPr>
        <p:spPr bwMode="auto">
          <a:xfrm>
            <a:off x="7162800" y="4724400"/>
            <a:ext cx="1371600" cy="138113"/>
          </a:xfrm>
          <a:custGeom>
            <a:avLst/>
            <a:gdLst>
              <a:gd name="T0" fmla="*/ 0 w 1371600"/>
              <a:gd name="T1" fmla="*/ 0 h 138429"/>
              <a:gd name="T2" fmla="*/ 1371600 w 1371600"/>
              <a:gd name="T3" fmla="*/ 138429 h 138429"/>
            </a:gdLst>
            <a:ahLst/>
            <a:cxnLst/>
            <a:rect l="T0" t="T1" r="T2" b="T3"/>
            <a:pathLst>
              <a:path w="1371600" h="138429">
                <a:moveTo>
                  <a:pt x="0" y="138125"/>
                </a:moveTo>
                <a:lnTo>
                  <a:pt x="1233474" y="138125"/>
                </a:lnTo>
                <a:lnTo>
                  <a:pt x="1371600" y="0"/>
                </a:lnTo>
              </a:path>
            </a:pathLst>
          </a:custGeom>
          <a:noFill/>
          <a:ln w="12699">
            <a:solidFill>
              <a:srgbClr val="000000"/>
            </a:solidFill>
            <a:miter lim="800000"/>
            <a:headEnd/>
            <a:tailEnd/>
          </a:ln>
        </p:spPr>
        <p:txBody>
          <a:bodyPr lIns="0" tIns="0" rIns="0" bIns="0"/>
          <a:lstStyle/>
          <a:p>
            <a:endParaRPr lang="en-US"/>
          </a:p>
        </p:txBody>
      </p:sp>
      <p:sp>
        <p:nvSpPr>
          <p:cNvPr id="16425" name="object 41"/>
          <p:cNvSpPr>
            <a:spLocks noChangeArrowheads="1"/>
          </p:cNvSpPr>
          <p:nvPr/>
        </p:nvSpPr>
        <p:spPr bwMode="auto">
          <a:xfrm>
            <a:off x="8396288" y="4862513"/>
            <a:ext cx="0" cy="852487"/>
          </a:xfrm>
          <a:custGeom>
            <a:avLst/>
            <a:gdLst>
              <a:gd name="T0" fmla="*/ 0 h 852804"/>
              <a:gd name="T1" fmla="*/ 852804 h 852804"/>
            </a:gdLst>
            <a:ahLst/>
            <a:cxnLst/>
            <a:rect l="0" t="T0" r="0" b="T1"/>
            <a:pathLst>
              <a:path h="852804">
                <a:moveTo>
                  <a:pt x="0" y="0"/>
                </a:moveTo>
                <a:lnTo>
                  <a:pt x="0" y="852474"/>
                </a:lnTo>
              </a:path>
            </a:pathLst>
          </a:custGeom>
          <a:noFill/>
          <a:ln w="12700">
            <a:solidFill>
              <a:srgbClr val="000000"/>
            </a:solidFill>
            <a:miter lim="800000"/>
            <a:headEnd/>
            <a:tailEnd/>
          </a:ln>
        </p:spPr>
        <p:txBody>
          <a:bodyPr lIns="0" tIns="0" rIns="0" bIns="0"/>
          <a:lstStyle/>
          <a:p>
            <a:endParaRPr lang="en-US"/>
          </a:p>
        </p:txBody>
      </p:sp>
      <p:sp>
        <p:nvSpPr>
          <p:cNvPr id="16426" name="object 42"/>
          <p:cNvSpPr txBox="1">
            <a:spLocks noChangeArrowheads="1"/>
          </p:cNvSpPr>
          <p:nvPr/>
        </p:nvSpPr>
        <p:spPr bwMode="auto">
          <a:xfrm>
            <a:off x="7162800" y="4900613"/>
            <a:ext cx="1227138" cy="757237"/>
          </a:xfrm>
          <a:prstGeom prst="rect">
            <a:avLst/>
          </a:prstGeom>
          <a:noFill/>
          <a:ln w="9525">
            <a:noFill/>
            <a:miter lim="800000"/>
            <a:headEnd/>
            <a:tailEnd/>
          </a:ln>
        </p:spPr>
        <p:txBody>
          <a:bodyPr lIns="0" tIns="12700" rIns="0" bIns="0">
            <a:spAutoFit/>
          </a:bodyPr>
          <a:lstStyle/>
          <a:p>
            <a:pPr marL="349250" indent="-103188">
              <a:spcBef>
                <a:spcPts val="100"/>
              </a:spcBef>
            </a:pPr>
            <a:r>
              <a:rPr lang="en-US" sz="2400">
                <a:solidFill>
                  <a:srgbClr val="FF0000"/>
                </a:solidFill>
                <a:latin typeface="Franklin Gothic Book" pitchFamily="34" charset="0"/>
              </a:rPr>
              <a:t>Serial  Port</a:t>
            </a:r>
            <a:endParaRPr lang="en-US" sz="2400">
              <a:latin typeface="Franklin Gothic Book" pitchFamily="34" charset="0"/>
            </a:endParaRPr>
          </a:p>
        </p:txBody>
      </p:sp>
      <p:sp>
        <p:nvSpPr>
          <p:cNvPr id="16427" name="object 43"/>
          <p:cNvSpPr>
            <a:spLocks noChangeArrowheads="1"/>
          </p:cNvSpPr>
          <p:nvPr/>
        </p:nvSpPr>
        <p:spPr bwMode="auto">
          <a:xfrm>
            <a:off x="7086600" y="1890713"/>
            <a:ext cx="1371600" cy="609600"/>
          </a:xfrm>
          <a:prstGeom prst="rect">
            <a:avLst/>
          </a:prstGeom>
          <a:blipFill dpi="0" rotWithShape="1">
            <a:blip r:embed="rId10"/>
            <a:srcRect/>
            <a:stretch>
              <a:fillRect/>
            </a:stretch>
          </a:blipFill>
          <a:ln w="9525">
            <a:noFill/>
            <a:miter lim="800000"/>
            <a:headEnd/>
            <a:tailEnd/>
          </a:ln>
        </p:spPr>
        <p:txBody>
          <a:bodyPr lIns="0" tIns="0" rIns="0" bIns="0"/>
          <a:lstStyle/>
          <a:p>
            <a:endParaRPr lang="en-US"/>
          </a:p>
        </p:txBody>
      </p:sp>
      <p:sp>
        <p:nvSpPr>
          <p:cNvPr id="16428" name="object 44"/>
          <p:cNvSpPr>
            <a:spLocks noChangeArrowheads="1"/>
          </p:cNvSpPr>
          <p:nvPr/>
        </p:nvSpPr>
        <p:spPr bwMode="auto">
          <a:xfrm>
            <a:off x="7086600" y="1890713"/>
            <a:ext cx="1371600" cy="609600"/>
          </a:xfrm>
          <a:custGeom>
            <a:avLst/>
            <a:gdLst>
              <a:gd name="T0" fmla="*/ 0 w 1371600"/>
              <a:gd name="T1" fmla="*/ 0 h 609600"/>
              <a:gd name="T2" fmla="*/ 1371600 w 1371600"/>
              <a:gd name="T3" fmla="*/ 609600 h 609600"/>
            </a:gdLst>
            <a:ahLst/>
            <a:cxnLst/>
            <a:rect l="T0" t="T1" r="T2" b="T3"/>
            <a:pathLst>
              <a:path w="1371600" h="609600">
                <a:moveTo>
                  <a:pt x="0" y="85001"/>
                </a:moveTo>
                <a:lnTo>
                  <a:pt x="85001" y="0"/>
                </a:lnTo>
                <a:lnTo>
                  <a:pt x="1371600" y="0"/>
                </a:lnTo>
                <a:lnTo>
                  <a:pt x="1371600" y="524598"/>
                </a:lnTo>
                <a:lnTo>
                  <a:pt x="1286598" y="609599"/>
                </a:lnTo>
                <a:lnTo>
                  <a:pt x="0" y="609599"/>
                </a:lnTo>
                <a:lnTo>
                  <a:pt x="0" y="85001"/>
                </a:lnTo>
                <a:close/>
              </a:path>
            </a:pathLst>
          </a:custGeom>
          <a:noFill/>
          <a:ln w="12700">
            <a:solidFill>
              <a:srgbClr val="000000"/>
            </a:solidFill>
            <a:miter lim="800000"/>
            <a:headEnd/>
            <a:tailEnd/>
          </a:ln>
        </p:spPr>
        <p:txBody>
          <a:bodyPr lIns="0" tIns="0" rIns="0" bIns="0"/>
          <a:lstStyle/>
          <a:p>
            <a:endParaRPr lang="en-US"/>
          </a:p>
        </p:txBody>
      </p:sp>
      <p:sp>
        <p:nvSpPr>
          <p:cNvPr id="16429" name="object 45"/>
          <p:cNvSpPr>
            <a:spLocks noChangeArrowheads="1"/>
          </p:cNvSpPr>
          <p:nvPr/>
        </p:nvSpPr>
        <p:spPr bwMode="auto">
          <a:xfrm>
            <a:off x="7086600" y="1890713"/>
            <a:ext cx="1371600" cy="85725"/>
          </a:xfrm>
          <a:custGeom>
            <a:avLst/>
            <a:gdLst>
              <a:gd name="T0" fmla="*/ 0 w 1371600"/>
              <a:gd name="T1" fmla="*/ 0 h 85089"/>
              <a:gd name="T2" fmla="*/ 1371600 w 1371600"/>
              <a:gd name="T3" fmla="*/ 85089 h 85089"/>
            </a:gdLst>
            <a:ahLst/>
            <a:cxnLst/>
            <a:rect l="T0" t="T1" r="T2" b="T3"/>
            <a:pathLst>
              <a:path w="1371600" h="85089">
                <a:moveTo>
                  <a:pt x="0" y="85001"/>
                </a:moveTo>
                <a:lnTo>
                  <a:pt x="1286598" y="85001"/>
                </a:lnTo>
                <a:lnTo>
                  <a:pt x="1371600" y="0"/>
                </a:lnTo>
              </a:path>
            </a:pathLst>
          </a:custGeom>
          <a:noFill/>
          <a:ln w="12699">
            <a:solidFill>
              <a:srgbClr val="000000"/>
            </a:solidFill>
            <a:miter lim="800000"/>
            <a:headEnd/>
            <a:tailEnd/>
          </a:ln>
        </p:spPr>
        <p:txBody>
          <a:bodyPr lIns="0" tIns="0" rIns="0" bIns="0"/>
          <a:lstStyle/>
          <a:p>
            <a:endParaRPr lang="en-US"/>
          </a:p>
        </p:txBody>
      </p:sp>
      <p:sp>
        <p:nvSpPr>
          <p:cNvPr id="16430" name="object 46"/>
          <p:cNvSpPr>
            <a:spLocks noChangeArrowheads="1"/>
          </p:cNvSpPr>
          <p:nvPr/>
        </p:nvSpPr>
        <p:spPr bwMode="auto">
          <a:xfrm>
            <a:off x="8372475" y="1976438"/>
            <a:ext cx="0" cy="523875"/>
          </a:xfrm>
          <a:custGeom>
            <a:avLst/>
            <a:gdLst>
              <a:gd name="T0" fmla="*/ 0 h 525144"/>
              <a:gd name="T1" fmla="*/ 525144 h 525144"/>
            </a:gdLst>
            <a:ahLst/>
            <a:cxnLst/>
            <a:rect l="0" t="T0" r="0" b="T1"/>
            <a:pathLst>
              <a:path h="525144">
                <a:moveTo>
                  <a:pt x="0" y="0"/>
                </a:moveTo>
                <a:lnTo>
                  <a:pt x="0" y="524598"/>
                </a:lnTo>
              </a:path>
            </a:pathLst>
          </a:custGeom>
          <a:noFill/>
          <a:ln w="12700">
            <a:solidFill>
              <a:srgbClr val="000000"/>
            </a:solidFill>
            <a:miter lim="800000"/>
            <a:headEnd/>
            <a:tailEnd/>
          </a:ln>
        </p:spPr>
        <p:txBody>
          <a:bodyPr lIns="0" tIns="0" rIns="0" bIns="0"/>
          <a:lstStyle/>
          <a:p>
            <a:endParaRPr lang="en-US"/>
          </a:p>
        </p:txBody>
      </p:sp>
      <p:sp>
        <p:nvSpPr>
          <p:cNvPr id="47" name="object 47"/>
          <p:cNvSpPr txBox="1"/>
          <p:nvPr/>
        </p:nvSpPr>
        <p:spPr>
          <a:xfrm>
            <a:off x="7313613" y="2082800"/>
            <a:ext cx="831850" cy="298450"/>
          </a:xfrm>
          <a:prstGeom prst="rect">
            <a:avLst/>
          </a:prstGeom>
        </p:spPr>
        <p:txBody>
          <a:bodyPr lIns="0" tIns="12700" rIns="0" bIns="0">
            <a:spAutoFit/>
          </a:bodyPr>
          <a:lstStyle/>
          <a:p>
            <a:pPr marL="12700">
              <a:spcBef>
                <a:spcPts val="100"/>
              </a:spcBef>
              <a:defRPr/>
            </a:pPr>
            <a:r>
              <a:rPr b="1" spc="-15" dirty="0">
                <a:solidFill>
                  <a:srgbClr val="FF0000"/>
                </a:solidFill>
                <a:latin typeface="Arial"/>
                <a:cs typeface="Arial"/>
              </a:rPr>
              <a:t>Timer</a:t>
            </a:r>
            <a:r>
              <a:rPr b="1" spc="-75" dirty="0">
                <a:solidFill>
                  <a:srgbClr val="FF0000"/>
                </a:solidFill>
                <a:latin typeface="Arial"/>
                <a:cs typeface="Arial"/>
              </a:rPr>
              <a:t> </a:t>
            </a:r>
            <a:r>
              <a:rPr b="1" spc="-5" dirty="0">
                <a:solidFill>
                  <a:srgbClr val="FF0000"/>
                </a:solidFill>
                <a:latin typeface="Arial"/>
                <a:cs typeface="Arial"/>
              </a:rPr>
              <a:t>1</a:t>
            </a:r>
            <a:endParaRPr>
              <a:latin typeface="Arial"/>
              <a:cs typeface="Arial"/>
            </a:endParaRPr>
          </a:p>
        </p:txBody>
      </p:sp>
      <p:sp>
        <p:nvSpPr>
          <p:cNvPr id="16432" name="object 48"/>
          <p:cNvSpPr>
            <a:spLocks noChangeArrowheads="1"/>
          </p:cNvSpPr>
          <p:nvPr/>
        </p:nvSpPr>
        <p:spPr bwMode="auto">
          <a:xfrm>
            <a:off x="7086600" y="1357313"/>
            <a:ext cx="1371600" cy="609600"/>
          </a:xfrm>
          <a:prstGeom prst="rect">
            <a:avLst/>
          </a:prstGeom>
          <a:blipFill dpi="0" rotWithShape="1">
            <a:blip r:embed="rId11"/>
            <a:srcRect/>
            <a:stretch>
              <a:fillRect/>
            </a:stretch>
          </a:blipFill>
          <a:ln w="9525">
            <a:noFill/>
            <a:miter lim="800000"/>
            <a:headEnd/>
            <a:tailEnd/>
          </a:ln>
        </p:spPr>
        <p:txBody>
          <a:bodyPr lIns="0" tIns="0" rIns="0" bIns="0"/>
          <a:lstStyle/>
          <a:p>
            <a:endParaRPr lang="en-US"/>
          </a:p>
        </p:txBody>
      </p:sp>
      <p:sp>
        <p:nvSpPr>
          <p:cNvPr id="16433" name="object 49"/>
          <p:cNvSpPr>
            <a:spLocks noChangeArrowheads="1"/>
          </p:cNvSpPr>
          <p:nvPr/>
        </p:nvSpPr>
        <p:spPr bwMode="auto">
          <a:xfrm>
            <a:off x="7086600" y="1357313"/>
            <a:ext cx="1371600" cy="609600"/>
          </a:xfrm>
          <a:custGeom>
            <a:avLst/>
            <a:gdLst>
              <a:gd name="T0" fmla="*/ 0 w 1371600"/>
              <a:gd name="T1" fmla="*/ 0 h 609600"/>
              <a:gd name="T2" fmla="*/ 1371600 w 1371600"/>
              <a:gd name="T3" fmla="*/ 609600 h 609600"/>
            </a:gdLst>
            <a:ahLst/>
            <a:cxnLst/>
            <a:rect l="T0" t="T1" r="T2" b="T3"/>
            <a:pathLst>
              <a:path w="1371600" h="609600">
                <a:moveTo>
                  <a:pt x="0" y="85001"/>
                </a:moveTo>
                <a:lnTo>
                  <a:pt x="85001" y="0"/>
                </a:lnTo>
                <a:lnTo>
                  <a:pt x="1371600" y="0"/>
                </a:lnTo>
                <a:lnTo>
                  <a:pt x="1371600" y="524598"/>
                </a:lnTo>
                <a:lnTo>
                  <a:pt x="1286598" y="609599"/>
                </a:lnTo>
                <a:lnTo>
                  <a:pt x="0" y="609599"/>
                </a:lnTo>
                <a:lnTo>
                  <a:pt x="0" y="85001"/>
                </a:lnTo>
                <a:close/>
              </a:path>
            </a:pathLst>
          </a:custGeom>
          <a:noFill/>
          <a:ln w="12700">
            <a:solidFill>
              <a:srgbClr val="000000"/>
            </a:solidFill>
            <a:miter lim="800000"/>
            <a:headEnd/>
            <a:tailEnd/>
          </a:ln>
        </p:spPr>
        <p:txBody>
          <a:bodyPr lIns="0" tIns="0" rIns="0" bIns="0"/>
          <a:lstStyle/>
          <a:p>
            <a:endParaRPr lang="en-US"/>
          </a:p>
        </p:txBody>
      </p:sp>
      <p:sp>
        <p:nvSpPr>
          <p:cNvPr id="16434" name="object 50"/>
          <p:cNvSpPr>
            <a:spLocks noChangeArrowheads="1"/>
          </p:cNvSpPr>
          <p:nvPr/>
        </p:nvSpPr>
        <p:spPr bwMode="auto">
          <a:xfrm>
            <a:off x="7086600" y="1357313"/>
            <a:ext cx="1371600" cy="85725"/>
          </a:xfrm>
          <a:custGeom>
            <a:avLst/>
            <a:gdLst>
              <a:gd name="T0" fmla="*/ 0 w 1371600"/>
              <a:gd name="T1" fmla="*/ 0 h 85090"/>
              <a:gd name="T2" fmla="*/ 1371600 w 1371600"/>
              <a:gd name="T3" fmla="*/ 85090 h 85090"/>
            </a:gdLst>
            <a:ahLst/>
            <a:cxnLst/>
            <a:rect l="T0" t="T1" r="T2" b="T3"/>
            <a:pathLst>
              <a:path w="1371600" h="85090">
                <a:moveTo>
                  <a:pt x="0" y="85001"/>
                </a:moveTo>
                <a:lnTo>
                  <a:pt x="1286598" y="85001"/>
                </a:lnTo>
                <a:lnTo>
                  <a:pt x="1371600" y="0"/>
                </a:lnTo>
              </a:path>
            </a:pathLst>
          </a:custGeom>
          <a:noFill/>
          <a:ln w="12699">
            <a:solidFill>
              <a:srgbClr val="000000"/>
            </a:solidFill>
            <a:miter lim="800000"/>
            <a:headEnd/>
            <a:tailEnd/>
          </a:ln>
        </p:spPr>
        <p:txBody>
          <a:bodyPr lIns="0" tIns="0" rIns="0" bIns="0"/>
          <a:lstStyle/>
          <a:p>
            <a:endParaRPr lang="en-US"/>
          </a:p>
        </p:txBody>
      </p:sp>
      <p:sp>
        <p:nvSpPr>
          <p:cNvPr id="16435" name="object 51"/>
          <p:cNvSpPr>
            <a:spLocks noChangeArrowheads="1"/>
          </p:cNvSpPr>
          <p:nvPr/>
        </p:nvSpPr>
        <p:spPr bwMode="auto">
          <a:xfrm>
            <a:off x="8372475" y="1443038"/>
            <a:ext cx="0" cy="523875"/>
          </a:xfrm>
          <a:custGeom>
            <a:avLst/>
            <a:gdLst>
              <a:gd name="T0" fmla="*/ 0 h 525144"/>
              <a:gd name="T1" fmla="*/ 525144 h 525144"/>
            </a:gdLst>
            <a:ahLst/>
            <a:cxnLst/>
            <a:rect l="0" t="T0" r="0" b="T1"/>
            <a:pathLst>
              <a:path h="525144">
                <a:moveTo>
                  <a:pt x="0" y="0"/>
                </a:moveTo>
                <a:lnTo>
                  <a:pt x="0" y="524598"/>
                </a:lnTo>
              </a:path>
            </a:pathLst>
          </a:custGeom>
          <a:noFill/>
          <a:ln w="12700">
            <a:solidFill>
              <a:srgbClr val="000000"/>
            </a:solidFill>
            <a:miter lim="800000"/>
            <a:headEnd/>
            <a:tailEnd/>
          </a:ln>
        </p:spPr>
        <p:txBody>
          <a:bodyPr lIns="0" tIns="0" rIns="0" bIns="0"/>
          <a:lstStyle/>
          <a:p>
            <a:endParaRPr lang="en-US"/>
          </a:p>
        </p:txBody>
      </p:sp>
      <p:sp>
        <p:nvSpPr>
          <p:cNvPr id="52" name="object 52"/>
          <p:cNvSpPr txBox="1"/>
          <p:nvPr/>
        </p:nvSpPr>
        <p:spPr>
          <a:xfrm>
            <a:off x="7313613" y="1549400"/>
            <a:ext cx="831850" cy="298450"/>
          </a:xfrm>
          <a:prstGeom prst="rect">
            <a:avLst/>
          </a:prstGeom>
        </p:spPr>
        <p:txBody>
          <a:bodyPr lIns="0" tIns="12700" rIns="0" bIns="0">
            <a:spAutoFit/>
          </a:bodyPr>
          <a:lstStyle/>
          <a:p>
            <a:pPr marL="12700">
              <a:spcBef>
                <a:spcPts val="100"/>
              </a:spcBef>
              <a:defRPr/>
            </a:pPr>
            <a:r>
              <a:rPr b="1" spc="-15" dirty="0">
                <a:solidFill>
                  <a:srgbClr val="FF0000"/>
                </a:solidFill>
                <a:latin typeface="Arial"/>
                <a:cs typeface="Arial"/>
              </a:rPr>
              <a:t>Timer</a:t>
            </a:r>
            <a:r>
              <a:rPr b="1" spc="-75" dirty="0">
                <a:solidFill>
                  <a:srgbClr val="FF0000"/>
                </a:solidFill>
                <a:latin typeface="Arial"/>
                <a:cs typeface="Arial"/>
              </a:rPr>
              <a:t> </a:t>
            </a:r>
            <a:r>
              <a:rPr b="1" spc="-5" dirty="0">
                <a:solidFill>
                  <a:srgbClr val="FF0000"/>
                </a:solidFill>
                <a:latin typeface="Arial"/>
                <a:cs typeface="Arial"/>
              </a:rPr>
              <a:t>0</a:t>
            </a:r>
            <a:endParaRPr>
              <a:latin typeface="Arial"/>
              <a:cs typeface="Arial"/>
            </a:endParaRPr>
          </a:p>
        </p:txBody>
      </p:sp>
      <p:sp>
        <p:nvSpPr>
          <p:cNvPr id="16437" name="object 53"/>
          <p:cNvSpPr>
            <a:spLocks noChangeArrowheads="1"/>
          </p:cNvSpPr>
          <p:nvPr/>
        </p:nvSpPr>
        <p:spPr bwMode="auto">
          <a:xfrm>
            <a:off x="2143125" y="3429000"/>
            <a:ext cx="5638800" cy="457200"/>
          </a:xfrm>
          <a:prstGeom prst="rect">
            <a:avLst/>
          </a:prstGeom>
          <a:blipFill dpi="0" rotWithShape="1">
            <a:blip r:embed="rId12"/>
            <a:srcRect/>
            <a:stretch>
              <a:fillRect/>
            </a:stretch>
          </a:blipFill>
          <a:ln w="9525">
            <a:noFill/>
            <a:miter lim="800000"/>
            <a:headEnd/>
            <a:tailEnd/>
          </a:ln>
        </p:spPr>
        <p:txBody>
          <a:bodyPr lIns="0" tIns="0" rIns="0" bIns="0"/>
          <a:lstStyle/>
          <a:p>
            <a:endParaRPr lang="en-US"/>
          </a:p>
        </p:txBody>
      </p:sp>
      <p:sp>
        <p:nvSpPr>
          <p:cNvPr id="16438" name="object 54"/>
          <p:cNvSpPr>
            <a:spLocks noChangeArrowheads="1"/>
          </p:cNvSpPr>
          <p:nvPr/>
        </p:nvSpPr>
        <p:spPr bwMode="auto">
          <a:xfrm>
            <a:off x="2143125" y="3429000"/>
            <a:ext cx="5638800" cy="457200"/>
          </a:xfrm>
          <a:custGeom>
            <a:avLst/>
            <a:gdLst>
              <a:gd name="T0" fmla="*/ 0 w 5638800"/>
              <a:gd name="T1" fmla="*/ 0 h 457200"/>
              <a:gd name="T2" fmla="*/ 5638800 w 5638800"/>
              <a:gd name="T3" fmla="*/ 457200 h 457200"/>
            </a:gdLst>
            <a:ahLst/>
            <a:cxnLst/>
            <a:rect l="T0" t="T1" r="T2" b="T3"/>
            <a:pathLst>
              <a:path w="5638800" h="457200">
                <a:moveTo>
                  <a:pt x="0" y="228600"/>
                </a:moveTo>
                <a:lnTo>
                  <a:pt x="471462" y="0"/>
                </a:lnTo>
                <a:lnTo>
                  <a:pt x="471462" y="114300"/>
                </a:lnTo>
                <a:lnTo>
                  <a:pt x="5638800" y="114300"/>
                </a:lnTo>
                <a:lnTo>
                  <a:pt x="5638800" y="342900"/>
                </a:lnTo>
                <a:lnTo>
                  <a:pt x="471462" y="342900"/>
                </a:lnTo>
                <a:lnTo>
                  <a:pt x="471462" y="457200"/>
                </a:lnTo>
                <a:lnTo>
                  <a:pt x="0" y="228600"/>
                </a:lnTo>
                <a:close/>
              </a:path>
            </a:pathLst>
          </a:custGeom>
          <a:noFill/>
          <a:ln w="12700">
            <a:solidFill>
              <a:srgbClr val="000000"/>
            </a:solidFill>
            <a:miter lim="800000"/>
            <a:headEnd/>
            <a:tailEnd/>
          </a:ln>
        </p:spPr>
        <p:txBody>
          <a:bodyPr lIns="0" tIns="0" rIns="0" bIns="0"/>
          <a:lstStyle/>
          <a:p>
            <a:endParaRPr lang="en-US"/>
          </a:p>
        </p:txBody>
      </p:sp>
      <p:sp>
        <p:nvSpPr>
          <p:cNvPr id="16439" name="object 55"/>
          <p:cNvSpPr>
            <a:spLocks noChangeArrowheads="1"/>
          </p:cNvSpPr>
          <p:nvPr/>
        </p:nvSpPr>
        <p:spPr bwMode="auto">
          <a:xfrm>
            <a:off x="3886200" y="5029200"/>
            <a:ext cx="609600" cy="381000"/>
          </a:xfrm>
          <a:prstGeom prst="rect">
            <a:avLst/>
          </a:prstGeom>
          <a:blipFill dpi="0" rotWithShape="1">
            <a:blip r:embed="rId13"/>
            <a:srcRect/>
            <a:stretch>
              <a:fillRect/>
            </a:stretch>
          </a:blipFill>
          <a:ln w="9525">
            <a:noFill/>
            <a:miter lim="800000"/>
            <a:headEnd/>
            <a:tailEnd/>
          </a:ln>
        </p:spPr>
        <p:txBody>
          <a:bodyPr lIns="0" tIns="0" rIns="0" bIns="0"/>
          <a:lstStyle/>
          <a:p>
            <a:endParaRPr lang="en-US"/>
          </a:p>
        </p:txBody>
      </p:sp>
      <p:sp>
        <p:nvSpPr>
          <p:cNvPr id="16440" name="object 56"/>
          <p:cNvSpPr>
            <a:spLocks noChangeArrowheads="1"/>
          </p:cNvSpPr>
          <p:nvPr/>
        </p:nvSpPr>
        <p:spPr bwMode="auto">
          <a:xfrm>
            <a:off x="3886200" y="5029200"/>
            <a:ext cx="609600" cy="381000"/>
          </a:xfrm>
          <a:custGeom>
            <a:avLst/>
            <a:gdLst>
              <a:gd name="T0" fmla="*/ 0 w 609600"/>
              <a:gd name="T1" fmla="*/ 0 h 381000"/>
              <a:gd name="T2" fmla="*/ 609600 w 609600"/>
              <a:gd name="T3" fmla="*/ 381000 h 381000"/>
            </a:gdLst>
            <a:ahLst/>
            <a:cxnLst/>
            <a:rect l="T0" t="T1" r="T2" b="T3"/>
            <a:pathLst>
              <a:path w="609600" h="381000">
                <a:moveTo>
                  <a:pt x="609600" y="190500"/>
                </a:moveTo>
                <a:lnTo>
                  <a:pt x="457200" y="381000"/>
                </a:lnTo>
                <a:lnTo>
                  <a:pt x="457200" y="285750"/>
                </a:lnTo>
                <a:lnTo>
                  <a:pt x="0" y="285750"/>
                </a:lnTo>
                <a:lnTo>
                  <a:pt x="0" y="95250"/>
                </a:lnTo>
                <a:lnTo>
                  <a:pt x="457200" y="95250"/>
                </a:lnTo>
                <a:lnTo>
                  <a:pt x="457200" y="0"/>
                </a:lnTo>
                <a:lnTo>
                  <a:pt x="609600" y="190500"/>
                </a:lnTo>
                <a:close/>
              </a:path>
            </a:pathLst>
          </a:custGeom>
          <a:noFill/>
          <a:ln w="12700">
            <a:solidFill>
              <a:srgbClr val="000000"/>
            </a:solidFill>
            <a:miter lim="800000"/>
            <a:headEnd/>
            <a:tailEnd/>
          </a:ln>
        </p:spPr>
        <p:txBody>
          <a:bodyPr lIns="0" tIns="0" rIns="0" bIns="0"/>
          <a:lstStyle/>
          <a:p>
            <a:endParaRPr lang="en-US"/>
          </a:p>
        </p:txBody>
      </p:sp>
      <p:sp>
        <p:nvSpPr>
          <p:cNvPr id="16441" name="object 57"/>
          <p:cNvSpPr>
            <a:spLocks noChangeArrowheads="1"/>
          </p:cNvSpPr>
          <p:nvPr/>
        </p:nvSpPr>
        <p:spPr bwMode="auto">
          <a:xfrm>
            <a:off x="3200400" y="3771900"/>
            <a:ext cx="381000" cy="1066800"/>
          </a:xfrm>
          <a:prstGeom prst="rect">
            <a:avLst/>
          </a:prstGeom>
          <a:blipFill dpi="0" rotWithShape="1">
            <a:blip r:embed="rId14"/>
            <a:srcRect/>
            <a:stretch>
              <a:fillRect/>
            </a:stretch>
          </a:blipFill>
          <a:ln w="9525">
            <a:noFill/>
            <a:miter lim="800000"/>
            <a:headEnd/>
            <a:tailEnd/>
          </a:ln>
        </p:spPr>
        <p:txBody>
          <a:bodyPr lIns="0" tIns="0" rIns="0" bIns="0"/>
          <a:lstStyle/>
          <a:p>
            <a:endParaRPr lang="en-US"/>
          </a:p>
        </p:txBody>
      </p:sp>
      <p:sp>
        <p:nvSpPr>
          <p:cNvPr id="16442" name="object 58"/>
          <p:cNvSpPr>
            <a:spLocks noChangeArrowheads="1"/>
          </p:cNvSpPr>
          <p:nvPr/>
        </p:nvSpPr>
        <p:spPr bwMode="auto">
          <a:xfrm>
            <a:off x="3200400" y="3771900"/>
            <a:ext cx="381000" cy="1066800"/>
          </a:xfrm>
          <a:custGeom>
            <a:avLst/>
            <a:gdLst>
              <a:gd name="T0" fmla="*/ 0 w 381000"/>
              <a:gd name="T1" fmla="*/ 0 h 1066800"/>
              <a:gd name="T2" fmla="*/ 381000 w 381000"/>
              <a:gd name="T3" fmla="*/ 1066800 h 1066800"/>
            </a:gdLst>
            <a:ahLst/>
            <a:cxnLst/>
            <a:rect l="T0" t="T1" r="T2" b="T3"/>
            <a:pathLst>
              <a:path w="381000" h="1066800">
                <a:moveTo>
                  <a:pt x="190500" y="1066800"/>
                </a:moveTo>
                <a:lnTo>
                  <a:pt x="0" y="757275"/>
                </a:lnTo>
                <a:lnTo>
                  <a:pt x="73012" y="757275"/>
                </a:lnTo>
                <a:lnTo>
                  <a:pt x="73012" y="0"/>
                </a:lnTo>
                <a:lnTo>
                  <a:pt x="307987" y="0"/>
                </a:lnTo>
                <a:lnTo>
                  <a:pt x="307987" y="757275"/>
                </a:lnTo>
                <a:lnTo>
                  <a:pt x="381000" y="757275"/>
                </a:lnTo>
                <a:lnTo>
                  <a:pt x="190500" y="1066800"/>
                </a:lnTo>
                <a:close/>
              </a:path>
            </a:pathLst>
          </a:custGeom>
          <a:noFill/>
          <a:ln w="12700">
            <a:solidFill>
              <a:srgbClr val="000000"/>
            </a:solidFill>
            <a:miter lim="800000"/>
            <a:headEnd/>
            <a:tailEnd/>
          </a:ln>
        </p:spPr>
        <p:txBody>
          <a:bodyPr lIns="0" tIns="0" rIns="0" bIns="0"/>
          <a:lstStyle/>
          <a:p>
            <a:endParaRPr lang="en-US"/>
          </a:p>
        </p:txBody>
      </p:sp>
      <p:sp>
        <p:nvSpPr>
          <p:cNvPr id="16443" name="object 59"/>
          <p:cNvSpPr>
            <a:spLocks noChangeArrowheads="1"/>
          </p:cNvSpPr>
          <p:nvPr/>
        </p:nvSpPr>
        <p:spPr bwMode="auto">
          <a:xfrm>
            <a:off x="3492500" y="2500313"/>
            <a:ext cx="381000" cy="1081087"/>
          </a:xfrm>
          <a:prstGeom prst="rect">
            <a:avLst/>
          </a:prstGeom>
          <a:blipFill dpi="0" rotWithShape="1">
            <a:blip r:embed="rId15"/>
            <a:srcRect/>
            <a:stretch>
              <a:fillRect/>
            </a:stretch>
          </a:blipFill>
          <a:ln w="9525">
            <a:noFill/>
            <a:miter lim="800000"/>
            <a:headEnd/>
            <a:tailEnd/>
          </a:ln>
        </p:spPr>
        <p:txBody>
          <a:bodyPr lIns="0" tIns="0" rIns="0" bIns="0"/>
          <a:lstStyle/>
          <a:p>
            <a:endParaRPr lang="en-US"/>
          </a:p>
        </p:txBody>
      </p:sp>
      <p:sp>
        <p:nvSpPr>
          <p:cNvPr id="16444" name="object 60"/>
          <p:cNvSpPr>
            <a:spLocks noChangeArrowheads="1"/>
          </p:cNvSpPr>
          <p:nvPr/>
        </p:nvSpPr>
        <p:spPr bwMode="auto">
          <a:xfrm>
            <a:off x="3492500" y="2500313"/>
            <a:ext cx="381000" cy="1081087"/>
          </a:xfrm>
          <a:custGeom>
            <a:avLst/>
            <a:gdLst>
              <a:gd name="T0" fmla="*/ 0 w 381000"/>
              <a:gd name="T1" fmla="*/ 0 h 1081404"/>
              <a:gd name="T2" fmla="*/ 381000 w 381000"/>
              <a:gd name="T3" fmla="*/ 1081404 h 1081404"/>
            </a:gdLst>
            <a:ahLst/>
            <a:cxnLst/>
            <a:rect l="T0" t="T1" r="T2" b="T3"/>
            <a:pathLst>
              <a:path w="381000" h="1081404">
                <a:moveTo>
                  <a:pt x="190500" y="1081087"/>
                </a:moveTo>
                <a:lnTo>
                  <a:pt x="0" y="791400"/>
                </a:lnTo>
                <a:lnTo>
                  <a:pt x="74599" y="791400"/>
                </a:lnTo>
                <a:lnTo>
                  <a:pt x="74599" y="0"/>
                </a:lnTo>
                <a:lnTo>
                  <a:pt x="306400" y="0"/>
                </a:lnTo>
                <a:lnTo>
                  <a:pt x="306400" y="791400"/>
                </a:lnTo>
                <a:lnTo>
                  <a:pt x="381000" y="791400"/>
                </a:lnTo>
                <a:lnTo>
                  <a:pt x="190500" y="1081087"/>
                </a:lnTo>
                <a:close/>
              </a:path>
            </a:pathLst>
          </a:custGeom>
          <a:noFill/>
          <a:ln w="12700">
            <a:solidFill>
              <a:srgbClr val="000000"/>
            </a:solidFill>
            <a:miter lim="800000"/>
            <a:headEnd/>
            <a:tailEnd/>
          </a:ln>
        </p:spPr>
        <p:txBody>
          <a:bodyPr lIns="0" tIns="0" rIns="0" bIns="0"/>
          <a:lstStyle/>
          <a:p>
            <a:endParaRPr lang="en-US"/>
          </a:p>
        </p:txBody>
      </p:sp>
      <p:sp>
        <p:nvSpPr>
          <p:cNvPr id="16445" name="object 61"/>
          <p:cNvSpPr>
            <a:spLocks noChangeArrowheads="1"/>
          </p:cNvSpPr>
          <p:nvPr/>
        </p:nvSpPr>
        <p:spPr bwMode="auto">
          <a:xfrm>
            <a:off x="5414963" y="3786188"/>
            <a:ext cx="381000" cy="1014412"/>
          </a:xfrm>
          <a:prstGeom prst="rect">
            <a:avLst/>
          </a:prstGeom>
          <a:blipFill dpi="0" rotWithShape="1">
            <a:blip r:embed="rId16"/>
            <a:srcRect/>
            <a:stretch>
              <a:fillRect/>
            </a:stretch>
          </a:blipFill>
          <a:ln w="9525">
            <a:noFill/>
            <a:miter lim="800000"/>
            <a:headEnd/>
            <a:tailEnd/>
          </a:ln>
        </p:spPr>
        <p:txBody>
          <a:bodyPr lIns="0" tIns="0" rIns="0" bIns="0"/>
          <a:lstStyle/>
          <a:p>
            <a:endParaRPr lang="en-US"/>
          </a:p>
        </p:txBody>
      </p:sp>
      <p:sp>
        <p:nvSpPr>
          <p:cNvPr id="16446" name="object 62"/>
          <p:cNvSpPr>
            <a:spLocks noChangeArrowheads="1"/>
          </p:cNvSpPr>
          <p:nvPr/>
        </p:nvSpPr>
        <p:spPr bwMode="auto">
          <a:xfrm>
            <a:off x="5414963" y="3786188"/>
            <a:ext cx="381000" cy="1014412"/>
          </a:xfrm>
          <a:custGeom>
            <a:avLst/>
            <a:gdLst>
              <a:gd name="T0" fmla="*/ 0 w 381000"/>
              <a:gd name="T1" fmla="*/ 0 h 1014729"/>
              <a:gd name="T2" fmla="*/ 381000 w 381000"/>
              <a:gd name="T3" fmla="*/ 1014729 h 1014729"/>
            </a:gdLst>
            <a:ahLst/>
            <a:cxnLst/>
            <a:rect l="T0" t="T1" r="T2" b="T3"/>
            <a:pathLst>
              <a:path w="381000" h="1014729">
                <a:moveTo>
                  <a:pt x="190500" y="1014412"/>
                </a:moveTo>
                <a:lnTo>
                  <a:pt x="0" y="679462"/>
                </a:lnTo>
                <a:lnTo>
                  <a:pt x="61899" y="679462"/>
                </a:lnTo>
                <a:lnTo>
                  <a:pt x="61899" y="0"/>
                </a:lnTo>
                <a:lnTo>
                  <a:pt x="319100" y="0"/>
                </a:lnTo>
                <a:lnTo>
                  <a:pt x="319100" y="679462"/>
                </a:lnTo>
                <a:lnTo>
                  <a:pt x="381000" y="679462"/>
                </a:lnTo>
                <a:lnTo>
                  <a:pt x="190500" y="1014412"/>
                </a:lnTo>
                <a:close/>
              </a:path>
            </a:pathLst>
          </a:custGeom>
          <a:noFill/>
          <a:ln w="12700">
            <a:solidFill>
              <a:srgbClr val="000000"/>
            </a:solidFill>
            <a:miter lim="800000"/>
            <a:headEnd/>
            <a:tailEnd/>
          </a:ln>
        </p:spPr>
        <p:txBody>
          <a:bodyPr lIns="0" tIns="0" rIns="0" bIns="0"/>
          <a:lstStyle/>
          <a:p>
            <a:endParaRPr lang="en-US"/>
          </a:p>
        </p:txBody>
      </p:sp>
      <p:sp>
        <p:nvSpPr>
          <p:cNvPr id="16447" name="object 63"/>
          <p:cNvSpPr>
            <a:spLocks noChangeArrowheads="1"/>
          </p:cNvSpPr>
          <p:nvPr/>
        </p:nvSpPr>
        <p:spPr bwMode="auto">
          <a:xfrm>
            <a:off x="7620000" y="2500313"/>
            <a:ext cx="381000" cy="2300287"/>
          </a:xfrm>
          <a:prstGeom prst="rect">
            <a:avLst/>
          </a:prstGeom>
          <a:blipFill dpi="0" rotWithShape="1">
            <a:blip r:embed="rId17"/>
            <a:srcRect/>
            <a:stretch>
              <a:fillRect/>
            </a:stretch>
          </a:blipFill>
          <a:ln w="9525">
            <a:noFill/>
            <a:miter lim="800000"/>
            <a:headEnd/>
            <a:tailEnd/>
          </a:ln>
        </p:spPr>
        <p:txBody>
          <a:bodyPr lIns="0" tIns="0" rIns="0" bIns="0"/>
          <a:lstStyle/>
          <a:p>
            <a:endParaRPr lang="en-US"/>
          </a:p>
        </p:txBody>
      </p:sp>
      <p:sp>
        <p:nvSpPr>
          <p:cNvPr id="16448" name="object 64"/>
          <p:cNvSpPr>
            <a:spLocks noChangeArrowheads="1"/>
          </p:cNvSpPr>
          <p:nvPr/>
        </p:nvSpPr>
        <p:spPr bwMode="auto">
          <a:xfrm>
            <a:off x="7620000" y="2500313"/>
            <a:ext cx="381000" cy="2300287"/>
          </a:xfrm>
          <a:custGeom>
            <a:avLst/>
            <a:gdLst>
              <a:gd name="T0" fmla="*/ 0 w 381000"/>
              <a:gd name="T1" fmla="*/ 0 h 2300604"/>
              <a:gd name="T2" fmla="*/ 381000 w 381000"/>
              <a:gd name="T3" fmla="*/ 2300604 h 2300604"/>
            </a:gdLst>
            <a:ahLst/>
            <a:cxnLst/>
            <a:rect l="T0" t="T1" r="T2" b="T3"/>
            <a:pathLst>
              <a:path w="381000" h="2300604">
                <a:moveTo>
                  <a:pt x="0" y="382638"/>
                </a:moveTo>
                <a:lnTo>
                  <a:pt x="190500" y="0"/>
                </a:lnTo>
                <a:lnTo>
                  <a:pt x="381000" y="382638"/>
                </a:lnTo>
                <a:lnTo>
                  <a:pt x="285750" y="382638"/>
                </a:lnTo>
                <a:lnTo>
                  <a:pt x="285750" y="1917661"/>
                </a:lnTo>
                <a:lnTo>
                  <a:pt x="381000" y="1917661"/>
                </a:lnTo>
                <a:lnTo>
                  <a:pt x="190500" y="2300287"/>
                </a:lnTo>
                <a:lnTo>
                  <a:pt x="0" y="1917661"/>
                </a:lnTo>
                <a:lnTo>
                  <a:pt x="95250" y="1917661"/>
                </a:lnTo>
                <a:lnTo>
                  <a:pt x="95250" y="382638"/>
                </a:lnTo>
                <a:lnTo>
                  <a:pt x="0" y="382638"/>
                </a:lnTo>
                <a:close/>
              </a:path>
            </a:pathLst>
          </a:custGeom>
          <a:noFill/>
          <a:ln w="12700">
            <a:solidFill>
              <a:srgbClr val="000000"/>
            </a:solidFill>
            <a:miter lim="800000"/>
            <a:headEnd/>
            <a:tailEnd/>
          </a:ln>
        </p:spPr>
        <p:txBody>
          <a:bodyPr lIns="0" tIns="0" rIns="0" bIns="0"/>
          <a:lstStyle/>
          <a:p>
            <a:endParaRPr lang="en-US"/>
          </a:p>
        </p:txBody>
      </p:sp>
      <p:sp>
        <p:nvSpPr>
          <p:cNvPr id="16449" name="object 65"/>
          <p:cNvSpPr>
            <a:spLocks noChangeArrowheads="1"/>
          </p:cNvSpPr>
          <p:nvPr/>
        </p:nvSpPr>
        <p:spPr bwMode="auto">
          <a:xfrm>
            <a:off x="5410200" y="2500313"/>
            <a:ext cx="381000" cy="1093787"/>
          </a:xfrm>
          <a:prstGeom prst="rect">
            <a:avLst/>
          </a:prstGeom>
          <a:blipFill dpi="0" rotWithShape="1">
            <a:blip r:embed="rId18"/>
            <a:srcRect/>
            <a:stretch>
              <a:fillRect/>
            </a:stretch>
          </a:blipFill>
          <a:ln w="9525">
            <a:noFill/>
            <a:miter lim="800000"/>
            <a:headEnd/>
            <a:tailEnd/>
          </a:ln>
        </p:spPr>
        <p:txBody>
          <a:bodyPr lIns="0" tIns="0" rIns="0" bIns="0"/>
          <a:lstStyle/>
          <a:p>
            <a:endParaRPr lang="en-US"/>
          </a:p>
        </p:txBody>
      </p:sp>
      <p:sp>
        <p:nvSpPr>
          <p:cNvPr id="16450" name="object 66"/>
          <p:cNvSpPr>
            <a:spLocks noChangeArrowheads="1"/>
          </p:cNvSpPr>
          <p:nvPr/>
        </p:nvSpPr>
        <p:spPr bwMode="auto">
          <a:xfrm>
            <a:off x="5410200" y="2500313"/>
            <a:ext cx="381000" cy="1093787"/>
          </a:xfrm>
          <a:custGeom>
            <a:avLst/>
            <a:gdLst>
              <a:gd name="T0" fmla="*/ 0 w 381000"/>
              <a:gd name="T1" fmla="*/ 0 h 1094104"/>
              <a:gd name="T2" fmla="*/ 381000 w 381000"/>
              <a:gd name="T3" fmla="*/ 1094104 h 1094104"/>
            </a:gdLst>
            <a:ahLst/>
            <a:cxnLst/>
            <a:rect l="T0" t="T1" r="T2" b="T3"/>
            <a:pathLst>
              <a:path w="381000" h="1094104">
                <a:moveTo>
                  <a:pt x="0" y="231775"/>
                </a:moveTo>
                <a:lnTo>
                  <a:pt x="190500" y="0"/>
                </a:lnTo>
                <a:lnTo>
                  <a:pt x="381000" y="231775"/>
                </a:lnTo>
                <a:lnTo>
                  <a:pt x="274637" y="231775"/>
                </a:lnTo>
                <a:lnTo>
                  <a:pt x="274637" y="862025"/>
                </a:lnTo>
                <a:lnTo>
                  <a:pt x="381000" y="862025"/>
                </a:lnTo>
                <a:lnTo>
                  <a:pt x="190500" y="1093787"/>
                </a:lnTo>
                <a:lnTo>
                  <a:pt x="0" y="862025"/>
                </a:lnTo>
                <a:lnTo>
                  <a:pt x="106362" y="862025"/>
                </a:lnTo>
                <a:lnTo>
                  <a:pt x="106362" y="231775"/>
                </a:lnTo>
                <a:lnTo>
                  <a:pt x="0" y="231775"/>
                </a:lnTo>
                <a:close/>
              </a:path>
            </a:pathLst>
          </a:custGeom>
          <a:noFill/>
          <a:ln w="12700">
            <a:solidFill>
              <a:srgbClr val="000000"/>
            </a:solidFill>
            <a:miter lim="800000"/>
            <a:headEnd/>
            <a:tailEnd/>
          </a:ln>
        </p:spPr>
        <p:txBody>
          <a:bodyPr lIns="0" tIns="0" rIns="0" bIns="0"/>
          <a:lstStyle/>
          <a:p>
            <a:endParaRPr lang="en-US"/>
          </a:p>
        </p:txBody>
      </p:sp>
      <p:sp>
        <p:nvSpPr>
          <p:cNvPr id="16451" name="object 67"/>
          <p:cNvSpPr>
            <a:spLocks noChangeArrowheads="1"/>
          </p:cNvSpPr>
          <p:nvPr/>
        </p:nvSpPr>
        <p:spPr bwMode="auto">
          <a:xfrm>
            <a:off x="1447800" y="2362200"/>
            <a:ext cx="228600" cy="533400"/>
          </a:xfrm>
          <a:prstGeom prst="rect">
            <a:avLst/>
          </a:prstGeom>
          <a:blipFill dpi="0" rotWithShape="1">
            <a:blip r:embed="rId19"/>
            <a:srcRect/>
            <a:stretch>
              <a:fillRect/>
            </a:stretch>
          </a:blipFill>
          <a:ln w="9525">
            <a:noFill/>
            <a:miter lim="800000"/>
            <a:headEnd/>
            <a:tailEnd/>
          </a:ln>
        </p:spPr>
        <p:txBody>
          <a:bodyPr lIns="0" tIns="0" rIns="0" bIns="0"/>
          <a:lstStyle/>
          <a:p>
            <a:endParaRPr lang="en-US"/>
          </a:p>
        </p:txBody>
      </p:sp>
      <p:sp>
        <p:nvSpPr>
          <p:cNvPr id="16452" name="object 68"/>
          <p:cNvSpPr>
            <a:spLocks noChangeArrowheads="1"/>
          </p:cNvSpPr>
          <p:nvPr/>
        </p:nvSpPr>
        <p:spPr bwMode="auto">
          <a:xfrm>
            <a:off x="1447800" y="2362200"/>
            <a:ext cx="228600" cy="533400"/>
          </a:xfrm>
          <a:custGeom>
            <a:avLst/>
            <a:gdLst>
              <a:gd name="T0" fmla="*/ 0 w 228600"/>
              <a:gd name="T1" fmla="*/ 0 h 533400"/>
              <a:gd name="T2" fmla="*/ 228600 w 228600"/>
              <a:gd name="T3" fmla="*/ 533400 h 533400"/>
            </a:gdLst>
            <a:ahLst/>
            <a:cxnLst/>
            <a:rect l="T0" t="T1" r="T2" b="T3"/>
            <a:pathLst>
              <a:path w="228600" h="533400">
                <a:moveTo>
                  <a:pt x="114300" y="533400"/>
                </a:moveTo>
                <a:lnTo>
                  <a:pt x="0" y="420700"/>
                </a:lnTo>
                <a:lnTo>
                  <a:pt x="41275" y="420700"/>
                </a:lnTo>
                <a:lnTo>
                  <a:pt x="41275" y="0"/>
                </a:lnTo>
                <a:lnTo>
                  <a:pt x="187325" y="0"/>
                </a:lnTo>
                <a:lnTo>
                  <a:pt x="187325" y="420700"/>
                </a:lnTo>
                <a:lnTo>
                  <a:pt x="228600" y="420700"/>
                </a:lnTo>
                <a:lnTo>
                  <a:pt x="114300" y="533400"/>
                </a:lnTo>
                <a:close/>
              </a:path>
            </a:pathLst>
          </a:custGeom>
          <a:noFill/>
          <a:ln w="12700">
            <a:solidFill>
              <a:srgbClr val="000000"/>
            </a:solidFill>
            <a:miter lim="800000"/>
            <a:headEnd/>
            <a:tailEnd/>
          </a:ln>
        </p:spPr>
        <p:txBody>
          <a:bodyPr lIns="0" tIns="0" rIns="0" bIns="0"/>
          <a:lstStyle/>
          <a:p>
            <a:endParaRPr lang="en-US"/>
          </a:p>
        </p:txBody>
      </p:sp>
      <p:sp>
        <p:nvSpPr>
          <p:cNvPr id="16453" name="object 69"/>
          <p:cNvSpPr>
            <a:spLocks noChangeArrowheads="1"/>
          </p:cNvSpPr>
          <p:nvPr/>
        </p:nvSpPr>
        <p:spPr bwMode="auto">
          <a:xfrm>
            <a:off x="2189163" y="2028825"/>
            <a:ext cx="933450" cy="180975"/>
          </a:xfrm>
          <a:prstGeom prst="rect">
            <a:avLst/>
          </a:prstGeom>
          <a:blipFill dpi="0" rotWithShape="1">
            <a:blip r:embed="rId20"/>
            <a:srcRect/>
            <a:stretch>
              <a:fillRect/>
            </a:stretch>
          </a:blipFill>
          <a:ln w="9525">
            <a:noFill/>
            <a:miter lim="800000"/>
            <a:headEnd/>
            <a:tailEnd/>
          </a:ln>
        </p:spPr>
        <p:txBody>
          <a:bodyPr lIns="0" tIns="0" rIns="0" bIns="0"/>
          <a:lstStyle/>
          <a:p>
            <a:endParaRPr lang="en-US"/>
          </a:p>
        </p:txBody>
      </p:sp>
      <p:sp>
        <p:nvSpPr>
          <p:cNvPr id="16454" name="object 70"/>
          <p:cNvSpPr>
            <a:spLocks noChangeArrowheads="1"/>
          </p:cNvSpPr>
          <p:nvPr/>
        </p:nvSpPr>
        <p:spPr bwMode="auto">
          <a:xfrm>
            <a:off x="2189163" y="2028825"/>
            <a:ext cx="933450" cy="180975"/>
          </a:xfrm>
          <a:custGeom>
            <a:avLst/>
            <a:gdLst>
              <a:gd name="T0" fmla="*/ 0 w 933450"/>
              <a:gd name="T1" fmla="*/ 0 h 180975"/>
              <a:gd name="T2" fmla="*/ 933450 w 933450"/>
              <a:gd name="T3" fmla="*/ 180975 h 180975"/>
            </a:gdLst>
            <a:ahLst/>
            <a:cxnLst/>
            <a:rect l="T0" t="T1" r="T2" b="T3"/>
            <a:pathLst>
              <a:path w="933450" h="180975">
                <a:moveTo>
                  <a:pt x="0" y="90487"/>
                </a:moveTo>
                <a:lnTo>
                  <a:pt x="103809" y="0"/>
                </a:lnTo>
                <a:lnTo>
                  <a:pt x="103809" y="33921"/>
                </a:lnTo>
                <a:lnTo>
                  <a:pt x="933450" y="33921"/>
                </a:lnTo>
                <a:lnTo>
                  <a:pt x="933450" y="147053"/>
                </a:lnTo>
                <a:lnTo>
                  <a:pt x="103809" y="147053"/>
                </a:lnTo>
                <a:lnTo>
                  <a:pt x="103809" y="180975"/>
                </a:lnTo>
                <a:lnTo>
                  <a:pt x="0" y="90487"/>
                </a:lnTo>
                <a:close/>
              </a:path>
            </a:pathLst>
          </a:custGeom>
          <a:noFill/>
          <a:ln w="12700">
            <a:solidFill>
              <a:srgbClr val="000000"/>
            </a:solidFill>
            <a:miter lim="800000"/>
            <a:headEnd/>
            <a:tailEnd/>
          </a:ln>
        </p:spPr>
        <p:txBody>
          <a:bodyPr lIns="0" tIns="0" rIns="0" bIns="0"/>
          <a:lstStyle/>
          <a:p>
            <a:endParaRPr lang="en-US"/>
          </a:p>
        </p:txBody>
      </p:sp>
      <p:sp>
        <p:nvSpPr>
          <p:cNvPr id="16455" name="object 71"/>
          <p:cNvSpPr>
            <a:spLocks noChangeArrowheads="1"/>
          </p:cNvSpPr>
          <p:nvPr/>
        </p:nvSpPr>
        <p:spPr bwMode="auto">
          <a:xfrm>
            <a:off x="2189163" y="1571625"/>
            <a:ext cx="933450" cy="180975"/>
          </a:xfrm>
          <a:prstGeom prst="rect">
            <a:avLst/>
          </a:prstGeom>
          <a:blipFill dpi="0" rotWithShape="1">
            <a:blip r:embed="rId20"/>
            <a:srcRect/>
            <a:stretch>
              <a:fillRect/>
            </a:stretch>
          </a:blipFill>
          <a:ln w="9525">
            <a:noFill/>
            <a:miter lim="800000"/>
            <a:headEnd/>
            <a:tailEnd/>
          </a:ln>
        </p:spPr>
        <p:txBody>
          <a:bodyPr lIns="0" tIns="0" rIns="0" bIns="0"/>
          <a:lstStyle/>
          <a:p>
            <a:endParaRPr lang="en-US"/>
          </a:p>
        </p:txBody>
      </p:sp>
      <p:sp>
        <p:nvSpPr>
          <p:cNvPr id="16456" name="object 72"/>
          <p:cNvSpPr>
            <a:spLocks noChangeArrowheads="1"/>
          </p:cNvSpPr>
          <p:nvPr/>
        </p:nvSpPr>
        <p:spPr bwMode="auto">
          <a:xfrm>
            <a:off x="2189163" y="1571625"/>
            <a:ext cx="933450" cy="180975"/>
          </a:xfrm>
          <a:custGeom>
            <a:avLst/>
            <a:gdLst>
              <a:gd name="T0" fmla="*/ 0 w 933450"/>
              <a:gd name="T1" fmla="*/ 0 h 180975"/>
              <a:gd name="T2" fmla="*/ 933450 w 933450"/>
              <a:gd name="T3" fmla="*/ 180975 h 180975"/>
            </a:gdLst>
            <a:ahLst/>
            <a:cxnLst/>
            <a:rect l="T0" t="T1" r="T2" b="T3"/>
            <a:pathLst>
              <a:path w="933450" h="180975">
                <a:moveTo>
                  <a:pt x="0" y="90487"/>
                </a:moveTo>
                <a:lnTo>
                  <a:pt x="103809" y="0"/>
                </a:lnTo>
                <a:lnTo>
                  <a:pt x="103809" y="33921"/>
                </a:lnTo>
                <a:lnTo>
                  <a:pt x="933450" y="33921"/>
                </a:lnTo>
                <a:lnTo>
                  <a:pt x="933450" y="147053"/>
                </a:lnTo>
                <a:lnTo>
                  <a:pt x="103809" y="147053"/>
                </a:lnTo>
                <a:lnTo>
                  <a:pt x="103809" y="180975"/>
                </a:lnTo>
                <a:lnTo>
                  <a:pt x="0" y="90487"/>
                </a:lnTo>
                <a:close/>
              </a:path>
            </a:pathLst>
          </a:custGeom>
          <a:noFill/>
          <a:ln w="12700">
            <a:solidFill>
              <a:srgbClr val="000000"/>
            </a:solidFill>
            <a:miter lim="800000"/>
            <a:headEnd/>
            <a:tailEnd/>
          </a:ln>
        </p:spPr>
        <p:txBody>
          <a:bodyPr lIns="0" tIns="0" rIns="0" bIns="0"/>
          <a:lstStyle/>
          <a:p>
            <a:endParaRPr lang="en-US"/>
          </a:p>
        </p:txBody>
      </p:sp>
      <p:sp>
        <p:nvSpPr>
          <p:cNvPr id="16457" name="object 73"/>
          <p:cNvSpPr>
            <a:spLocks noChangeArrowheads="1"/>
          </p:cNvSpPr>
          <p:nvPr/>
        </p:nvSpPr>
        <p:spPr bwMode="auto">
          <a:xfrm>
            <a:off x="2189163" y="1800225"/>
            <a:ext cx="933450" cy="180975"/>
          </a:xfrm>
          <a:prstGeom prst="rect">
            <a:avLst/>
          </a:prstGeom>
          <a:blipFill dpi="0" rotWithShape="1">
            <a:blip r:embed="rId20"/>
            <a:srcRect/>
            <a:stretch>
              <a:fillRect/>
            </a:stretch>
          </a:blipFill>
          <a:ln w="9525">
            <a:noFill/>
            <a:miter lim="800000"/>
            <a:headEnd/>
            <a:tailEnd/>
          </a:ln>
        </p:spPr>
        <p:txBody>
          <a:bodyPr lIns="0" tIns="0" rIns="0" bIns="0"/>
          <a:lstStyle/>
          <a:p>
            <a:endParaRPr lang="en-US"/>
          </a:p>
        </p:txBody>
      </p:sp>
      <p:sp>
        <p:nvSpPr>
          <p:cNvPr id="16458" name="object 74"/>
          <p:cNvSpPr>
            <a:spLocks noChangeArrowheads="1"/>
          </p:cNvSpPr>
          <p:nvPr/>
        </p:nvSpPr>
        <p:spPr bwMode="auto">
          <a:xfrm>
            <a:off x="2189163" y="1800225"/>
            <a:ext cx="933450" cy="180975"/>
          </a:xfrm>
          <a:custGeom>
            <a:avLst/>
            <a:gdLst>
              <a:gd name="T0" fmla="*/ 0 w 933450"/>
              <a:gd name="T1" fmla="*/ 0 h 180975"/>
              <a:gd name="T2" fmla="*/ 933450 w 933450"/>
              <a:gd name="T3" fmla="*/ 180975 h 180975"/>
            </a:gdLst>
            <a:ahLst/>
            <a:cxnLst/>
            <a:rect l="T0" t="T1" r="T2" b="T3"/>
            <a:pathLst>
              <a:path w="933450" h="180975">
                <a:moveTo>
                  <a:pt x="0" y="90487"/>
                </a:moveTo>
                <a:lnTo>
                  <a:pt x="103809" y="0"/>
                </a:lnTo>
                <a:lnTo>
                  <a:pt x="103809" y="33921"/>
                </a:lnTo>
                <a:lnTo>
                  <a:pt x="933450" y="33921"/>
                </a:lnTo>
                <a:lnTo>
                  <a:pt x="933450" y="147053"/>
                </a:lnTo>
                <a:lnTo>
                  <a:pt x="103809" y="147053"/>
                </a:lnTo>
                <a:lnTo>
                  <a:pt x="103809" y="180975"/>
                </a:lnTo>
                <a:lnTo>
                  <a:pt x="0" y="90487"/>
                </a:lnTo>
                <a:close/>
              </a:path>
            </a:pathLst>
          </a:custGeom>
          <a:noFill/>
          <a:ln w="12700">
            <a:solidFill>
              <a:srgbClr val="000000"/>
            </a:solidFill>
            <a:miter lim="800000"/>
            <a:headEnd/>
            <a:tailEnd/>
          </a:ln>
        </p:spPr>
        <p:txBody>
          <a:bodyPr lIns="0" tIns="0" rIns="0" bIns="0"/>
          <a:lstStyle/>
          <a:p>
            <a:endParaRPr lang="en-US"/>
          </a:p>
        </p:txBody>
      </p:sp>
      <p:sp>
        <p:nvSpPr>
          <p:cNvPr id="16459" name="object 75"/>
          <p:cNvSpPr>
            <a:spLocks noChangeArrowheads="1"/>
          </p:cNvSpPr>
          <p:nvPr/>
        </p:nvSpPr>
        <p:spPr bwMode="auto">
          <a:xfrm>
            <a:off x="1295400" y="914400"/>
            <a:ext cx="152400" cy="533400"/>
          </a:xfrm>
          <a:prstGeom prst="rect">
            <a:avLst/>
          </a:prstGeom>
          <a:blipFill dpi="0" rotWithShape="1">
            <a:blip r:embed="rId21"/>
            <a:srcRect/>
            <a:stretch>
              <a:fillRect/>
            </a:stretch>
          </a:blipFill>
          <a:ln w="9525">
            <a:noFill/>
            <a:miter lim="800000"/>
            <a:headEnd/>
            <a:tailEnd/>
          </a:ln>
        </p:spPr>
        <p:txBody>
          <a:bodyPr lIns="0" tIns="0" rIns="0" bIns="0"/>
          <a:lstStyle/>
          <a:p>
            <a:endParaRPr lang="en-US"/>
          </a:p>
        </p:txBody>
      </p:sp>
      <p:sp>
        <p:nvSpPr>
          <p:cNvPr id="16460" name="object 76"/>
          <p:cNvSpPr>
            <a:spLocks noChangeArrowheads="1"/>
          </p:cNvSpPr>
          <p:nvPr/>
        </p:nvSpPr>
        <p:spPr bwMode="auto">
          <a:xfrm>
            <a:off x="1295400" y="914400"/>
            <a:ext cx="152400" cy="533400"/>
          </a:xfrm>
          <a:custGeom>
            <a:avLst/>
            <a:gdLst>
              <a:gd name="T0" fmla="*/ 0 w 152400"/>
              <a:gd name="T1" fmla="*/ 0 h 533400"/>
              <a:gd name="T2" fmla="*/ 152400 w 152400"/>
              <a:gd name="T3" fmla="*/ 533400 h 533400"/>
            </a:gdLst>
            <a:ahLst/>
            <a:cxnLst/>
            <a:rect l="T0" t="T1" r="T2" b="T3"/>
            <a:pathLst>
              <a:path w="152400" h="533400">
                <a:moveTo>
                  <a:pt x="76200" y="533400"/>
                </a:moveTo>
                <a:lnTo>
                  <a:pt x="0" y="446011"/>
                </a:lnTo>
                <a:lnTo>
                  <a:pt x="28562" y="446011"/>
                </a:lnTo>
                <a:lnTo>
                  <a:pt x="28562" y="0"/>
                </a:lnTo>
                <a:lnTo>
                  <a:pt x="123837" y="0"/>
                </a:lnTo>
                <a:lnTo>
                  <a:pt x="123837" y="446011"/>
                </a:lnTo>
                <a:lnTo>
                  <a:pt x="152400" y="446011"/>
                </a:lnTo>
                <a:lnTo>
                  <a:pt x="76200" y="533400"/>
                </a:lnTo>
                <a:close/>
              </a:path>
            </a:pathLst>
          </a:custGeom>
          <a:noFill/>
          <a:ln w="12700">
            <a:solidFill>
              <a:srgbClr val="000000"/>
            </a:solidFill>
            <a:miter lim="800000"/>
            <a:headEnd/>
            <a:tailEnd/>
          </a:ln>
        </p:spPr>
        <p:txBody>
          <a:bodyPr lIns="0" tIns="0" rIns="0" bIns="0"/>
          <a:lstStyle/>
          <a:p>
            <a:endParaRPr lang="en-US"/>
          </a:p>
        </p:txBody>
      </p:sp>
      <p:sp>
        <p:nvSpPr>
          <p:cNvPr id="16461" name="object 77"/>
          <p:cNvSpPr>
            <a:spLocks noChangeArrowheads="1"/>
          </p:cNvSpPr>
          <p:nvPr/>
        </p:nvSpPr>
        <p:spPr bwMode="auto">
          <a:xfrm>
            <a:off x="1676400" y="914400"/>
            <a:ext cx="152400" cy="533400"/>
          </a:xfrm>
          <a:prstGeom prst="rect">
            <a:avLst/>
          </a:prstGeom>
          <a:blipFill dpi="0" rotWithShape="1">
            <a:blip r:embed="rId21"/>
            <a:srcRect/>
            <a:stretch>
              <a:fillRect/>
            </a:stretch>
          </a:blipFill>
          <a:ln w="9525">
            <a:noFill/>
            <a:miter lim="800000"/>
            <a:headEnd/>
            <a:tailEnd/>
          </a:ln>
        </p:spPr>
        <p:txBody>
          <a:bodyPr lIns="0" tIns="0" rIns="0" bIns="0"/>
          <a:lstStyle/>
          <a:p>
            <a:endParaRPr lang="en-US"/>
          </a:p>
        </p:txBody>
      </p:sp>
      <p:sp>
        <p:nvSpPr>
          <p:cNvPr id="16462" name="object 78"/>
          <p:cNvSpPr>
            <a:spLocks noChangeArrowheads="1"/>
          </p:cNvSpPr>
          <p:nvPr/>
        </p:nvSpPr>
        <p:spPr bwMode="auto">
          <a:xfrm>
            <a:off x="1676400" y="914400"/>
            <a:ext cx="152400" cy="533400"/>
          </a:xfrm>
          <a:custGeom>
            <a:avLst/>
            <a:gdLst>
              <a:gd name="T0" fmla="*/ 0 w 152400"/>
              <a:gd name="T1" fmla="*/ 0 h 533400"/>
              <a:gd name="T2" fmla="*/ 152400 w 152400"/>
              <a:gd name="T3" fmla="*/ 533400 h 533400"/>
            </a:gdLst>
            <a:ahLst/>
            <a:cxnLst/>
            <a:rect l="T0" t="T1" r="T2" b="T3"/>
            <a:pathLst>
              <a:path w="152400" h="533400">
                <a:moveTo>
                  <a:pt x="76200" y="533400"/>
                </a:moveTo>
                <a:lnTo>
                  <a:pt x="0" y="446011"/>
                </a:lnTo>
                <a:lnTo>
                  <a:pt x="28562" y="446011"/>
                </a:lnTo>
                <a:lnTo>
                  <a:pt x="28562" y="0"/>
                </a:lnTo>
                <a:lnTo>
                  <a:pt x="123837" y="0"/>
                </a:lnTo>
                <a:lnTo>
                  <a:pt x="123837" y="446011"/>
                </a:lnTo>
                <a:lnTo>
                  <a:pt x="152400" y="446011"/>
                </a:lnTo>
                <a:lnTo>
                  <a:pt x="76200" y="533400"/>
                </a:lnTo>
                <a:close/>
              </a:path>
            </a:pathLst>
          </a:custGeom>
          <a:noFill/>
          <a:ln w="12700">
            <a:solidFill>
              <a:srgbClr val="000000"/>
            </a:solidFill>
            <a:miter lim="800000"/>
            <a:headEnd/>
            <a:tailEnd/>
          </a:ln>
        </p:spPr>
        <p:txBody>
          <a:bodyPr lIns="0" tIns="0" rIns="0" bIns="0"/>
          <a:lstStyle/>
          <a:p>
            <a:endParaRPr lang="en-US"/>
          </a:p>
        </p:txBody>
      </p:sp>
      <p:sp>
        <p:nvSpPr>
          <p:cNvPr id="16463" name="object 79"/>
          <p:cNvSpPr>
            <a:spLocks noChangeArrowheads="1"/>
          </p:cNvSpPr>
          <p:nvPr/>
        </p:nvSpPr>
        <p:spPr bwMode="auto">
          <a:xfrm>
            <a:off x="8382000" y="2119313"/>
            <a:ext cx="533400" cy="152400"/>
          </a:xfrm>
          <a:prstGeom prst="rect">
            <a:avLst/>
          </a:prstGeom>
          <a:blipFill dpi="0" rotWithShape="1">
            <a:blip r:embed="rId22"/>
            <a:srcRect/>
            <a:stretch>
              <a:fillRect/>
            </a:stretch>
          </a:blipFill>
          <a:ln w="9525">
            <a:noFill/>
            <a:miter lim="800000"/>
            <a:headEnd/>
            <a:tailEnd/>
          </a:ln>
        </p:spPr>
        <p:txBody>
          <a:bodyPr lIns="0" tIns="0" rIns="0" bIns="0"/>
          <a:lstStyle/>
          <a:p>
            <a:endParaRPr lang="en-US"/>
          </a:p>
        </p:txBody>
      </p:sp>
      <p:sp>
        <p:nvSpPr>
          <p:cNvPr id="16464" name="object 80"/>
          <p:cNvSpPr>
            <a:spLocks noChangeArrowheads="1"/>
          </p:cNvSpPr>
          <p:nvPr/>
        </p:nvSpPr>
        <p:spPr bwMode="auto">
          <a:xfrm>
            <a:off x="8382000" y="2119313"/>
            <a:ext cx="533400" cy="152400"/>
          </a:xfrm>
          <a:custGeom>
            <a:avLst/>
            <a:gdLst>
              <a:gd name="T0" fmla="*/ 0 w 533400"/>
              <a:gd name="T1" fmla="*/ 0 h 152400"/>
              <a:gd name="T2" fmla="*/ 533400 w 533400"/>
              <a:gd name="T3" fmla="*/ 152400 h 152400"/>
            </a:gdLst>
            <a:ahLst/>
            <a:cxnLst/>
            <a:rect l="T0" t="T1" r="T2" b="T3"/>
            <a:pathLst>
              <a:path w="533400" h="152400">
                <a:moveTo>
                  <a:pt x="0" y="76200"/>
                </a:moveTo>
                <a:lnTo>
                  <a:pt x="87388" y="0"/>
                </a:lnTo>
                <a:lnTo>
                  <a:pt x="87388" y="28562"/>
                </a:lnTo>
                <a:lnTo>
                  <a:pt x="533400" y="28562"/>
                </a:lnTo>
                <a:lnTo>
                  <a:pt x="533400" y="123837"/>
                </a:lnTo>
                <a:lnTo>
                  <a:pt x="87388" y="123837"/>
                </a:lnTo>
                <a:lnTo>
                  <a:pt x="87388" y="152400"/>
                </a:lnTo>
                <a:lnTo>
                  <a:pt x="0" y="76200"/>
                </a:lnTo>
                <a:close/>
              </a:path>
            </a:pathLst>
          </a:custGeom>
          <a:noFill/>
          <a:ln w="12700">
            <a:solidFill>
              <a:srgbClr val="000000"/>
            </a:solidFill>
            <a:miter lim="800000"/>
            <a:headEnd/>
            <a:tailEnd/>
          </a:ln>
        </p:spPr>
        <p:txBody>
          <a:bodyPr lIns="0" tIns="0" rIns="0" bIns="0"/>
          <a:lstStyle/>
          <a:p>
            <a:endParaRPr lang="en-US"/>
          </a:p>
        </p:txBody>
      </p:sp>
      <p:sp>
        <p:nvSpPr>
          <p:cNvPr id="16465" name="object 81"/>
          <p:cNvSpPr>
            <a:spLocks noChangeArrowheads="1"/>
          </p:cNvSpPr>
          <p:nvPr/>
        </p:nvSpPr>
        <p:spPr bwMode="auto">
          <a:xfrm>
            <a:off x="8382000" y="1585913"/>
            <a:ext cx="533400" cy="152400"/>
          </a:xfrm>
          <a:prstGeom prst="rect">
            <a:avLst/>
          </a:prstGeom>
          <a:blipFill dpi="0" rotWithShape="1">
            <a:blip r:embed="rId23"/>
            <a:srcRect/>
            <a:stretch>
              <a:fillRect/>
            </a:stretch>
          </a:blipFill>
          <a:ln w="9525">
            <a:noFill/>
            <a:miter lim="800000"/>
            <a:headEnd/>
            <a:tailEnd/>
          </a:ln>
        </p:spPr>
        <p:txBody>
          <a:bodyPr lIns="0" tIns="0" rIns="0" bIns="0"/>
          <a:lstStyle/>
          <a:p>
            <a:endParaRPr lang="en-US"/>
          </a:p>
        </p:txBody>
      </p:sp>
      <p:sp>
        <p:nvSpPr>
          <p:cNvPr id="16466" name="object 82"/>
          <p:cNvSpPr>
            <a:spLocks noChangeArrowheads="1"/>
          </p:cNvSpPr>
          <p:nvPr/>
        </p:nvSpPr>
        <p:spPr bwMode="auto">
          <a:xfrm>
            <a:off x="8382000" y="1585913"/>
            <a:ext cx="533400" cy="152400"/>
          </a:xfrm>
          <a:custGeom>
            <a:avLst/>
            <a:gdLst>
              <a:gd name="T0" fmla="*/ 0 w 533400"/>
              <a:gd name="T1" fmla="*/ 0 h 152400"/>
              <a:gd name="T2" fmla="*/ 533400 w 533400"/>
              <a:gd name="T3" fmla="*/ 152400 h 152400"/>
            </a:gdLst>
            <a:ahLst/>
            <a:cxnLst/>
            <a:rect l="T0" t="T1" r="T2" b="T3"/>
            <a:pathLst>
              <a:path w="533400" h="152400">
                <a:moveTo>
                  <a:pt x="0" y="76200"/>
                </a:moveTo>
                <a:lnTo>
                  <a:pt x="87388" y="0"/>
                </a:lnTo>
                <a:lnTo>
                  <a:pt x="87388" y="28562"/>
                </a:lnTo>
                <a:lnTo>
                  <a:pt x="533400" y="28562"/>
                </a:lnTo>
                <a:lnTo>
                  <a:pt x="533400" y="123837"/>
                </a:lnTo>
                <a:lnTo>
                  <a:pt x="87388" y="123837"/>
                </a:lnTo>
                <a:lnTo>
                  <a:pt x="87388" y="152400"/>
                </a:lnTo>
                <a:lnTo>
                  <a:pt x="0" y="76200"/>
                </a:lnTo>
                <a:close/>
              </a:path>
            </a:pathLst>
          </a:custGeom>
          <a:noFill/>
          <a:ln w="12700">
            <a:solidFill>
              <a:srgbClr val="000000"/>
            </a:solidFill>
            <a:miter lim="800000"/>
            <a:headEnd/>
            <a:tailEnd/>
          </a:ln>
        </p:spPr>
        <p:txBody>
          <a:bodyPr lIns="0" tIns="0" rIns="0" bIns="0"/>
          <a:lstStyle/>
          <a:p>
            <a:endParaRPr lang="en-US"/>
          </a:p>
        </p:txBody>
      </p:sp>
      <p:sp>
        <p:nvSpPr>
          <p:cNvPr id="16467" name="object 83"/>
          <p:cNvSpPr>
            <a:spLocks noChangeArrowheads="1"/>
          </p:cNvSpPr>
          <p:nvPr/>
        </p:nvSpPr>
        <p:spPr bwMode="auto">
          <a:xfrm>
            <a:off x="1371600" y="4318000"/>
            <a:ext cx="271463" cy="611188"/>
          </a:xfrm>
          <a:prstGeom prst="rect">
            <a:avLst/>
          </a:prstGeom>
          <a:blipFill dpi="0" rotWithShape="1">
            <a:blip r:embed="rId24"/>
            <a:srcRect/>
            <a:stretch>
              <a:fillRect/>
            </a:stretch>
          </a:blipFill>
          <a:ln w="9525">
            <a:noFill/>
            <a:miter lim="800000"/>
            <a:headEnd/>
            <a:tailEnd/>
          </a:ln>
        </p:spPr>
        <p:txBody>
          <a:bodyPr lIns="0" tIns="0" rIns="0" bIns="0"/>
          <a:lstStyle/>
          <a:p>
            <a:endParaRPr lang="en-US"/>
          </a:p>
        </p:txBody>
      </p:sp>
      <p:sp>
        <p:nvSpPr>
          <p:cNvPr id="16468" name="object 84"/>
          <p:cNvSpPr>
            <a:spLocks noChangeArrowheads="1"/>
          </p:cNvSpPr>
          <p:nvPr/>
        </p:nvSpPr>
        <p:spPr bwMode="auto">
          <a:xfrm>
            <a:off x="1371600" y="4318000"/>
            <a:ext cx="271463" cy="611188"/>
          </a:xfrm>
          <a:custGeom>
            <a:avLst/>
            <a:gdLst>
              <a:gd name="T0" fmla="*/ 0 w 271780"/>
              <a:gd name="T1" fmla="*/ 0 h 611504"/>
              <a:gd name="T2" fmla="*/ 271780 w 271780"/>
              <a:gd name="T3" fmla="*/ 611504 h 611504"/>
            </a:gdLst>
            <a:ahLst/>
            <a:cxnLst/>
            <a:rect l="T0" t="T1" r="T2" b="T3"/>
            <a:pathLst>
              <a:path w="271780" h="611504">
                <a:moveTo>
                  <a:pt x="135724" y="0"/>
                </a:moveTo>
                <a:lnTo>
                  <a:pt x="271462" y="190373"/>
                </a:lnTo>
                <a:lnTo>
                  <a:pt x="209257" y="190373"/>
                </a:lnTo>
                <a:lnTo>
                  <a:pt x="209257" y="611187"/>
                </a:lnTo>
                <a:lnTo>
                  <a:pt x="62191" y="611187"/>
                </a:lnTo>
                <a:lnTo>
                  <a:pt x="62191" y="190373"/>
                </a:lnTo>
                <a:lnTo>
                  <a:pt x="0" y="190373"/>
                </a:lnTo>
                <a:lnTo>
                  <a:pt x="135724" y="0"/>
                </a:lnTo>
                <a:close/>
              </a:path>
            </a:pathLst>
          </a:custGeom>
          <a:noFill/>
          <a:ln w="12700">
            <a:solidFill>
              <a:srgbClr val="000000"/>
            </a:solidFill>
            <a:miter lim="800000"/>
            <a:headEnd/>
            <a:tailEnd/>
          </a:ln>
        </p:spPr>
        <p:txBody>
          <a:bodyPr lIns="0" tIns="0" rIns="0" bIns="0"/>
          <a:lstStyle/>
          <a:p>
            <a:endParaRPr lang="en-US"/>
          </a:p>
        </p:txBody>
      </p:sp>
      <p:sp>
        <p:nvSpPr>
          <p:cNvPr id="16469" name="object 85"/>
          <p:cNvSpPr>
            <a:spLocks noChangeArrowheads="1"/>
          </p:cNvSpPr>
          <p:nvPr/>
        </p:nvSpPr>
        <p:spPr bwMode="auto">
          <a:xfrm>
            <a:off x="7348538" y="5716588"/>
            <a:ext cx="295275" cy="533400"/>
          </a:xfrm>
          <a:prstGeom prst="rect">
            <a:avLst/>
          </a:prstGeom>
          <a:blipFill dpi="0" rotWithShape="1">
            <a:blip r:embed="rId25"/>
            <a:srcRect/>
            <a:stretch>
              <a:fillRect/>
            </a:stretch>
          </a:blipFill>
          <a:ln w="9525">
            <a:noFill/>
            <a:miter lim="800000"/>
            <a:headEnd/>
            <a:tailEnd/>
          </a:ln>
        </p:spPr>
        <p:txBody>
          <a:bodyPr lIns="0" tIns="0" rIns="0" bIns="0"/>
          <a:lstStyle/>
          <a:p>
            <a:endParaRPr lang="en-US"/>
          </a:p>
        </p:txBody>
      </p:sp>
      <p:sp>
        <p:nvSpPr>
          <p:cNvPr id="16470" name="object 86"/>
          <p:cNvSpPr>
            <a:spLocks noChangeArrowheads="1"/>
          </p:cNvSpPr>
          <p:nvPr/>
        </p:nvSpPr>
        <p:spPr bwMode="auto">
          <a:xfrm>
            <a:off x="7348538" y="5716588"/>
            <a:ext cx="295275" cy="533400"/>
          </a:xfrm>
          <a:custGeom>
            <a:avLst/>
            <a:gdLst>
              <a:gd name="T0" fmla="*/ 0 w 295275"/>
              <a:gd name="T1" fmla="*/ 0 h 533400"/>
              <a:gd name="T2" fmla="*/ 295275 w 295275"/>
              <a:gd name="T3" fmla="*/ 533400 h 533400"/>
            </a:gdLst>
            <a:ahLst/>
            <a:cxnLst/>
            <a:rect l="T0" t="T1" r="T2" b="T3"/>
            <a:pathLst>
              <a:path w="295275" h="533400">
                <a:moveTo>
                  <a:pt x="147459" y="533399"/>
                </a:moveTo>
                <a:lnTo>
                  <a:pt x="0" y="364274"/>
                </a:lnTo>
                <a:lnTo>
                  <a:pt x="55283" y="364274"/>
                </a:lnTo>
                <a:lnTo>
                  <a:pt x="55283" y="0"/>
                </a:lnTo>
                <a:lnTo>
                  <a:pt x="239636" y="0"/>
                </a:lnTo>
                <a:lnTo>
                  <a:pt x="239636" y="364274"/>
                </a:lnTo>
                <a:lnTo>
                  <a:pt x="294919" y="364274"/>
                </a:lnTo>
                <a:lnTo>
                  <a:pt x="147459" y="533399"/>
                </a:lnTo>
                <a:close/>
              </a:path>
            </a:pathLst>
          </a:custGeom>
          <a:noFill/>
          <a:ln w="12699">
            <a:solidFill>
              <a:srgbClr val="000000"/>
            </a:solidFill>
            <a:miter lim="800000"/>
            <a:headEnd/>
            <a:tailEnd/>
          </a:ln>
        </p:spPr>
        <p:txBody>
          <a:bodyPr lIns="0" tIns="0" rIns="0" bIns="0"/>
          <a:lstStyle/>
          <a:p>
            <a:endParaRPr lang="en-US"/>
          </a:p>
        </p:txBody>
      </p:sp>
      <p:sp>
        <p:nvSpPr>
          <p:cNvPr id="16471" name="object 87"/>
          <p:cNvSpPr>
            <a:spLocks noChangeArrowheads="1"/>
          </p:cNvSpPr>
          <p:nvPr/>
        </p:nvSpPr>
        <p:spPr bwMode="auto">
          <a:xfrm>
            <a:off x="8002588" y="5713413"/>
            <a:ext cx="280987" cy="533400"/>
          </a:xfrm>
          <a:prstGeom prst="rect">
            <a:avLst/>
          </a:prstGeom>
          <a:blipFill dpi="0" rotWithShape="1">
            <a:blip r:embed="rId26"/>
            <a:srcRect/>
            <a:stretch>
              <a:fillRect/>
            </a:stretch>
          </a:blipFill>
          <a:ln w="9525">
            <a:noFill/>
            <a:miter lim="800000"/>
            <a:headEnd/>
            <a:tailEnd/>
          </a:ln>
        </p:spPr>
        <p:txBody>
          <a:bodyPr lIns="0" tIns="0" rIns="0" bIns="0"/>
          <a:lstStyle/>
          <a:p>
            <a:endParaRPr lang="en-US"/>
          </a:p>
        </p:txBody>
      </p:sp>
      <p:sp>
        <p:nvSpPr>
          <p:cNvPr id="16472" name="object 88"/>
          <p:cNvSpPr>
            <a:spLocks noChangeArrowheads="1"/>
          </p:cNvSpPr>
          <p:nvPr/>
        </p:nvSpPr>
        <p:spPr bwMode="auto">
          <a:xfrm>
            <a:off x="8001000" y="5713413"/>
            <a:ext cx="282575" cy="533400"/>
          </a:xfrm>
          <a:custGeom>
            <a:avLst/>
            <a:gdLst>
              <a:gd name="T0" fmla="*/ 0 w 281304"/>
              <a:gd name="T1" fmla="*/ 0 h 533400"/>
              <a:gd name="T2" fmla="*/ 281304 w 281304"/>
              <a:gd name="T3" fmla="*/ 533400 h 533400"/>
            </a:gdLst>
            <a:ahLst/>
            <a:cxnLst/>
            <a:rect l="T0" t="T1" r="T2" b="T3"/>
            <a:pathLst>
              <a:path w="281304" h="533400">
                <a:moveTo>
                  <a:pt x="140500" y="0"/>
                </a:moveTo>
                <a:lnTo>
                  <a:pt x="281000" y="161137"/>
                </a:lnTo>
                <a:lnTo>
                  <a:pt x="228320" y="161137"/>
                </a:lnTo>
                <a:lnTo>
                  <a:pt x="228320" y="533400"/>
                </a:lnTo>
                <a:lnTo>
                  <a:pt x="52679" y="533400"/>
                </a:lnTo>
                <a:lnTo>
                  <a:pt x="52679" y="161137"/>
                </a:lnTo>
                <a:lnTo>
                  <a:pt x="0" y="161137"/>
                </a:lnTo>
                <a:lnTo>
                  <a:pt x="140500" y="0"/>
                </a:lnTo>
                <a:close/>
              </a:path>
            </a:pathLst>
          </a:custGeom>
          <a:noFill/>
          <a:ln w="12700">
            <a:solidFill>
              <a:srgbClr val="000000"/>
            </a:solidFill>
            <a:miter lim="800000"/>
            <a:headEnd/>
            <a:tailEnd/>
          </a:ln>
        </p:spPr>
        <p:txBody>
          <a:bodyPr lIns="0" tIns="0" rIns="0" bIns="0"/>
          <a:lstStyle/>
          <a:p>
            <a:endParaRPr lang="en-US"/>
          </a:p>
        </p:txBody>
      </p:sp>
      <p:sp>
        <p:nvSpPr>
          <p:cNvPr id="89" name="object 89"/>
          <p:cNvSpPr txBox="1"/>
          <p:nvPr/>
        </p:nvSpPr>
        <p:spPr>
          <a:xfrm>
            <a:off x="7221538" y="6270625"/>
            <a:ext cx="1081087" cy="300038"/>
          </a:xfrm>
          <a:prstGeom prst="rect">
            <a:avLst/>
          </a:prstGeom>
        </p:spPr>
        <p:txBody>
          <a:bodyPr lIns="0" tIns="12700" rIns="0" bIns="0">
            <a:spAutoFit/>
          </a:bodyPr>
          <a:lstStyle/>
          <a:p>
            <a:pPr marL="12700">
              <a:spcBef>
                <a:spcPts val="100"/>
              </a:spcBef>
              <a:tabLst>
                <a:tab pos="656590" algn="l"/>
              </a:tabLst>
              <a:defRPr/>
            </a:pPr>
            <a:r>
              <a:rPr spc="5" dirty="0">
                <a:solidFill>
                  <a:srgbClr val="C00000"/>
                </a:solidFill>
                <a:latin typeface="Franklin Gothic Book"/>
                <a:cs typeface="Franklin Gothic Book"/>
              </a:rPr>
              <a:t>TX</a:t>
            </a:r>
            <a:r>
              <a:rPr dirty="0">
                <a:solidFill>
                  <a:srgbClr val="C00000"/>
                </a:solidFill>
                <a:latin typeface="Franklin Gothic Book"/>
                <a:cs typeface="Franklin Gothic Book"/>
              </a:rPr>
              <a:t>D	</a:t>
            </a:r>
            <a:r>
              <a:rPr spc="5" dirty="0">
                <a:solidFill>
                  <a:srgbClr val="C00000"/>
                </a:solidFill>
                <a:latin typeface="Franklin Gothic Book"/>
                <a:cs typeface="Franklin Gothic Book"/>
              </a:rPr>
              <a:t>RXD</a:t>
            </a:r>
            <a:endParaRPr>
              <a:latin typeface="Franklin Gothic Book"/>
              <a:cs typeface="Franklin Gothic Book"/>
            </a:endParaRPr>
          </a:p>
        </p:txBody>
      </p:sp>
      <p:sp>
        <p:nvSpPr>
          <p:cNvPr id="16474" name="object 90"/>
          <p:cNvSpPr>
            <a:spLocks noChangeArrowheads="1"/>
          </p:cNvSpPr>
          <p:nvPr/>
        </p:nvSpPr>
        <p:spPr bwMode="auto">
          <a:xfrm>
            <a:off x="4495800" y="5715000"/>
            <a:ext cx="381000" cy="762000"/>
          </a:xfrm>
          <a:prstGeom prst="rect">
            <a:avLst/>
          </a:prstGeom>
          <a:blipFill dpi="0" rotWithShape="1">
            <a:blip r:embed="rId27"/>
            <a:srcRect/>
            <a:stretch>
              <a:fillRect/>
            </a:stretch>
          </a:blipFill>
          <a:ln w="9525">
            <a:noFill/>
            <a:miter lim="800000"/>
            <a:headEnd/>
            <a:tailEnd/>
          </a:ln>
        </p:spPr>
        <p:txBody>
          <a:bodyPr lIns="0" tIns="0" rIns="0" bIns="0"/>
          <a:lstStyle/>
          <a:p>
            <a:endParaRPr lang="en-US"/>
          </a:p>
        </p:txBody>
      </p:sp>
      <p:sp>
        <p:nvSpPr>
          <p:cNvPr id="16475" name="object 91"/>
          <p:cNvSpPr>
            <a:spLocks noChangeArrowheads="1"/>
          </p:cNvSpPr>
          <p:nvPr/>
        </p:nvSpPr>
        <p:spPr bwMode="auto">
          <a:xfrm>
            <a:off x="4495800" y="5715000"/>
            <a:ext cx="381000" cy="762000"/>
          </a:xfrm>
          <a:custGeom>
            <a:avLst/>
            <a:gdLst>
              <a:gd name="T0" fmla="*/ 0 w 381000"/>
              <a:gd name="T1" fmla="*/ 0 h 762000"/>
              <a:gd name="T2" fmla="*/ 381000 w 381000"/>
              <a:gd name="T3" fmla="*/ 762000 h 762000"/>
            </a:gdLst>
            <a:ahLst/>
            <a:cxnLst/>
            <a:rect l="T0" t="T1" r="T2" b="T3"/>
            <a:pathLst>
              <a:path w="381000" h="762000">
                <a:moveTo>
                  <a:pt x="0" y="178295"/>
                </a:moveTo>
                <a:lnTo>
                  <a:pt x="190500" y="0"/>
                </a:lnTo>
                <a:lnTo>
                  <a:pt x="381000" y="178295"/>
                </a:lnTo>
                <a:lnTo>
                  <a:pt x="274637" y="178295"/>
                </a:lnTo>
                <a:lnTo>
                  <a:pt x="274637" y="583704"/>
                </a:lnTo>
                <a:lnTo>
                  <a:pt x="381000" y="583704"/>
                </a:lnTo>
                <a:lnTo>
                  <a:pt x="190500" y="762000"/>
                </a:lnTo>
                <a:lnTo>
                  <a:pt x="0" y="583704"/>
                </a:lnTo>
                <a:lnTo>
                  <a:pt x="106362" y="583704"/>
                </a:lnTo>
                <a:lnTo>
                  <a:pt x="106362" y="178295"/>
                </a:lnTo>
                <a:lnTo>
                  <a:pt x="0" y="178295"/>
                </a:lnTo>
                <a:close/>
              </a:path>
            </a:pathLst>
          </a:custGeom>
          <a:noFill/>
          <a:ln w="12700">
            <a:solidFill>
              <a:srgbClr val="000000"/>
            </a:solidFill>
            <a:miter lim="800000"/>
            <a:headEnd/>
            <a:tailEnd/>
          </a:ln>
        </p:spPr>
        <p:txBody>
          <a:bodyPr lIns="0" tIns="0" rIns="0" bIns="0"/>
          <a:lstStyle/>
          <a:p>
            <a:endParaRPr lang="en-US"/>
          </a:p>
        </p:txBody>
      </p:sp>
      <p:sp>
        <p:nvSpPr>
          <p:cNvPr id="16476" name="object 92"/>
          <p:cNvSpPr>
            <a:spLocks noChangeArrowheads="1"/>
          </p:cNvSpPr>
          <p:nvPr/>
        </p:nvSpPr>
        <p:spPr bwMode="auto">
          <a:xfrm>
            <a:off x="5105400" y="5715000"/>
            <a:ext cx="381000" cy="762000"/>
          </a:xfrm>
          <a:prstGeom prst="rect">
            <a:avLst/>
          </a:prstGeom>
          <a:blipFill dpi="0" rotWithShape="1">
            <a:blip r:embed="rId27"/>
            <a:srcRect/>
            <a:stretch>
              <a:fillRect/>
            </a:stretch>
          </a:blipFill>
          <a:ln w="9525">
            <a:noFill/>
            <a:miter lim="800000"/>
            <a:headEnd/>
            <a:tailEnd/>
          </a:ln>
        </p:spPr>
        <p:txBody>
          <a:bodyPr lIns="0" tIns="0" rIns="0" bIns="0"/>
          <a:lstStyle/>
          <a:p>
            <a:endParaRPr lang="en-US"/>
          </a:p>
        </p:txBody>
      </p:sp>
      <p:sp>
        <p:nvSpPr>
          <p:cNvPr id="16477" name="object 93"/>
          <p:cNvSpPr>
            <a:spLocks noChangeArrowheads="1"/>
          </p:cNvSpPr>
          <p:nvPr/>
        </p:nvSpPr>
        <p:spPr bwMode="auto">
          <a:xfrm>
            <a:off x="5105400" y="5715000"/>
            <a:ext cx="381000" cy="762000"/>
          </a:xfrm>
          <a:custGeom>
            <a:avLst/>
            <a:gdLst>
              <a:gd name="T0" fmla="*/ 0 w 381000"/>
              <a:gd name="T1" fmla="*/ 0 h 762000"/>
              <a:gd name="T2" fmla="*/ 381000 w 381000"/>
              <a:gd name="T3" fmla="*/ 762000 h 762000"/>
            </a:gdLst>
            <a:ahLst/>
            <a:cxnLst/>
            <a:rect l="T0" t="T1" r="T2" b="T3"/>
            <a:pathLst>
              <a:path w="381000" h="762000">
                <a:moveTo>
                  <a:pt x="0" y="178295"/>
                </a:moveTo>
                <a:lnTo>
                  <a:pt x="190500" y="0"/>
                </a:lnTo>
                <a:lnTo>
                  <a:pt x="381000" y="178295"/>
                </a:lnTo>
                <a:lnTo>
                  <a:pt x="274637" y="178295"/>
                </a:lnTo>
                <a:lnTo>
                  <a:pt x="274637" y="583704"/>
                </a:lnTo>
                <a:lnTo>
                  <a:pt x="381000" y="583704"/>
                </a:lnTo>
                <a:lnTo>
                  <a:pt x="190500" y="762000"/>
                </a:lnTo>
                <a:lnTo>
                  <a:pt x="0" y="583704"/>
                </a:lnTo>
                <a:lnTo>
                  <a:pt x="106362" y="583704"/>
                </a:lnTo>
                <a:lnTo>
                  <a:pt x="106362" y="178295"/>
                </a:lnTo>
                <a:lnTo>
                  <a:pt x="0" y="178295"/>
                </a:lnTo>
                <a:close/>
              </a:path>
            </a:pathLst>
          </a:custGeom>
          <a:noFill/>
          <a:ln w="12700">
            <a:solidFill>
              <a:srgbClr val="000000"/>
            </a:solidFill>
            <a:miter lim="800000"/>
            <a:headEnd/>
            <a:tailEnd/>
          </a:ln>
        </p:spPr>
        <p:txBody>
          <a:bodyPr lIns="0" tIns="0" rIns="0" bIns="0"/>
          <a:lstStyle/>
          <a:p>
            <a:endParaRPr lang="en-US"/>
          </a:p>
        </p:txBody>
      </p:sp>
      <p:sp>
        <p:nvSpPr>
          <p:cNvPr id="16478" name="object 94"/>
          <p:cNvSpPr>
            <a:spLocks noChangeArrowheads="1"/>
          </p:cNvSpPr>
          <p:nvPr/>
        </p:nvSpPr>
        <p:spPr bwMode="auto">
          <a:xfrm>
            <a:off x="5715000" y="5715000"/>
            <a:ext cx="381000" cy="762000"/>
          </a:xfrm>
          <a:prstGeom prst="rect">
            <a:avLst/>
          </a:prstGeom>
          <a:blipFill dpi="0" rotWithShape="1">
            <a:blip r:embed="rId27"/>
            <a:srcRect/>
            <a:stretch>
              <a:fillRect/>
            </a:stretch>
          </a:blipFill>
          <a:ln w="9525">
            <a:noFill/>
            <a:miter lim="800000"/>
            <a:headEnd/>
            <a:tailEnd/>
          </a:ln>
        </p:spPr>
        <p:txBody>
          <a:bodyPr lIns="0" tIns="0" rIns="0" bIns="0"/>
          <a:lstStyle/>
          <a:p>
            <a:endParaRPr lang="en-US"/>
          </a:p>
        </p:txBody>
      </p:sp>
      <p:sp>
        <p:nvSpPr>
          <p:cNvPr id="16479" name="object 95"/>
          <p:cNvSpPr>
            <a:spLocks noChangeArrowheads="1"/>
          </p:cNvSpPr>
          <p:nvPr/>
        </p:nvSpPr>
        <p:spPr bwMode="auto">
          <a:xfrm>
            <a:off x="5715000" y="5715000"/>
            <a:ext cx="381000" cy="762000"/>
          </a:xfrm>
          <a:custGeom>
            <a:avLst/>
            <a:gdLst>
              <a:gd name="T0" fmla="*/ 0 w 381000"/>
              <a:gd name="T1" fmla="*/ 0 h 762000"/>
              <a:gd name="T2" fmla="*/ 381000 w 381000"/>
              <a:gd name="T3" fmla="*/ 762000 h 762000"/>
            </a:gdLst>
            <a:ahLst/>
            <a:cxnLst/>
            <a:rect l="T0" t="T1" r="T2" b="T3"/>
            <a:pathLst>
              <a:path w="381000" h="762000">
                <a:moveTo>
                  <a:pt x="0" y="178295"/>
                </a:moveTo>
                <a:lnTo>
                  <a:pt x="190500" y="0"/>
                </a:lnTo>
                <a:lnTo>
                  <a:pt x="381000" y="178295"/>
                </a:lnTo>
                <a:lnTo>
                  <a:pt x="274637" y="178295"/>
                </a:lnTo>
                <a:lnTo>
                  <a:pt x="274637" y="583704"/>
                </a:lnTo>
                <a:lnTo>
                  <a:pt x="381000" y="583704"/>
                </a:lnTo>
                <a:lnTo>
                  <a:pt x="190500" y="762000"/>
                </a:lnTo>
                <a:lnTo>
                  <a:pt x="0" y="583704"/>
                </a:lnTo>
                <a:lnTo>
                  <a:pt x="106362" y="583704"/>
                </a:lnTo>
                <a:lnTo>
                  <a:pt x="106362" y="178295"/>
                </a:lnTo>
                <a:lnTo>
                  <a:pt x="0" y="178295"/>
                </a:lnTo>
                <a:close/>
              </a:path>
            </a:pathLst>
          </a:custGeom>
          <a:noFill/>
          <a:ln w="12700">
            <a:solidFill>
              <a:srgbClr val="000000"/>
            </a:solidFill>
            <a:miter lim="800000"/>
            <a:headEnd/>
            <a:tailEnd/>
          </a:ln>
        </p:spPr>
        <p:txBody>
          <a:bodyPr lIns="0" tIns="0" rIns="0" bIns="0"/>
          <a:lstStyle/>
          <a:p>
            <a:endParaRPr lang="en-US"/>
          </a:p>
        </p:txBody>
      </p:sp>
      <p:sp>
        <p:nvSpPr>
          <p:cNvPr id="16480" name="object 96"/>
          <p:cNvSpPr>
            <a:spLocks noChangeArrowheads="1"/>
          </p:cNvSpPr>
          <p:nvPr/>
        </p:nvSpPr>
        <p:spPr bwMode="auto">
          <a:xfrm>
            <a:off x="6324600" y="5715000"/>
            <a:ext cx="381000" cy="762000"/>
          </a:xfrm>
          <a:prstGeom prst="rect">
            <a:avLst/>
          </a:prstGeom>
          <a:blipFill dpi="0" rotWithShape="1">
            <a:blip r:embed="rId27"/>
            <a:srcRect/>
            <a:stretch>
              <a:fillRect/>
            </a:stretch>
          </a:blipFill>
          <a:ln w="9525">
            <a:noFill/>
            <a:miter lim="800000"/>
            <a:headEnd/>
            <a:tailEnd/>
          </a:ln>
        </p:spPr>
        <p:txBody>
          <a:bodyPr lIns="0" tIns="0" rIns="0" bIns="0"/>
          <a:lstStyle/>
          <a:p>
            <a:endParaRPr lang="en-US"/>
          </a:p>
        </p:txBody>
      </p:sp>
      <p:sp>
        <p:nvSpPr>
          <p:cNvPr id="16481" name="object 97"/>
          <p:cNvSpPr>
            <a:spLocks noChangeArrowheads="1"/>
          </p:cNvSpPr>
          <p:nvPr/>
        </p:nvSpPr>
        <p:spPr bwMode="auto">
          <a:xfrm>
            <a:off x="6324600" y="5715000"/>
            <a:ext cx="381000" cy="762000"/>
          </a:xfrm>
          <a:custGeom>
            <a:avLst/>
            <a:gdLst>
              <a:gd name="T0" fmla="*/ 0 w 381000"/>
              <a:gd name="T1" fmla="*/ 0 h 762000"/>
              <a:gd name="T2" fmla="*/ 381000 w 381000"/>
              <a:gd name="T3" fmla="*/ 762000 h 762000"/>
            </a:gdLst>
            <a:ahLst/>
            <a:cxnLst/>
            <a:rect l="T0" t="T1" r="T2" b="T3"/>
            <a:pathLst>
              <a:path w="381000" h="762000">
                <a:moveTo>
                  <a:pt x="0" y="178295"/>
                </a:moveTo>
                <a:lnTo>
                  <a:pt x="190500" y="0"/>
                </a:lnTo>
                <a:lnTo>
                  <a:pt x="381000" y="178295"/>
                </a:lnTo>
                <a:lnTo>
                  <a:pt x="274637" y="178295"/>
                </a:lnTo>
                <a:lnTo>
                  <a:pt x="274637" y="583704"/>
                </a:lnTo>
                <a:lnTo>
                  <a:pt x="381000" y="583704"/>
                </a:lnTo>
                <a:lnTo>
                  <a:pt x="190500" y="762000"/>
                </a:lnTo>
                <a:lnTo>
                  <a:pt x="0" y="583704"/>
                </a:lnTo>
                <a:lnTo>
                  <a:pt x="106362" y="583704"/>
                </a:lnTo>
                <a:lnTo>
                  <a:pt x="106362" y="178295"/>
                </a:lnTo>
                <a:lnTo>
                  <a:pt x="0" y="178295"/>
                </a:lnTo>
                <a:close/>
              </a:path>
            </a:pathLst>
          </a:custGeom>
          <a:noFill/>
          <a:ln w="12700">
            <a:solidFill>
              <a:srgbClr val="000000"/>
            </a:solidFill>
            <a:miter lim="800000"/>
            <a:headEnd/>
            <a:tailEnd/>
          </a:ln>
        </p:spPr>
        <p:txBody>
          <a:bodyPr lIns="0" tIns="0" rIns="0" bIns="0"/>
          <a:lstStyle/>
          <a:p>
            <a:endParaRPr lang="en-US"/>
          </a:p>
        </p:txBody>
      </p:sp>
      <p:sp>
        <p:nvSpPr>
          <p:cNvPr id="98" name="object 98"/>
          <p:cNvSpPr txBox="1"/>
          <p:nvPr/>
        </p:nvSpPr>
        <p:spPr>
          <a:xfrm>
            <a:off x="4537075" y="6442075"/>
            <a:ext cx="2157413" cy="300038"/>
          </a:xfrm>
          <a:prstGeom prst="rect">
            <a:avLst/>
          </a:prstGeom>
        </p:spPr>
        <p:txBody>
          <a:bodyPr lIns="0" tIns="12700" rIns="0" bIns="0">
            <a:spAutoFit/>
          </a:bodyPr>
          <a:lstStyle/>
          <a:p>
            <a:pPr marL="12700">
              <a:spcBef>
                <a:spcPts val="100"/>
              </a:spcBef>
              <a:tabLst>
                <a:tab pos="647065" algn="l"/>
                <a:tab pos="1256665" algn="l"/>
                <a:tab pos="1878964" algn="l"/>
              </a:tabLst>
              <a:defRPr/>
            </a:pPr>
            <a:r>
              <a:rPr spc="5" dirty="0">
                <a:solidFill>
                  <a:srgbClr val="C00000"/>
                </a:solidFill>
                <a:latin typeface="Franklin Gothic Book"/>
                <a:cs typeface="Franklin Gothic Book"/>
              </a:rPr>
              <a:t>P</a:t>
            </a:r>
            <a:r>
              <a:rPr dirty="0">
                <a:solidFill>
                  <a:srgbClr val="C00000"/>
                </a:solidFill>
                <a:latin typeface="Franklin Gothic Book"/>
                <a:cs typeface="Franklin Gothic Book"/>
              </a:rPr>
              <a:t>0	</a:t>
            </a:r>
            <a:r>
              <a:rPr spc="5" dirty="0">
                <a:solidFill>
                  <a:srgbClr val="C00000"/>
                </a:solidFill>
                <a:latin typeface="Franklin Gothic Book"/>
                <a:cs typeface="Franklin Gothic Book"/>
              </a:rPr>
              <a:t>P</a:t>
            </a:r>
            <a:r>
              <a:rPr dirty="0">
                <a:solidFill>
                  <a:srgbClr val="C00000"/>
                </a:solidFill>
                <a:latin typeface="Franklin Gothic Book"/>
                <a:cs typeface="Franklin Gothic Book"/>
              </a:rPr>
              <a:t>1	</a:t>
            </a:r>
            <a:r>
              <a:rPr spc="5" dirty="0">
                <a:solidFill>
                  <a:srgbClr val="C00000"/>
                </a:solidFill>
                <a:latin typeface="Franklin Gothic Book"/>
                <a:cs typeface="Franklin Gothic Book"/>
              </a:rPr>
              <a:t>P</a:t>
            </a:r>
            <a:r>
              <a:rPr dirty="0">
                <a:solidFill>
                  <a:srgbClr val="C00000"/>
                </a:solidFill>
                <a:latin typeface="Franklin Gothic Book"/>
                <a:cs typeface="Franklin Gothic Book"/>
              </a:rPr>
              <a:t>2	</a:t>
            </a:r>
            <a:r>
              <a:rPr spc="5" dirty="0">
                <a:solidFill>
                  <a:srgbClr val="C00000"/>
                </a:solidFill>
                <a:latin typeface="Franklin Gothic Book"/>
                <a:cs typeface="Franklin Gothic Book"/>
              </a:rPr>
              <a:t>P3</a:t>
            </a:r>
            <a:endParaRPr>
              <a:latin typeface="Franklin Gothic Book"/>
              <a:cs typeface="Franklin Gothic Book"/>
            </a:endParaRPr>
          </a:p>
        </p:txBody>
      </p:sp>
      <p:sp>
        <p:nvSpPr>
          <p:cNvPr id="16483" name="object 99"/>
          <p:cNvSpPr>
            <a:spLocks noChangeArrowheads="1"/>
          </p:cNvSpPr>
          <p:nvPr/>
        </p:nvSpPr>
        <p:spPr bwMode="auto">
          <a:xfrm>
            <a:off x="1204913" y="5715000"/>
            <a:ext cx="0" cy="355600"/>
          </a:xfrm>
          <a:custGeom>
            <a:avLst/>
            <a:gdLst>
              <a:gd name="T0" fmla="*/ 0 h 355600"/>
              <a:gd name="T1" fmla="*/ 355600 h 355600"/>
            </a:gdLst>
            <a:ahLst/>
            <a:cxnLst/>
            <a:rect l="0" t="T0" r="0" b="T1"/>
            <a:pathLst>
              <a:path h="355600">
                <a:moveTo>
                  <a:pt x="0" y="0"/>
                </a:moveTo>
                <a:lnTo>
                  <a:pt x="0" y="355396"/>
                </a:lnTo>
              </a:path>
            </a:pathLst>
          </a:custGeom>
          <a:noFill/>
          <a:ln w="19050">
            <a:solidFill>
              <a:srgbClr val="C80000"/>
            </a:solidFill>
            <a:miter lim="800000"/>
            <a:headEnd/>
            <a:tailEnd/>
          </a:ln>
        </p:spPr>
        <p:txBody>
          <a:bodyPr lIns="0" tIns="0" rIns="0" bIns="0"/>
          <a:lstStyle/>
          <a:p>
            <a:endParaRPr lang="en-US"/>
          </a:p>
        </p:txBody>
      </p:sp>
      <p:sp>
        <p:nvSpPr>
          <p:cNvPr id="16484" name="object 100"/>
          <p:cNvSpPr>
            <a:spLocks noChangeArrowheads="1"/>
          </p:cNvSpPr>
          <p:nvPr/>
        </p:nvSpPr>
        <p:spPr bwMode="auto">
          <a:xfrm>
            <a:off x="1204913" y="6169025"/>
            <a:ext cx="0" cy="355600"/>
          </a:xfrm>
          <a:custGeom>
            <a:avLst/>
            <a:gdLst>
              <a:gd name="T0" fmla="*/ 0 h 355600"/>
              <a:gd name="T1" fmla="*/ 355600 h 355600"/>
            </a:gdLst>
            <a:ahLst/>
            <a:cxnLst/>
            <a:rect l="0" t="T0" r="0" b="T1"/>
            <a:pathLst>
              <a:path h="355600">
                <a:moveTo>
                  <a:pt x="0" y="0"/>
                </a:moveTo>
                <a:lnTo>
                  <a:pt x="0" y="355396"/>
                </a:lnTo>
              </a:path>
            </a:pathLst>
          </a:custGeom>
          <a:noFill/>
          <a:ln w="19050">
            <a:solidFill>
              <a:srgbClr val="C80000"/>
            </a:solidFill>
            <a:miter lim="800000"/>
            <a:headEnd/>
            <a:tailEnd/>
          </a:ln>
        </p:spPr>
        <p:txBody>
          <a:bodyPr lIns="0" tIns="0" rIns="0" bIns="0"/>
          <a:lstStyle/>
          <a:p>
            <a:endParaRPr lang="en-US"/>
          </a:p>
        </p:txBody>
      </p:sp>
      <p:sp>
        <p:nvSpPr>
          <p:cNvPr id="16485" name="object 101"/>
          <p:cNvSpPr>
            <a:spLocks noChangeArrowheads="1"/>
          </p:cNvSpPr>
          <p:nvPr/>
        </p:nvSpPr>
        <p:spPr bwMode="auto">
          <a:xfrm>
            <a:off x="1801813" y="5715000"/>
            <a:ext cx="0" cy="355600"/>
          </a:xfrm>
          <a:custGeom>
            <a:avLst/>
            <a:gdLst>
              <a:gd name="T0" fmla="*/ 0 h 355600"/>
              <a:gd name="T1" fmla="*/ 355600 h 355600"/>
            </a:gdLst>
            <a:ahLst/>
            <a:cxnLst/>
            <a:rect l="0" t="T0" r="0" b="T1"/>
            <a:pathLst>
              <a:path h="355600">
                <a:moveTo>
                  <a:pt x="0" y="0"/>
                </a:moveTo>
                <a:lnTo>
                  <a:pt x="0" y="355396"/>
                </a:lnTo>
              </a:path>
            </a:pathLst>
          </a:custGeom>
          <a:noFill/>
          <a:ln w="19050">
            <a:solidFill>
              <a:srgbClr val="C80000"/>
            </a:solidFill>
            <a:miter lim="800000"/>
            <a:headEnd/>
            <a:tailEnd/>
          </a:ln>
        </p:spPr>
        <p:txBody>
          <a:bodyPr lIns="0" tIns="0" rIns="0" bIns="0"/>
          <a:lstStyle/>
          <a:p>
            <a:endParaRPr lang="en-US"/>
          </a:p>
        </p:txBody>
      </p:sp>
      <p:sp>
        <p:nvSpPr>
          <p:cNvPr id="16486" name="object 102"/>
          <p:cNvSpPr>
            <a:spLocks noChangeArrowheads="1"/>
          </p:cNvSpPr>
          <p:nvPr/>
        </p:nvSpPr>
        <p:spPr bwMode="auto">
          <a:xfrm>
            <a:off x="1801813" y="6169025"/>
            <a:ext cx="0" cy="355600"/>
          </a:xfrm>
          <a:custGeom>
            <a:avLst/>
            <a:gdLst>
              <a:gd name="T0" fmla="*/ 0 h 355600"/>
              <a:gd name="T1" fmla="*/ 355600 h 355600"/>
            </a:gdLst>
            <a:ahLst/>
            <a:cxnLst/>
            <a:rect l="0" t="T0" r="0" b="T1"/>
            <a:pathLst>
              <a:path h="355600">
                <a:moveTo>
                  <a:pt x="0" y="0"/>
                </a:moveTo>
                <a:lnTo>
                  <a:pt x="0" y="355396"/>
                </a:lnTo>
              </a:path>
            </a:pathLst>
          </a:custGeom>
          <a:noFill/>
          <a:ln w="19050">
            <a:solidFill>
              <a:srgbClr val="C80000"/>
            </a:solidFill>
            <a:miter lim="800000"/>
            <a:headEnd/>
            <a:tailEnd/>
          </a:ln>
        </p:spPr>
        <p:txBody>
          <a:bodyPr lIns="0" tIns="0" rIns="0" bIns="0"/>
          <a:lstStyle/>
          <a:p>
            <a:endParaRPr lang="en-US"/>
          </a:p>
        </p:txBody>
      </p:sp>
      <p:sp>
        <p:nvSpPr>
          <p:cNvPr id="16487" name="object 103"/>
          <p:cNvSpPr>
            <a:spLocks noChangeArrowheads="1"/>
          </p:cNvSpPr>
          <p:nvPr/>
        </p:nvSpPr>
        <p:spPr bwMode="auto">
          <a:xfrm>
            <a:off x="1509713" y="5834063"/>
            <a:ext cx="0" cy="177800"/>
          </a:xfrm>
          <a:custGeom>
            <a:avLst/>
            <a:gdLst>
              <a:gd name="T0" fmla="*/ 0 h 177800"/>
              <a:gd name="T1" fmla="*/ 177800 h 177800"/>
            </a:gdLst>
            <a:ahLst/>
            <a:cxnLst/>
            <a:rect l="0" t="T0" r="0" b="T1"/>
            <a:pathLst>
              <a:path h="177800">
                <a:moveTo>
                  <a:pt x="0" y="0"/>
                </a:moveTo>
                <a:lnTo>
                  <a:pt x="0" y="177698"/>
                </a:lnTo>
              </a:path>
            </a:pathLst>
          </a:custGeom>
          <a:noFill/>
          <a:ln w="76200">
            <a:solidFill>
              <a:srgbClr val="000000"/>
            </a:solidFill>
            <a:miter lim="800000"/>
            <a:headEnd/>
            <a:tailEnd/>
          </a:ln>
        </p:spPr>
        <p:txBody>
          <a:bodyPr lIns="0" tIns="0" rIns="0" bIns="0"/>
          <a:lstStyle/>
          <a:p>
            <a:endParaRPr lang="en-US"/>
          </a:p>
        </p:txBody>
      </p:sp>
      <p:sp>
        <p:nvSpPr>
          <p:cNvPr id="16488" name="object 104"/>
          <p:cNvSpPr>
            <a:spLocks noChangeArrowheads="1"/>
          </p:cNvSpPr>
          <p:nvPr/>
        </p:nvSpPr>
        <p:spPr bwMode="auto">
          <a:xfrm>
            <a:off x="1471613" y="5834063"/>
            <a:ext cx="76200" cy="177800"/>
          </a:xfrm>
          <a:custGeom>
            <a:avLst/>
            <a:gdLst>
              <a:gd name="T0" fmla="*/ 0 w 76200"/>
              <a:gd name="T1" fmla="*/ 0 h 177800"/>
              <a:gd name="T2" fmla="*/ 76200 w 76200"/>
              <a:gd name="T3" fmla="*/ 177800 h 177800"/>
            </a:gdLst>
            <a:ahLst/>
            <a:cxnLst/>
            <a:rect l="T0" t="T1" r="T2" b="T3"/>
            <a:pathLst>
              <a:path w="76200" h="177800">
                <a:moveTo>
                  <a:pt x="0" y="0"/>
                </a:moveTo>
                <a:lnTo>
                  <a:pt x="76200" y="0"/>
                </a:lnTo>
                <a:lnTo>
                  <a:pt x="76200" y="177698"/>
                </a:lnTo>
                <a:lnTo>
                  <a:pt x="0" y="177698"/>
                </a:lnTo>
                <a:lnTo>
                  <a:pt x="0" y="0"/>
                </a:lnTo>
                <a:close/>
              </a:path>
            </a:pathLst>
          </a:custGeom>
          <a:noFill/>
          <a:ln w="19050">
            <a:solidFill>
              <a:srgbClr val="C80000"/>
            </a:solidFill>
            <a:miter lim="800000"/>
            <a:headEnd/>
            <a:tailEnd/>
          </a:ln>
        </p:spPr>
        <p:txBody>
          <a:bodyPr lIns="0" tIns="0" rIns="0" bIns="0"/>
          <a:lstStyle/>
          <a:p>
            <a:endParaRPr lang="en-US"/>
          </a:p>
        </p:txBody>
      </p:sp>
      <p:sp>
        <p:nvSpPr>
          <p:cNvPr id="16489" name="object 105"/>
          <p:cNvSpPr>
            <a:spLocks noChangeArrowheads="1"/>
          </p:cNvSpPr>
          <p:nvPr/>
        </p:nvSpPr>
        <p:spPr bwMode="auto">
          <a:xfrm>
            <a:off x="1395413" y="5834063"/>
            <a:ext cx="0" cy="177800"/>
          </a:xfrm>
          <a:custGeom>
            <a:avLst/>
            <a:gdLst>
              <a:gd name="T0" fmla="*/ 0 h 177800"/>
              <a:gd name="T1" fmla="*/ 177800 h 177800"/>
            </a:gdLst>
            <a:ahLst/>
            <a:cxnLst/>
            <a:rect l="0" t="T0" r="0" b="T1"/>
            <a:pathLst>
              <a:path h="177800">
                <a:moveTo>
                  <a:pt x="0" y="0"/>
                </a:moveTo>
                <a:lnTo>
                  <a:pt x="0" y="177698"/>
                </a:lnTo>
              </a:path>
            </a:pathLst>
          </a:custGeom>
          <a:noFill/>
          <a:ln w="19050">
            <a:solidFill>
              <a:srgbClr val="C80000"/>
            </a:solidFill>
            <a:miter lim="800000"/>
            <a:headEnd/>
            <a:tailEnd/>
          </a:ln>
        </p:spPr>
        <p:txBody>
          <a:bodyPr lIns="0" tIns="0" rIns="0" bIns="0"/>
          <a:lstStyle/>
          <a:p>
            <a:endParaRPr lang="en-US"/>
          </a:p>
        </p:txBody>
      </p:sp>
      <p:sp>
        <p:nvSpPr>
          <p:cNvPr id="16490" name="object 106"/>
          <p:cNvSpPr>
            <a:spLocks noChangeArrowheads="1"/>
          </p:cNvSpPr>
          <p:nvPr/>
        </p:nvSpPr>
        <p:spPr bwMode="auto">
          <a:xfrm>
            <a:off x="1700213" y="6100763"/>
            <a:ext cx="228600" cy="0"/>
          </a:xfrm>
          <a:custGeom>
            <a:avLst/>
            <a:gdLst>
              <a:gd name="T0" fmla="*/ 0 w 228600"/>
              <a:gd name="T1" fmla="*/ 228600 w 228600"/>
            </a:gdLst>
            <a:ahLst/>
            <a:cxnLst/>
            <a:rect l="T0" t="0" r="T1" b="0"/>
            <a:pathLst>
              <a:path w="228600">
                <a:moveTo>
                  <a:pt x="0" y="0"/>
                </a:moveTo>
                <a:lnTo>
                  <a:pt x="228600" y="0"/>
                </a:lnTo>
              </a:path>
            </a:pathLst>
          </a:custGeom>
          <a:noFill/>
          <a:ln w="19050">
            <a:solidFill>
              <a:srgbClr val="C80000"/>
            </a:solidFill>
            <a:miter lim="800000"/>
            <a:headEnd/>
            <a:tailEnd/>
          </a:ln>
        </p:spPr>
        <p:txBody>
          <a:bodyPr lIns="0" tIns="0" rIns="0" bIns="0"/>
          <a:lstStyle/>
          <a:p>
            <a:endParaRPr lang="en-US"/>
          </a:p>
        </p:txBody>
      </p:sp>
      <p:sp>
        <p:nvSpPr>
          <p:cNvPr id="16491" name="object 107"/>
          <p:cNvSpPr>
            <a:spLocks noChangeArrowheads="1"/>
          </p:cNvSpPr>
          <p:nvPr/>
        </p:nvSpPr>
        <p:spPr bwMode="auto">
          <a:xfrm>
            <a:off x="1624013" y="5834063"/>
            <a:ext cx="0" cy="177800"/>
          </a:xfrm>
          <a:custGeom>
            <a:avLst/>
            <a:gdLst>
              <a:gd name="T0" fmla="*/ 0 h 177800"/>
              <a:gd name="T1" fmla="*/ 177800 h 177800"/>
            </a:gdLst>
            <a:ahLst/>
            <a:cxnLst/>
            <a:rect l="0" t="T0" r="0" b="T1"/>
            <a:pathLst>
              <a:path h="177800">
                <a:moveTo>
                  <a:pt x="0" y="0"/>
                </a:moveTo>
                <a:lnTo>
                  <a:pt x="0" y="177698"/>
                </a:lnTo>
              </a:path>
            </a:pathLst>
          </a:custGeom>
          <a:noFill/>
          <a:ln w="19050">
            <a:solidFill>
              <a:srgbClr val="C80000"/>
            </a:solidFill>
            <a:miter lim="800000"/>
            <a:headEnd/>
            <a:tailEnd/>
          </a:ln>
        </p:spPr>
        <p:txBody>
          <a:bodyPr lIns="0" tIns="0" rIns="0" bIns="0"/>
          <a:lstStyle/>
          <a:p>
            <a:endParaRPr lang="en-US"/>
          </a:p>
        </p:txBody>
      </p:sp>
      <p:sp>
        <p:nvSpPr>
          <p:cNvPr id="16492" name="object 108"/>
          <p:cNvSpPr>
            <a:spLocks noChangeArrowheads="1"/>
          </p:cNvSpPr>
          <p:nvPr/>
        </p:nvSpPr>
        <p:spPr bwMode="auto">
          <a:xfrm>
            <a:off x="1700213" y="6159500"/>
            <a:ext cx="228600" cy="0"/>
          </a:xfrm>
          <a:custGeom>
            <a:avLst/>
            <a:gdLst>
              <a:gd name="T0" fmla="*/ 0 w 228600"/>
              <a:gd name="T1" fmla="*/ 228600 w 228600"/>
            </a:gdLst>
            <a:ahLst/>
            <a:cxnLst/>
            <a:rect l="T0" t="0" r="T1" b="0"/>
            <a:pathLst>
              <a:path w="228600">
                <a:moveTo>
                  <a:pt x="0" y="0"/>
                </a:moveTo>
                <a:lnTo>
                  <a:pt x="228600" y="0"/>
                </a:lnTo>
              </a:path>
            </a:pathLst>
          </a:custGeom>
          <a:noFill/>
          <a:ln w="19050">
            <a:solidFill>
              <a:srgbClr val="C80000"/>
            </a:solidFill>
            <a:miter lim="800000"/>
            <a:headEnd/>
            <a:tailEnd/>
          </a:ln>
        </p:spPr>
        <p:txBody>
          <a:bodyPr lIns="0" tIns="0" rIns="0" bIns="0"/>
          <a:lstStyle/>
          <a:p>
            <a:endParaRPr lang="en-US"/>
          </a:p>
        </p:txBody>
      </p:sp>
      <p:sp>
        <p:nvSpPr>
          <p:cNvPr id="16493" name="object 109"/>
          <p:cNvSpPr>
            <a:spLocks noChangeArrowheads="1"/>
          </p:cNvSpPr>
          <p:nvPr/>
        </p:nvSpPr>
        <p:spPr bwMode="auto">
          <a:xfrm>
            <a:off x="1090613" y="6080125"/>
            <a:ext cx="228600" cy="0"/>
          </a:xfrm>
          <a:custGeom>
            <a:avLst/>
            <a:gdLst>
              <a:gd name="T0" fmla="*/ 0 w 228600"/>
              <a:gd name="T1" fmla="*/ 228600 w 228600"/>
            </a:gdLst>
            <a:ahLst/>
            <a:cxnLst/>
            <a:rect l="T0" t="0" r="T1" b="0"/>
            <a:pathLst>
              <a:path w="228600">
                <a:moveTo>
                  <a:pt x="0" y="0"/>
                </a:moveTo>
                <a:lnTo>
                  <a:pt x="228600" y="0"/>
                </a:lnTo>
              </a:path>
            </a:pathLst>
          </a:custGeom>
          <a:noFill/>
          <a:ln w="19050">
            <a:solidFill>
              <a:srgbClr val="C80000"/>
            </a:solidFill>
            <a:miter lim="800000"/>
            <a:headEnd/>
            <a:tailEnd/>
          </a:ln>
        </p:spPr>
        <p:txBody>
          <a:bodyPr lIns="0" tIns="0" rIns="0" bIns="0"/>
          <a:lstStyle/>
          <a:p>
            <a:endParaRPr lang="en-US"/>
          </a:p>
        </p:txBody>
      </p:sp>
      <p:sp>
        <p:nvSpPr>
          <p:cNvPr id="16494" name="object 110"/>
          <p:cNvSpPr>
            <a:spLocks noChangeArrowheads="1"/>
          </p:cNvSpPr>
          <p:nvPr/>
        </p:nvSpPr>
        <p:spPr bwMode="auto">
          <a:xfrm>
            <a:off x="1090613" y="6138863"/>
            <a:ext cx="228600" cy="0"/>
          </a:xfrm>
          <a:custGeom>
            <a:avLst/>
            <a:gdLst>
              <a:gd name="T0" fmla="*/ 0 w 228600"/>
              <a:gd name="T1" fmla="*/ 228600 w 228600"/>
            </a:gdLst>
            <a:ahLst/>
            <a:cxnLst/>
            <a:rect l="T0" t="0" r="T1" b="0"/>
            <a:pathLst>
              <a:path w="228600">
                <a:moveTo>
                  <a:pt x="0" y="0"/>
                </a:moveTo>
                <a:lnTo>
                  <a:pt x="228600" y="0"/>
                </a:lnTo>
              </a:path>
            </a:pathLst>
          </a:custGeom>
          <a:noFill/>
          <a:ln w="19050">
            <a:solidFill>
              <a:srgbClr val="C80000"/>
            </a:solidFill>
            <a:miter lim="800000"/>
            <a:headEnd/>
            <a:tailEnd/>
          </a:ln>
        </p:spPr>
        <p:txBody>
          <a:bodyPr lIns="0" tIns="0" rIns="0" bIns="0"/>
          <a:lstStyle/>
          <a:p>
            <a:endParaRPr lang="en-US"/>
          </a:p>
        </p:txBody>
      </p:sp>
      <p:sp>
        <p:nvSpPr>
          <p:cNvPr id="16495" name="object 111"/>
          <p:cNvSpPr>
            <a:spLocks noChangeArrowheads="1"/>
          </p:cNvSpPr>
          <p:nvPr/>
        </p:nvSpPr>
        <p:spPr bwMode="auto">
          <a:xfrm>
            <a:off x="1687513" y="6524625"/>
            <a:ext cx="228600" cy="0"/>
          </a:xfrm>
          <a:custGeom>
            <a:avLst/>
            <a:gdLst>
              <a:gd name="T0" fmla="*/ 0 w 228600"/>
              <a:gd name="T1" fmla="*/ 228600 w 228600"/>
            </a:gdLst>
            <a:ahLst/>
            <a:cxnLst/>
            <a:rect l="T0" t="0" r="T1" b="0"/>
            <a:pathLst>
              <a:path w="228600">
                <a:moveTo>
                  <a:pt x="0" y="0"/>
                </a:moveTo>
                <a:lnTo>
                  <a:pt x="228600" y="0"/>
                </a:lnTo>
              </a:path>
            </a:pathLst>
          </a:custGeom>
          <a:noFill/>
          <a:ln w="19050">
            <a:solidFill>
              <a:srgbClr val="C80000"/>
            </a:solidFill>
            <a:miter lim="800000"/>
            <a:headEnd/>
            <a:tailEnd/>
          </a:ln>
        </p:spPr>
        <p:txBody>
          <a:bodyPr lIns="0" tIns="0" rIns="0" bIns="0"/>
          <a:lstStyle/>
          <a:p>
            <a:endParaRPr lang="en-US"/>
          </a:p>
        </p:txBody>
      </p:sp>
      <p:sp>
        <p:nvSpPr>
          <p:cNvPr id="16496" name="object 112"/>
          <p:cNvSpPr>
            <a:spLocks noChangeArrowheads="1"/>
          </p:cNvSpPr>
          <p:nvPr/>
        </p:nvSpPr>
        <p:spPr bwMode="auto">
          <a:xfrm>
            <a:off x="1636713" y="5922963"/>
            <a:ext cx="152400" cy="0"/>
          </a:xfrm>
          <a:custGeom>
            <a:avLst/>
            <a:gdLst>
              <a:gd name="T0" fmla="*/ 0 w 152400"/>
              <a:gd name="T1" fmla="*/ 152400 w 152400"/>
            </a:gdLst>
            <a:ahLst/>
            <a:cxnLst/>
            <a:rect l="T0" t="0" r="T1" b="0"/>
            <a:pathLst>
              <a:path w="152400">
                <a:moveTo>
                  <a:pt x="0" y="0"/>
                </a:moveTo>
                <a:lnTo>
                  <a:pt x="152400" y="0"/>
                </a:lnTo>
              </a:path>
            </a:pathLst>
          </a:custGeom>
          <a:noFill/>
          <a:ln w="19050">
            <a:solidFill>
              <a:srgbClr val="C80000"/>
            </a:solidFill>
            <a:miter lim="800000"/>
            <a:headEnd/>
            <a:tailEnd/>
          </a:ln>
        </p:spPr>
        <p:txBody>
          <a:bodyPr lIns="0" tIns="0" rIns="0" bIns="0"/>
          <a:lstStyle/>
          <a:p>
            <a:endParaRPr lang="en-US"/>
          </a:p>
        </p:txBody>
      </p:sp>
      <p:sp>
        <p:nvSpPr>
          <p:cNvPr id="16497" name="object 113"/>
          <p:cNvSpPr>
            <a:spLocks noChangeArrowheads="1"/>
          </p:cNvSpPr>
          <p:nvPr/>
        </p:nvSpPr>
        <p:spPr bwMode="auto">
          <a:xfrm>
            <a:off x="1217613" y="5922963"/>
            <a:ext cx="152400" cy="0"/>
          </a:xfrm>
          <a:custGeom>
            <a:avLst/>
            <a:gdLst>
              <a:gd name="T0" fmla="*/ 0 w 152400"/>
              <a:gd name="T1" fmla="*/ 152400 w 152400"/>
            </a:gdLst>
            <a:ahLst/>
            <a:cxnLst/>
            <a:rect l="T0" t="0" r="T1" b="0"/>
            <a:pathLst>
              <a:path w="152400">
                <a:moveTo>
                  <a:pt x="0" y="0"/>
                </a:moveTo>
                <a:lnTo>
                  <a:pt x="152400" y="0"/>
                </a:lnTo>
              </a:path>
            </a:pathLst>
          </a:custGeom>
          <a:noFill/>
          <a:ln w="19050">
            <a:solidFill>
              <a:srgbClr val="C80000"/>
            </a:solidFill>
            <a:miter lim="800000"/>
            <a:headEnd/>
            <a:tailEnd/>
          </a:ln>
        </p:spPr>
        <p:txBody>
          <a:bodyPr lIns="0" tIns="0" rIns="0" bIns="0"/>
          <a:lstStyle/>
          <a:p>
            <a:endParaRPr lang="en-US"/>
          </a:p>
        </p:txBody>
      </p:sp>
      <p:sp>
        <p:nvSpPr>
          <p:cNvPr id="16498" name="object 114"/>
          <p:cNvSpPr>
            <a:spLocks noChangeArrowheads="1"/>
          </p:cNvSpPr>
          <p:nvPr/>
        </p:nvSpPr>
        <p:spPr bwMode="auto">
          <a:xfrm>
            <a:off x="1725613" y="6583363"/>
            <a:ext cx="152400" cy="0"/>
          </a:xfrm>
          <a:custGeom>
            <a:avLst/>
            <a:gdLst>
              <a:gd name="T0" fmla="*/ 0 w 152400"/>
              <a:gd name="T1" fmla="*/ 152400 w 152400"/>
            </a:gdLst>
            <a:ahLst/>
            <a:cxnLst/>
            <a:rect l="T0" t="0" r="T1" b="0"/>
            <a:pathLst>
              <a:path w="152400">
                <a:moveTo>
                  <a:pt x="0" y="0"/>
                </a:moveTo>
                <a:lnTo>
                  <a:pt x="152400" y="0"/>
                </a:lnTo>
              </a:path>
            </a:pathLst>
          </a:custGeom>
          <a:noFill/>
          <a:ln w="19050">
            <a:solidFill>
              <a:srgbClr val="C80000"/>
            </a:solidFill>
            <a:miter lim="800000"/>
            <a:headEnd/>
            <a:tailEnd/>
          </a:ln>
        </p:spPr>
        <p:txBody>
          <a:bodyPr lIns="0" tIns="0" rIns="0" bIns="0"/>
          <a:lstStyle/>
          <a:p>
            <a:endParaRPr lang="en-US"/>
          </a:p>
        </p:txBody>
      </p:sp>
      <p:sp>
        <p:nvSpPr>
          <p:cNvPr id="16499" name="object 115"/>
          <p:cNvSpPr>
            <a:spLocks noChangeArrowheads="1"/>
          </p:cNvSpPr>
          <p:nvPr/>
        </p:nvSpPr>
        <p:spPr bwMode="auto">
          <a:xfrm>
            <a:off x="1776413" y="6643688"/>
            <a:ext cx="76200" cy="0"/>
          </a:xfrm>
          <a:custGeom>
            <a:avLst/>
            <a:gdLst>
              <a:gd name="T0" fmla="*/ 0 w 76200"/>
              <a:gd name="T1" fmla="*/ 76200 w 76200"/>
            </a:gdLst>
            <a:ahLst/>
            <a:cxnLst/>
            <a:rect l="T0" t="0" r="T1" b="0"/>
            <a:pathLst>
              <a:path w="76200">
                <a:moveTo>
                  <a:pt x="0" y="0"/>
                </a:moveTo>
                <a:lnTo>
                  <a:pt x="76200" y="0"/>
                </a:lnTo>
              </a:path>
            </a:pathLst>
          </a:custGeom>
          <a:noFill/>
          <a:ln w="19050">
            <a:solidFill>
              <a:srgbClr val="C80000"/>
            </a:solidFill>
            <a:miter lim="800000"/>
            <a:headEnd/>
            <a:tailEnd/>
          </a:ln>
        </p:spPr>
        <p:txBody>
          <a:bodyPr lIns="0" tIns="0" rIns="0" bIns="0"/>
          <a:lstStyle/>
          <a:p>
            <a:endParaRPr lang="en-US"/>
          </a:p>
        </p:txBody>
      </p:sp>
      <p:sp>
        <p:nvSpPr>
          <p:cNvPr id="16500" name="object 116"/>
          <p:cNvSpPr>
            <a:spLocks noChangeArrowheads="1"/>
          </p:cNvSpPr>
          <p:nvPr/>
        </p:nvSpPr>
        <p:spPr bwMode="auto">
          <a:xfrm>
            <a:off x="1077913" y="6543675"/>
            <a:ext cx="228600" cy="0"/>
          </a:xfrm>
          <a:custGeom>
            <a:avLst/>
            <a:gdLst>
              <a:gd name="T0" fmla="*/ 0 w 228600"/>
              <a:gd name="T1" fmla="*/ 228600 w 228600"/>
            </a:gdLst>
            <a:ahLst/>
            <a:cxnLst/>
            <a:rect l="T0" t="0" r="T1" b="0"/>
            <a:pathLst>
              <a:path w="228600">
                <a:moveTo>
                  <a:pt x="0" y="0"/>
                </a:moveTo>
                <a:lnTo>
                  <a:pt x="228600" y="0"/>
                </a:lnTo>
              </a:path>
            </a:pathLst>
          </a:custGeom>
          <a:noFill/>
          <a:ln w="19050">
            <a:solidFill>
              <a:srgbClr val="C80000"/>
            </a:solidFill>
            <a:miter lim="800000"/>
            <a:headEnd/>
            <a:tailEnd/>
          </a:ln>
        </p:spPr>
        <p:txBody>
          <a:bodyPr lIns="0" tIns="0" rIns="0" bIns="0"/>
          <a:lstStyle/>
          <a:p>
            <a:endParaRPr lang="en-US"/>
          </a:p>
        </p:txBody>
      </p:sp>
      <p:sp>
        <p:nvSpPr>
          <p:cNvPr id="16501" name="object 117"/>
          <p:cNvSpPr>
            <a:spLocks noChangeArrowheads="1"/>
          </p:cNvSpPr>
          <p:nvPr/>
        </p:nvSpPr>
        <p:spPr bwMode="auto">
          <a:xfrm>
            <a:off x="1116013" y="6604000"/>
            <a:ext cx="152400" cy="0"/>
          </a:xfrm>
          <a:custGeom>
            <a:avLst/>
            <a:gdLst>
              <a:gd name="T0" fmla="*/ 0 w 152400"/>
              <a:gd name="T1" fmla="*/ 152400 w 152400"/>
            </a:gdLst>
            <a:ahLst/>
            <a:cxnLst/>
            <a:rect l="T0" t="0" r="T1" b="0"/>
            <a:pathLst>
              <a:path w="152400">
                <a:moveTo>
                  <a:pt x="0" y="0"/>
                </a:moveTo>
                <a:lnTo>
                  <a:pt x="152400" y="0"/>
                </a:lnTo>
              </a:path>
            </a:pathLst>
          </a:custGeom>
          <a:noFill/>
          <a:ln w="19050">
            <a:solidFill>
              <a:srgbClr val="C80000"/>
            </a:solidFill>
            <a:miter lim="800000"/>
            <a:headEnd/>
            <a:tailEnd/>
          </a:ln>
        </p:spPr>
        <p:txBody>
          <a:bodyPr lIns="0" tIns="0" rIns="0" bIns="0"/>
          <a:lstStyle/>
          <a:p>
            <a:endParaRPr lang="en-US"/>
          </a:p>
        </p:txBody>
      </p:sp>
      <p:sp>
        <p:nvSpPr>
          <p:cNvPr id="16502" name="object 118"/>
          <p:cNvSpPr>
            <a:spLocks noChangeArrowheads="1"/>
          </p:cNvSpPr>
          <p:nvPr/>
        </p:nvSpPr>
        <p:spPr bwMode="auto">
          <a:xfrm>
            <a:off x="1166813" y="6662738"/>
            <a:ext cx="76200" cy="0"/>
          </a:xfrm>
          <a:custGeom>
            <a:avLst/>
            <a:gdLst>
              <a:gd name="T0" fmla="*/ 0 w 76200"/>
              <a:gd name="T1" fmla="*/ 76200 w 76200"/>
            </a:gdLst>
            <a:ahLst/>
            <a:cxnLst/>
            <a:rect l="T0" t="0" r="T1" b="0"/>
            <a:pathLst>
              <a:path w="76200">
                <a:moveTo>
                  <a:pt x="0" y="0"/>
                </a:moveTo>
                <a:lnTo>
                  <a:pt x="76200" y="0"/>
                </a:lnTo>
              </a:path>
            </a:pathLst>
          </a:custGeom>
          <a:noFill/>
          <a:ln w="19050">
            <a:solidFill>
              <a:srgbClr val="C80000"/>
            </a:solidFill>
            <a:miter lim="800000"/>
            <a:headEnd/>
            <a:tailEnd/>
          </a:ln>
        </p:spPr>
        <p:txBody>
          <a:bodyPr lIns="0" tIns="0" rIns="0" bIns="0"/>
          <a:lstStyle/>
          <a:p>
            <a:endParaRPr lang="en-US"/>
          </a:p>
        </p:txBody>
      </p:sp>
      <p:sp>
        <p:nvSpPr>
          <p:cNvPr id="120" name="object 120"/>
          <p:cNvSpPr txBox="1">
            <a:spLocks noGrp="1"/>
          </p:cNvSpPr>
          <p:nvPr>
            <p:ph type="title"/>
          </p:nvPr>
        </p:nvSpPr>
        <p:spPr>
          <a:xfrm>
            <a:off x="436563" y="0"/>
            <a:ext cx="8042275" cy="1079500"/>
          </a:xfrm>
        </p:spPr>
        <p:txBody>
          <a:bodyPr lIns="0" tIns="90170" rIns="0" bIns="0" rtlCol="0">
            <a:spAutoFit/>
          </a:bodyPr>
          <a:lstStyle/>
          <a:p>
            <a:pPr marL="899160" eaLnBrk="1" fontAlgn="auto" hangingPunct="1">
              <a:spcBef>
                <a:spcPts val="710"/>
              </a:spcBef>
              <a:spcAft>
                <a:spcPts val="0"/>
              </a:spcAft>
              <a:defRPr/>
            </a:pPr>
            <a:r>
              <a:rPr b="1" spc="-15" dirty="0">
                <a:solidFill>
                  <a:schemeClr val="tx2"/>
                </a:solidFill>
                <a:cs typeface="Calibri"/>
              </a:rPr>
              <a:t>General </a:t>
            </a:r>
            <a:r>
              <a:rPr b="1" spc="-5">
                <a:solidFill>
                  <a:schemeClr val="tx2"/>
                </a:solidFill>
                <a:cs typeface="Calibri"/>
              </a:rPr>
              <a:t>Block </a:t>
            </a:r>
            <a:r>
              <a:rPr b="1" spc="-20" smtClean="0">
                <a:solidFill>
                  <a:schemeClr val="tx2"/>
                </a:solidFill>
                <a:cs typeface="Calibri"/>
              </a:rPr>
              <a:t>Diagram </a:t>
            </a:r>
            <a:r>
              <a:rPr b="1" spc="-5" smtClean="0">
                <a:solidFill>
                  <a:schemeClr val="tx2"/>
                </a:solidFill>
                <a:cs typeface="Calibri"/>
              </a:rPr>
              <a:t>of</a:t>
            </a:r>
            <a:r>
              <a:rPr b="1" spc="-50" smtClean="0">
                <a:solidFill>
                  <a:schemeClr val="tx2"/>
                </a:solidFill>
                <a:cs typeface="Calibri"/>
              </a:rPr>
              <a:t> </a:t>
            </a:r>
            <a:r>
              <a:rPr b="1" smtClean="0">
                <a:solidFill>
                  <a:schemeClr val="tx2"/>
                </a:solidFill>
                <a:cs typeface="Calibri"/>
              </a:rPr>
              <a:t>8051</a:t>
            </a:r>
            <a:r>
              <a:rPr smtClean="0">
                <a:solidFill>
                  <a:schemeClr val="tx2"/>
                </a:solidFill>
                <a:cs typeface="Calibri"/>
              </a:rPr>
              <a:t/>
            </a:r>
            <a:br>
              <a:rPr smtClean="0">
                <a:solidFill>
                  <a:schemeClr val="tx2"/>
                </a:solidFill>
                <a:cs typeface="Calibri"/>
              </a:rPr>
            </a:br>
            <a:r>
              <a:rPr sz="1800" spc="-5" smtClean="0">
                <a:solidFill>
                  <a:srgbClr val="000000"/>
                </a:solidFill>
                <a:latin typeface="Franklin Gothic Book"/>
                <a:cs typeface="Franklin Gothic Book"/>
              </a:rPr>
              <a:t>External</a:t>
            </a:r>
            <a:r>
              <a:rPr sz="1800" spc="-65" smtClean="0">
                <a:solidFill>
                  <a:srgbClr val="000000"/>
                </a:solidFill>
                <a:latin typeface="Franklin Gothic Book"/>
                <a:cs typeface="Franklin Gothic Book"/>
              </a:rPr>
              <a:t> </a:t>
            </a:r>
            <a:r>
              <a:rPr sz="1800" spc="-5" smtClean="0">
                <a:solidFill>
                  <a:srgbClr val="000000"/>
                </a:solidFill>
                <a:latin typeface="Franklin Gothic Book"/>
                <a:cs typeface="Franklin Gothic Book"/>
              </a:rPr>
              <a:t>Interrupts</a:t>
            </a:r>
            <a:endParaRPr sz="1800">
              <a:latin typeface="Franklin Gothic Book"/>
              <a:cs typeface="Franklin Gothic Book"/>
            </a:endParaRPr>
          </a:p>
        </p:txBody>
      </p:sp>
      <p:sp>
        <p:nvSpPr>
          <p:cNvPr id="16504" name="object 121"/>
          <p:cNvSpPr txBox="1">
            <a:spLocks noChangeArrowheads="1"/>
          </p:cNvSpPr>
          <p:nvPr/>
        </p:nvSpPr>
        <p:spPr bwMode="auto">
          <a:xfrm>
            <a:off x="8223250" y="2455863"/>
            <a:ext cx="787400" cy="574675"/>
          </a:xfrm>
          <a:prstGeom prst="rect">
            <a:avLst/>
          </a:prstGeom>
          <a:noFill/>
          <a:ln w="9525">
            <a:noFill/>
            <a:miter lim="800000"/>
            <a:headEnd/>
            <a:tailEnd/>
          </a:ln>
        </p:spPr>
        <p:txBody>
          <a:bodyPr lIns="0" tIns="12700" rIns="0" bIns="0">
            <a:spAutoFit/>
          </a:bodyPr>
          <a:lstStyle/>
          <a:p>
            <a:pPr marL="12700">
              <a:spcBef>
                <a:spcPts val="100"/>
              </a:spcBef>
            </a:pPr>
            <a:r>
              <a:rPr lang="en-US">
                <a:latin typeface="Franklin Gothic Book" pitchFamily="34" charset="0"/>
              </a:rPr>
              <a:t>Counter  Inputs</a:t>
            </a:r>
          </a:p>
        </p:txBody>
      </p:sp>
      <p:sp>
        <p:nvSpPr>
          <p:cNvPr id="121" name="Date Placeholder 120"/>
          <p:cNvSpPr>
            <a:spLocks noGrp="1"/>
          </p:cNvSpPr>
          <p:nvPr>
            <p:ph type="dt" sz="half" idx="10"/>
          </p:nvPr>
        </p:nvSpPr>
        <p:spPr/>
        <p:txBody>
          <a:bodyPr/>
          <a:lstStyle/>
          <a:p>
            <a:pPr>
              <a:defRPr/>
            </a:pPr>
            <a:fld id="{FEAF75A5-FCA7-4A34-A936-4043AD105A04}" type="datetime2">
              <a:rPr lang="en-US" smtClean="0"/>
              <a:pPr>
                <a:defRPr/>
              </a:pPr>
              <a:t>Friday, August 27, 2021</a:t>
            </a:fld>
            <a:endParaRPr lang="en-US"/>
          </a:p>
        </p:txBody>
      </p:sp>
      <p:sp>
        <p:nvSpPr>
          <p:cNvPr id="122" name="Slide Number Placeholder 121"/>
          <p:cNvSpPr>
            <a:spLocks noGrp="1"/>
          </p:cNvSpPr>
          <p:nvPr>
            <p:ph type="sldNum" sz="quarter" idx="12"/>
          </p:nvPr>
        </p:nvSpPr>
        <p:spPr/>
        <p:txBody>
          <a:bodyPr/>
          <a:lstStyle/>
          <a:p>
            <a:pPr>
              <a:defRPr/>
            </a:pPr>
            <a:fld id="{02B6081B-D113-4F04-84A7-CDCB1344B906}" type="slidenum">
              <a:rPr lang="en-US" smtClean="0"/>
              <a:pPr>
                <a:defRPr/>
              </a:pPr>
              <a:t>9</a:t>
            </a:fld>
            <a:endParaRPr lang="en-US"/>
          </a:p>
        </p:txBody>
      </p:sp>
      <p:sp>
        <p:nvSpPr>
          <p:cNvPr id="123" name="Footer Placeholder 122"/>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lstStyle/>
          <a:p>
            <a:r>
              <a:rPr lang="en-IN" dirty="0" smtClean="0"/>
              <a:t>   Components of 8051	</a:t>
            </a:r>
            <a:endParaRPr lang="en-IN" dirty="0"/>
          </a:p>
        </p:txBody>
      </p:sp>
      <p:sp>
        <p:nvSpPr>
          <p:cNvPr id="3" name="Content Placeholder 2"/>
          <p:cNvSpPr>
            <a:spLocks noGrp="1"/>
          </p:cNvSpPr>
          <p:nvPr>
            <p:ph sz="half" idx="1"/>
          </p:nvPr>
        </p:nvSpPr>
        <p:spPr>
          <a:xfrm>
            <a:off x="214282" y="1071546"/>
            <a:ext cx="8572560" cy="5054617"/>
          </a:xfrm>
        </p:spPr>
        <p:txBody>
          <a:bodyPr/>
          <a:lstStyle/>
          <a:p>
            <a:pPr>
              <a:buNone/>
            </a:pPr>
            <a:r>
              <a:rPr lang="en-IN" dirty="0" smtClean="0"/>
              <a:t> 1. Bus control</a:t>
            </a:r>
          </a:p>
          <a:p>
            <a:r>
              <a:rPr lang="en-IN" i="1" dirty="0" smtClean="0"/>
              <a:t>Data Bus: </a:t>
            </a:r>
            <a:r>
              <a:rPr lang="en-IN" dirty="0" smtClean="0"/>
              <a:t>8 bit data bus for carrying data</a:t>
            </a:r>
          </a:p>
          <a:p>
            <a:r>
              <a:rPr lang="en-IN" i="1" dirty="0" smtClean="0"/>
              <a:t>Address bus: </a:t>
            </a:r>
            <a:r>
              <a:rPr lang="en-IN" dirty="0" smtClean="0"/>
              <a:t>16 bit address bus used to carry address</a:t>
            </a:r>
          </a:p>
          <a:p>
            <a:pPr>
              <a:buNone/>
            </a:pPr>
            <a:r>
              <a:rPr lang="en-IN" dirty="0" smtClean="0"/>
              <a:t>2. Four (8 bit each) general purpose parallel I/O ports:</a:t>
            </a:r>
          </a:p>
          <a:p>
            <a:r>
              <a:rPr lang="en-IN" i="1" u="sng" dirty="0" smtClean="0"/>
              <a:t>Port0: </a:t>
            </a:r>
            <a:r>
              <a:rPr lang="en-IN" dirty="0" smtClean="0"/>
              <a:t>When no external memory is connected it acts as general-purpose I/O port</a:t>
            </a:r>
          </a:p>
          <a:p>
            <a:r>
              <a:rPr lang="en-IN" dirty="0" smtClean="0"/>
              <a:t>If external memory applied then it acts as multiplexed add and data bus</a:t>
            </a:r>
          </a:p>
          <a:p>
            <a:r>
              <a:rPr lang="en-IN" dirty="0" smtClean="0"/>
              <a:t>Can operate in dual mode</a:t>
            </a:r>
            <a:endParaRPr lang="en-IN" dirty="0"/>
          </a:p>
        </p:txBody>
      </p:sp>
      <p:sp>
        <p:nvSpPr>
          <p:cNvPr id="4" name="Content Placeholder 3"/>
          <p:cNvSpPr>
            <a:spLocks noGrp="1"/>
          </p:cNvSpPr>
          <p:nvPr>
            <p:ph sz="half" idx="2"/>
          </p:nvPr>
        </p:nvSpPr>
        <p:spPr/>
        <p:txBody>
          <a:bodyPr/>
          <a:lstStyle/>
          <a:p>
            <a:pPr>
              <a:buNone/>
            </a:pPr>
            <a:r>
              <a:rPr lang="en-IN" dirty="0" smtClean="0"/>
              <a:t> </a:t>
            </a:r>
            <a:endParaRPr lang="en-IN" dirty="0"/>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02B6081B-D113-4F04-84A7-CDCB1344B906}" type="slidenum">
              <a:rPr lang="en-US" smtClean="0"/>
              <a:pPr>
                <a:defRPr/>
              </a:pPr>
              <a:t>10</a:t>
            </a:fld>
            <a:endParaRPr lang="en-US"/>
          </a:p>
        </p:txBody>
      </p:sp>
      <p:sp>
        <p:nvSpPr>
          <p:cNvPr id="7" name="Date Placeholder 6"/>
          <p:cNvSpPr>
            <a:spLocks noGrp="1"/>
          </p:cNvSpPr>
          <p:nvPr>
            <p:ph type="dt" sz="half" idx="10"/>
          </p:nvPr>
        </p:nvSpPr>
        <p:spPr/>
        <p:txBody>
          <a:bodyPr/>
          <a:lstStyle/>
          <a:p>
            <a:pPr>
              <a:defRPr/>
            </a:pPr>
            <a:fld id="{093BAB6D-82DF-48B4-9F17-827B787EF0B4}" type="datetime2">
              <a:rPr lang="en-US" smtClean="0"/>
              <a:pPr>
                <a:defRPr/>
              </a:pPr>
              <a:t>Friday, August 27, 2021</a:t>
            </a:fld>
            <a:endParaRPr lang="en-US"/>
          </a:p>
        </p:txBody>
      </p:sp>
    </p:spTree>
  </p:cSld>
  <p:clrMapOvr>
    <a:masterClrMapping/>
  </p:clrMapOvr>
  <p:transition>
    <p:spli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96842"/>
          </a:xfrm>
        </p:spPr>
        <p:txBody>
          <a:bodyPr/>
          <a:lstStyle/>
          <a:p>
            <a:r>
              <a:rPr lang="en-IN" dirty="0" smtClean="0"/>
              <a:t> </a:t>
            </a:r>
            <a:endParaRPr lang="en-IN" dirty="0"/>
          </a:p>
        </p:txBody>
      </p:sp>
      <p:sp>
        <p:nvSpPr>
          <p:cNvPr id="3" name="Content Placeholder 2"/>
          <p:cNvSpPr>
            <a:spLocks noGrp="1"/>
          </p:cNvSpPr>
          <p:nvPr>
            <p:ph sz="half" idx="1"/>
          </p:nvPr>
        </p:nvSpPr>
        <p:spPr>
          <a:xfrm>
            <a:off x="457200" y="285728"/>
            <a:ext cx="8401080" cy="5840435"/>
          </a:xfrm>
        </p:spPr>
        <p:txBody>
          <a:bodyPr/>
          <a:lstStyle/>
          <a:p>
            <a:r>
              <a:rPr lang="en-IN" i="1" dirty="0" smtClean="0"/>
              <a:t> </a:t>
            </a:r>
            <a:r>
              <a:rPr lang="en-IN" i="1" u="sng" dirty="0" smtClean="0"/>
              <a:t>Port1</a:t>
            </a:r>
            <a:r>
              <a:rPr lang="en-IN" i="1" dirty="0" smtClean="0"/>
              <a:t>: </a:t>
            </a:r>
            <a:r>
              <a:rPr lang="en-IN" dirty="0" smtClean="0"/>
              <a:t>Normal I/O port</a:t>
            </a:r>
          </a:p>
          <a:p>
            <a:r>
              <a:rPr lang="en-IN" i="1" u="sng" dirty="0" smtClean="0"/>
              <a:t>Port2:</a:t>
            </a:r>
            <a:r>
              <a:rPr lang="en-IN" dirty="0" smtClean="0"/>
              <a:t> Same as </a:t>
            </a:r>
            <a:r>
              <a:rPr lang="en-IN" dirty="0" smtClean="0"/>
              <a:t>port0 (GPIO and </a:t>
            </a:r>
            <a:r>
              <a:rPr lang="en-IN" smtClean="0"/>
              <a:t>address line)</a:t>
            </a:r>
            <a:endParaRPr lang="en-IN" dirty="0" smtClean="0"/>
          </a:p>
          <a:p>
            <a:r>
              <a:rPr lang="en-IN" i="1" u="sng" dirty="0" smtClean="0"/>
              <a:t>Port3:</a:t>
            </a:r>
            <a:r>
              <a:rPr lang="en-IN" i="1" dirty="0" smtClean="0"/>
              <a:t> </a:t>
            </a:r>
            <a:r>
              <a:rPr lang="en-IN" dirty="0" smtClean="0"/>
              <a:t>Dedicated I/O port</a:t>
            </a:r>
          </a:p>
          <a:p>
            <a:pPr>
              <a:buNone/>
            </a:pPr>
            <a:r>
              <a:rPr lang="en-IN" dirty="0" smtClean="0"/>
              <a:t>3. Timers and Counters: Used for synchronization of clock circuits in the internal operation by XTAL1 and XTAL2</a:t>
            </a:r>
          </a:p>
          <a:p>
            <a:r>
              <a:rPr lang="en-IN" dirty="0" smtClean="0"/>
              <a:t>4 additional pins are:</a:t>
            </a:r>
          </a:p>
          <a:p>
            <a:r>
              <a:rPr lang="en-IN" dirty="0" smtClean="0"/>
              <a:t>EA (External Enable)</a:t>
            </a:r>
          </a:p>
          <a:p>
            <a:r>
              <a:rPr lang="en-IN" dirty="0" smtClean="0"/>
              <a:t>PSEN (Program store enable)</a:t>
            </a:r>
          </a:p>
          <a:p>
            <a:r>
              <a:rPr lang="en-IN" dirty="0" smtClean="0"/>
              <a:t>ALE (Address latch enable)</a:t>
            </a:r>
          </a:p>
          <a:p>
            <a:r>
              <a:rPr lang="en-IN" dirty="0" smtClean="0"/>
              <a:t>RST (Reset)</a:t>
            </a:r>
            <a:endParaRPr lang="en-IN" dirty="0"/>
          </a:p>
        </p:txBody>
      </p:sp>
      <p:sp>
        <p:nvSpPr>
          <p:cNvPr id="4" name="Content Placeholder 3"/>
          <p:cNvSpPr>
            <a:spLocks noGrp="1"/>
          </p:cNvSpPr>
          <p:nvPr>
            <p:ph sz="half" idx="2"/>
          </p:nvPr>
        </p:nvSpPr>
        <p:spPr>
          <a:xfrm>
            <a:off x="4648200" y="214290"/>
            <a:ext cx="4038600" cy="5911873"/>
          </a:xfrm>
        </p:spPr>
        <p:txBody>
          <a:bodyPr/>
          <a:lstStyle/>
          <a:p>
            <a:pPr>
              <a:buNone/>
            </a:pPr>
            <a:r>
              <a:rPr lang="en-IN" dirty="0" smtClean="0"/>
              <a:t>  </a:t>
            </a:r>
            <a:endParaRPr lang="en-IN" dirty="0"/>
          </a:p>
        </p:txBody>
      </p:sp>
      <p:sp>
        <p:nvSpPr>
          <p:cNvPr id="5" name="Date Placeholder 4"/>
          <p:cNvSpPr>
            <a:spLocks noGrp="1"/>
          </p:cNvSpPr>
          <p:nvPr>
            <p:ph type="dt" sz="half" idx="10"/>
          </p:nvPr>
        </p:nvSpPr>
        <p:spPr/>
        <p:txBody>
          <a:bodyPr/>
          <a:lstStyle/>
          <a:p>
            <a:pPr>
              <a:defRPr/>
            </a:pPr>
            <a:fld id="{3B8FDB45-4A08-4DAD-8EC0-4F6B62D4C943}" type="datetime2">
              <a:rPr lang="en-US" smtClean="0"/>
              <a:pPr>
                <a:defRPr/>
              </a:pPr>
              <a:t>Friday, August 27, 2021</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
        <p:nvSpPr>
          <p:cNvPr id="7" name="Slide Number Placeholder 6"/>
          <p:cNvSpPr>
            <a:spLocks noGrp="1"/>
          </p:cNvSpPr>
          <p:nvPr>
            <p:ph type="sldNum" sz="quarter" idx="12"/>
          </p:nvPr>
        </p:nvSpPr>
        <p:spPr/>
        <p:txBody>
          <a:bodyPr/>
          <a:lstStyle/>
          <a:p>
            <a:pPr>
              <a:defRPr/>
            </a:pPr>
            <a:fld id="{02B6081B-D113-4F04-84A7-CDCB1344B906}" type="slidenum">
              <a:rPr lang="en-US" smtClean="0"/>
              <a:pPr>
                <a:defRPr/>
              </a:pPr>
              <a:t>11</a:t>
            </a:fld>
            <a:endParaRPr lang="en-US"/>
          </a:p>
        </p:txBody>
      </p:sp>
    </p:spTree>
  </p:cSld>
  <p:clrMapOvr>
    <a:masterClrMapping/>
  </p:clrMapOvr>
  <p:transition>
    <p:spli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3" name="Content Placeholder 2"/>
          <p:cNvSpPr>
            <a:spLocks noGrp="1"/>
          </p:cNvSpPr>
          <p:nvPr>
            <p:ph sz="half" idx="1"/>
          </p:nvPr>
        </p:nvSpPr>
        <p:spPr>
          <a:xfrm>
            <a:off x="214282" y="214290"/>
            <a:ext cx="8715436" cy="6000792"/>
          </a:xfrm>
        </p:spPr>
        <p:txBody>
          <a:bodyPr/>
          <a:lstStyle/>
          <a:p>
            <a:pPr>
              <a:buNone/>
            </a:pPr>
            <a:r>
              <a:rPr lang="en-IN" dirty="0" smtClean="0"/>
              <a:t>4. Memory:</a:t>
            </a:r>
          </a:p>
          <a:p>
            <a:r>
              <a:rPr lang="en-IN" dirty="0" smtClean="0"/>
              <a:t>ROM – A program of 4k memory can be stored (requires 12bit address line)</a:t>
            </a:r>
          </a:p>
          <a:p>
            <a:r>
              <a:rPr lang="en-IN" dirty="0" smtClean="0"/>
              <a:t>RAM – 128 bytes internal RAM divided into 32 working registers. Each register has 4 register bank of 8 registers each</a:t>
            </a:r>
          </a:p>
          <a:p>
            <a:pPr>
              <a:buNone/>
            </a:pPr>
            <a:r>
              <a:rPr lang="en-IN" dirty="0" smtClean="0"/>
              <a:t>5. Serial port – for communication</a:t>
            </a:r>
          </a:p>
          <a:p>
            <a:r>
              <a:rPr lang="en-IN" dirty="0" smtClean="0"/>
              <a:t>SBUF: Serial port data buffer holds the data</a:t>
            </a:r>
          </a:p>
          <a:p>
            <a:r>
              <a:rPr lang="en-IN" dirty="0" smtClean="0"/>
              <a:t>SCON: Serial control for managing communication</a:t>
            </a:r>
          </a:p>
          <a:p>
            <a:r>
              <a:rPr lang="en-IN" dirty="0" smtClean="0"/>
              <a:t>PCON: Parallel control manages data transfer rates</a:t>
            </a:r>
            <a:endParaRPr lang="en-IN" dirty="0"/>
          </a:p>
        </p:txBody>
      </p:sp>
      <p:sp>
        <p:nvSpPr>
          <p:cNvPr id="4" name="Content Placeholder 3"/>
          <p:cNvSpPr>
            <a:spLocks noGrp="1"/>
          </p:cNvSpPr>
          <p:nvPr>
            <p:ph sz="half" idx="2"/>
          </p:nvPr>
        </p:nvSpPr>
        <p:spPr/>
        <p:txBody>
          <a:bodyPr/>
          <a:lstStyle/>
          <a:p>
            <a:pPr>
              <a:buNone/>
            </a:pPr>
            <a:r>
              <a:rPr lang="en-IN" dirty="0" smtClean="0"/>
              <a:t>     </a:t>
            </a:r>
            <a:endParaRPr lang="en-IN" dirty="0"/>
          </a:p>
        </p:txBody>
      </p:sp>
      <p:sp>
        <p:nvSpPr>
          <p:cNvPr id="5" name="Date Placeholder 4"/>
          <p:cNvSpPr>
            <a:spLocks noGrp="1"/>
          </p:cNvSpPr>
          <p:nvPr>
            <p:ph type="dt" sz="half" idx="10"/>
          </p:nvPr>
        </p:nvSpPr>
        <p:spPr/>
        <p:txBody>
          <a:bodyPr/>
          <a:lstStyle/>
          <a:p>
            <a:pPr>
              <a:defRPr/>
            </a:pPr>
            <a:fld id="{6FFB780B-F84E-4010-9E2C-92ABDD806465}" type="datetime2">
              <a:rPr lang="en-US" smtClean="0"/>
              <a:pPr>
                <a:defRPr/>
              </a:pPr>
              <a:t>Friday, August 27, 2021</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
        <p:nvSpPr>
          <p:cNvPr id="7" name="Slide Number Placeholder 6"/>
          <p:cNvSpPr>
            <a:spLocks noGrp="1"/>
          </p:cNvSpPr>
          <p:nvPr>
            <p:ph type="sldNum" sz="quarter" idx="12"/>
          </p:nvPr>
        </p:nvSpPr>
        <p:spPr/>
        <p:txBody>
          <a:bodyPr/>
          <a:lstStyle/>
          <a:p>
            <a:pPr>
              <a:defRPr/>
            </a:pPr>
            <a:fld id="{02B6081B-D113-4F04-84A7-CDCB1344B906}" type="slidenum">
              <a:rPr lang="en-US" smtClean="0"/>
              <a:pPr>
                <a:defRPr/>
              </a:pPr>
              <a:t>12</a:t>
            </a:fld>
            <a:endParaRPr lang="en-US"/>
          </a:p>
        </p:txBody>
      </p:sp>
    </p:spTree>
  </p:cSld>
  <p:clrMapOvr>
    <a:masterClrMapping/>
  </p:clrMapOvr>
  <p:transition>
    <p:spli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3" name="Content Placeholder 2"/>
          <p:cNvSpPr>
            <a:spLocks noGrp="1"/>
          </p:cNvSpPr>
          <p:nvPr>
            <p:ph sz="half" idx="1"/>
          </p:nvPr>
        </p:nvSpPr>
        <p:spPr>
          <a:xfrm>
            <a:off x="0" y="0"/>
            <a:ext cx="9144000" cy="6126163"/>
          </a:xfrm>
        </p:spPr>
        <p:txBody>
          <a:bodyPr/>
          <a:lstStyle/>
          <a:p>
            <a:r>
              <a:rPr lang="en-IN" dirty="0" smtClean="0"/>
              <a:t>RXD and TXD</a:t>
            </a:r>
          </a:p>
          <a:p>
            <a:r>
              <a:rPr lang="en-IN" dirty="0" smtClean="0"/>
              <a:t>4 programmable modes  </a:t>
            </a:r>
          </a:p>
          <a:p>
            <a:pPr>
              <a:buFont typeface="Wingdings" pitchFamily="2" charset="2"/>
              <a:buChar char="v"/>
            </a:pPr>
            <a:r>
              <a:rPr lang="en-IN" i="1" dirty="0" smtClean="0"/>
              <a:t>Serial data mode0 </a:t>
            </a:r>
            <a:r>
              <a:rPr lang="en-IN" dirty="0" smtClean="0"/>
              <a:t>(shift register mode)</a:t>
            </a:r>
          </a:p>
          <a:p>
            <a:pPr>
              <a:buFont typeface="Wingdings" pitchFamily="2" charset="2"/>
              <a:buChar char="v"/>
            </a:pPr>
            <a:r>
              <a:rPr lang="en-IN" i="1" dirty="0" smtClean="0"/>
              <a:t>Serial data mode1 </a:t>
            </a:r>
            <a:r>
              <a:rPr lang="en-IN" dirty="0" smtClean="0"/>
              <a:t>(standard UART)</a:t>
            </a:r>
          </a:p>
          <a:p>
            <a:pPr>
              <a:buFont typeface="Wingdings" pitchFamily="2" charset="2"/>
              <a:buChar char="v"/>
            </a:pPr>
            <a:r>
              <a:rPr lang="en-IN" i="1" dirty="0" smtClean="0"/>
              <a:t>Serial data mode2</a:t>
            </a:r>
            <a:r>
              <a:rPr lang="en-IN" dirty="0" smtClean="0"/>
              <a:t> (multiprocessor mode)</a:t>
            </a:r>
          </a:p>
          <a:p>
            <a:pPr>
              <a:buFont typeface="Wingdings" pitchFamily="2" charset="2"/>
              <a:buChar char="v"/>
            </a:pPr>
            <a:r>
              <a:rPr lang="en-IN" i="1" dirty="0" smtClean="0"/>
              <a:t>Serial data mode3</a:t>
            </a:r>
          </a:p>
          <a:p>
            <a:pPr>
              <a:buNone/>
            </a:pPr>
            <a:r>
              <a:rPr lang="en-IN" dirty="0" smtClean="0"/>
              <a:t>6. Interrupt control (software or hardware) </a:t>
            </a:r>
          </a:p>
          <a:p>
            <a:r>
              <a:rPr lang="en-IN" dirty="0" smtClean="0"/>
              <a:t>5 sources are present </a:t>
            </a:r>
          </a:p>
          <a:p>
            <a:r>
              <a:rPr lang="en-IN" dirty="0" smtClean="0"/>
              <a:t>2 external interrupt sources connected through INT0 and INT1</a:t>
            </a:r>
          </a:p>
          <a:p>
            <a:r>
              <a:rPr lang="en-IN" dirty="0" smtClean="0"/>
              <a:t>3 external interrupt sources through serial port interrupt, timer flag0, and timer flag1</a:t>
            </a:r>
          </a:p>
          <a:p>
            <a:pPr>
              <a:buNone/>
            </a:pPr>
            <a:r>
              <a:rPr lang="en-IN" dirty="0" smtClean="0"/>
              <a:t>7. CPU: 8051 system bus connects all the support devices to CPU</a:t>
            </a:r>
          </a:p>
        </p:txBody>
      </p:sp>
      <p:sp>
        <p:nvSpPr>
          <p:cNvPr id="4" name="Content Placeholder 3"/>
          <p:cNvSpPr>
            <a:spLocks noGrp="1"/>
          </p:cNvSpPr>
          <p:nvPr>
            <p:ph sz="half" idx="2"/>
          </p:nvPr>
        </p:nvSpPr>
        <p:spPr/>
        <p:txBody>
          <a:bodyPr/>
          <a:lstStyle/>
          <a:p>
            <a:pPr>
              <a:buNone/>
            </a:pPr>
            <a:r>
              <a:rPr lang="en-IN" dirty="0" smtClean="0"/>
              <a:t>  </a:t>
            </a:r>
            <a:endParaRPr lang="en-IN" dirty="0"/>
          </a:p>
        </p:txBody>
      </p:sp>
      <p:sp>
        <p:nvSpPr>
          <p:cNvPr id="5" name="Date Placeholder 4"/>
          <p:cNvSpPr>
            <a:spLocks noGrp="1"/>
          </p:cNvSpPr>
          <p:nvPr>
            <p:ph type="dt" sz="half" idx="10"/>
          </p:nvPr>
        </p:nvSpPr>
        <p:spPr/>
        <p:txBody>
          <a:bodyPr/>
          <a:lstStyle/>
          <a:p>
            <a:pPr>
              <a:defRPr/>
            </a:pPr>
            <a:fld id="{6EFBA0A6-480F-4249-AE38-E2DE887DD432}" type="datetime2">
              <a:rPr lang="en-US" smtClean="0"/>
              <a:pPr>
                <a:defRPr/>
              </a:pPr>
              <a:t>Friday, August 27, 2021</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
        <p:nvSpPr>
          <p:cNvPr id="7" name="Slide Number Placeholder 6"/>
          <p:cNvSpPr>
            <a:spLocks noGrp="1"/>
          </p:cNvSpPr>
          <p:nvPr>
            <p:ph type="sldNum" sz="quarter" idx="12"/>
          </p:nvPr>
        </p:nvSpPr>
        <p:spPr/>
        <p:txBody>
          <a:bodyPr/>
          <a:lstStyle/>
          <a:p>
            <a:pPr>
              <a:defRPr/>
            </a:pPr>
            <a:fld id="{02B6081B-D113-4F04-84A7-CDCB1344B906}" type="slidenum">
              <a:rPr lang="en-US" smtClean="0"/>
              <a:pPr>
                <a:defRPr/>
              </a:pPr>
              <a:t>13</a:t>
            </a:fld>
            <a:endParaRPr lang="en-US"/>
          </a:p>
        </p:txBody>
      </p:sp>
    </p:spTree>
  </p:cSld>
  <p:clrMapOvr>
    <a:masterClrMapping/>
  </p:clrMapOvr>
  <p:transition>
    <p:spli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142875"/>
          <a:ext cx="9144000" cy="6715125"/>
        </p:xfrm>
        <a:graphic>
          <a:graphicData uri="http://schemas.openxmlformats.org/presentationml/2006/ole">
            <p:oleObj spid="_x0000_s1026" name="Image" r:id="rId3" imgW="11195199" imgH="11678080" progId="">
              <p:embed/>
            </p:oleObj>
          </a:graphicData>
        </a:graphic>
      </p:graphicFrame>
      <p:sp>
        <p:nvSpPr>
          <p:cNvPr id="3" name="TextBox 2"/>
          <p:cNvSpPr txBox="1"/>
          <p:nvPr/>
        </p:nvSpPr>
        <p:spPr>
          <a:xfrm>
            <a:off x="214313" y="0"/>
            <a:ext cx="2500312" cy="276225"/>
          </a:xfrm>
          <a:prstGeom prst="rect">
            <a:avLst/>
          </a:prstGeom>
          <a:noFill/>
        </p:spPr>
        <p:txBody>
          <a:bodyPr>
            <a:spAutoFit/>
          </a:bodyPr>
          <a:lstStyle/>
          <a:p>
            <a:pPr>
              <a:defRPr/>
            </a:pPr>
            <a:r>
              <a:rPr lang="en-US" sz="1200" dirty="0">
                <a:solidFill>
                  <a:schemeClr val="tx2"/>
                </a:solidFill>
                <a:latin typeface="+mn-lt"/>
              </a:rPr>
              <a:t>Intel 8051 Micro Architecture</a:t>
            </a:r>
          </a:p>
        </p:txBody>
      </p:sp>
      <p:sp>
        <p:nvSpPr>
          <p:cNvPr id="4" name="Date Placeholder 3"/>
          <p:cNvSpPr>
            <a:spLocks noGrp="1"/>
          </p:cNvSpPr>
          <p:nvPr>
            <p:ph type="dt" sz="half" idx="10"/>
          </p:nvPr>
        </p:nvSpPr>
        <p:spPr/>
        <p:txBody>
          <a:bodyPr/>
          <a:lstStyle/>
          <a:p>
            <a:pPr>
              <a:defRPr/>
            </a:pPr>
            <a:fld id="{D857CA5E-3DF6-4700-B886-66E33580B3B1}" type="datetime2">
              <a:rPr lang="en-US" smtClean="0"/>
              <a:pPr>
                <a:defRPr/>
              </a:pPr>
              <a:t>Friday, August 27, 2021</a:t>
            </a:fld>
            <a:endParaRPr lang="en-US"/>
          </a:p>
        </p:txBody>
      </p:sp>
      <p:sp>
        <p:nvSpPr>
          <p:cNvPr id="5" name="Slide Number Placeholder 4"/>
          <p:cNvSpPr>
            <a:spLocks noGrp="1"/>
          </p:cNvSpPr>
          <p:nvPr>
            <p:ph type="sldNum" sz="quarter" idx="12"/>
          </p:nvPr>
        </p:nvSpPr>
        <p:spPr/>
        <p:txBody>
          <a:bodyPr/>
          <a:lstStyle/>
          <a:p>
            <a:pPr>
              <a:defRPr/>
            </a:pPr>
            <a:fld id="{0806EE18-6C0D-48EE-B7B6-5B85C7C6CF6D}" type="slidenum">
              <a:rPr lang="en-US" smtClean="0"/>
              <a:pPr>
                <a:defRPr/>
              </a:pPr>
              <a:t>14</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28600" y="503238"/>
            <a:ext cx="3048000" cy="1568450"/>
          </a:xfrm>
          <a:solidFill>
            <a:schemeClr val="tx2">
              <a:lumMod val="20000"/>
              <a:lumOff val="80000"/>
            </a:schemeClr>
          </a:solidFill>
          <a:ln>
            <a:solidFill>
              <a:srgbClr val="FF0000"/>
            </a:solidFill>
          </a:ln>
        </p:spPr>
        <p:txBody>
          <a:bodyPr rtlCol="0" anchor="t">
            <a:normAutofit/>
          </a:bodyPr>
          <a:lstStyle/>
          <a:p>
            <a:pPr eaLnBrk="1" fontAlgn="auto" hangingPunct="1">
              <a:spcAft>
                <a:spcPts val="0"/>
              </a:spcAft>
              <a:defRPr/>
            </a:pPr>
            <a:r>
              <a:rPr lang="en-US" sz="4000" b="1" dirty="0" smtClean="0">
                <a:solidFill>
                  <a:srgbClr val="7030A0"/>
                </a:solidFill>
                <a:latin typeface="Comic Sans MS" pitchFamily="66" charset="0"/>
                <a:cs typeface="B Rose" pitchFamily="2" charset="-78"/>
              </a:rPr>
              <a:t>8051 </a:t>
            </a:r>
            <a:br>
              <a:rPr lang="en-US" sz="4000" b="1" dirty="0" smtClean="0">
                <a:solidFill>
                  <a:srgbClr val="7030A0"/>
                </a:solidFill>
                <a:latin typeface="Comic Sans MS" pitchFamily="66" charset="0"/>
                <a:cs typeface="B Rose" pitchFamily="2" charset="-78"/>
              </a:rPr>
            </a:br>
            <a:r>
              <a:rPr lang="en-US" sz="4000" b="1" dirty="0" smtClean="0">
                <a:solidFill>
                  <a:srgbClr val="7030A0"/>
                </a:solidFill>
                <a:latin typeface="Comic Sans MS" pitchFamily="66" charset="0"/>
                <a:cs typeface="B Rose" pitchFamily="2" charset="-78"/>
              </a:rPr>
              <a:t>pin diagram</a:t>
            </a:r>
          </a:p>
        </p:txBody>
      </p:sp>
      <p:sp>
        <p:nvSpPr>
          <p:cNvPr id="17411" name="Line 3"/>
          <p:cNvSpPr>
            <a:spLocks noChangeShapeType="1"/>
          </p:cNvSpPr>
          <p:nvPr/>
        </p:nvSpPr>
        <p:spPr bwMode="auto">
          <a:xfrm>
            <a:off x="4559300" y="381000"/>
            <a:ext cx="0" cy="6000750"/>
          </a:xfrm>
          <a:prstGeom prst="line">
            <a:avLst/>
          </a:prstGeom>
          <a:noFill/>
          <a:ln w="31750">
            <a:solidFill>
              <a:schemeClr val="tx1"/>
            </a:solidFill>
            <a:round/>
            <a:headEnd/>
            <a:tailEnd/>
          </a:ln>
        </p:spPr>
        <p:txBody>
          <a:bodyPr/>
          <a:lstStyle/>
          <a:p>
            <a:endParaRPr lang="en-US"/>
          </a:p>
        </p:txBody>
      </p:sp>
      <p:sp>
        <p:nvSpPr>
          <p:cNvPr id="17412" name="Line 4"/>
          <p:cNvSpPr>
            <a:spLocks noChangeShapeType="1"/>
          </p:cNvSpPr>
          <p:nvPr/>
        </p:nvSpPr>
        <p:spPr bwMode="auto">
          <a:xfrm>
            <a:off x="7191375" y="381000"/>
            <a:ext cx="0" cy="6000750"/>
          </a:xfrm>
          <a:prstGeom prst="line">
            <a:avLst/>
          </a:prstGeom>
          <a:noFill/>
          <a:ln w="31750">
            <a:solidFill>
              <a:schemeClr val="tx1"/>
            </a:solidFill>
            <a:round/>
            <a:headEnd/>
            <a:tailEnd/>
          </a:ln>
        </p:spPr>
        <p:txBody>
          <a:bodyPr/>
          <a:lstStyle/>
          <a:p>
            <a:endParaRPr lang="en-US"/>
          </a:p>
        </p:txBody>
      </p:sp>
      <p:sp>
        <p:nvSpPr>
          <p:cNvPr id="17413" name="Line 5"/>
          <p:cNvSpPr>
            <a:spLocks noChangeShapeType="1"/>
          </p:cNvSpPr>
          <p:nvPr/>
        </p:nvSpPr>
        <p:spPr bwMode="auto">
          <a:xfrm>
            <a:off x="4559300" y="6381750"/>
            <a:ext cx="2632075" cy="0"/>
          </a:xfrm>
          <a:prstGeom prst="line">
            <a:avLst/>
          </a:prstGeom>
          <a:noFill/>
          <a:ln w="31750">
            <a:solidFill>
              <a:schemeClr val="tx1"/>
            </a:solidFill>
            <a:round/>
            <a:headEnd/>
            <a:tailEnd/>
          </a:ln>
        </p:spPr>
        <p:txBody>
          <a:bodyPr/>
          <a:lstStyle/>
          <a:p>
            <a:endParaRPr lang="en-US"/>
          </a:p>
        </p:txBody>
      </p:sp>
      <p:sp>
        <p:nvSpPr>
          <p:cNvPr id="17414" name="Line 6"/>
          <p:cNvSpPr>
            <a:spLocks noChangeShapeType="1"/>
          </p:cNvSpPr>
          <p:nvPr/>
        </p:nvSpPr>
        <p:spPr bwMode="auto">
          <a:xfrm>
            <a:off x="4559300" y="381000"/>
            <a:ext cx="1031875" cy="0"/>
          </a:xfrm>
          <a:prstGeom prst="line">
            <a:avLst/>
          </a:prstGeom>
          <a:noFill/>
          <a:ln w="31750">
            <a:solidFill>
              <a:schemeClr val="tx1"/>
            </a:solidFill>
            <a:round/>
            <a:headEnd/>
            <a:tailEnd/>
          </a:ln>
        </p:spPr>
        <p:txBody>
          <a:bodyPr/>
          <a:lstStyle/>
          <a:p>
            <a:endParaRPr lang="en-US"/>
          </a:p>
        </p:txBody>
      </p:sp>
      <p:sp>
        <p:nvSpPr>
          <p:cNvPr id="17415" name="Line 7"/>
          <p:cNvSpPr>
            <a:spLocks noChangeShapeType="1"/>
          </p:cNvSpPr>
          <p:nvPr/>
        </p:nvSpPr>
        <p:spPr bwMode="auto">
          <a:xfrm>
            <a:off x="6157913" y="381000"/>
            <a:ext cx="1031875" cy="0"/>
          </a:xfrm>
          <a:prstGeom prst="line">
            <a:avLst/>
          </a:prstGeom>
          <a:noFill/>
          <a:ln w="31750">
            <a:solidFill>
              <a:schemeClr val="tx1"/>
            </a:solidFill>
            <a:round/>
            <a:headEnd/>
            <a:tailEnd/>
          </a:ln>
        </p:spPr>
        <p:txBody>
          <a:bodyPr/>
          <a:lstStyle/>
          <a:p>
            <a:endParaRPr lang="en-US"/>
          </a:p>
        </p:txBody>
      </p:sp>
      <p:sp>
        <p:nvSpPr>
          <p:cNvPr id="17416" name="Rectangle 8"/>
          <p:cNvSpPr>
            <a:spLocks noChangeArrowheads="1"/>
          </p:cNvSpPr>
          <p:nvPr/>
        </p:nvSpPr>
        <p:spPr bwMode="auto">
          <a:xfrm>
            <a:off x="4291013" y="817563"/>
            <a:ext cx="249237" cy="152400"/>
          </a:xfrm>
          <a:prstGeom prst="rect">
            <a:avLst/>
          </a:prstGeom>
          <a:noFill/>
          <a:ln w="31750" algn="ctr">
            <a:solidFill>
              <a:schemeClr val="tx1"/>
            </a:solidFill>
            <a:miter lim="800000"/>
            <a:headEnd/>
            <a:tailEnd/>
          </a:ln>
        </p:spPr>
        <p:txBody>
          <a:bodyPr wrap="none" anchor="ctr"/>
          <a:lstStyle/>
          <a:p>
            <a:endParaRPr lang="en-US"/>
          </a:p>
        </p:txBody>
      </p:sp>
      <p:sp>
        <p:nvSpPr>
          <p:cNvPr id="17417" name="Rectangle 9"/>
          <p:cNvSpPr>
            <a:spLocks noChangeArrowheads="1"/>
          </p:cNvSpPr>
          <p:nvPr/>
        </p:nvSpPr>
        <p:spPr bwMode="auto">
          <a:xfrm>
            <a:off x="4291013" y="1087438"/>
            <a:ext cx="249237" cy="150812"/>
          </a:xfrm>
          <a:prstGeom prst="rect">
            <a:avLst/>
          </a:prstGeom>
          <a:noFill/>
          <a:ln w="31750" algn="ctr">
            <a:solidFill>
              <a:schemeClr val="tx1"/>
            </a:solidFill>
            <a:miter lim="800000"/>
            <a:headEnd/>
            <a:tailEnd/>
          </a:ln>
        </p:spPr>
        <p:txBody>
          <a:bodyPr wrap="none" anchor="ctr"/>
          <a:lstStyle/>
          <a:p>
            <a:endParaRPr lang="en-US"/>
          </a:p>
        </p:txBody>
      </p:sp>
      <p:sp>
        <p:nvSpPr>
          <p:cNvPr id="17418" name="Rectangle 10"/>
          <p:cNvSpPr>
            <a:spLocks noChangeArrowheads="1"/>
          </p:cNvSpPr>
          <p:nvPr/>
        </p:nvSpPr>
        <p:spPr bwMode="auto">
          <a:xfrm>
            <a:off x="4291013" y="1357313"/>
            <a:ext cx="249237" cy="150812"/>
          </a:xfrm>
          <a:prstGeom prst="rect">
            <a:avLst/>
          </a:prstGeom>
          <a:noFill/>
          <a:ln w="31750" algn="ctr">
            <a:solidFill>
              <a:schemeClr val="tx1"/>
            </a:solidFill>
            <a:miter lim="800000"/>
            <a:headEnd/>
            <a:tailEnd/>
          </a:ln>
        </p:spPr>
        <p:txBody>
          <a:bodyPr wrap="none" anchor="ctr"/>
          <a:lstStyle/>
          <a:p>
            <a:endParaRPr lang="en-US"/>
          </a:p>
        </p:txBody>
      </p:sp>
      <p:sp>
        <p:nvSpPr>
          <p:cNvPr id="17419" name="Rectangle 11"/>
          <p:cNvSpPr>
            <a:spLocks noChangeArrowheads="1"/>
          </p:cNvSpPr>
          <p:nvPr/>
        </p:nvSpPr>
        <p:spPr bwMode="auto">
          <a:xfrm>
            <a:off x="4291013" y="1627188"/>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20" name="Rectangle 12"/>
          <p:cNvSpPr>
            <a:spLocks noChangeArrowheads="1"/>
          </p:cNvSpPr>
          <p:nvPr/>
        </p:nvSpPr>
        <p:spPr bwMode="auto">
          <a:xfrm>
            <a:off x="4291013" y="1898650"/>
            <a:ext cx="249237" cy="150813"/>
          </a:xfrm>
          <a:prstGeom prst="rect">
            <a:avLst/>
          </a:prstGeom>
          <a:noFill/>
          <a:ln w="31750" algn="ctr">
            <a:solidFill>
              <a:schemeClr val="tx1"/>
            </a:solidFill>
            <a:miter lim="800000"/>
            <a:headEnd/>
            <a:tailEnd/>
          </a:ln>
        </p:spPr>
        <p:txBody>
          <a:bodyPr wrap="none" anchor="ctr"/>
          <a:lstStyle/>
          <a:p>
            <a:endParaRPr lang="en-US"/>
          </a:p>
        </p:txBody>
      </p:sp>
      <p:sp>
        <p:nvSpPr>
          <p:cNvPr id="17421" name="Rectangle 13"/>
          <p:cNvSpPr>
            <a:spLocks noChangeArrowheads="1"/>
          </p:cNvSpPr>
          <p:nvPr/>
        </p:nvSpPr>
        <p:spPr bwMode="auto">
          <a:xfrm>
            <a:off x="4291013" y="2166938"/>
            <a:ext cx="249237" cy="150812"/>
          </a:xfrm>
          <a:prstGeom prst="rect">
            <a:avLst/>
          </a:prstGeom>
          <a:noFill/>
          <a:ln w="31750" algn="ctr">
            <a:solidFill>
              <a:schemeClr val="tx1"/>
            </a:solidFill>
            <a:miter lim="800000"/>
            <a:headEnd/>
            <a:tailEnd/>
          </a:ln>
        </p:spPr>
        <p:txBody>
          <a:bodyPr wrap="none" anchor="ctr"/>
          <a:lstStyle/>
          <a:p>
            <a:endParaRPr lang="en-US"/>
          </a:p>
        </p:txBody>
      </p:sp>
      <p:sp>
        <p:nvSpPr>
          <p:cNvPr id="17422" name="Rectangle 14"/>
          <p:cNvSpPr>
            <a:spLocks noChangeArrowheads="1"/>
          </p:cNvSpPr>
          <p:nvPr/>
        </p:nvSpPr>
        <p:spPr bwMode="auto">
          <a:xfrm>
            <a:off x="4291013" y="2438400"/>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23" name="Rectangle 15"/>
          <p:cNvSpPr>
            <a:spLocks noChangeArrowheads="1"/>
          </p:cNvSpPr>
          <p:nvPr/>
        </p:nvSpPr>
        <p:spPr bwMode="auto">
          <a:xfrm>
            <a:off x="4291013" y="2706688"/>
            <a:ext cx="249237" cy="150812"/>
          </a:xfrm>
          <a:prstGeom prst="rect">
            <a:avLst/>
          </a:prstGeom>
          <a:noFill/>
          <a:ln w="31750" algn="ctr">
            <a:solidFill>
              <a:schemeClr val="tx1"/>
            </a:solidFill>
            <a:miter lim="800000"/>
            <a:headEnd/>
            <a:tailEnd/>
          </a:ln>
        </p:spPr>
        <p:txBody>
          <a:bodyPr wrap="none" anchor="ctr"/>
          <a:lstStyle/>
          <a:p>
            <a:endParaRPr lang="en-US"/>
          </a:p>
        </p:txBody>
      </p:sp>
      <p:sp>
        <p:nvSpPr>
          <p:cNvPr id="17424" name="Rectangle 16"/>
          <p:cNvSpPr>
            <a:spLocks noChangeArrowheads="1"/>
          </p:cNvSpPr>
          <p:nvPr/>
        </p:nvSpPr>
        <p:spPr bwMode="auto">
          <a:xfrm>
            <a:off x="4291013" y="2976563"/>
            <a:ext cx="249237" cy="150812"/>
          </a:xfrm>
          <a:prstGeom prst="rect">
            <a:avLst/>
          </a:prstGeom>
          <a:noFill/>
          <a:ln w="31750" algn="ctr">
            <a:solidFill>
              <a:schemeClr val="tx1"/>
            </a:solidFill>
            <a:miter lim="800000"/>
            <a:headEnd/>
            <a:tailEnd/>
          </a:ln>
        </p:spPr>
        <p:txBody>
          <a:bodyPr wrap="none" anchor="ctr"/>
          <a:lstStyle/>
          <a:p>
            <a:endParaRPr lang="en-US"/>
          </a:p>
        </p:txBody>
      </p:sp>
      <p:sp>
        <p:nvSpPr>
          <p:cNvPr id="17425" name="Rectangle 17"/>
          <p:cNvSpPr>
            <a:spLocks noChangeArrowheads="1"/>
          </p:cNvSpPr>
          <p:nvPr/>
        </p:nvSpPr>
        <p:spPr bwMode="auto">
          <a:xfrm>
            <a:off x="4291013" y="3249613"/>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26" name="Rectangle 18"/>
          <p:cNvSpPr>
            <a:spLocks noChangeArrowheads="1"/>
          </p:cNvSpPr>
          <p:nvPr/>
        </p:nvSpPr>
        <p:spPr bwMode="auto">
          <a:xfrm>
            <a:off x="4291013" y="3517900"/>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27" name="Rectangle 19"/>
          <p:cNvSpPr>
            <a:spLocks noChangeArrowheads="1"/>
          </p:cNvSpPr>
          <p:nvPr/>
        </p:nvSpPr>
        <p:spPr bwMode="auto">
          <a:xfrm>
            <a:off x="4291013" y="3787775"/>
            <a:ext cx="249237" cy="150813"/>
          </a:xfrm>
          <a:prstGeom prst="rect">
            <a:avLst/>
          </a:prstGeom>
          <a:noFill/>
          <a:ln w="31750" algn="ctr">
            <a:solidFill>
              <a:schemeClr val="tx1"/>
            </a:solidFill>
            <a:miter lim="800000"/>
            <a:headEnd/>
            <a:tailEnd/>
          </a:ln>
        </p:spPr>
        <p:txBody>
          <a:bodyPr wrap="none" anchor="ctr"/>
          <a:lstStyle/>
          <a:p>
            <a:endParaRPr lang="en-US"/>
          </a:p>
        </p:txBody>
      </p:sp>
      <p:sp>
        <p:nvSpPr>
          <p:cNvPr id="17428" name="Rectangle 20"/>
          <p:cNvSpPr>
            <a:spLocks noChangeArrowheads="1"/>
          </p:cNvSpPr>
          <p:nvPr/>
        </p:nvSpPr>
        <p:spPr bwMode="auto">
          <a:xfrm>
            <a:off x="4291013" y="4056063"/>
            <a:ext cx="249237" cy="152400"/>
          </a:xfrm>
          <a:prstGeom prst="rect">
            <a:avLst/>
          </a:prstGeom>
          <a:noFill/>
          <a:ln w="31750" algn="ctr">
            <a:solidFill>
              <a:schemeClr val="tx1"/>
            </a:solidFill>
            <a:miter lim="800000"/>
            <a:headEnd/>
            <a:tailEnd/>
          </a:ln>
        </p:spPr>
        <p:txBody>
          <a:bodyPr wrap="none" anchor="ctr"/>
          <a:lstStyle/>
          <a:p>
            <a:endParaRPr lang="en-US"/>
          </a:p>
        </p:txBody>
      </p:sp>
      <p:sp>
        <p:nvSpPr>
          <p:cNvPr id="17429" name="Rectangle 21"/>
          <p:cNvSpPr>
            <a:spLocks noChangeArrowheads="1"/>
          </p:cNvSpPr>
          <p:nvPr/>
        </p:nvSpPr>
        <p:spPr bwMode="auto">
          <a:xfrm>
            <a:off x="4291013" y="4329113"/>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30" name="Rectangle 22"/>
          <p:cNvSpPr>
            <a:spLocks noChangeArrowheads="1"/>
          </p:cNvSpPr>
          <p:nvPr/>
        </p:nvSpPr>
        <p:spPr bwMode="auto">
          <a:xfrm>
            <a:off x="4291013" y="4597400"/>
            <a:ext cx="249237" cy="152400"/>
          </a:xfrm>
          <a:prstGeom prst="rect">
            <a:avLst/>
          </a:prstGeom>
          <a:noFill/>
          <a:ln w="31750" algn="ctr">
            <a:solidFill>
              <a:schemeClr val="tx1"/>
            </a:solidFill>
            <a:miter lim="800000"/>
            <a:headEnd/>
            <a:tailEnd/>
          </a:ln>
        </p:spPr>
        <p:txBody>
          <a:bodyPr wrap="none" anchor="ctr"/>
          <a:lstStyle/>
          <a:p>
            <a:endParaRPr lang="en-US"/>
          </a:p>
        </p:txBody>
      </p:sp>
      <p:sp>
        <p:nvSpPr>
          <p:cNvPr id="17431" name="Rectangle 23"/>
          <p:cNvSpPr>
            <a:spLocks noChangeArrowheads="1"/>
          </p:cNvSpPr>
          <p:nvPr/>
        </p:nvSpPr>
        <p:spPr bwMode="auto">
          <a:xfrm>
            <a:off x="4291013" y="4867275"/>
            <a:ext cx="249237" cy="150813"/>
          </a:xfrm>
          <a:prstGeom prst="rect">
            <a:avLst/>
          </a:prstGeom>
          <a:noFill/>
          <a:ln w="31750" algn="ctr">
            <a:solidFill>
              <a:schemeClr val="tx1"/>
            </a:solidFill>
            <a:miter lim="800000"/>
            <a:headEnd/>
            <a:tailEnd/>
          </a:ln>
        </p:spPr>
        <p:txBody>
          <a:bodyPr wrap="none" anchor="ctr"/>
          <a:lstStyle/>
          <a:p>
            <a:endParaRPr lang="en-US"/>
          </a:p>
        </p:txBody>
      </p:sp>
      <p:sp>
        <p:nvSpPr>
          <p:cNvPr id="17432" name="Rectangle 24"/>
          <p:cNvSpPr>
            <a:spLocks noChangeArrowheads="1"/>
          </p:cNvSpPr>
          <p:nvPr/>
        </p:nvSpPr>
        <p:spPr bwMode="auto">
          <a:xfrm>
            <a:off x="4291013" y="5138738"/>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33" name="Rectangle 25"/>
          <p:cNvSpPr>
            <a:spLocks noChangeArrowheads="1"/>
          </p:cNvSpPr>
          <p:nvPr/>
        </p:nvSpPr>
        <p:spPr bwMode="auto">
          <a:xfrm>
            <a:off x="4291013" y="5407025"/>
            <a:ext cx="249237" cy="150813"/>
          </a:xfrm>
          <a:prstGeom prst="rect">
            <a:avLst/>
          </a:prstGeom>
          <a:noFill/>
          <a:ln w="31750" algn="ctr">
            <a:solidFill>
              <a:schemeClr val="tx1"/>
            </a:solidFill>
            <a:miter lim="800000"/>
            <a:headEnd/>
            <a:tailEnd/>
          </a:ln>
        </p:spPr>
        <p:txBody>
          <a:bodyPr wrap="none" anchor="ctr"/>
          <a:lstStyle/>
          <a:p>
            <a:endParaRPr lang="en-US"/>
          </a:p>
        </p:txBody>
      </p:sp>
      <p:sp>
        <p:nvSpPr>
          <p:cNvPr id="17434" name="Rectangle 26"/>
          <p:cNvSpPr>
            <a:spLocks noChangeArrowheads="1"/>
          </p:cNvSpPr>
          <p:nvPr/>
        </p:nvSpPr>
        <p:spPr bwMode="auto">
          <a:xfrm>
            <a:off x="4291013" y="5678488"/>
            <a:ext cx="249237" cy="150812"/>
          </a:xfrm>
          <a:prstGeom prst="rect">
            <a:avLst/>
          </a:prstGeom>
          <a:noFill/>
          <a:ln w="31750" algn="ctr">
            <a:solidFill>
              <a:schemeClr val="tx1"/>
            </a:solidFill>
            <a:miter lim="800000"/>
            <a:headEnd/>
            <a:tailEnd/>
          </a:ln>
        </p:spPr>
        <p:txBody>
          <a:bodyPr wrap="none" anchor="ctr"/>
          <a:lstStyle/>
          <a:p>
            <a:endParaRPr lang="en-US"/>
          </a:p>
        </p:txBody>
      </p:sp>
      <p:sp>
        <p:nvSpPr>
          <p:cNvPr id="17435" name="Rectangle 27"/>
          <p:cNvSpPr>
            <a:spLocks noChangeArrowheads="1"/>
          </p:cNvSpPr>
          <p:nvPr/>
        </p:nvSpPr>
        <p:spPr bwMode="auto">
          <a:xfrm>
            <a:off x="4291013" y="5946775"/>
            <a:ext cx="249237" cy="152400"/>
          </a:xfrm>
          <a:prstGeom prst="rect">
            <a:avLst/>
          </a:prstGeom>
          <a:noFill/>
          <a:ln w="31750" algn="ctr">
            <a:solidFill>
              <a:schemeClr val="tx1"/>
            </a:solidFill>
            <a:miter lim="800000"/>
            <a:headEnd/>
            <a:tailEnd/>
          </a:ln>
        </p:spPr>
        <p:txBody>
          <a:bodyPr wrap="none" anchor="ctr"/>
          <a:lstStyle/>
          <a:p>
            <a:endParaRPr lang="en-US"/>
          </a:p>
        </p:txBody>
      </p:sp>
      <p:sp>
        <p:nvSpPr>
          <p:cNvPr id="17436" name="Text Box 28"/>
          <p:cNvSpPr txBox="1">
            <a:spLocks noChangeArrowheads="1"/>
          </p:cNvSpPr>
          <p:nvPr/>
        </p:nvSpPr>
        <p:spPr bwMode="auto">
          <a:xfrm>
            <a:off x="4503738" y="738188"/>
            <a:ext cx="354012" cy="319087"/>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1</a:t>
            </a:r>
          </a:p>
        </p:txBody>
      </p:sp>
      <p:sp>
        <p:nvSpPr>
          <p:cNvPr id="17437" name="Text Box 29"/>
          <p:cNvSpPr txBox="1">
            <a:spLocks noChangeArrowheads="1"/>
          </p:cNvSpPr>
          <p:nvPr/>
        </p:nvSpPr>
        <p:spPr bwMode="auto">
          <a:xfrm>
            <a:off x="4500563" y="1011238"/>
            <a:ext cx="355600"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2</a:t>
            </a:r>
          </a:p>
        </p:txBody>
      </p:sp>
      <p:sp>
        <p:nvSpPr>
          <p:cNvPr id="17438" name="Text Box 30"/>
          <p:cNvSpPr txBox="1">
            <a:spLocks noChangeArrowheads="1"/>
          </p:cNvSpPr>
          <p:nvPr/>
        </p:nvSpPr>
        <p:spPr bwMode="auto">
          <a:xfrm>
            <a:off x="4500563" y="1271588"/>
            <a:ext cx="355600"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3</a:t>
            </a:r>
          </a:p>
        </p:txBody>
      </p:sp>
      <p:sp>
        <p:nvSpPr>
          <p:cNvPr id="17439" name="Text Box 31"/>
          <p:cNvSpPr txBox="1">
            <a:spLocks noChangeArrowheads="1"/>
          </p:cNvSpPr>
          <p:nvPr/>
        </p:nvSpPr>
        <p:spPr bwMode="auto">
          <a:xfrm>
            <a:off x="4500563" y="1549400"/>
            <a:ext cx="355600"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4</a:t>
            </a:r>
          </a:p>
        </p:txBody>
      </p:sp>
      <p:sp>
        <p:nvSpPr>
          <p:cNvPr id="17440" name="Text Box 32"/>
          <p:cNvSpPr txBox="1">
            <a:spLocks noChangeArrowheads="1"/>
          </p:cNvSpPr>
          <p:nvPr/>
        </p:nvSpPr>
        <p:spPr bwMode="auto">
          <a:xfrm>
            <a:off x="4500563" y="1809750"/>
            <a:ext cx="355600"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5</a:t>
            </a:r>
          </a:p>
        </p:txBody>
      </p:sp>
      <p:sp>
        <p:nvSpPr>
          <p:cNvPr id="17441" name="Text Box 33"/>
          <p:cNvSpPr txBox="1">
            <a:spLocks noChangeArrowheads="1"/>
          </p:cNvSpPr>
          <p:nvPr/>
        </p:nvSpPr>
        <p:spPr bwMode="auto">
          <a:xfrm>
            <a:off x="4500563" y="2084388"/>
            <a:ext cx="355600"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6</a:t>
            </a:r>
          </a:p>
        </p:txBody>
      </p:sp>
      <p:sp>
        <p:nvSpPr>
          <p:cNvPr id="17442" name="Text Box 34"/>
          <p:cNvSpPr txBox="1">
            <a:spLocks noChangeArrowheads="1"/>
          </p:cNvSpPr>
          <p:nvPr/>
        </p:nvSpPr>
        <p:spPr bwMode="auto">
          <a:xfrm>
            <a:off x="4500563" y="2359025"/>
            <a:ext cx="355600" cy="322263"/>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7</a:t>
            </a:r>
          </a:p>
        </p:txBody>
      </p:sp>
      <p:sp>
        <p:nvSpPr>
          <p:cNvPr id="17443" name="Text Box 35"/>
          <p:cNvSpPr txBox="1">
            <a:spLocks noChangeArrowheads="1"/>
          </p:cNvSpPr>
          <p:nvPr/>
        </p:nvSpPr>
        <p:spPr bwMode="auto">
          <a:xfrm>
            <a:off x="4500563" y="2625725"/>
            <a:ext cx="355600"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8</a:t>
            </a:r>
          </a:p>
        </p:txBody>
      </p:sp>
      <p:sp>
        <p:nvSpPr>
          <p:cNvPr id="17444" name="Text Box 36"/>
          <p:cNvSpPr txBox="1">
            <a:spLocks noChangeArrowheads="1"/>
          </p:cNvSpPr>
          <p:nvPr/>
        </p:nvSpPr>
        <p:spPr bwMode="auto">
          <a:xfrm>
            <a:off x="4500563" y="2901950"/>
            <a:ext cx="355600" cy="322263"/>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9</a:t>
            </a:r>
          </a:p>
        </p:txBody>
      </p:sp>
      <p:sp>
        <p:nvSpPr>
          <p:cNvPr id="17445" name="Text Box 37"/>
          <p:cNvSpPr txBox="1">
            <a:spLocks noChangeArrowheads="1"/>
          </p:cNvSpPr>
          <p:nvPr/>
        </p:nvSpPr>
        <p:spPr bwMode="auto">
          <a:xfrm>
            <a:off x="4500563" y="3168650"/>
            <a:ext cx="414337"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10</a:t>
            </a:r>
          </a:p>
        </p:txBody>
      </p:sp>
      <p:sp>
        <p:nvSpPr>
          <p:cNvPr id="17446" name="Text Box 38"/>
          <p:cNvSpPr txBox="1">
            <a:spLocks noChangeArrowheads="1"/>
          </p:cNvSpPr>
          <p:nvPr/>
        </p:nvSpPr>
        <p:spPr bwMode="auto">
          <a:xfrm>
            <a:off x="4500563" y="3438525"/>
            <a:ext cx="414337" cy="319088"/>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11</a:t>
            </a:r>
          </a:p>
        </p:txBody>
      </p:sp>
      <p:sp>
        <p:nvSpPr>
          <p:cNvPr id="17447" name="Text Box 39"/>
          <p:cNvSpPr txBox="1">
            <a:spLocks noChangeArrowheads="1"/>
          </p:cNvSpPr>
          <p:nvPr/>
        </p:nvSpPr>
        <p:spPr bwMode="auto">
          <a:xfrm>
            <a:off x="4500563" y="3708400"/>
            <a:ext cx="414337"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12</a:t>
            </a:r>
          </a:p>
        </p:txBody>
      </p:sp>
      <p:sp>
        <p:nvSpPr>
          <p:cNvPr id="17448" name="Text Box 40"/>
          <p:cNvSpPr txBox="1">
            <a:spLocks noChangeArrowheads="1"/>
          </p:cNvSpPr>
          <p:nvPr/>
        </p:nvSpPr>
        <p:spPr bwMode="auto">
          <a:xfrm>
            <a:off x="4500563" y="3973513"/>
            <a:ext cx="414337" cy="319087"/>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13</a:t>
            </a:r>
          </a:p>
        </p:txBody>
      </p:sp>
      <p:sp>
        <p:nvSpPr>
          <p:cNvPr id="17449" name="Text Box 41"/>
          <p:cNvSpPr txBox="1">
            <a:spLocks noChangeArrowheads="1"/>
          </p:cNvSpPr>
          <p:nvPr/>
        </p:nvSpPr>
        <p:spPr bwMode="auto">
          <a:xfrm>
            <a:off x="4500563" y="4249738"/>
            <a:ext cx="414337"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14</a:t>
            </a:r>
          </a:p>
        </p:txBody>
      </p:sp>
      <p:sp>
        <p:nvSpPr>
          <p:cNvPr id="17450" name="Text Box 42"/>
          <p:cNvSpPr txBox="1">
            <a:spLocks noChangeArrowheads="1"/>
          </p:cNvSpPr>
          <p:nvPr/>
        </p:nvSpPr>
        <p:spPr bwMode="auto">
          <a:xfrm>
            <a:off x="4500563" y="4518025"/>
            <a:ext cx="414337"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15</a:t>
            </a:r>
          </a:p>
        </p:txBody>
      </p:sp>
      <p:sp>
        <p:nvSpPr>
          <p:cNvPr id="17451" name="Text Box 43"/>
          <p:cNvSpPr txBox="1">
            <a:spLocks noChangeArrowheads="1"/>
          </p:cNvSpPr>
          <p:nvPr/>
        </p:nvSpPr>
        <p:spPr bwMode="auto">
          <a:xfrm>
            <a:off x="4500563" y="4789488"/>
            <a:ext cx="414337"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16</a:t>
            </a:r>
          </a:p>
        </p:txBody>
      </p:sp>
      <p:sp>
        <p:nvSpPr>
          <p:cNvPr id="17452" name="Text Box 44"/>
          <p:cNvSpPr txBox="1">
            <a:spLocks noChangeArrowheads="1"/>
          </p:cNvSpPr>
          <p:nvPr/>
        </p:nvSpPr>
        <p:spPr bwMode="auto">
          <a:xfrm>
            <a:off x="4500563" y="5059363"/>
            <a:ext cx="415925" cy="322262"/>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17</a:t>
            </a:r>
          </a:p>
        </p:txBody>
      </p:sp>
      <p:sp>
        <p:nvSpPr>
          <p:cNvPr id="17453" name="Text Box 45"/>
          <p:cNvSpPr txBox="1">
            <a:spLocks noChangeArrowheads="1"/>
          </p:cNvSpPr>
          <p:nvPr/>
        </p:nvSpPr>
        <p:spPr bwMode="auto">
          <a:xfrm>
            <a:off x="4500563" y="5329238"/>
            <a:ext cx="415925"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18</a:t>
            </a:r>
          </a:p>
        </p:txBody>
      </p:sp>
      <p:sp>
        <p:nvSpPr>
          <p:cNvPr id="17454" name="Text Box 46"/>
          <p:cNvSpPr txBox="1">
            <a:spLocks noChangeArrowheads="1"/>
          </p:cNvSpPr>
          <p:nvPr/>
        </p:nvSpPr>
        <p:spPr bwMode="auto">
          <a:xfrm>
            <a:off x="4500563" y="5600700"/>
            <a:ext cx="415925"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19</a:t>
            </a:r>
          </a:p>
        </p:txBody>
      </p:sp>
      <p:sp>
        <p:nvSpPr>
          <p:cNvPr id="17455" name="Text Box 47"/>
          <p:cNvSpPr txBox="1">
            <a:spLocks noChangeArrowheads="1"/>
          </p:cNvSpPr>
          <p:nvPr/>
        </p:nvSpPr>
        <p:spPr bwMode="auto">
          <a:xfrm>
            <a:off x="4500563" y="5864225"/>
            <a:ext cx="414337"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20</a:t>
            </a:r>
          </a:p>
        </p:txBody>
      </p:sp>
      <p:sp>
        <p:nvSpPr>
          <p:cNvPr id="17456" name="Rectangle 48"/>
          <p:cNvSpPr>
            <a:spLocks noChangeArrowheads="1"/>
          </p:cNvSpPr>
          <p:nvPr/>
        </p:nvSpPr>
        <p:spPr bwMode="auto">
          <a:xfrm>
            <a:off x="7212013" y="825500"/>
            <a:ext cx="249237" cy="152400"/>
          </a:xfrm>
          <a:prstGeom prst="rect">
            <a:avLst/>
          </a:prstGeom>
          <a:noFill/>
          <a:ln w="31750" algn="ctr">
            <a:solidFill>
              <a:schemeClr val="tx1"/>
            </a:solidFill>
            <a:miter lim="800000"/>
            <a:headEnd/>
            <a:tailEnd/>
          </a:ln>
        </p:spPr>
        <p:txBody>
          <a:bodyPr wrap="none" anchor="ctr"/>
          <a:lstStyle/>
          <a:p>
            <a:endParaRPr lang="en-US"/>
          </a:p>
        </p:txBody>
      </p:sp>
      <p:sp>
        <p:nvSpPr>
          <p:cNvPr id="17457" name="Rectangle 49"/>
          <p:cNvSpPr>
            <a:spLocks noChangeArrowheads="1"/>
          </p:cNvSpPr>
          <p:nvPr/>
        </p:nvSpPr>
        <p:spPr bwMode="auto">
          <a:xfrm>
            <a:off x="7212013" y="1095375"/>
            <a:ext cx="249237" cy="150813"/>
          </a:xfrm>
          <a:prstGeom prst="rect">
            <a:avLst/>
          </a:prstGeom>
          <a:noFill/>
          <a:ln w="31750" algn="ctr">
            <a:solidFill>
              <a:schemeClr val="tx1"/>
            </a:solidFill>
            <a:miter lim="800000"/>
            <a:headEnd/>
            <a:tailEnd/>
          </a:ln>
        </p:spPr>
        <p:txBody>
          <a:bodyPr wrap="none" anchor="ctr"/>
          <a:lstStyle/>
          <a:p>
            <a:endParaRPr lang="en-US"/>
          </a:p>
        </p:txBody>
      </p:sp>
      <p:sp>
        <p:nvSpPr>
          <p:cNvPr id="17458" name="Rectangle 50"/>
          <p:cNvSpPr>
            <a:spLocks noChangeArrowheads="1"/>
          </p:cNvSpPr>
          <p:nvPr/>
        </p:nvSpPr>
        <p:spPr bwMode="auto">
          <a:xfrm>
            <a:off x="7212013" y="1365250"/>
            <a:ext cx="249237" cy="150813"/>
          </a:xfrm>
          <a:prstGeom prst="rect">
            <a:avLst/>
          </a:prstGeom>
          <a:noFill/>
          <a:ln w="31750" algn="ctr">
            <a:solidFill>
              <a:schemeClr val="tx1"/>
            </a:solidFill>
            <a:miter lim="800000"/>
            <a:headEnd/>
            <a:tailEnd/>
          </a:ln>
        </p:spPr>
        <p:txBody>
          <a:bodyPr wrap="none" anchor="ctr"/>
          <a:lstStyle/>
          <a:p>
            <a:endParaRPr lang="en-US"/>
          </a:p>
        </p:txBody>
      </p:sp>
      <p:sp>
        <p:nvSpPr>
          <p:cNvPr id="17459" name="Rectangle 51"/>
          <p:cNvSpPr>
            <a:spLocks noChangeArrowheads="1"/>
          </p:cNvSpPr>
          <p:nvPr/>
        </p:nvSpPr>
        <p:spPr bwMode="auto">
          <a:xfrm>
            <a:off x="7212013" y="1635125"/>
            <a:ext cx="249237" cy="150813"/>
          </a:xfrm>
          <a:prstGeom prst="rect">
            <a:avLst/>
          </a:prstGeom>
          <a:noFill/>
          <a:ln w="31750" algn="ctr">
            <a:solidFill>
              <a:schemeClr val="tx1"/>
            </a:solidFill>
            <a:miter lim="800000"/>
            <a:headEnd/>
            <a:tailEnd/>
          </a:ln>
        </p:spPr>
        <p:txBody>
          <a:bodyPr wrap="none" anchor="ctr"/>
          <a:lstStyle/>
          <a:p>
            <a:endParaRPr lang="en-US"/>
          </a:p>
        </p:txBody>
      </p:sp>
      <p:sp>
        <p:nvSpPr>
          <p:cNvPr id="17460" name="Rectangle 52"/>
          <p:cNvSpPr>
            <a:spLocks noChangeArrowheads="1"/>
          </p:cNvSpPr>
          <p:nvPr/>
        </p:nvSpPr>
        <p:spPr bwMode="auto">
          <a:xfrm>
            <a:off x="7212013" y="1906588"/>
            <a:ext cx="249237" cy="150812"/>
          </a:xfrm>
          <a:prstGeom prst="rect">
            <a:avLst/>
          </a:prstGeom>
          <a:noFill/>
          <a:ln w="31750" algn="ctr">
            <a:solidFill>
              <a:schemeClr val="tx1"/>
            </a:solidFill>
            <a:miter lim="800000"/>
            <a:headEnd/>
            <a:tailEnd/>
          </a:ln>
        </p:spPr>
        <p:txBody>
          <a:bodyPr wrap="none" anchor="ctr"/>
          <a:lstStyle/>
          <a:p>
            <a:endParaRPr lang="en-US"/>
          </a:p>
        </p:txBody>
      </p:sp>
      <p:sp>
        <p:nvSpPr>
          <p:cNvPr id="17461" name="Rectangle 53"/>
          <p:cNvSpPr>
            <a:spLocks noChangeArrowheads="1"/>
          </p:cNvSpPr>
          <p:nvPr/>
        </p:nvSpPr>
        <p:spPr bwMode="auto">
          <a:xfrm>
            <a:off x="7212013" y="2174875"/>
            <a:ext cx="249237" cy="152400"/>
          </a:xfrm>
          <a:prstGeom prst="rect">
            <a:avLst/>
          </a:prstGeom>
          <a:noFill/>
          <a:ln w="31750" algn="ctr">
            <a:solidFill>
              <a:schemeClr val="tx1"/>
            </a:solidFill>
            <a:miter lim="800000"/>
            <a:headEnd/>
            <a:tailEnd/>
          </a:ln>
        </p:spPr>
        <p:txBody>
          <a:bodyPr wrap="none" anchor="ctr"/>
          <a:lstStyle/>
          <a:p>
            <a:endParaRPr lang="en-US"/>
          </a:p>
        </p:txBody>
      </p:sp>
      <p:sp>
        <p:nvSpPr>
          <p:cNvPr id="17462" name="Rectangle 54"/>
          <p:cNvSpPr>
            <a:spLocks noChangeArrowheads="1"/>
          </p:cNvSpPr>
          <p:nvPr/>
        </p:nvSpPr>
        <p:spPr bwMode="auto">
          <a:xfrm>
            <a:off x="7212013" y="2446338"/>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63" name="Rectangle 55"/>
          <p:cNvSpPr>
            <a:spLocks noChangeArrowheads="1"/>
          </p:cNvSpPr>
          <p:nvPr/>
        </p:nvSpPr>
        <p:spPr bwMode="auto">
          <a:xfrm>
            <a:off x="7212013" y="2716213"/>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64" name="Rectangle 56"/>
          <p:cNvSpPr>
            <a:spLocks noChangeArrowheads="1"/>
          </p:cNvSpPr>
          <p:nvPr/>
        </p:nvSpPr>
        <p:spPr bwMode="auto">
          <a:xfrm>
            <a:off x="7212013" y="2984500"/>
            <a:ext cx="249237" cy="152400"/>
          </a:xfrm>
          <a:prstGeom prst="rect">
            <a:avLst/>
          </a:prstGeom>
          <a:noFill/>
          <a:ln w="31750" algn="ctr">
            <a:solidFill>
              <a:schemeClr val="tx1"/>
            </a:solidFill>
            <a:miter lim="800000"/>
            <a:headEnd/>
            <a:tailEnd/>
          </a:ln>
        </p:spPr>
        <p:txBody>
          <a:bodyPr wrap="none" anchor="ctr"/>
          <a:lstStyle/>
          <a:p>
            <a:endParaRPr lang="en-US"/>
          </a:p>
        </p:txBody>
      </p:sp>
      <p:sp>
        <p:nvSpPr>
          <p:cNvPr id="17465" name="Rectangle 57"/>
          <p:cNvSpPr>
            <a:spLocks noChangeArrowheads="1"/>
          </p:cNvSpPr>
          <p:nvPr/>
        </p:nvSpPr>
        <p:spPr bwMode="auto">
          <a:xfrm>
            <a:off x="7212013" y="3257550"/>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66" name="Rectangle 58"/>
          <p:cNvSpPr>
            <a:spLocks noChangeArrowheads="1"/>
          </p:cNvSpPr>
          <p:nvPr/>
        </p:nvSpPr>
        <p:spPr bwMode="auto">
          <a:xfrm>
            <a:off x="7212013" y="3525838"/>
            <a:ext cx="249237" cy="152400"/>
          </a:xfrm>
          <a:prstGeom prst="rect">
            <a:avLst/>
          </a:prstGeom>
          <a:noFill/>
          <a:ln w="31750" algn="ctr">
            <a:solidFill>
              <a:schemeClr val="tx1"/>
            </a:solidFill>
            <a:miter lim="800000"/>
            <a:headEnd/>
            <a:tailEnd/>
          </a:ln>
        </p:spPr>
        <p:txBody>
          <a:bodyPr wrap="none" anchor="ctr"/>
          <a:lstStyle/>
          <a:p>
            <a:endParaRPr lang="en-US"/>
          </a:p>
        </p:txBody>
      </p:sp>
      <p:sp>
        <p:nvSpPr>
          <p:cNvPr id="17467" name="Rectangle 59"/>
          <p:cNvSpPr>
            <a:spLocks noChangeArrowheads="1"/>
          </p:cNvSpPr>
          <p:nvPr/>
        </p:nvSpPr>
        <p:spPr bwMode="auto">
          <a:xfrm>
            <a:off x="7212013" y="3795713"/>
            <a:ext cx="249237" cy="150812"/>
          </a:xfrm>
          <a:prstGeom prst="rect">
            <a:avLst/>
          </a:prstGeom>
          <a:noFill/>
          <a:ln w="31750" algn="ctr">
            <a:solidFill>
              <a:schemeClr val="tx1"/>
            </a:solidFill>
            <a:miter lim="800000"/>
            <a:headEnd/>
            <a:tailEnd/>
          </a:ln>
        </p:spPr>
        <p:txBody>
          <a:bodyPr wrap="none" anchor="ctr"/>
          <a:lstStyle/>
          <a:p>
            <a:endParaRPr lang="en-US"/>
          </a:p>
        </p:txBody>
      </p:sp>
      <p:sp>
        <p:nvSpPr>
          <p:cNvPr id="17468" name="Rectangle 60"/>
          <p:cNvSpPr>
            <a:spLocks noChangeArrowheads="1"/>
          </p:cNvSpPr>
          <p:nvPr/>
        </p:nvSpPr>
        <p:spPr bwMode="auto">
          <a:xfrm>
            <a:off x="7212013" y="4065588"/>
            <a:ext cx="249237" cy="150812"/>
          </a:xfrm>
          <a:prstGeom prst="rect">
            <a:avLst/>
          </a:prstGeom>
          <a:noFill/>
          <a:ln w="31750" algn="ctr">
            <a:solidFill>
              <a:schemeClr val="tx1"/>
            </a:solidFill>
            <a:miter lim="800000"/>
            <a:headEnd/>
            <a:tailEnd/>
          </a:ln>
        </p:spPr>
        <p:txBody>
          <a:bodyPr wrap="none" anchor="ctr"/>
          <a:lstStyle/>
          <a:p>
            <a:endParaRPr lang="en-US"/>
          </a:p>
        </p:txBody>
      </p:sp>
      <p:sp>
        <p:nvSpPr>
          <p:cNvPr id="17469" name="Rectangle 61"/>
          <p:cNvSpPr>
            <a:spLocks noChangeArrowheads="1"/>
          </p:cNvSpPr>
          <p:nvPr/>
        </p:nvSpPr>
        <p:spPr bwMode="auto">
          <a:xfrm>
            <a:off x="7212013" y="4337050"/>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70" name="Rectangle 62"/>
          <p:cNvSpPr>
            <a:spLocks noChangeArrowheads="1"/>
          </p:cNvSpPr>
          <p:nvPr/>
        </p:nvSpPr>
        <p:spPr bwMode="auto">
          <a:xfrm>
            <a:off x="7212013" y="4606925"/>
            <a:ext cx="249237" cy="150813"/>
          </a:xfrm>
          <a:prstGeom prst="rect">
            <a:avLst/>
          </a:prstGeom>
          <a:noFill/>
          <a:ln w="31750" algn="ctr">
            <a:solidFill>
              <a:schemeClr val="tx1"/>
            </a:solidFill>
            <a:miter lim="800000"/>
            <a:headEnd/>
            <a:tailEnd/>
          </a:ln>
        </p:spPr>
        <p:txBody>
          <a:bodyPr wrap="none" anchor="ctr"/>
          <a:lstStyle/>
          <a:p>
            <a:endParaRPr lang="en-US"/>
          </a:p>
        </p:txBody>
      </p:sp>
      <p:sp>
        <p:nvSpPr>
          <p:cNvPr id="17471" name="Rectangle 63"/>
          <p:cNvSpPr>
            <a:spLocks noChangeArrowheads="1"/>
          </p:cNvSpPr>
          <p:nvPr/>
        </p:nvSpPr>
        <p:spPr bwMode="auto">
          <a:xfrm>
            <a:off x="7212013" y="4875213"/>
            <a:ext cx="249237" cy="152400"/>
          </a:xfrm>
          <a:prstGeom prst="rect">
            <a:avLst/>
          </a:prstGeom>
          <a:noFill/>
          <a:ln w="31750" algn="ctr">
            <a:solidFill>
              <a:schemeClr val="tx1"/>
            </a:solidFill>
            <a:miter lim="800000"/>
            <a:headEnd/>
            <a:tailEnd/>
          </a:ln>
        </p:spPr>
        <p:txBody>
          <a:bodyPr wrap="none" anchor="ctr"/>
          <a:lstStyle/>
          <a:p>
            <a:endParaRPr lang="en-US"/>
          </a:p>
        </p:txBody>
      </p:sp>
      <p:sp>
        <p:nvSpPr>
          <p:cNvPr id="17472" name="Rectangle 64"/>
          <p:cNvSpPr>
            <a:spLocks noChangeArrowheads="1"/>
          </p:cNvSpPr>
          <p:nvPr/>
        </p:nvSpPr>
        <p:spPr bwMode="auto">
          <a:xfrm>
            <a:off x="7212013" y="5146675"/>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73" name="Rectangle 65"/>
          <p:cNvSpPr>
            <a:spLocks noChangeArrowheads="1"/>
          </p:cNvSpPr>
          <p:nvPr/>
        </p:nvSpPr>
        <p:spPr bwMode="auto">
          <a:xfrm>
            <a:off x="7212013" y="5416550"/>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74" name="Rectangle 66"/>
          <p:cNvSpPr>
            <a:spLocks noChangeArrowheads="1"/>
          </p:cNvSpPr>
          <p:nvPr/>
        </p:nvSpPr>
        <p:spPr bwMode="auto">
          <a:xfrm>
            <a:off x="7212013" y="5686425"/>
            <a:ext cx="249237" cy="150813"/>
          </a:xfrm>
          <a:prstGeom prst="rect">
            <a:avLst/>
          </a:prstGeom>
          <a:noFill/>
          <a:ln w="31750" algn="ctr">
            <a:solidFill>
              <a:schemeClr val="tx1"/>
            </a:solidFill>
            <a:miter lim="800000"/>
            <a:headEnd/>
            <a:tailEnd/>
          </a:ln>
        </p:spPr>
        <p:txBody>
          <a:bodyPr wrap="none" anchor="ctr"/>
          <a:lstStyle/>
          <a:p>
            <a:endParaRPr lang="en-US"/>
          </a:p>
        </p:txBody>
      </p:sp>
      <p:sp>
        <p:nvSpPr>
          <p:cNvPr id="17475" name="Rectangle 67"/>
          <p:cNvSpPr>
            <a:spLocks noChangeArrowheads="1"/>
          </p:cNvSpPr>
          <p:nvPr/>
        </p:nvSpPr>
        <p:spPr bwMode="auto">
          <a:xfrm>
            <a:off x="7212013" y="5957888"/>
            <a:ext cx="249237" cy="149225"/>
          </a:xfrm>
          <a:prstGeom prst="rect">
            <a:avLst/>
          </a:prstGeom>
          <a:noFill/>
          <a:ln w="31750" algn="ctr">
            <a:solidFill>
              <a:schemeClr val="tx1"/>
            </a:solidFill>
            <a:miter lim="800000"/>
            <a:headEnd/>
            <a:tailEnd/>
          </a:ln>
        </p:spPr>
        <p:txBody>
          <a:bodyPr wrap="none" anchor="ctr"/>
          <a:lstStyle/>
          <a:p>
            <a:endParaRPr lang="en-US"/>
          </a:p>
        </p:txBody>
      </p:sp>
      <p:sp>
        <p:nvSpPr>
          <p:cNvPr id="17476" name="Text Box 68"/>
          <p:cNvSpPr txBox="1">
            <a:spLocks noChangeArrowheads="1"/>
          </p:cNvSpPr>
          <p:nvPr/>
        </p:nvSpPr>
        <p:spPr bwMode="auto">
          <a:xfrm>
            <a:off x="6777038" y="738188"/>
            <a:ext cx="414337" cy="319087"/>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40</a:t>
            </a:r>
          </a:p>
        </p:txBody>
      </p:sp>
      <p:sp>
        <p:nvSpPr>
          <p:cNvPr id="17477" name="Text Box 69"/>
          <p:cNvSpPr txBox="1">
            <a:spLocks noChangeArrowheads="1"/>
          </p:cNvSpPr>
          <p:nvPr/>
        </p:nvSpPr>
        <p:spPr bwMode="auto">
          <a:xfrm>
            <a:off x="6775450" y="1011238"/>
            <a:ext cx="415925"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39</a:t>
            </a:r>
          </a:p>
        </p:txBody>
      </p:sp>
      <p:sp>
        <p:nvSpPr>
          <p:cNvPr id="17478" name="Text Box 70"/>
          <p:cNvSpPr txBox="1">
            <a:spLocks noChangeArrowheads="1"/>
          </p:cNvSpPr>
          <p:nvPr/>
        </p:nvSpPr>
        <p:spPr bwMode="auto">
          <a:xfrm>
            <a:off x="6775450" y="1271588"/>
            <a:ext cx="415925"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38</a:t>
            </a:r>
          </a:p>
        </p:txBody>
      </p:sp>
      <p:sp>
        <p:nvSpPr>
          <p:cNvPr id="17479" name="Text Box 71"/>
          <p:cNvSpPr txBox="1">
            <a:spLocks noChangeArrowheads="1"/>
          </p:cNvSpPr>
          <p:nvPr/>
        </p:nvSpPr>
        <p:spPr bwMode="auto">
          <a:xfrm>
            <a:off x="6775450" y="1549400"/>
            <a:ext cx="415925"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37</a:t>
            </a:r>
          </a:p>
        </p:txBody>
      </p:sp>
      <p:sp>
        <p:nvSpPr>
          <p:cNvPr id="17480" name="Text Box 72"/>
          <p:cNvSpPr txBox="1">
            <a:spLocks noChangeArrowheads="1"/>
          </p:cNvSpPr>
          <p:nvPr/>
        </p:nvSpPr>
        <p:spPr bwMode="auto">
          <a:xfrm>
            <a:off x="6775450" y="1809750"/>
            <a:ext cx="415925"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36</a:t>
            </a:r>
          </a:p>
        </p:txBody>
      </p:sp>
      <p:sp>
        <p:nvSpPr>
          <p:cNvPr id="17481" name="Text Box 73"/>
          <p:cNvSpPr txBox="1">
            <a:spLocks noChangeArrowheads="1"/>
          </p:cNvSpPr>
          <p:nvPr/>
        </p:nvSpPr>
        <p:spPr bwMode="auto">
          <a:xfrm>
            <a:off x="6775450" y="2084388"/>
            <a:ext cx="415925"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35</a:t>
            </a:r>
          </a:p>
        </p:txBody>
      </p:sp>
      <p:sp>
        <p:nvSpPr>
          <p:cNvPr id="17482" name="Text Box 74"/>
          <p:cNvSpPr txBox="1">
            <a:spLocks noChangeArrowheads="1"/>
          </p:cNvSpPr>
          <p:nvPr/>
        </p:nvSpPr>
        <p:spPr bwMode="auto">
          <a:xfrm>
            <a:off x="6775450" y="2359025"/>
            <a:ext cx="415925" cy="322263"/>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34</a:t>
            </a:r>
          </a:p>
        </p:txBody>
      </p:sp>
      <p:sp>
        <p:nvSpPr>
          <p:cNvPr id="17483" name="Text Box 75"/>
          <p:cNvSpPr txBox="1">
            <a:spLocks noChangeArrowheads="1"/>
          </p:cNvSpPr>
          <p:nvPr/>
        </p:nvSpPr>
        <p:spPr bwMode="auto">
          <a:xfrm>
            <a:off x="6775450" y="2625725"/>
            <a:ext cx="415925"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33</a:t>
            </a:r>
          </a:p>
        </p:txBody>
      </p:sp>
      <p:sp>
        <p:nvSpPr>
          <p:cNvPr id="17484" name="Text Box 76"/>
          <p:cNvSpPr txBox="1">
            <a:spLocks noChangeArrowheads="1"/>
          </p:cNvSpPr>
          <p:nvPr/>
        </p:nvSpPr>
        <p:spPr bwMode="auto">
          <a:xfrm>
            <a:off x="6775450" y="2901950"/>
            <a:ext cx="415925" cy="322263"/>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32</a:t>
            </a:r>
          </a:p>
        </p:txBody>
      </p:sp>
      <p:sp>
        <p:nvSpPr>
          <p:cNvPr id="17485" name="Text Box 77"/>
          <p:cNvSpPr txBox="1">
            <a:spLocks noChangeArrowheads="1"/>
          </p:cNvSpPr>
          <p:nvPr/>
        </p:nvSpPr>
        <p:spPr bwMode="auto">
          <a:xfrm>
            <a:off x="6775450" y="3168650"/>
            <a:ext cx="439738"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31</a:t>
            </a:r>
          </a:p>
        </p:txBody>
      </p:sp>
      <p:sp>
        <p:nvSpPr>
          <p:cNvPr id="17486" name="Text Box 78"/>
          <p:cNvSpPr txBox="1">
            <a:spLocks noChangeArrowheads="1"/>
          </p:cNvSpPr>
          <p:nvPr/>
        </p:nvSpPr>
        <p:spPr bwMode="auto">
          <a:xfrm>
            <a:off x="6775450" y="3438525"/>
            <a:ext cx="414338" cy="319088"/>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30</a:t>
            </a:r>
          </a:p>
        </p:txBody>
      </p:sp>
      <p:sp>
        <p:nvSpPr>
          <p:cNvPr id="17487" name="Text Box 79"/>
          <p:cNvSpPr txBox="1">
            <a:spLocks noChangeArrowheads="1"/>
          </p:cNvSpPr>
          <p:nvPr/>
        </p:nvSpPr>
        <p:spPr bwMode="auto">
          <a:xfrm>
            <a:off x="6775450" y="3708400"/>
            <a:ext cx="414338"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29</a:t>
            </a:r>
          </a:p>
        </p:txBody>
      </p:sp>
      <p:sp>
        <p:nvSpPr>
          <p:cNvPr id="17488" name="Text Box 80"/>
          <p:cNvSpPr txBox="1">
            <a:spLocks noChangeArrowheads="1"/>
          </p:cNvSpPr>
          <p:nvPr/>
        </p:nvSpPr>
        <p:spPr bwMode="auto">
          <a:xfrm>
            <a:off x="6775450" y="3973513"/>
            <a:ext cx="414338" cy="319087"/>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28</a:t>
            </a:r>
          </a:p>
        </p:txBody>
      </p:sp>
      <p:sp>
        <p:nvSpPr>
          <p:cNvPr id="17489" name="Text Box 81"/>
          <p:cNvSpPr txBox="1">
            <a:spLocks noChangeArrowheads="1"/>
          </p:cNvSpPr>
          <p:nvPr/>
        </p:nvSpPr>
        <p:spPr bwMode="auto">
          <a:xfrm>
            <a:off x="6775450" y="4249738"/>
            <a:ext cx="414338"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27</a:t>
            </a:r>
          </a:p>
        </p:txBody>
      </p:sp>
      <p:sp>
        <p:nvSpPr>
          <p:cNvPr id="17490" name="Text Box 82"/>
          <p:cNvSpPr txBox="1">
            <a:spLocks noChangeArrowheads="1"/>
          </p:cNvSpPr>
          <p:nvPr/>
        </p:nvSpPr>
        <p:spPr bwMode="auto">
          <a:xfrm>
            <a:off x="6775450" y="4518025"/>
            <a:ext cx="414338"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26</a:t>
            </a:r>
          </a:p>
        </p:txBody>
      </p:sp>
      <p:sp>
        <p:nvSpPr>
          <p:cNvPr id="17491" name="Text Box 83"/>
          <p:cNvSpPr txBox="1">
            <a:spLocks noChangeArrowheads="1"/>
          </p:cNvSpPr>
          <p:nvPr/>
        </p:nvSpPr>
        <p:spPr bwMode="auto">
          <a:xfrm>
            <a:off x="6775450" y="4789488"/>
            <a:ext cx="414338"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25</a:t>
            </a:r>
          </a:p>
        </p:txBody>
      </p:sp>
      <p:sp>
        <p:nvSpPr>
          <p:cNvPr id="17492" name="Text Box 84"/>
          <p:cNvSpPr txBox="1">
            <a:spLocks noChangeArrowheads="1"/>
          </p:cNvSpPr>
          <p:nvPr/>
        </p:nvSpPr>
        <p:spPr bwMode="auto">
          <a:xfrm>
            <a:off x="6775450" y="5059363"/>
            <a:ext cx="415925" cy="322262"/>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24</a:t>
            </a:r>
          </a:p>
        </p:txBody>
      </p:sp>
      <p:sp>
        <p:nvSpPr>
          <p:cNvPr id="17493" name="Text Box 85"/>
          <p:cNvSpPr txBox="1">
            <a:spLocks noChangeArrowheads="1"/>
          </p:cNvSpPr>
          <p:nvPr/>
        </p:nvSpPr>
        <p:spPr bwMode="auto">
          <a:xfrm>
            <a:off x="6775450" y="5329238"/>
            <a:ext cx="415925"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23</a:t>
            </a:r>
          </a:p>
        </p:txBody>
      </p:sp>
      <p:sp>
        <p:nvSpPr>
          <p:cNvPr id="17494" name="Text Box 86"/>
          <p:cNvSpPr txBox="1">
            <a:spLocks noChangeArrowheads="1"/>
          </p:cNvSpPr>
          <p:nvPr/>
        </p:nvSpPr>
        <p:spPr bwMode="auto">
          <a:xfrm>
            <a:off x="6775450" y="5600700"/>
            <a:ext cx="415925"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22</a:t>
            </a:r>
          </a:p>
        </p:txBody>
      </p:sp>
      <p:sp>
        <p:nvSpPr>
          <p:cNvPr id="17495" name="Text Box 87"/>
          <p:cNvSpPr txBox="1">
            <a:spLocks noChangeArrowheads="1"/>
          </p:cNvSpPr>
          <p:nvPr/>
        </p:nvSpPr>
        <p:spPr bwMode="auto">
          <a:xfrm>
            <a:off x="6775450" y="5864225"/>
            <a:ext cx="415925" cy="320675"/>
          </a:xfrm>
          <a:prstGeom prst="rect">
            <a:avLst/>
          </a:prstGeom>
          <a:noFill/>
          <a:ln w="31750" algn="ctr">
            <a:noFill/>
            <a:miter lim="800000"/>
            <a:headEnd/>
            <a:tailEnd/>
          </a:ln>
        </p:spPr>
        <p:txBody>
          <a:bodyPr>
            <a:spAutoFit/>
          </a:bodyPr>
          <a:lstStyle/>
          <a:p>
            <a:pPr algn="ctr">
              <a:spcBef>
                <a:spcPct val="50000"/>
              </a:spcBef>
            </a:pPr>
            <a:r>
              <a:rPr kumimoji="1" lang="en-US" altLang="zh-TW" sz="1500" b="1">
                <a:latin typeface="Arial" charset="0"/>
                <a:cs typeface="Arial" charset="0"/>
              </a:rPr>
              <a:t>21</a:t>
            </a:r>
          </a:p>
        </p:txBody>
      </p:sp>
      <p:sp>
        <p:nvSpPr>
          <p:cNvPr id="17496" name="Text Box 88"/>
          <p:cNvSpPr txBox="1">
            <a:spLocks noChangeArrowheads="1"/>
          </p:cNvSpPr>
          <p:nvPr/>
        </p:nvSpPr>
        <p:spPr bwMode="auto">
          <a:xfrm>
            <a:off x="3605213" y="738188"/>
            <a:ext cx="654050" cy="319087"/>
          </a:xfrm>
          <a:prstGeom prst="rect">
            <a:avLst/>
          </a:prstGeom>
          <a:noFill/>
          <a:ln w="31750" algn="ctr">
            <a:noFill/>
            <a:miter lim="800000"/>
            <a:headEnd/>
            <a:tailEnd/>
          </a:ln>
        </p:spPr>
        <p:txBody>
          <a:bodyPr>
            <a:spAutoFit/>
          </a:bodyPr>
          <a:lstStyle/>
          <a:p>
            <a:pPr algn="r">
              <a:spcBef>
                <a:spcPct val="50000"/>
              </a:spcBef>
            </a:pPr>
            <a:r>
              <a:rPr kumimoji="1" lang="en-US" altLang="zh-TW" sz="1500" b="1">
                <a:solidFill>
                  <a:srgbClr val="800000"/>
                </a:solidFill>
                <a:latin typeface="Arial" charset="0"/>
                <a:cs typeface="Arial" charset="0"/>
              </a:rPr>
              <a:t>P1.0</a:t>
            </a:r>
          </a:p>
        </p:txBody>
      </p:sp>
      <p:sp>
        <p:nvSpPr>
          <p:cNvPr id="17497" name="Text Box 89"/>
          <p:cNvSpPr txBox="1">
            <a:spLocks noChangeArrowheads="1"/>
          </p:cNvSpPr>
          <p:nvPr/>
        </p:nvSpPr>
        <p:spPr bwMode="auto">
          <a:xfrm>
            <a:off x="3136900" y="1008063"/>
            <a:ext cx="1120775" cy="320675"/>
          </a:xfrm>
          <a:prstGeom prst="rect">
            <a:avLst/>
          </a:prstGeom>
          <a:noFill/>
          <a:ln w="31750" algn="ctr">
            <a:noFill/>
            <a:miter lim="800000"/>
            <a:headEnd/>
            <a:tailEnd/>
          </a:ln>
        </p:spPr>
        <p:txBody>
          <a:bodyPr>
            <a:spAutoFit/>
          </a:bodyPr>
          <a:lstStyle/>
          <a:p>
            <a:pPr algn="r">
              <a:spcBef>
                <a:spcPct val="50000"/>
              </a:spcBef>
            </a:pPr>
            <a:r>
              <a:rPr kumimoji="1" lang="en-US" altLang="zh-TW" sz="1500" b="1">
                <a:solidFill>
                  <a:srgbClr val="800000"/>
                </a:solidFill>
                <a:latin typeface="Arial" charset="0"/>
                <a:cs typeface="Arial" charset="0"/>
              </a:rPr>
              <a:t>P1.1</a:t>
            </a:r>
          </a:p>
        </p:txBody>
      </p:sp>
      <p:sp>
        <p:nvSpPr>
          <p:cNvPr id="17498" name="Text Box 90"/>
          <p:cNvSpPr txBox="1">
            <a:spLocks noChangeArrowheads="1"/>
          </p:cNvSpPr>
          <p:nvPr/>
        </p:nvSpPr>
        <p:spPr bwMode="auto">
          <a:xfrm>
            <a:off x="3349625" y="1271588"/>
            <a:ext cx="908050" cy="320675"/>
          </a:xfrm>
          <a:prstGeom prst="rect">
            <a:avLst/>
          </a:prstGeom>
          <a:noFill/>
          <a:ln w="31750" algn="ctr">
            <a:noFill/>
            <a:miter lim="800000"/>
            <a:headEnd/>
            <a:tailEnd/>
          </a:ln>
        </p:spPr>
        <p:txBody>
          <a:bodyPr>
            <a:spAutoFit/>
          </a:bodyPr>
          <a:lstStyle/>
          <a:p>
            <a:pPr algn="r">
              <a:spcBef>
                <a:spcPct val="50000"/>
              </a:spcBef>
            </a:pPr>
            <a:r>
              <a:rPr kumimoji="1" lang="en-US" altLang="zh-TW" sz="1500" b="1">
                <a:solidFill>
                  <a:srgbClr val="800000"/>
                </a:solidFill>
                <a:latin typeface="Arial" charset="0"/>
                <a:cs typeface="Arial" charset="0"/>
              </a:rPr>
              <a:t>P1.2</a:t>
            </a:r>
          </a:p>
        </p:txBody>
      </p:sp>
      <p:sp>
        <p:nvSpPr>
          <p:cNvPr id="17499" name="Text Box 91"/>
          <p:cNvSpPr txBox="1">
            <a:spLocks noChangeArrowheads="1"/>
          </p:cNvSpPr>
          <p:nvPr/>
        </p:nvSpPr>
        <p:spPr bwMode="auto">
          <a:xfrm>
            <a:off x="3349625" y="1549400"/>
            <a:ext cx="908050" cy="320675"/>
          </a:xfrm>
          <a:prstGeom prst="rect">
            <a:avLst/>
          </a:prstGeom>
          <a:noFill/>
          <a:ln w="31750" algn="ctr">
            <a:noFill/>
            <a:miter lim="800000"/>
            <a:headEnd/>
            <a:tailEnd/>
          </a:ln>
        </p:spPr>
        <p:txBody>
          <a:bodyPr>
            <a:spAutoFit/>
          </a:bodyPr>
          <a:lstStyle/>
          <a:p>
            <a:pPr algn="r">
              <a:spcBef>
                <a:spcPct val="50000"/>
              </a:spcBef>
            </a:pPr>
            <a:r>
              <a:rPr kumimoji="1" lang="en-US" altLang="zh-TW" sz="1500" b="1">
                <a:solidFill>
                  <a:srgbClr val="800000"/>
                </a:solidFill>
                <a:latin typeface="Arial" charset="0"/>
                <a:cs typeface="Arial" charset="0"/>
              </a:rPr>
              <a:t>P1.3</a:t>
            </a:r>
          </a:p>
        </p:txBody>
      </p:sp>
      <p:sp>
        <p:nvSpPr>
          <p:cNvPr id="17500" name="Text Box 92"/>
          <p:cNvSpPr txBox="1">
            <a:spLocks noChangeArrowheads="1"/>
          </p:cNvSpPr>
          <p:nvPr/>
        </p:nvSpPr>
        <p:spPr bwMode="auto">
          <a:xfrm>
            <a:off x="3279775" y="1809750"/>
            <a:ext cx="977900" cy="320675"/>
          </a:xfrm>
          <a:prstGeom prst="rect">
            <a:avLst/>
          </a:prstGeom>
          <a:noFill/>
          <a:ln w="31750" algn="ctr">
            <a:noFill/>
            <a:miter lim="800000"/>
            <a:headEnd/>
            <a:tailEnd/>
          </a:ln>
        </p:spPr>
        <p:txBody>
          <a:bodyPr>
            <a:spAutoFit/>
          </a:bodyPr>
          <a:lstStyle/>
          <a:p>
            <a:pPr algn="r">
              <a:spcBef>
                <a:spcPct val="50000"/>
              </a:spcBef>
            </a:pPr>
            <a:r>
              <a:rPr kumimoji="1" lang="en-US" altLang="zh-TW" sz="1500" b="1">
                <a:solidFill>
                  <a:srgbClr val="800000"/>
                </a:solidFill>
                <a:latin typeface="Arial" charset="0"/>
                <a:cs typeface="Arial" charset="0"/>
              </a:rPr>
              <a:t>P1.4</a:t>
            </a:r>
          </a:p>
        </p:txBody>
      </p:sp>
      <p:sp>
        <p:nvSpPr>
          <p:cNvPr id="17501" name="Text Box 93"/>
          <p:cNvSpPr txBox="1">
            <a:spLocks noChangeArrowheads="1"/>
          </p:cNvSpPr>
          <p:nvPr/>
        </p:nvSpPr>
        <p:spPr bwMode="auto">
          <a:xfrm>
            <a:off x="3424238" y="2084388"/>
            <a:ext cx="833437" cy="320675"/>
          </a:xfrm>
          <a:prstGeom prst="rect">
            <a:avLst/>
          </a:prstGeom>
          <a:noFill/>
          <a:ln w="31750" algn="ctr">
            <a:noFill/>
            <a:miter lim="800000"/>
            <a:headEnd/>
            <a:tailEnd/>
          </a:ln>
        </p:spPr>
        <p:txBody>
          <a:bodyPr>
            <a:spAutoFit/>
          </a:bodyPr>
          <a:lstStyle/>
          <a:p>
            <a:pPr algn="r">
              <a:spcBef>
                <a:spcPct val="50000"/>
              </a:spcBef>
            </a:pPr>
            <a:r>
              <a:rPr kumimoji="1" lang="en-US" altLang="zh-TW" sz="1500" b="1">
                <a:solidFill>
                  <a:srgbClr val="800000"/>
                </a:solidFill>
                <a:latin typeface="Arial" charset="0"/>
                <a:cs typeface="Arial" charset="0"/>
              </a:rPr>
              <a:t>P1.5</a:t>
            </a:r>
          </a:p>
        </p:txBody>
      </p:sp>
      <p:sp>
        <p:nvSpPr>
          <p:cNvPr id="17502" name="Text Box 94"/>
          <p:cNvSpPr txBox="1">
            <a:spLocks noChangeArrowheads="1"/>
          </p:cNvSpPr>
          <p:nvPr/>
        </p:nvSpPr>
        <p:spPr bwMode="auto">
          <a:xfrm>
            <a:off x="3208338" y="2359025"/>
            <a:ext cx="1049337" cy="322263"/>
          </a:xfrm>
          <a:prstGeom prst="rect">
            <a:avLst/>
          </a:prstGeom>
          <a:noFill/>
          <a:ln w="31750" algn="ctr">
            <a:noFill/>
            <a:miter lim="800000"/>
            <a:headEnd/>
            <a:tailEnd/>
          </a:ln>
        </p:spPr>
        <p:txBody>
          <a:bodyPr>
            <a:spAutoFit/>
          </a:bodyPr>
          <a:lstStyle/>
          <a:p>
            <a:pPr algn="r">
              <a:spcBef>
                <a:spcPct val="50000"/>
              </a:spcBef>
            </a:pPr>
            <a:r>
              <a:rPr kumimoji="1" lang="en-US" altLang="zh-TW" sz="1500" b="1">
                <a:solidFill>
                  <a:srgbClr val="800000"/>
                </a:solidFill>
                <a:latin typeface="Arial" charset="0"/>
                <a:cs typeface="Arial" charset="0"/>
              </a:rPr>
              <a:t>P1.6</a:t>
            </a:r>
          </a:p>
        </p:txBody>
      </p:sp>
      <p:sp>
        <p:nvSpPr>
          <p:cNvPr id="17503" name="Text Box 95"/>
          <p:cNvSpPr txBox="1">
            <a:spLocks noChangeArrowheads="1"/>
          </p:cNvSpPr>
          <p:nvPr/>
        </p:nvSpPr>
        <p:spPr bwMode="auto">
          <a:xfrm>
            <a:off x="3279775" y="2625725"/>
            <a:ext cx="977900" cy="320675"/>
          </a:xfrm>
          <a:prstGeom prst="rect">
            <a:avLst/>
          </a:prstGeom>
          <a:noFill/>
          <a:ln w="31750" algn="ctr">
            <a:noFill/>
            <a:miter lim="800000"/>
            <a:headEnd/>
            <a:tailEnd/>
          </a:ln>
        </p:spPr>
        <p:txBody>
          <a:bodyPr>
            <a:spAutoFit/>
          </a:bodyPr>
          <a:lstStyle/>
          <a:p>
            <a:pPr algn="r">
              <a:spcBef>
                <a:spcPct val="50000"/>
              </a:spcBef>
            </a:pPr>
            <a:r>
              <a:rPr kumimoji="1" lang="en-US" altLang="zh-TW" sz="1500" b="1">
                <a:solidFill>
                  <a:srgbClr val="800000"/>
                </a:solidFill>
                <a:latin typeface="Arial" charset="0"/>
                <a:cs typeface="Arial" charset="0"/>
              </a:rPr>
              <a:t>P1.7</a:t>
            </a:r>
          </a:p>
        </p:txBody>
      </p:sp>
      <p:sp>
        <p:nvSpPr>
          <p:cNvPr id="17504" name="Text Box 96"/>
          <p:cNvSpPr txBox="1">
            <a:spLocks noChangeArrowheads="1"/>
          </p:cNvSpPr>
          <p:nvPr/>
        </p:nvSpPr>
        <p:spPr bwMode="auto">
          <a:xfrm>
            <a:off x="3279775" y="2900363"/>
            <a:ext cx="977900" cy="320675"/>
          </a:xfrm>
          <a:prstGeom prst="rect">
            <a:avLst/>
          </a:prstGeom>
          <a:noFill/>
          <a:ln w="31750" algn="ctr">
            <a:noFill/>
            <a:miter lim="800000"/>
            <a:headEnd/>
            <a:tailEnd/>
          </a:ln>
        </p:spPr>
        <p:txBody>
          <a:bodyPr>
            <a:spAutoFit/>
          </a:bodyPr>
          <a:lstStyle/>
          <a:p>
            <a:pPr algn="r">
              <a:spcBef>
                <a:spcPct val="50000"/>
              </a:spcBef>
            </a:pPr>
            <a:r>
              <a:rPr kumimoji="1" lang="en-US" altLang="zh-TW" sz="1500" b="1">
                <a:solidFill>
                  <a:srgbClr val="FF5050"/>
                </a:solidFill>
                <a:latin typeface="Arial" charset="0"/>
                <a:cs typeface="Arial" charset="0"/>
              </a:rPr>
              <a:t>RST</a:t>
            </a:r>
          </a:p>
        </p:txBody>
      </p:sp>
      <p:sp>
        <p:nvSpPr>
          <p:cNvPr id="17505" name="Text Box 97"/>
          <p:cNvSpPr txBox="1">
            <a:spLocks noChangeArrowheads="1"/>
          </p:cNvSpPr>
          <p:nvPr/>
        </p:nvSpPr>
        <p:spPr bwMode="auto">
          <a:xfrm>
            <a:off x="2743200" y="3154363"/>
            <a:ext cx="1498600" cy="319087"/>
          </a:xfrm>
          <a:prstGeom prst="rect">
            <a:avLst/>
          </a:prstGeom>
          <a:noFill/>
          <a:ln w="31750" algn="ctr">
            <a:noFill/>
            <a:miter lim="800000"/>
            <a:headEnd/>
            <a:tailEnd/>
          </a:ln>
        </p:spPr>
        <p:txBody>
          <a:bodyPr>
            <a:spAutoFit/>
          </a:bodyPr>
          <a:lstStyle/>
          <a:p>
            <a:pPr algn="r">
              <a:spcBef>
                <a:spcPct val="50000"/>
              </a:spcBef>
            </a:pPr>
            <a:r>
              <a:rPr kumimoji="1" lang="en-US" altLang="zh-TW" sz="1500" b="1">
                <a:latin typeface="Arial" charset="0"/>
                <a:cs typeface="Arial" charset="0"/>
              </a:rPr>
              <a:t>(</a:t>
            </a:r>
            <a:r>
              <a:rPr kumimoji="1" lang="en-US" altLang="zh-TW" sz="1500" b="1">
                <a:solidFill>
                  <a:srgbClr val="008000"/>
                </a:solidFill>
                <a:latin typeface="Arial" charset="0"/>
                <a:cs typeface="Arial" charset="0"/>
              </a:rPr>
              <a:t>RXD</a:t>
            </a:r>
            <a:r>
              <a:rPr kumimoji="1" lang="en-US" altLang="zh-TW" sz="1500" b="1">
                <a:latin typeface="Arial" charset="0"/>
                <a:cs typeface="Arial" charset="0"/>
              </a:rPr>
              <a:t>)</a:t>
            </a:r>
            <a:r>
              <a:rPr kumimoji="1" lang="en-US" altLang="zh-TW" sz="1500" b="1">
                <a:solidFill>
                  <a:srgbClr val="800000"/>
                </a:solidFill>
                <a:latin typeface="Arial" charset="0"/>
                <a:cs typeface="Arial" charset="0"/>
              </a:rPr>
              <a:t>P3.0</a:t>
            </a:r>
          </a:p>
        </p:txBody>
      </p:sp>
      <p:sp>
        <p:nvSpPr>
          <p:cNvPr id="17506" name="Text Box 98"/>
          <p:cNvSpPr txBox="1">
            <a:spLocks noChangeArrowheads="1"/>
          </p:cNvSpPr>
          <p:nvPr/>
        </p:nvSpPr>
        <p:spPr bwMode="auto">
          <a:xfrm>
            <a:off x="2743200" y="3422650"/>
            <a:ext cx="1498600" cy="320675"/>
          </a:xfrm>
          <a:prstGeom prst="rect">
            <a:avLst/>
          </a:prstGeom>
          <a:noFill/>
          <a:ln w="31750" algn="ctr">
            <a:noFill/>
            <a:miter lim="800000"/>
            <a:headEnd/>
            <a:tailEnd/>
          </a:ln>
        </p:spPr>
        <p:txBody>
          <a:bodyPr>
            <a:spAutoFit/>
          </a:bodyPr>
          <a:lstStyle/>
          <a:p>
            <a:pPr algn="r">
              <a:spcBef>
                <a:spcPct val="50000"/>
              </a:spcBef>
            </a:pPr>
            <a:r>
              <a:rPr kumimoji="1" lang="en-US" altLang="zh-TW" sz="1500" b="1">
                <a:latin typeface="Arial" charset="0"/>
                <a:cs typeface="Arial" charset="0"/>
              </a:rPr>
              <a:t>(</a:t>
            </a:r>
            <a:r>
              <a:rPr kumimoji="1" lang="en-US" altLang="zh-TW" sz="1500" b="1">
                <a:solidFill>
                  <a:srgbClr val="008000"/>
                </a:solidFill>
                <a:latin typeface="Arial" charset="0"/>
                <a:cs typeface="Arial" charset="0"/>
              </a:rPr>
              <a:t>TXD</a:t>
            </a:r>
            <a:r>
              <a:rPr kumimoji="1" lang="en-US" altLang="zh-TW" sz="1500" b="1">
                <a:latin typeface="Arial" charset="0"/>
                <a:cs typeface="Arial" charset="0"/>
              </a:rPr>
              <a:t>)</a:t>
            </a:r>
            <a:r>
              <a:rPr kumimoji="1" lang="en-US" altLang="zh-TW" sz="1500" b="1">
                <a:solidFill>
                  <a:srgbClr val="800000"/>
                </a:solidFill>
                <a:latin typeface="Arial" charset="0"/>
                <a:cs typeface="Arial" charset="0"/>
              </a:rPr>
              <a:t>P3.1</a:t>
            </a:r>
          </a:p>
        </p:txBody>
      </p:sp>
      <p:sp>
        <p:nvSpPr>
          <p:cNvPr id="17507" name="Text Box 99"/>
          <p:cNvSpPr txBox="1">
            <a:spLocks noChangeArrowheads="1"/>
          </p:cNvSpPr>
          <p:nvPr/>
        </p:nvSpPr>
        <p:spPr bwMode="auto">
          <a:xfrm>
            <a:off x="2957513" y="4232275"/>
            <a:ext cx="1279525" cy="322263"/>
          </a:xfrm>
          <a:prstGeom prst="rect">
            <a:avLst/>
          </a:prstGeom>
          <a:noFill/>
          <a:ln w="31750" algn="ctr">
            <a:noFill/>
            <a:miter lim="800000"/>
            <a:headEnd/>
            <a:tailEnd/>
          </a:ln>
        </p:spPr>
        <p:txBody>
          <a:bodyPr>
            <a:spAutoFit/>
          </a:bodyPr>
          <a:lstStyle/>
          <a:p>
            <a:pPr algn="r">
              <a:spcBef>
                <a:spcPct val="50000"/>
              </a:spcBef>
            </a:pPr>
            <a:r>
              <a:rPr kumimoji="1" lang="en-US" altLang="zh-TW" sz="1500" b="1">
                <a:latin typeface="Arial" charset="0"/>
                <a:cs typeface="Arial" charset="0"/>
              </a:rPr>
              <a:t>(</a:t>
            </a:r>
            <a:r>
              <a:rPr kumimoji="1" lang="en-US" altLang="zh-TW" sz="1500" b="1">
                <a:solidFill>
                  <a:srgbClr val="008000"/>
                </a:solidFill>
                <a:latin typeface="Arial" charset="0"/>
                <a:cs typeface="Arial" charset="0"/>
              </a:rPr>
              <a:t>T0</a:t>
            </a:r>
            <a:r>
              <a:rPr kumimoji="1" lang="en-US" altLang="zh-TW" sz="1500" b="1">
                <a:latin typeface="Arial" charset="0"/>
                <a:cs typeface="Arial" charset="0"/>
              </a:rPr>
              <a:t>)</a:t>
            </a:r>
            <a:r>
              <a:rPr kumimoji="1" lang="en-US" altLang="zh-TW" sz="1500" b="1">
                <a:solidFill>
                  <a:srgbClr val="800000"/>
                </a:solidFill>
                <a:latin typeface="Arial" charset="0"/>
                <a:cs typeface="Arial" charset="0"/>
              </a:rPr>
              <a:t>P3.4</a:t>
            </a:r>
          </a:p>
        </p:txBody>
      </p:sp>
      <p:sp>
        <p:nvSpPr>
          <p:cNvPr id="17508" name="Text Box 100"/>
          <p:cNvSpPr txBox="1">
            <a:spLocks noChangeArrowheads="1"/>
          </p:cNvSpPr>
          <p:nvPr/>
        </p:nvSpPr>
        <p:spPr bwMode="auto">
          <a:xfrm>
            <a:off x="2957513" y="4502150"/>
            <a:ext cx="1279525" cy="320675"/>
          </a:xfrm>
          <a:prstGeom prst="rect">
            <a:avLst/>
          </a:prstGeom>
          <a:noFill/>
          <a:ln w="31750" algn="ctr">
            <a:noFill/>
            <a:miter lim="800000"/>
            <a:headEnd/>
            <a:tailEnd/>
          </a:ln>
        </p:spPr>
        <p:txBody>
          <a:bodyPr>
            <a:spAutoFit/>
          </a:bodyPr>
          <a:lstStyle/>
          <a:p>
            <a:pPr algn="r">
              <a:spcBef>
                <a:spcPct val="50000"/>
              </a:spcBef>
            </a:pPr>
            <a:r>
              <a:rPr kumimoji="1" lang="en-US" altLang="zh-TW" sz="1500" b="1">
                <a:latin typeface="Arial" charset="0"/>
                <a:cs typeface="Arial" charset="0"/>
              </a:rPr>
              <a:t>(</a:t>
            </a:r>
            <a:r>
              <a:rPr kumimoji="1" lang="en-US" altLang="zh-TW" sz="1500" b="1">
                <a:solidFill>
                  <a:srgbClr val="008000"/>
                </a:solidFill>
                <a:latin typeface="Arial" charset="0"/>
                <a:cs typeface="Arial" charset="0"/>
              </a:rPr>
              <a:t>T1</a:t>
            </a:r>
            <a:r>
              <a:rPr kumimoji="1" lang="en-US" altLang="zh-TW" sz="1500" b="1">
                <a:latin typeface="Arial" charset="0"/>
                <a:cs typeface="Arial" charset="0"/>
              </a:rPr>
              <a:t>)</a:t>
            </a:r>
            <a:r>
              <a:rPr kumimoji="1" lang="en-US" altLang="zh-TW" sz="1500" b="1">
                <a:solidFill>
                  <a:srgbClr val="800000"/>
                </a:solidFill>
                <a:latin typeface="Arial" charset="0"/>
                <a:cs typeface="Arial" charset="0"/>
              </a:rPr>
              <a:t>P3.5</a:t>
            </a:r>
          </a:p>
        </p:txBody>
      </p:sp>
      <p:sp>
        <p:nvSpPr>
          <p:cNvPr id="17509" name="Text Box 101"/>
          <p:cNvSpPr txBox="1">
            <a:spLocks noChangeArrowheads="1"/>
          </p:cNvSpPr>
          <p:nvPr/>
        </p:nvSpPr>
        <p:spPr bwMode="auto">
          <a:xfrm>
            <a:off x="3098800" y="5329238"/>
            <a:ext cx="1138238" cy="320675"/>
          </a:xfrm>
          <a:prstGeom prst="rect">
            <a:avLst/>
          </a:prstGeom>
          <a:noFill/>
          <a:ln w="31750" algn="ctr">
            <a:noFill/>
            <a:miter lim="800000"/>
            <a:headEnd/>
            <a:tailEnd/>
          </a:ln>
        </p:spPr>
        <p:txBody>
          <a:bodyPr>
            <a:spAutoFit/>
          </a:bodyPr>
          <a:lstStyle/>
          <a:p>
            <a:pPr algn="r">
              <a:spcBef>
                <a:spcPct val="50000"/>
              </a:spcBef>
            </a:pPr>
            <a:r>
              <a:rPr kumimoji="1" lang="en-US" altLang="zh-TW" sz="1500" b="1">
                <a:solidFill>
                  <a:srgbClr val="FF5050"/>
                </a:solidFill>
                <a:latin typeface="Arial" charset="0"/>
                <a:cs typeface="Arial" charset="0"/>
              </a:rPr>
              <a:t>XTAL2</a:t>
            </a:r>
          </a:p>
        </p:txBody>
      </p:sp>
      <p:sp>
        <p:nvSpPr>
          <p:cNvPr id="17510" name="Text Box 102"/>
          <p:cNvSpPr txBox="1">
            <a:spLocks noChangeArrowheads="1"/>
          </p:cNvSpPr>
          <p:nvPr/>
        </p:nvSpPr>
        <p:spPr bwMode="auto">
          <a:xfrm>
            <a:off x="3313113" y="5600700"/>
            <a:ext cx="923925" cy="320675"/>
          </a:xfrm>
          <a:prstGeom prst="rect">
            <a:avLst/>
          </a:prstGeom>
          <a:noFill/>
          <a:ln w="31750" algn="ctr">
            <a:noFill/>
            <a:miter lim="800000"/>
            <a:headEnd/>
            <a:tailEnd/>
          </a:ln>
        </p:spPr>
        <p:txBody>
          <a:bodyPr>
            <a:spAutoFit/>
          </a:bodyPr>
          <a:lstStyle/>
          <a:p>
            <a:pPr algn="r">
              <a:spcBef>
                <a:spcPct val="50000"/>
              </a:spcBef>
            </a:pPr>
            <a:r>
              <a:rPr kumimoji="1" lang="en-US" altLang="zh-TW" sz="1500" b="1">
                <a:solidFill>
                  <a:srgbClr val="FF5050"/>
                </a:solidFill>
                <a:latin typeface="Arial" charset="0"/>
                <a:cs typeface="Arial" charset="0"/>
              </a:rPr>
              <a:t>XTAL1</a:t>
            </a:r>
          </a:p>
        </p:txBody>
      </p:sp>
      <p:sp>
        <p:nvSpPr>
          <p:cNvPr id="17511" name="Text Box 103"/>
          <p:cNvSpPr txBox="1">
            <a:spLocks noChangeArrowheads="1"/>
          </p:cNvSpPr>
          <p:nvPr/>
        </p:nvSpPr>
        <p:spPr bwMode="auto">
          <a:xfrm>
            <a:off x="3098800" y="5864225"/>
            <a:ext cx="1138238" cy="320675"/>
          </a:xfrm>
          <a:prstGeom prst="rect">
            <a:avLst/>
          </a:prstGeom>
          <a:noFill/>
          <a:ln w="31750" algn="ctr">
            <a:noFill/>
            <a:miter lim="800000"/>
            <a:headEnd/>
            <a:tailEnd/>
          </a:ln>
        </p:spPr>
        <p:txBody>
          <a:bodyPr>
            <a:spAutoFit/>
          </a:bodyPr>
          <a:lstStyle/>
          <a:p>
            <a:pPr algn="r">
              <a:spcBef>
                <a:spcPct val="50000"/>
              </a:spcBef>
            </a:pPr>
            <a:r>
              <a:rPr kumimoji="1" lang="en-US" altLang="zh-TW" sz="1500" b="1">
                <a:latin typeface="Arial" charset="0"/>
                <a:cs typeface="Arial" charset="0"/>
              </a:rPr>
              <a:t>GND</a:t>
            </a:r>
          </a:p>
        </p:txBody>
      </p:sp>
      <p:grpSp>
        <p:nvGrpSpPr>
          <p:cNvPr id="17512" name="Group 104"/>
          <p:cNvGrpSpPr>
            <a:grpSpLocks/>
          </p:cNvGrpSpPr>
          <p:nvPr/>
        </p:nvGrpSpPr>
        <p:grpSpPr bwMode="auto">
          <a:xfrm>
            <a:off x="2814638" y="3690938"/>
            <a:ext cx="1422400" cy="320675"/>
            <a:chOff x="930" y="2631"/>
            <a:chExt cx="907" cy="193"/>
          </a:xfrm>
        </p:grpSpPr>
        <p:sp>
          <p:nvSpPr>
            <p:cNvPr id="17550" name="Text Box 105"/>
            <p:cNvSpPr txBox="1">
              <a:spLocks noChangeArrowheads="1"/>
            </p:cNvSpPr>
            <p:nvPr/>
          </p:nvSpPr>
          <p:spPr bwMode="auto">
            <a:xfrm>
              <a:off x="930" y="2631"/>
              <a:ext cx="907" cy="193"/>
            </a:xfrm>
            <a:prstGeom prst="rect">
              <a:avLst/>
            </a:prstGeom>
            <a:noFill/>
            <a:ln w="31750" algn="ctr">
              <a:noFill/>
              <a:miter lim="800000"/>
              <a:headEnd/>
              <a:tailEnd/>
            </a:ln>
          </p:spPr>
          <p:txBody>
            <a:bodyPr>
              <a:spAutoFit/>
            </a:bodyPr>
            <a:lstStyle/>
            <a:p>
              <a:pPr algn="r">
                <a:spcBef>
                  <a:spcPct val="50000"/>
                </a:spcBef>
              </a:pPr>
              <a:r>
                <a:rPr kumimoji="1" lang="en-US" altLang="zh-TW" sz="1500" b="1">
                  <a:latin typeface="Arial" charset="0"/>
                  <a:cs typeface="Arial" charset="0"/>
                </a:rPr>
                <a:t>(</a:t>
              </a:r>
              <a:r>
                <a:rPr kumimoji="1" lang="en-US" altLang="zh-TW" sz="1500" b="1">
                  <a:solidFill>
                    <a:srgbClr val="008000"/>
                  </a:solidFill>
                  <a:latin typeface="Arial" charset="0"/>
                  <a:cs typeface="Arial" charset="0"/>
                </a:rPr>
                <a:t>INT0</a:t>
              </a:r>
              <a:r>
                <a:rPr kumimoji="1" lang="en-US" altLang="zh-TW" sz="1500" b="1">
                  <a:latin typeface="Arial" charset="0"/>
                  <a:cs typeface="Arial" charset="0"/>
                </a:rPr>
                <a:t>)</a:t>
              </a:r>
              <a:r>
                <a:rPr kumimoji="1" lang="en-US" altLang="zh-TW" sz="1500" b="1">
                  <a:solidFill>
                    <a:srgbClr val="800000"/>
                  </a:solidFill>
                  <a:latin typeface="Arial" charset="0"/>
                  <a:cs typeface="Arial" charset="0"/>
                </a:rPr>
                <a:t>P3.2</a:t>
              </a:r>
            </a:p>
          </p:txBody>
        </p:sp>
        <p:sp>
          <p:nvSpPr>
            <p:cNvPr id="17551" name="Line 106"/>
            <p:cNvSpPr>
              <a:spLocks noChangeShapeType="1"/>
            </p:cNvSpPr>
            <p:nvPr/>
          </p:nvSpPr>
          <p:spPr bwMode="auto">
            <a:xfrm>
              <a:off x="1247" y="2668"/>
              <a:ext cx="249" cy="0"/>
            </a:xfrm>
            <a:prstGeom prst="line">
              <a:avLst/>
            </a:prstGeom>
            <a:noFill/>
            <a:ln w="31750">
              <a:solidFill>
                <a:schemeClr val="tx1"/>
              </a:solidFill>
              <a:round/>
              <a:headEnd/>
              <a:tailEnd/>
            </a:ln>
          </p:spPr>
          <p:txBody>
            <a:bodyPr/>
            <a:lstStyle/>
            <a:p>
              <a:endParaRPr lang="en-US"/>
            </a:p>
          </p:txBody>
        </p:sp>
      </p:grpSp>
      <p:grpSp>
        <p:nvGrpSpPr>
          <p:cNvPr id="17513" name="Group 107"/>
          <p:cNvGrpSpPr>
            <a:grpSpLocks/>
          </p:cNvGrpSpPr>
          <p:nvPr/>
        </p:nvGrpSpPr>
        <p:grpSpPr bwMode="auto">
          <a:xfrm>
            <a:off x="2743200" y="3973513"/>
            <a:ext cx="1493838" cy="319087"/>
            <a:chOff x="884" y="2792"/>
            <a:chExt cx="953" cy="192"/>
          </a:xfrm>
        </p:grpSpPr>
        <p:sp>
          <p:nvSpPr>
            <p:cNvPr id="17548" name="Text Box 108"/>
            <p:cNvSpPr txBox="1">
              <a:spLocks noChangeArrowheads="1"/>
            </p:cNvSpPr>
            <p:nvPr/>
          </p:nvSpPr>
          <p:spPr bwMode="auto">
            <a:xfrm>
              <a:off x="884" y="2792"/>
              <a:ext cx="953" cy="192"/>
            </a:xfrm>
            <a:prstGeom prst="rect">
              <a:avLst/>
            </a:prstGeom>
            <a:noFill/>
            <a:ln w="31750" algn="ctr">
              <a:noFill/>
              <a:miter lim="800000"/>
              <a:headEnd/>
              <a:tailEnd/>
            </a:ln>
          </p:spPr>
          <p:txBody>
            <a:bodyPr>
              <a:spAutoFit/>
            </a:bodyPr>
            <a:lstStyle/>
            <a:p>
              <a:pPr algn="r">
                <a:spcBef>
                  <a:spcPct val="50000"/>
                </a:spcBef>
              </a:pPr>
              <a:r>
                <a:rPr kumimoji="1" lang="en-US" altLang="zh-TW" sz="1500" b="1">
                  <a:latin typeface="Arial" charset="0"/>
                  <a:cs typeface="Arial" charset="0"/>
                </a:rPr>
                <a:t>(</a:t>
              </a:r>
              <a:r>
                <a:rPr kumimoji="1" lang="en-US" altLang="zh-TW" sz="1500" b="1">
                  <a:solidFill>
                    <a:srgbClr val="008000"/>
                  </a:solidFill>
                  <a:latin typeface="Arial" charset="0"/>
                  <a:cs typeface="Arial" charset="0"/>
                </a:rPr>
                <a:t>INT1</a:t>
              </a:r>
              <a:r>
                <a:rPr kumimoji="1" lang="en-US" altLang="zh-TW" sz="1500" b="1">
                  <a:latin typeface="Arial" charset="0"/>
                  <a:cs typeface="Arial" charset="0"/>
                </a:rPr>
                <a:t>)</a:t>
              </a:r>
              <a:r>
                <a:rPr kumimoji="1" lang="en-US" altLang="zh-TW" sz="1500" b="1">
                  <a:solidFill>
                    <a:srgbClr val="800000"/>
                  </a:solidFill>
                  <a:latin typeface="Arial" charset="0"/>
                  <a:cs typeface="Arial" charset="0"/>
                </a:rPr>
                <a:t>P3.3</a:t>
              </a:r>
            </a:p>
          </p:txBody>
        </p:sp>
        <p:sp>
          <p:nvSpPr>
            <p:cNvPr id="17549" name="Line 109"/>
            <p:cNvSpPr>
              <a:spLocks noChangeShapeType="1"/>
            </p:cNvSpPr>
            <p:nvPr/>
          </p:nvSpPr>
          <p:spPr bwMode="auto">
            <a:xfrm>
              <a:off x="1241" y="2822"/>
              <a:ext cx="249" cy="0"/>
            </a:xfrm>
            <a:prstGeom prst="line">
              <a:avLst/>
            </a:prstGeom>
            <a:noFill/>
            <a:ln w="31750">
              <a:solidFill>
                <a:schemeClr val="tx1"/>
              </a:solidFill>
              <a:round/>
              <a:headEnd/>
              <a:tailEnd/>
            </a:ln>
          </p:spPr>
          <p:txBody>
            <a:bodyPr/>
            <a:lstStyle/>
            <a:p>
              <a:endParaRPr lang="en-US"/>
            </a:p>
          </p:txBody>
        </p:sp>
      </p:grpSp>
      <p:grpSp>
        <p:nvGrpSpPr>
          <p:cNvPr id="17514" name="Group 110"/>
          <p:cNvGrpSpPr>
            <a:grpSpLocks/>
          </p:cNvGrpSpPr>
          <p:nvPr/>
        </p:nvGrpSpPr>
        <p:grpSpPr bwMode="auto">
          <a:xfrm>
            <a:off x="3098800" y="5059363"/>
            <a:ext cx="1138238" cy="322262"/>
            <a:chOff x="1111" y="3448"/>
            <a:chExt cx="726" cy="195"/>
          </a:xfrm>
        </p:grpSpPr>
        <p:sp>
          <p:nvSpPr>
            <p:cNvPr id="17546" name="Text Box 111"/>
            <p:cNvSpPr txBox="1">
              <a:spLocks noChangeArrowheads="1"/>
            </p:cNvSpPr>
            <p:nvPr/>
          </p:nvSpPr>
          <p:spPr bwMode="auto">
            <a:xfrm>
              <a:off x="1111" y="3448"/>
              <a:ext cx="726" cy="195"/>
            </a:xfrm>
            <a:prstGeom prst="rect">
              <a:avLst/>
            </a:prstGeom>
            <a:noFill/>
            <a:ln w="31750" algn="ctr">
              <a:noFill/>
              <a:miter lim="800000"/>
              <a:headEnd/>
              <a:tailEnd/>
            </a:ln>
          </p:spPr>
          <p:txBody>
            <a:bodyPr>
              <a:spAutoFit/>
            </a:bodyPr>
            <a:lstStyle/>
            <a:p>
              <a:pPr algn="r">
                <a:spcBef>
                  <a:spcPct val="50000"/>
                </a:spcBef>
              </a:pPr>
              <a:r>
                <a:rPr kumimoji="1" lang="en-US" altLang="zh-TW" sz="1500" b="1">
                  <a:latin typeface="Arial" charset="0"/>
                  <a:cs typeface="Arial" charset="0"/>
                </a:rPr>
                <a:t>(</a:t>
              </a:r>
              <a:r>
                <a:rPr kumimoji="1" lang="en-US" altLang="zh-TW" sz="1500" b="1">
                  <a:solidFill>
                    <a:srgbClr val="008000"/>
                  </a:solidFill>
                  <a:latin typeface="Arial" charset="0"/>
                  <a:cs typeface="Arial" charset="0"/>
                </a:rPr>
                <a:t>RD</a:t>
              </a:r>
              <a:r>
                <a:rPr kumimoji="1" lang="en-US" altLang="zh-TW" sz="1500" b="1">
                  <a:latin typeface="Arial" charset="0"/>
                  <a:cs typeface="Arial" charset="0"/>
                </a:rPr>
                <a:t>)</a:t>
              </a:r>
              <a:r>
                <a:rPr kumimoji="1" lang="en-US" altLang="zh-TW" sz="1500" b="1">
                  <a:solidFill>
                    <a:srgbClr val="800000"/>
                  </a:solidFill>
                  <a:latin typeface="Arial" charset="0"/>
                  <a:cs typeface="Arial" charset="0"/>
                </a:rPr>
                <a:t>P3.7</a:t>
              </a:r>
            </a:p>
          </p:txBody>
        </p:sp>
        <p:sp>
          <p:nvSpPr>
            <p:cNvPr id="17547" name="Line 112"/>
            <p:cNvSpPr>
              <a:spLocks noChangeShapeType="1"/>
            </p:cNvSpPr>
            <p:nvPr/>
          </p:nvSpPr>
          <p:spPr bwMode="auto">
            <a:xfrm>
              <a:off x="1318" y="3487"/>
              <a:ext cx="159" cy="0"/>
            </a:xfrm>
            <a:prstGeom prst="line">
              <a:avLst/>
            </a:prstGeom>
            <a:noFill/>
            <a:ln w="31750">
              <a:solidFill>
                <a:schemeClr val="tx1"/>
              </a:solidFill>
              <a:round/>
              <a:headEnd/>
              <a:tailEnd/>
            </a:ln>
          </p:spPr>
          <p:txBody>
            <a:bodyPr/>
            <a:lstStyle/>
            <a:p>
              <a:endParaRPr lang="en-US"/>
            </a:p>
          </p:txBody>
        </p:sp>
      </p:grpSp>
      <p:grpSp>
        <p:nvGrpSpPr>
          <p:cNvPr id="17515" name="Group 113"/>
          <p:cNvGrpSpPr>
            <a:grpSpLocks/>
          </p:cNvGrpSpPr>
          <p:nvPr/>
        </p:nvGrpSpPr>
        <p:grpSpPr bwMode="auto">
          <a:xfrm>
            <a:off x="3028950" y="4789488"/>
            <a:ext cx="1208088" cy="320675"/>
            <a:chOff x="1066" y="3284"/>
            <a:chExt cx="771" cy="194"/>
          </a:xfrm>
        </p:grpSpPr>
        <p:sp>
          <p:nvSpPr>
            <p:cNvPr id="17544" name="Text Box 114"/>
            <p:cNvSpPr txBox="1">
              <a:spLocks noChangeArrowheads="1"/>
            </p:cNvSpPr>
            <p:nvPr/>
          </p:nvSpPr>
          <p:spPr bwMode="auto">
            <a:xfrm>
              <a:off x="1066" y="3284"/>
              <a:ext cx="771" cy="194"/>
            </a:xfrm>
            <a:prstGeom prst="rect">
              <a:avLst/>
            </a:prstGeom>
            <a:noFill/>
            <a:ln w="31750" algn="ctr">
              <a:noFill/>
              <a:miter lim="800000"/>
              <a:headEnd/>
              <a:tailEnd/>
            </a:ln>
          </p:spPr>
          <p:txBody>
            <a:bodyPr>
              <a:spAutoFit/>
            </a:bodyPr>
            <a:lstStyle/>
            <a:p>
              <a:pPr algn="r">
                <a:spcBef>
                  <a:spcPct val="50000"/>
                </a:spcBef>
              </a:pPr>
              <a:r>
                <a:rPr kumimoji="1" lang="en-US" altLang="zh-TW" sz="1500" b="1">
                  <a:latin typeface="Arial" charset="0"/>
                  <a:cs typeface="Arial" charset="0"/>
                </a:rPr>
                <a:t>(</a:t>
              </a:r>
              <a:r>
                <a:rPr kumimoji="1" lang="en-US" altLang="zh-TW" sz="1500" b="1">
                  <a:solidFill>
                    <a:srgbClr val="008000"/>
                  </a:solidFill>
                  <a:latin typeface="Arial" charset="0"/>
                  <a:cs typeface="Arial" charset="0"/>
                </a:rPr>
                <a:t>WR</a:t>
              </a:r>
              <a:r>
                <a:rPr kumimoji="1" lang="en-US" altLang="zh-TW" sz="1500" b="1">
                  <a:latin typeface="Arial" charset="0"/>
                  <a:cs typeface="Arial" charset="0"/>
                </a:rPr>
                <a:t>)</a:t>
              </a:r>
              <a:r>
                <a:rPr kumimoji="1" lang="en-US" altLang="zh-TW" sz="1500" b="1">
                  <a:solidFill>
                    <a:srgbClr val="800000"/>
                  </a:solidFill>
                  <a:latin typeface="Arial" charset="0"/>
                  <a:cs typeface="Arial" charset="0"/>
                </a:rPr>
                <a:t>P3.6</a:t>
              </a:r>
            </a:p>
          </p:txBody>
        </p:sp>
        <p:sp>
          <p:nvSpPr>
            <p:cNvPr id="17545" name="Line 115"/>
            <p:cNvSpPr>
              <a:spLocks noChangeShapeType="1"/>
            </p:cNvSpPr>
            <p:nvPr/>
          </p:nvSpPr>
          <p:spPr bwMode="auto">
            <a:xfrm>
              <a:off x="1295" y="3318"/>
              <a:ext cx="181" cy="0"/>
            </a:xfrm>
            <a:prstGeom prst="line">
              <a:avLst/>
            </a:prstGeom>
            <a:noFill/>
            <a:ln w="31750">
              <a:solidFill>
                <a:schemeClr val="tx1"/>
              </a:solidFill>
              <a:round/>
              <a:headEnd/>
              <a:tailEnd/>
            </a:ln>
          </p:spPr>
          <p:txBody>
            <a:bodyPr/>
            <a:lstStyle/>
            <a:p>
              <a:endParaRPr lang="en-US"/>
            </a:p>
          </p:txBody>
        </p:sp>
      </p:grpSp>
      <p:sp>
        <p:nvSpPr>
          <p:cNvPr id="17516" name="Text Box 116"/>
          <p:cNvSpPr txBox="1">
            <a:spLocks noChangeArrowheads="1"/>
          </p:cNvSpPr>
          <p:nvPr/>
        </p:nvSpPr>
        <p:spPr bwMode="auto">
          <a:xfrm>
            <a:off x="7512050" y="735013"/>
            <a:ext cx="895350" cy="320675"/>
          </a:xfrm>
          <a:prstGeom prst="rect">
            <a:avLst/>
          </a:prstGeom>
          <a:noFill/>
          <a:ln w="31750" algn="ctr">
            <a:noFill/>
            <a:miter lim="800000"/>
            <a:headEnd/>
            <a:tailEnd/>
          </a:ln>
        </p:spPr>
        <p:txBody>
          <a:bodyPr>
            <a:spAutoFit/>
          </a:bodyPr>
          <a:lstStyle/>
          <a:p>
            <a:pPr>
              <a:spcBef>
                <a:spcPct val="50000"/>
              </a:spcBef>
            </a:pPr>
            <a:r>
              <a:rPr kumimoji="1" lang="en-US" altLang="zh-TW" sz="1500" b="1">
                <a:latin typeface="Arial" charset="0"/>
                <a:cs typeface="Arial" charset="0"/>
              </a:rPr>
              <a:t>Vcc</a:t>
            </a:r>
          </a:p>
        </p:txBody>
      </p:sp>
      <p:sp>
        <p:nvSpPr>
          <p:cNvPr id="17517" name="Text Box 117"/>
          <p:cNvSpPr txBox="1">
            <a:spLocks noChangeArrowheads="1"/>
          </p:cNvSpPr>
          <p:nvPr/>
        </p:nvSpPr>
        <p:spPr bwMode="auto">
          <a:xfrm>
            <a:off x="7510463" y="1003300"/>
            <a:ext cx="1038225" cy="320675"/>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P0.0</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AD0</a:t>
            </a:r>
            <a:r>
              <a:rPr kumimoji="1" lang="en-US" altLang="zh-TW" sz="1500" b="1">
                <a:latin typeface="Arial" charset="0"/>
                <a:cs typeface="Arial" charset="0"/>
              </a:rPr>
              <a:t>)</a:t>
            </a:r>
          </a:p>
        </p:txBody>
      </p:sp>
      <p:sp>
        <p:nvSpPr>
          <p:cNvPr id="17518" name="Text Box 118"/>
          <p:cNvSpPr txBox="1">
            <a:spLocks noChangeArrowheads="1"/>
          </p:cNvSpPr>
          <p:nvPr/>
        </p:nvSpPr>
        <p:spPr bwMode="auto">
          <a:xfrm>
            <a:off x="7510463" y="1265238"/>
            <a:ext cx="1252537" cy="319087"/>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P0.1</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AD1</a:t>
            </a:r>
            <a:r>
              <a:rPr kumimoji="1" lang="en-US" altLang="zh-TW" sz="1500" b="1">
                <a:latin typeface="Arial" charset="0"/>
                <a:cs typeface="Arial" charset="0"/>
              </a:rPr>
              <a:t>)</a:t>
            </a:r>
          </a:p>
        </p:txBody>
      </p:sp>
      <p:sp>
        <p:nvSpPr>
          <p:cNvPr id="17519" name="Text Box 119"/>
          <p:cNvSpPr txBox="1">
            <a:spLocks noChangeArrowheads="1"/>
          </p:cNvSpPr>
          <p:nvPr/>
        </p:nvSpPr>
        <p:spPr bwMode="auto">
          <a:xfrm>
            <a:off x="7510463" y="1543050"/>
            <a:ext cx="1038225" cy="320675"/>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P0.2</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AD2</a:t>
            </a:r>
            <a:r>
              <a:rPr kumimoji="1" lang="en-US" altLang="zh-TW" sz="1500" b="1">
                <a:latin typeface="Arial" charset="0"/>
                <a:cs typeface="Arial" charset="0"/>
              </a:rPr>
              <a:t>)</a:t>
            </a:r>
          </a:p>
        </p:txBody>
      </p:sp>
      <p:sp>
        <p:nvSpPr>
          <p:cNvPr id="17520" name="Text Box 120"/>
          <p:cNvSpPr txBox="1">
            <a:spLocks noChangeArrowheads="1"/>
          </p:cNvSpPr>
          <p:nvPr/>
        </p:nvSpPr>
        <p:spPr bwMode="auto">
          <a:xfrm>
            <a:off x="7510463" y="1806575"/>
            <a:ext cx="1111250" cy="320675"/>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P0.3</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AD3</a:t>
            </a:r>
            <a:r>
              <a:rPr kumimoji="1" lang="en-US" altLang="zh-TW" sz="1500" b="1">
                <a:latin typeface="Arial" charset="0"/>
                <a:cs typeface="Arial" charset="0"/>
              </a:rPr>
              <a:t>)</a:t>
            </a:r>
          </a:p>
        </p:txBody>
      </p:sp>
      <p:sp>
        <p:nvSpPr>
          <p:cNvPr id="17521" name="Text Box 121"/>
          <p:cNvSpPr txBox="1">
            <a:spLocks noChangeArrowheads="1"/>
          </p:cNvSpPr>
          <p:nvPr/>
        </p:nvSpPr>
        <p:spPr bwMode="auto">
          <a:xfrm>
            <a:off x="7510463" y="2081213"/>
            <a:ext cx="1111250" cy="320675"/>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P0.4</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AD4</a:t>
            </a:r>
            <a:r>
              <a:rPr kumimoji="1" lang="en-US" altLang="zh-TW" sz="1500" b="1">
                <a:latin typeface="Arial" charset="0"/>
                <a:cs typeface="Arial" charset="0"/>
              </a:rPr>
              <a:t>)</a:t>
            </a:r>
          </a:p>
        </p:txBody>
      </p:sp>
      <p:sp>
        <p:nvSpPr>
          <p:cNvPr id="17522" name="Text Box 122"/>
          <p:cNvSpPr txBox="1">
            <a:spLocks noChangeArrowheads="1"/>
          </p:cNvSpPr>
          <p:nvPr/>
        </p:nvSpPr>
        <p:spPr bwMode="auto">
          <a:xfrm>
            <a:off x="7510463" y="2352675"/>
            <a:ext cx="1181100" cy="320675"/>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P0.5</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AD5</a:t>
            </a:r>
            <a:r>
              <a:rPr kumimoji="1" lang="en-US" altLang="zh-TW" sz="1500" b="1">
                <a:latin typeface="Arial" charset="0"/>
                <a:cs typeface="Arial" charset="0"/>
              </a:rPr>
              <a:t>)</a:t>
            </a:r>
          </a:p>
        </p:txBody>
      </p:sp>
      <p:sp>
        <p:nvSpPr>
          <p:cNvPr id="17523" name="Text Box 123"/>
          <p:cNvSpPr txBox="1">
            <a:spLocks noChangeArrowheads="1"/>
          </p:cNvSpPr>
          <p:nvPr/>
        </p:nvSpPr>
        <p:spPr bwMode="auto">
          <a:xfrm>
            <a:off x="7510463" y="2620963"/>
            <a:ext cx="1252537" cy="320675"/>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P0.6</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AD6</a:t>
            </a:r>
            <a:r>
              <a:rPr kumimoji="1" lang="en-US" altLang="zh-TW" sz="1500" b="1">
                <a:latin typeface="Arial" charset="0"/>
                <a:cs typeface="Arial" charset="0"/>
              </a:rPr>
              <a:t>)</a:t>
            </a:r>
          </a:p>
        </p:txBody>
      </p:sp>
      <p:sp>
        <p:nvSpPr>
          <p:cNvPr id="17524" name="Text Box 124"/>
          <p:cNvSpPr txBox="1">
            <a:spLocks noChangeArrowheads="1"/>
          </p:cNvSpPr>
          <p:nvPr/>
        </p:nvSpPr>
        <p:spPr bwMode="auto">
          <a:xfrm>
            <a:off x="7510463" y="2894013"/>
            <a:ext cx="1111250" cy="322262"/>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P0.7</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AD7</a:t>
            </a:r>
            <a:r>
              <a:rPr kumimoji="1" lang="en-US" altLang="zh-TW" sz="1500" b="1">
                <a:latin typeface="Arial" charset="0"/>
                <a:cs typeface="Arial" charset="0"/>
              </a:rPr>
              <a:t>)</a:t>
            </a:r>
          </a:p>
        </p:txBody>
      </p:sp>
      <p:grpSp>
        <p:nvGrpSpPr>
          <p:cNvPr id="17525" name="Group 125"/>
          <p:cNvGrpSpPr>
            <a:grpSpLocks/>
          </p:cNvGrpSpPr>
          <p:nvPr/>
        </p:nvGrpSpPr>
        <p:grpSpPr bwMode="auto">
          <a:xfrm>
            <a:off x="7510463" y="3179763"/>
            <a:ext cx="1181100" cy="320675"/>
            <a:chOff x="3901" y="2302"/>
            <a:chExt cx="753" cy="193"/>
          </a:xfrm>
        </p:grpSpPr>
        <p:sp>
          <p:nvSpPr>
            <p:cNvPr id="17542" name="Line 126"/>
            <p:cNvSpPr>
              <a:spLocks noChangeShapeType="1"/>
            </p:cNvSpPr>
            <p:nvPr/>
          </p:nvSpPr>
          <p:spPr bwMode="auto">
            <a:xfrm>
              <a:off x="3960" y="2335"/>
              <a:ext cx="136" cy="0"/>
            </a:xfrm>
            <a:prstGeom prst="line">
              <a:avLst/>
            </a:prstGeom>
            <a:noFill/>
            <a:ln w="31750">
              <a:solidFill>
                <a:schemeClr val="tx1"/>
              </a:solidFill>
              <a:round/>
              <a:headEnd/>
              <a:tailEnd/>
            </a:ln>
          </p:spPr>
          <p:txBody>
            <a:bodyPr/>
            <a:lstStyle/>
            <a:p>
              <a:endParaRPr lang="en-US"/>
            </a:p>
          </p:txBody>
        </p:sp>
        <p:sp>
          <p:nvSpPr>
            <p:cNvPr id="17543" name="Text Box 127"/>
            <p:cNvSpPr txBox="1">
              <a:spLocks noChangeArrowheads="1"/>
            </p:cNvSpPr>
            <p:nvPr/>
          </p:nvSpPr>
          <p:spPr bwMode="auto">
            <a:xfrm>
              <a:off x="3901" y="2302"/>
              <a:ext cx="753" cy="193"/>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FF5050"/>
                  </a:solidFill>
                  <a:latin typeface="Arial" charset="0"/>
                  <a:cs typeface="Arial" charset="0"/>
                </a:rPr>
                <a:t>EA/VPP</a:t>
              </a:r>
            </a:p>
          </p:txBody>
        </p:sp>
      </p:grpSp>
      <p:grpSp>
        <p:nvGrpSpPr>
          <p:cNvPr id="17526" name="Group 128"/>
          <p:cNvGrpSpPr>
            <a:grpSpLocks/>
          </p:cNvGrpSpPr>
          <p:nvPr/>
        </p:nvGrpSpPr>
        <p:grpSpPr bwMode="auto">
          <a:xfrm>
            <a:off x="7510463" y="3432175"/>
            <a:ext cx="1323975" cy="320675"/>
            <a:chOff x="3901" y="2465"/>
            <a:chExt cx="844" cy="192"/>
          </a:xfrm>
        </p:grpSpPr>
        <p:sp>
          <p:nvSpPr>
            <p:cNvPr id="17540" name="Line 129"/>
            <p:cNvSpPr>
              <a:spLocks noChangeShapeType="1"/>
            </p:cNvSpPr>
            <p:nvPr/>
          </p:nvSpPr>
          <p:spPr bwMode="auto">
            <a:xfrm>
              <a:off x="4221" y="2500"/>
              <a:ext cx="329" cy="0"/>
            </a:xfrm>
            <a:prstGeom prst="line">
              <a:avLst/>
            </a:prstGeom>
            <a:noFill/>
            <a:ln w="31750">
              <a:solidFill>
                <a:schemeClr val="tx1"/>
              </a:solidFill>
              <a:round/>
              <a:headEnd/>
              <a:tailEnd/>
            </a:ln>
          </p:spPr>
          <p:txBody>
            <a:bodyPr/>
            <a:lstStyle/>
            <a:p>
              <a:endParaRPr lang="en-US"/>
            </a:p>
          </p:txBody>
        </p:sp>
        <p:sp>
          <p:nvSpPr>
            <p:cNvPr id="17541" name="Text Box 130"/>
            <p:cNvSpPr txBox="1">
              <a:spLocks noChangeArrowheads="1"/>
            </p:cNvSpPr>
            <p:nvPr/>
          </p:nvSpPr>
          <p:spPr bwMode="auto">
            <a:xfrm>
              <a:off x="3901" y="2465"/>
              <a:ext cx="844" cy="192"/>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FF5050"/>
                  </a:solidFill>
                  <a:latin typeface="Arial" charset="0"/>
                  <a:cs typeface="Arial" charset="0"/>
                </a:rPr>
                <a:t>ALE/PROG</a:t>
              </a:r>
            </a:p>
          </p:txBody>
        </p:sp>
      </p:grpSp>
      <p:grpSp>
        <p:nvGrpSpPr>
          <p:cNvPr id="17527" name="Group 131"/>
          <p:cNvGrpSpPr>
            <a:grpSpLocks/>
          </p:cNvGrpSpPr>
          <p:nvPr/>
        </p:nvGrpSpPr>
        <p:grpSpPr bwMode="auto">
          <a:xfrm>
            <a:off x="7510463" y="3736975"/>
            <a:ext cx="1252537" cy="320675"/>
            <a:chOff x="3901" y="2628"/>
            <a:chExt cx="798" cy="194"/>
          </a:xfrm>
        </p:grpSpPr>
        <p:sp>
          <p:nvSpPr>
            <p:cNvPr id="17538" name="Line 132"/>
            <p:cNvSpPr>
              <a:spLocks noChangeShapeType="1"/>
            </p:cNvSpPr>
            <p:nvPr/>
          </p:nvSpPr>
          <p:spPr bwMode="auto">
            <a:xfrm>
              <a:off x="3969" y="2659"/>
              <a:ext cx="295" cy="0"/>
            </a:xfrm>
            <a:prstGeom prst="line">
              <a:avLst/>
            </a:prstGeom>
            <a:noFill/>
            <a:ln w="31750">
              <a:solidFill>
                <a:schemeClr val="tx1"/>
              </a:solidFill>
              <a:round/>
              <a:headEnd/>
              <a:tailEnd/>
            </a:ln>
          </p:spPr>
          <p:txBody>
            <a:bodyPr/>
            <a:lstStyle/>
            <a:p>
              <a:endParaRPr lang="en-US"/>
            </a:p>
          </p:txBody>
        </p:sp>
        <p:sp>
          <p:nvSpPr>
            <p:cNvPr id="17539" name="Text Box 133"/>
            <p:cNvSpPr txBox="1">
              <a:spLocks noChangeArrowheads="1"/>
            </p:cNvSpPr>
            <p:nvPr/>
          </p:nvSpPr>
          <p:spPr bwMode="auto">
            <a:xfrm>
              <a:off x="3901" y="2628"/>
              <a:ext cx="798" cy="194"/>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FF5050"/>
                  </a:solidFill>
                  <a:latin typeface="Arial" charset="0"/>
                  <a:cs typeface="Arial" charset="0"/>
                </a:rPr>
                <a:t>PSEN</a:t>
              </a:r>
            </a:p>
          </p:txBody>
        </p:sp>
      </p:grpSp>
      <p:sp>
        <p:nvSpPr>
          <p:cNvPr id="17528" name="Text Box 134"/>
          <p:cNvSpPr txBox="1">
            <a:spLocks noChangeArrowheads="1"/>
          </p:cNvSpPr>
          <p:nvPr/>
        </p:nvSpPr>
        <p:spPr bwMode="auto">
          <a:xfrm>
            <a:off x="7510463" y="3970338"/>
            <a:ext cx="1252537" cy="320675"/>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P2.7</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A15</a:t>
            </a:r>
            <a:r>
              <a:rPr kumimoji="1" lang="en-US" altLang="zh-TW" sz="1500" b="1">
                <a:latin typeface="Arial" charset="0"/>
                <a:cs typeface="Arial" charset="0"/>
              </a:rPr>
              <a:t>)</a:t>
            </a:r>
          </a:p>
        </p:txBody>
      </p:sp>
      <p:sp>
        <p:nvSpPr>
          <p:cNvPr id="17529" name="Text Box 135"/>
          <p:cNvSpPr txBox="1">
            <a:spLocks noChangeArrowheads="1"/>
          </p:cNvSpPr>
          <p:nvPr/>
        </p:nvSpPr>
        <p:spPr bwMode="auto">
          <a:xfrm>
            <a:off x="7510463" y="4243388"/>
            <a:ext cx="1038225" cy="320675"/>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P2.6</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A14</a:t>
            </a:r>
            <a:r>
              <a:rPr kumimoji="1" lang="en-US" altLang="zh-TW" sz="1500" b="1">
                <a:latin typeface="Arial" charset="0"/>
                <a:cs typeface="Arial" charset="0"/>
              </a:rPr>
              <a:t>)</a:t>
            </a:r>
          </a:p>
        </p:txBody>
      </p:sp>
      <p:sp>
        <p:nvSpPr>
          <p:cNvPr id="17530" name="Text Box 136"/>
          <p:cNvSpPr txBox="1">
            <a:spLocks noChangeArrowheads="1"/>
          </p:cNvSpPr>
          <p:nvPr/>
        </p:nvSpPr>
        <p:spPr bwMode="auto">
          <a:xfrm>
            <a:off x="7510463" y="4514850"/>
            <a:ext cx="1038225" cy="320675"/>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P2.5</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A13</a:t>
            </a:r>
            <a:r>
              <a:rPr kumimoji="1" lang="en-US" altLang="zh-TW" sz="1500" b="1">
                <a:latin typeface="Arial" charset="0"/>
                <a:cs typeface="Arial" charset="0"/>
              </a:rPr>
              <a:t>)</a:t>
            </a:r>
          </a:p>
        </p:txBody>
      </p:sp>
      <p:sp>
        <p:nvSpPr>
          <p:cNvPr id="17531" name="Text Box 137"/>
          <p:cNvSpPr txBox="1">
            <a:spLocks noChangeArrowheads="1"/>
          </p:cNvSpPr>
          <p:nvPr/>
        </p:nvSpPr>
        <p:spPr bwMode="auto">
          <a:xfrm>
            <a:off x="7510463" y="4783138"/>
            <a:ext cx="1038225" cy="322262"/>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P2.4</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A12</a:t>
            </a:r>
            <a:r>
              <a:rPr kumimoji="1" lang="en-US" altLang="zh-TW" sz="1500" b="1">
                <a:latin typeface="Arial" charset="0"/>
                <a:cs typeface="Arial" charset="0"/>
              </a:rPr>
              <a:t>)</a:t>
            </a:r>
          </a:p>
        </p:txBody>
      </p:sp>
      <p:sp>
        <p:nvSpPr>
          <p:cNvPr id="17532" name="Text Box 138"/>
          <p:cNvSpPr txBox="1">
            <a:spLocks noChangeArrowheads="1"/>
          </p:cNvSpPr>
          <p:nvPr/>
        </p:nvSpPr>
        <p:spPr bwMode="auto">
          <a:xfrm>
            <a:off x="7510463" y="5054600"/>
            <a:ext cx="1038225" cy="320675"/>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P2.3</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A11</a:t>
            </a:r>
            <a:r>
              <a:rPr kumimoji="1" lang="en-US" altLang="zh-TW" sz="1500" b="1">
                <a:latin typeface="Arial" charset="0"/>
                <a:cs typeface="Arial" charset="0"/>
              </a:rPr>
              <a:t>)</a:t>
            </a:r>
          </a:p>
        </p:txBody>
      </p:sp>
      <p:sp>
        <p:nvSpPr>
          <p:cNvPr id="17533" name="Text Box 139"/>
          <p:cNvSpPr txBox="1">
            <a:spLocks noChangeArrowheads="1"/>
          </p:cNvSpPr>
          <p:nvPr/>
        </p:nvSpPr>
        <p:spPr bwMode="auto">
          <a:xfrm>
            <a:off x="7510463" y="5326063"/>
            <a:ext cx="1111250" cy="320675"/>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P2.2</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A10</a:t>
            </a:r>
            <a:r>
              <a:rPr kumimoji="1" lang="en-US" altLang="zh-TW" sz="1500" b="1">
                <a:latin typeface="Arial" charset="0"/>
                <a:cs typeface="Arial" charset="0"/>
              </a:rPr>
              <a:t>)</a:t>
            </a:r>
          </a:p>
        </p:txBody>
      </p:sp>
      <p:sp>
        <p:nvSpPr>
          <p:cNvPr id="17534" name="Text Box 140"/>
          <p:cNvSpPr txBox="1">
            <a:spLocks noChangeArrowheads="1"/>
          </p:cNvSpPr>
          <p:nvPr/>
        </p:nvSpPr>
        <p:spPr bwMode="auto">
          <a:xfrm>
            <a:off x="7510463" y="5594350"/>
            <a:ext cx="1038225" cy="322263"/>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P2.1</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A9</a:t>
            </a:r>
            <a:r>
              <a:rPr kumimoji="1" lang="en-US" altLang="zh-TW" sz="1500" b="1">
                <a:latin typeface="Arial" charset="0"/>
                <a:cs typeface="Arial" charset="0"/>
              </a:rPr>
              <a:t>)</a:t>
            </a:r>
          </a:p>
        </p:txBody>
      </p:sp>
      <p:sp>
        <p:nvSpPr>
          <p:cNvPr id="17535" name="Text Box 141"/>
          <p:cNvSpPr txBox="1">
            <a:spLocks noChangeArrowheads="1"/>
          </p:cNvSpPr>
          <p:nvPr/>
        </p:nvSpPr>
        <p:spPr bwMode="auto">
          <a:xfrm>
            <a:off x="7510463" y="5861050"/>
            <a:ext cx="1038225" cy="320675"/>
          </a:xfrm>
          <a:prstGeom prst="rect">
            <a:avLst/>
          </a:prstGeom>
          <a:noFill/>
          <a:ln w="31750" algn="ctr">
            <a:noFill/>
            <a:miter lim="800000"/>
            <a:headEnd/>
            <a:tailEnd/>
          </a:ln>
        </p:spPr>
        <p:txBody>
          <a:bodyPr>
            <a:spAutoFit/>
          </a:bodyPr>
          <a:lstStyle/>
          <a:p>
            <a:pPr>
              <a:spcBef>
                <a:spcPct val="50000"/>
              </a:spcBef>
            </a:pPr>
            <a:r>
              <a:rPr kumimoji="1" lang="en-US" altLang="zh-TW" sz="1500" b="1">
                <a:solidFill>
                  <a:srgbClr val="800000"/>
                </a:solidFill>
                <a:latin typeface="Arial" charset="0"/>
                <a:cs typeface="Arial" charset="0"/>
              </a:rPr>
              <a:t>P2.0</a:t>
            </a:r>
            <a:r>
              <a:rPr kumimoji="1" lang="en-US" altLang="zh-TW" sz="1500" b="1">
                <a:latin typeface="Arial" charset="0"/>
                <a:cs typeface="Arial" charset="0"/>
              </a:rPr>
              <a:t>(</a:t>
            </a:r>
            <a:r>
              <a:rPr kumimoji="1" lang="en-US" altLang="zh-TW" sz="1500" b="1">
                <a:solidFill>
                  <a:srgbClr val="008000"/>
                </a:solidFill>
                <a:latin typeface="Arial" charset="0"/>
                <a:cs typeface="Arial" charset="0"/>
              </a:rPr>
              <a:t>A8</a:t>
            </a:r>
            <a:r>
              <a:rPr kumimoji="1" lang="en-US" altLang="zh-TW" sz="1500" b="1">
                <a:latin typeface="Arial" charset="0"/>
                <a:cs typeface="Arial" charset="0"/>
              </a:rPr>
              <a:t>)</a:t>
            </a:r>
          </a:p>
        </p:txBody>
      </p:sp>
      <p:sp>
        <p:nvSpPr>
          <p:cNvPr id="17536" name="Text Box 142"/>
          <p:cNvSpPr txBox="1">
            <a:spLocks noChangeArrowheads="1"/>
          </p:cNvSpPr>
          <p:nvPr/>
        </p:nvSpPr>
        <p:spPr bwMode="auto">
          <a:xfrm>
            <a:off x="5270500" y="1785938"/>
            <a:ext cx="1138238" cy="2832100"/>
          </a:xfrm>
          <a:prstGeom prst="rect">
            <a:avLst/>
          </a:prstGeom>
          <a:noFill/>
          <a:ln w="31750" algn="ctr">
            <a:noFill/>
            <a:miter lim="800000"/>
            <a:headEnd/>
            <a:tailEnd/>
          </a:ln>
        </p:spPr>
        <p:txBody>
          <a:bodyPr>
            <a:spAutoFit/>
          </a:bodyPr>
          <a:lstStyle/>
          <a:p>
            <a:pPr algn="ctr">
              <a:lnSpc>
                <a:spcPct val="60000"/>
              </a:lnSpc>
              <a:spcBef>
                <a:spcPct val="50000"/>
              </a:spcBef>
            </a:pPr>
            <a:endParaRPr kumimoji="1" lang="en-US" altLang="zh-TW" b="1">
              <a:solidFill>
                <a:srgbClr val="CC0066"/>
              </a:solidFill>
              <a:latin typeface="Arial" charset="0"/>
              <a:cs typeface="Arial" charset="0"/>
            </a:endParaRPr>
          </a:p>
          <a:p>
            <a:pPr algn="ctr">
              <a:lnSpc>
                <a:spcPct val="60000"/>
              </a:lnSpc>
              <a:spcBef>
                <a:spcPct val="50000"/>
              </a:spcBef>
            </a:pPr>
            <a:endParaRPr kumimoji="1" lang="en-US" altLang="zh-TW" b="1">
              <a:solidFill>
                <a:srgbClr val="CC0066"/>
              </a:solidFill>
              <a:latin typeface="Arial" charset="0"/>
              <a:cs typeface="Arial" charset="0"/>
            </a:endParaRPr>
          </a:p>
          <a:p>
            <a:pPr algn="ctr">
              <a:lnSpc>
                <a:spcPct val="60000"/>
              </a:lnSpc>
              <a:spcBef>
                <a:spcPct val="50000"/>
              </a:spcBef>
            </a:pPr>
            <a:endParaRPr kumimoji="1" lang="en-US" altLang="zh-TW" sz="1600" b="1">
              <a:solidFill>
                <a:srgbClr val="CC0066"/>
              </a:solidFill>
              <a:latin typeface="Arial" charset="0"/>
              <a:cs typeface="Arial" charset="0"/>
            </a:endParaRPr>
          </a:p>
          <a:p>
            <a:pPr algn="ctr">
              <a:lnSpc>
                <a:spcPct val="60000"/>
              </a:lnSpc>
              <a:spcBef>
                <a:spcPct val="50000"/>
              </a:spcBef>
            </a:pPr>
            <a:r>
              <a:rPr kumimoji="1" lang="en-US" altLang="zh-TW" b="1">
                <a:solidFill>
                  <a:srgbClr val="CC0066"/>
                </a:solidFill>
                <a:latin typeface="Arial" charset="0"/>
                <a:cs typeface="Arial" charset="0"/>
              </a:rPr>
              <a:t> </a:t>
            </a:r>
            <a:r>
              <a:rPr kumimoji="1" lang="en-US" altLang="zh-TW" sz="2800" b="1">
                <a:solidFill>
                  <a:srgbClr val="CC0066"/>
                </a:solidFill>
                <a:latin typeface="Arial" charset="0"/>
                <a:cs typeface="Arial" charset="0"/>
              </a:rPr>
              <a:t>8051</a:t>
            </a:r>
          </a:p>
          <a:p>
            <a:pPr algn="ctr">
              <a:lnSpc>
                <a:spcPct val="60000"/>
              </a:lnSpc>
              <a:spcBef>
                <a:spcPct val="50000"/>
              </a:spcBef>
            </a:pPr>
            <a:endParaRPr kumimoji="1" lang="en-US" altLang="zh-TW" b="1">
              <a:solidFill>
                <a:srgbClr val="800000"/>
              </a:solidFill>
              <a:latin typeface="Arial" charset="0"/>
              <a:cs typeface="Arial" charset="0"/>
            </a:endParaRPr>
          </a:p>
          <a:p>
            <a:pPr algn="ctr">
              <a:lnSpc>
                <a:spcPct val="60000"/>
              </a:lnSpc>
              <a:spcBef>
                <a:spcPct val="50000"/>
              </a:spcBef>
            </a:pPr>
            <a:endParaRPr kumimoji="1" lang="en-US" altLang="zh-TW" b="1">
              <a:solidFill>
                <a:srgbClr val="800000"/>
              </a:solidFill>
              <a:latin typeface="Arial" charset="0"/>
              <a:cs typeface="Arial" charset="0"/>
            </a:endParaRPr>
          </a:p>
          <a:p>
            <a:pPr algn="ctr">
              <a:lnSpc>
                <a:spcPct val="60000"/>
              </a:lnSpc>
              <a:spcBef>
                <a:spcPct val="50000"/>
              </a:spcBef>
            </a:pPr>
            <a:endParaRPr kumimoji="1" lang="en-US" altLang="zh-TW" b="1">
              <a:solidFill>
                <a:srgbClr val="800000"/>
              </a:solidFill>
              <a:latin typeface="Arial" charset="0"/>
              <a:cs typeface="Arial" charset="0"/>
            </a:endParaRPr>
          </a:p>
          <a:p>
            <a:pPr algn="ctr">
              <a:lnSpc>
                <a:spcPct val="60000"/>
              </a:lnSpc>
              <a:spcBef>
                <a:spcPct val="50000"/>
              </a:spcBef>
            </a:pPr>
            <a:endParaRPr kumimoji="1" lang="en-US" altLang="zh-TW" b="1">
              <a:solidFill>
                <a:srgbClr val="CC0066"/>
              </a:solidFill>
              <a:latin typeface="Arial" charset="0"/>
              <a:cs typeface="Arial" charset="0"/>
            </a:endParaRPr>
          </a:p>
          <a:p>
            <a:pPr algn="ctr">
              <a:lnSpc>
                <a:spcPct val="60000"/>
              </a:lnSpc>
              <a:spcBef>
                <a:spcPct val="50000"/>
              </a:spcBef>
            </a:pPr>
            <a:endParaRPr kumimoji="1" lang="en-US" altLang="zh-TW" b="1">
              <a:solidFill>
                <a:srgbClr val="CC0066"/>
              </a:solidFill>
              <a:latin typeface="Arial" charset="0"/>
              <a:cs typeface="Arial" charset="0"/>
            </a:endParaRPr>
          </a:p>
        </p:txBody>
      </p:sp>
      <p:sp>
        <p:nvSpPr>
          <p:cNvPr id="17537" name="AutoShape 143"/>
          <p:cNvSpPr>
            <a:spLocks noChangeArrowheads="1"/>
          </p:cNvSpPr>
          <p:nvPr/>
        </p:nvSpPr>
        <p:spPr bwMode="auto">
          <a:xfrm rot="5400000">
            <a:off x="5668169" y="273844"/>
            <a:ext cx="360363" cy="574675"/>
          </a:xfrm>
          <a:prstGeom prst="flowChartDelay">
            <a:avLst/>
          </a:prstGeom>
          <a:noFill/>
          <a:ln w="31750">
            <a:solidFill>
              <a:schemeClr val="tx1"/>
            </a:solidFill>
            <a:miter lim="800000"/>
            <a:headEnd type="none" w="sm" len="sm"/>
            <a:tailEnd type="none" w="sm" len="sm"/>
          </a:ln>
        </p:spPr>
        <p:txBody>
          <a:bodyPr wrap="none" anchor="ctr"/>
          <a:lstStyle/>
          <a:p>
            <a:endParaRPr lang="en-US"/>
          </a:p>
        </p:txBody>
      </p:sp>
      <p:sp>
        <p:nvSpPr>
          <p:cNvPr id="144" name="Date Placeholder 143"/>
          <p:cNvSpPr>
            <a:spLocks noGrp="1"/>
          </p:cNvSpPr>
          <p:nvPr>
            <p:ph type="dt" sz="half" idx="10"/>
          </p:nvPr>
        </p:nvSpPr>
        <p:spPr/>
        <p:txBody>
          <a:bodyPr/>
          <a:lstStyle/>
          <a:p>
            <a:pPr>
              <a:defRPr/>
            </a:pPr>
            <a:fld id="{CF942729-9089-4034-BE69-5FFEDA26FCFC}" type="datetime2">
              <a:rPr lang="en-US" smtClean="0"/>
              <a:pPr>
                <a:defRPr/>
              </a:pPr>
              <a:t>Friday, August 27, 2021</a:t>
            </a:fld>
            <a:endParaRPr lang="en-US"/>
          </a:p>
        </p:txBody>
      </p:sp>
      <p:sp>
        <p:nvSpPr>
          <p:cNvPr id="145" name="Slide Number Placeholder 144"/>
          <p:cNvSpPr>
            <a:spLocks noGrp="1"/>
          </p:cNvSpPr>
          <p:nvPr>
            <p:ph type="sldNum" sz="quarter" idx="12"/>
          </p:nvPr>
        </p:nvSpPr>
        <p:spPr/>
        <p:txBody>
          <a:bodyPr/>
          <a:lstStyle/>
          <a:p>
            <a:pPr>
              <a:defRPr/>
            </a:pPr>
            <a:fld id="{29365B32-0A66-4572-87C9-59177F07ABFF}" type="slidenum">
              <a:rPr lang="en-US" smtClean="0"/>
              <a:pPr>
                <a:defRPr/>
              </a:pPr>
              <a:t>15</a:t>
            </a:fld>
            <a:endParaRPr lang="en-US"/>
          </a:p>
        </p:txBody>
      </p:sp>
      <p:sp>
        <p:nvSpPr>
          <p:cNvPr id="146" name="Footer Placeholder 14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object 2"/>
          <p:cNvSpPr>
            <a:spLocks noChangeArrowheads="1"/>
          </p:cNvSpPr>
          <p:nvPr/>
        </p:nvSpPr>
        <p:spPr bwMode="auto">
          <a:xfrm>
            <a:off x="0" y="0"/>
            <a:ext cx="9144000" cy="6858000"/>
          </a:xfrm>
          <a:custGeom>
            <a:avLst/>
            <a:gdLst>
              <a:gd name="T0" fmla="*/ 0 w 9144000"/>
              <a:gd name="T1" fmla="*/ 0 h 6858000"/>
              <a:gd name="T2" fmla="*/ 9144000 w 9144000"/>
              <a:gd name="T3" fmla="*/ 6858000 h 6858000"/>
            </a:gdLst>
            <a:ahLst/>
            <a:cxnLst/>
            <a:rect l="T0" t="T1" r="T2" b="T3"/>
            <a:pathLst>
              <a:path w="9144000" h="6858000">
                <a:moveTo>
                  <a:pt x="0" y="6858000"/>
                </a:moveTo>
                <a:lnTo>
                  <a:pt x="9144000" y="6858000"/>
                </a:lnTo>
                <a:lnTo>
                  <a:pt x="9144000" y="0"/>
                </a:lnTo>
                <a:lnTo>
                  <a:pt x="0" y="0"/>
                </a:lnTo>
                <a:lnTo>
                  <a:pt x="0" y="6858000"/>
                </a:lnTo>
                <a:close/>
              </a:path>
            </a:pathLst>
          </a:custGeom>
          <a:solidFill>
            <a:schemeClr val="bg1"/>
          </a:solidFill>
          <a:ln w="9525">
            <a:noFill/>
            <a:miter lim="800000"/>
            <a:headEnd/>
            <a:tailEnd/>
          </a:ln>
        </p:spPr>
        <p:txBody>
          <a:bodyPr lIns="0" tIns="0" rIns="0" bIns="0"/>
          <a:lstStyle/>
          <a:p>
            <a:endParaRPr lang="en-US"/>
          </a:p>
        </p:txBody>
      </p:sp>
      <p:sp>
        <p:nvSpPr>
          <p:cNvPr id="3" name="object 3"/>
          <p:cNvSpPr txBox="1">
            <a:spLocks noGrp="1"/>
          </p:cNvSpPr>
          <p:nvPr>
            <p:ph type="title"/>
          </p:nvPr>
        </p:nvSpPr>
        <p:spPr>
          <a:xfrm>
            <a:off x="1857375" y="0"/>
            <a:ext cx="6175375" cy="688975"/>
          </a:xfrm>
        </p:spPr>
        <p:txBody>
          <a:bodyPr lIns="0" tIns="12065" rIns="0" bIns="0" rtlCol="0">
            <a:spAutoFit/>
          </a:bodyPr>
          <a:lstStyle/>
          <a:p>
            <a:pPr marL="12700" eaLnBrk="1" fontAlgn="auto" hangingPunct="1">
              <a:spcBef>
                <a:spcPts val="95"/>
              </a:spcBef>
              <a:spcAft>
                <a:spcPts val="0"/>
              </a:spcAft>
              <a:defRPr/>
            </a:pPr>
            <a:r>
              <a:rPr b="1" spc="-5" dirty="0">
                <a:solidFill>
                  <a:schemeClr val="tx2"/>
                </a:solidFill>
                <a:cs typeface="Calibri"/>
              </a:rPr>
              <a:t>Pin Description</a:t>
            </a:r>
            <a:r>
              <a:rPr b="1" spc="-35" dirty="0">
                <a:solidFill>
                  <a:schemeClr val="tx2"/>
                </a:solidFill>
                <a:cs typeface="Calibri"/>
              </a:rPr>
              <a:t> </a:t>
            </a:r>
            <a:r>
              <a:rPr b="1" spc="-10" dirty="0">
                <a:solidFill>
                  <a:schemeClr val="tx2"/>
                </a:solidFill>
                <a:cs typeface="Calibri"/>
              </a:rPr>
              <a:t>Summary</a:t>
            </a:r>
          </a:p>
        </p:txBody>
      </p:sp>
      <p:sp>
        <p:nvSpPr>
          <p:cNvPr id="18436" name="object 5"/>
          <p:cNvSpPr txBox="1">
            <a:spLocks noChangeArrowheads="1"/>
          </p:cNvSpPr>
          <p:nvPr/>
        </p:nvSpPr>
        <p:spPr bwMode="auto">
          <a:xfrm>
            <a:off x="8940800" y="6599238"/>
            <a:ext cx="114300" cy="247650"/>
          </a:xfrm>
          <a:prstGeom prst="rect">
            <a:avLst/>
          </a:prstGeom>
          <a:noFill/>
          <a:ln w="9525">
            <a:noFill/>
            <a:miter lim="800000"/>
            <a:headEnd/>
            <a:tailEnd/>
          </a:ln>
        </p:spPr>
        <p:txBody>
          <a:bodyPr lIns="0" tIns="0" rIns="0" bIns="0">
            <a:spAutoFit/>
          </a:bodyPr>
          <a:lstStyle/>
          <a:p>
            <a:pPr marL="12700">
              <a:lnSpc>
                <a:spcPts val="1575"/>
              </a:lnSpc>
            </a:pPr>
            <a:r>
              <a:rPr lang="en-US" sz="1400" b="1" i="1">
                <a:solidFill>
                  <a:srgbClr val="FFFFFF"/>
                </a:solidFill>
                <a:latin typeface="Bradley Hand ITC" pitchFamily="66" charset="0"/>
              </a:rPr>
              <a:t>1</a:t>
            </a:r>
            <a:endParaRPr lang="en-US" sz="1400">
              <a:latin typeface="Bradley Hand ITC" pitchFamily="66" charset="0"/>
            </a:endParaRPr>
          </a:p>
        </p:txBody>
      </p:sp>
      <p:graphicFrame>
        <p:nvGraphicFramePr>
          <p:cNvPr id="4" name="object 4"/>
          <p:cNvGraphicFramePr>
            <a:graphicFrameLocks noGrp="1"/>
          </p:cNvGraphicFramePr>
          <p:nvPr/>
        </p:nvGraphicFramePr>
        <p:xfrm>
          <a:off x="136525" y="993775"/>
          <a:ext cx="8858250" cy="5788027"/>
        </p:xfrm>
        <a:graphic>
          <a:graphicData uri="http://schemas.openxmlformats.org/drawingml/2006/table">
            <a:tbl>
              <a:tblPr/>
              <a:tblGrid>
                <a:gridCol w="1465263"/>
                <a:gridCol w="815975"/>
                <a:gridCol w="6577012"/>
              </a:tblGrid>
              <a:tr h="481013">
                <a:tc>
                  <a:txBody>
                    <a:bodyPr/>
                    <a:lstStyle/>
                    <a:p>
                      <a:pPr marL="9525" marR="0" lvl="0" indent="0" algn="ctr"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rgbClr val="C00000"/>
                          </a:solidFill>
                          <a:effectLst/>
                          <a:latin typeface="Calibri" pitchFamily="34" charset="0"/>
                          <a:cs typeface="Times New Roman" pitchFamily="18" charset="0"/>
                        </a:rPr>
                        <a:t>PIN</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152400"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rgbClr val="C00000"/>
                          </a:solidFill>
                          <a:effectLst/>
                          <a:latin typeface="Calibri" pitchFamily="34" charset="0"/>
                          <a:cs typeface="Times New Roman" pitchFamily="18" charset="0"/>
                        </a:rPr>
                        <a:t>TYPE</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101850"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rgbClr val="C00000"/>
                          </a:solidFill>
                          <a:effectLst/>
                          <a:latin typeface="Calibri" pitchFamily="34" charset="0"/>
                          <a:cs typeface="Times New Roman" pitchFamily="18" charset="0"/>
                        </a:rPr>
                        <a:t>NAME AND FUNCTION</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r>
              <a:tr h="485775">
                <a:tc>
                  <a:txBody>
                    <a:bodyPr/>
                    <a:lstStyle/>
                    <a:p>
                      <a:pPr marL="9525" marR="0" lvl="0" indent="0" algn="ctr"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rgbClr val="0070C0"/>
                          </a:solidFill>
                          <a:effectLst/>
                          <a:latin typeface="Book Antiqua" pitchFamily="18" charset="0"/>
                          <a:cs typeface="Times New Roman" pitchFamily="18" charset="0"/>
                        </a:rPr>
                        <a:t>Vss (GND)</a:t>
                      </a:r>
                      <a:endParaRPr kumimoji="0" lang="en-US" sz="2000" b="0" i="0" u="none" strike="noStrike" cap="none" normalizeH="0" baseline="0" smtClean="0">
                        <a:ln>
                          <a:noFill/>
                        </a:ln>
                        <a:solidFill>
                          <a:schemeClr val="tx1"/>
                        </a:solidFill>
                        <a:effectLst/>
                        <a:latin typeface="Book Antiqua" pitchFamily="18" charset="0"/>
                        <a:cs typeface="Times New Roman" pitchFamily="18" charset="0"/>
                      </a:endParaRPr>
                    </a:p>
                  </a:txBody>
                  <a:tcPr marL="0" marR="0" marT="2794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I</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95250"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Ground: </a:t>
                      </a:r>
                      <a:r>
                        <a:rPr kumimoji="0" lang="en-US" sz="2000" b="0" i="0" u="none" strike="noStrike" cap="none" normalizeH="0" baseline="0" smtClean="0">
                          <a:ln>
                            <a:noFill/>
                          </a:ln>
                          <a:solidFill>
                            <a:schemeClr val="tx1"/>
                          </a:solidFill>
                          <a:effectLst/>
                          <a:latin typeface="Calibri" pitchFamily="34" charset="0"/>
                          <a:cs typeface="Times New Roman" pitchFamily="18" charset="0"/>
                        </a:rPr>
                        <a:t>0 V reference.</a:t>
                      </a: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r>
              <a:tr h="617538">
                <a:tc>
                  <a:txBody>
                    <a:bodyPr/>
                    <a:lstStyle/>
                    <a:p>
                      <a:pPr marL="9525" marR="0" lvl="0" indent="0" algn="ctr"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rgbClr val="0070C0"/>
                          </a:solidFill>
                          <a:effectLst/>
                          <a:latin typeface="Book Antiqua" pitchFamily="18" charset="0"/>
                          <a:cs typeface="Times New Roman" pitchFamily="18" charset="0"/>
                        </a:rPr>
                        <a:t>Vcc</a:t>
                      </a:r>
                      <a:endParaRPr kumimoji="0" lang="en-US" sz="2000" b="0" i="0" u="none" strike="noStrike" cap="none" normalizeH="0" baseline="0" smtClean="0">
                        <a:ln>
                          <a:noFill/>
                        </a:ln>
                        <a:solidFill>
                          <a:schemeClr val="tx1"/>
                        </a:solidFill>
                        <a:effectLst/>
                        <a:latin typeface="Book Antiqua" pitchFamily="18" charset="0"/>
                        <a:cs typeface="Times New Roman" pitchFamily="18" charset="0"/>
                      </a:endParaRPr>
                    </a:p>
                  </a:txBody>
                  <a:tcPr marL="0" marR="0" marT="2793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I</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95250" marR="0" lvl="0" indent="0" algn="l" defTabSz="914400" rtl="0" eaLnBrk="1" fontAlgn="base" latinLnBrk="0" hangingPunct="1">
                        <a:lnSpc>
                          <a:spcPct val="100000"/>
                        </a:lnSpc>
                        <a:spcBef>
                          <a:spcPts val="225"/>
                        </a:spcBef>
                        <a:spcAft>
                          <a:spcPct val="0"/>
                        </a:spcAft>
                        <a:buClrTx/>
                        <a:buSzTx/>
                        <a:buFontTx/>
                        <a:buNone/>
                        <a:tabLst>
                          <a:tab pos="1708150" algn="l"/>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Power Supply	+ 5V</a:t>
                      </a:r>
                      <a:r>
                        <a:rPr kumimoji="0" lang="en-US" sz="2000" b="0" i="0" u="none" strike="noStrike" cap="none" normalizeH="0" baseline="0" smtClean="0">
                          <a:ln>
                            <a:noFill/>
                          </a:ln>
                          <a:solidFill>
                            <a:schemeClr val="tx1"/>
                          </a:solidFill>
                          <a:effectLst/>
                          <a:latin typeface="Calibri" pitchFamily="34" charset="0"/>
                          <a:cs typeface="Times New Roman" pitchFamily="18" charset="0"/>
                        </a:rPr>
                        <a:t>.</a:t>
                      </a: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r>
              <a:tr h="1220788">
                <a:tc>
                  <a:txBody>
                    <a:bodyPr/>
                    <a:lstStyle/>
                    <a:p>
                      <a:pPr marL="0" marR="0" lvl="0" indent="0" algn="l" defTabSz="914400" rtl="0" eaLnBrk="1" fontAlgn="base" latinLnBrk="0" hangingPunct="1">
                        <a:lnSpc>
                          <a:spcPct val="100000"/>
                        </a:lnSpc>
                        <a:spcBef>
                          <a:spcPts val="13"/>
                        </a:spcBef>
                        <a:spcAft>
                          <a:spcPct val="0"/>
                        </a:spcAft>
                        <a:buClrTx/>
                        <a:buSzTx/>
                        <a:buFontTx/>
                        <a:buNone/>
                        <a:tabLst/>
                      </a:pPr>
                      <a:endParaRPr kumimoji="0" lang="en-US" sz="3000" b="0"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0070C0"/>
                          </a:solidFill>
                          <a:effectLst/>
                          <a:latin typeface="Book Antiqua" pitchFamily="18" charset="0"/>
                          <a:cs typeface="Times New Roman" pitchFamily="18" charset="0"/>
                        </a:rPr>
                        <a:t>P0.0 - P0.7</a:t>
                      </a:r>
                      <a:endParaRPr kumimoji="0" lang="en-US" sz="2000" b="0" i="0" u="none" strike="noStrike" cap="none" normalizeH="0" baseline="0" smtClean="0">
                        <a:ln>
                          <a:noFill/>
                        </a:ln>
                        <a:solidFill>
                          <a:schemeClr val="tx1"/>
                        </a:solidFill>
                        <a:effectLst/>
                        <a:latin typeface="Book Antiqua" pitchFamily="18" charset="0"/>
                        <a:cs typeface="Times New Roman" pitchFamily="18" charset="0"/>
                      </a:endParaRPr>
                    </a:p>
                  </a:txBody>
                  <a:tcPr marL="0" marR="0" marT="1905"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I/O</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438150" marR="0" lvl="0" indent="-342900" algn="just"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Port 0: </a:t>
                      </a:r>
                      <a:r>
                        <a:rPr kumimoji="0" lang="en-US" sz="2000" b="0" i="0" u="none" strike="noStrike" cap="none" normalizeH="0" baseline="0" smtClean="0">
                          <a:ln>
                            <a:noFill/>
                          </a:ln>
                          <a:solidFill>
                            <a:schemeClr val="tx1"/>
                          </a:solidFill>
                          <a:effectLst/>
                          <a:latin typeface="Calibri" pitchFamily="34" charset="0"/>
                          <a:cs typeface="Times New Roman" pitchFamily="18" charset="0"/>
                        </a:rPr>
                        <a:t>Port 0 is also the </a:t>
                      </a:r>
                      <a:r>
                        <a:rPr kumimoji="0" lang="en-US" sz="2000" b="1" i="0" u="none" strike="noStrike" cap="none" normalizeH="0" baseline="0" smtClean="0">
                          <a:ln>
                            <a:noFill/>
                          </a:ln>
                          <a:solidFill>
                            <a:schemeClr val="tx1"/>
                          </a:solidFill>
                          <a:effectLst/>
                          <a:latin typeface="Calibri" pitchFamily="34" charset="0"/>
                          <a:cs typeface="Times New Roman" pitchFamily="18" charset="0"/>
                        </a:rPr>
                        <a:t>multiplexed low-order address and  data bus </a:t>
                      </a:r>
                      <a:r>
                        <a:rPr kumimoji="0" lang="en-US" sz="2000" b="0" i="0" u="none" strike="noStrike" cap="none" normalizeH="0" baseline="0" smtClean="0">
                          <a:ln>
                            <a:noFill/>
                          </a:ln>
                          <a:solidFill>
                            <a:schemeClr val="tx1"/>
                          </a:solidFill>
                          <a:effectLst/>
                          <a:latin typeface="Calibri" pitchFamily="34" charset="0"/>
                          <a:cs typeface="Times New Roman" pitchFamily="18" charset="0"/>
                        </a:rPr>
                        <a:t>during accesses to external program and data  memory.</a:t>
                      </a: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r>
              <a:tr h="850900">
                <a:tc>
                  <a:txBody>
                    <a:bodyPr/>
                    <a:lstStyle/>
                    <a:p>
                      <a:pPr marL="7938" marR="0" lvl="0" indent="0" algn="ctr" defTabSz="914400" rtl="0" eaLnBrk="1" fontAlgn="base" latinLnBrk="0" hangingPunct="1">
                        <a:lnSpc>
                          <a:spcPct val="100000"/>
                        </a:lnSpc>
                        <a:spcBef>
                          <a:spcPts val="2013"/>
                        </a:spcBef>
                        <a:spcAft>
                          <a:spcPct val="0"/>
                        </a:spcAft>
                        <a:buClrTx/>
                        <a:buSzTx/>
                        <a:buFontTx/>
                        <a:buNone/>
                        <a:tabLst/>
                      </a:pPr>
                      <a:r>
                        <a:rPr kumimoji="0" lang="en-US" sz="2000" b="1" i="0" u="none" strike="noStrike" cap="none" normalizeH="0" baseline="0" smtClean="0">
                          <a:ln>
                            <a:noFill/>
                          </a:ln>
                          <a:solidFill>
                            <a:srgbClr val="0070C0"/>
                          </a:solidFill>
                          <a:effectLst/>
                          <a:latin typeface="Book Antiqua" pitchFamily="18" charset="0"/>
                          <a:cs typeface="Times New Roman" pitchFamily="18" charset="0"/>
                        </a:rPr>
                        <a:t>P1.0 - P1.7</a:t>
                      </a:r>
                      <a:endParaRPr kumimoji="0" lang="en-US" sz="2000" b="0" i="0" u="none" strike="noStrike" cap="none" normalizeH="0" baseline="0" smtClean="0">
                        <a:ln>
                          <a:noFill/>
                        </a:ln>
                        <a:solidFill>
                          <a:schemeClr val="tx1"/>
                        </a:solidFill>
                        <a:effectLst/>
                        <a:latin typeface="Book Antiqua" pitchFamily="18" charset="0"/>
                        <a:cs typeface="Times New Roman" pitchFamily="18" charset="0"/>
                      </a:endParaRPr>
                    </a:p>
                  </a:txBody>
                  <a:tcPr marL="0" marR="0" marT="25527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95250"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I/O</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95250"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Port 1: </a:t>
                      </a:r>
                      <a:r>
                        <a:rPr kumimoji="0" lang="en-US" sz="2000" b="0" i="0" u="none" strike="noStrike" cap="none" normalizeH="0" baseline="0" smtClean="0">
                          <a:ln>
                            <a:noFill/>
                          </a:ln>
                          <a:solidFill>
                            <a:schemeClr val="tx1"/>
                          </a:solidFill>
                          <a:effectLst/>
                          <a:latin typeface="Calibri" pitchFamily="34" charset="0"/>
                          <a:cs typeface="Times New Roman" pitchFamily="18" charset="0"/>
                        </a:rPr>
                        <a:t>Port 1 is an 8-bit </a:t>
                      </a:r>
                      <a:r>
                        <a:rPr kumimoji="0" lang="en-US" sz="2000" b="1" i="0" u="none" strike="noStrike" cap="none" normalizeH="0" baseline="0" smtClean="0">
                          <a:ln>
                            <a:noFill/>
                          </a:ln>
                          <a:solidFill>
                            <a:srgbClr val="C00000"/>
                          </a:solidFill>
                          <a:effectLst/>
                          <a:latin typeface="Calibri" pitchFamily="34" charset="0"/>
                          <a:cs typeface="Times New Roman" pitchFamily="18" charset="0"/>
                        </a:rPr>
                        <a:t>bi-directional simple I/O port</a:t>
                      </a:r>
                      <a:r>
                        <a:rPr kumimoji="0" lang="en-US" sz="2000" b="1" i="0" u="none" strike="noStrike" cap="none" normalizeH="0" baseline="0" smtClean="0">
                          <a:ln>
                            <a:noFill/>
                          </a:ln>
                          <a:solidFill>
                            <a:schemeClr val="tx1"/>
                          </a:solidFill>
                          <a:effectLst/>
                          <a:latin typeface="Calibri" pitchFamily="34" charset="0"/>
                          <a:cs typeface="Times New Roman" pitchFamily="18" charset="0"/>
                        </a:rPr>
                        <a:t>.</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r>
              <a:tr h="1281113">
                <a:tc>
                  <a:txBody>
                    <a:bodyPr/>
                    <a:lstStyle/>
                    <a:p>
                      <a:pPr marL="0" marR="0" lvl="0" indent="0" algn="l" defTabSz="914400" rtl="0" eaLnBrk="1" fontAlgn="base" latinLnBrk="0" hangingPunct="1">
                        <a:lnSpc>
                          <a:spcPct val="100000"/>
                        </a:lnSpc>
                        <a:spcBef>
                          <a:spcPts val="25"/>
                        </a:spcBef>
                        <a:spcAft>
                          <a:spcPct val="0"/>
                        </a:spcAft>
                        <a:buClrTx/>
                        <a:buSzTx/>
                        <a:buFontTx/>
                        <a:buNone/>
                        <a:tabLst/>
                      </a:pPr>
                      <a:endParaRPr kumimoji="0" lang="en-US" sz="3200" b="0"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0070C0"/>
                          </a:solidFill>
                          <a:effectLst/>
                          <a:latin typeface="Book Antiqua" pitchFamily="18" charset="0"/>
                          <a:cs typeface="Times New Roman" pitchFamily="18" charset="0"/>
                        </a:rPr>
                        <a:t>P2.0 - P2.7</a:t>
                      </a:r>
                      <a:endParaRPr kumimoji="0" lang="en-US" sz="2000" b="0" i="0" u="none" strike="noStrike" cap="none" normalizeH="0" baseline="0" smtClean="0">
                        <a:ln>
                          <a:noFill/>
                        </a:ln>
                        <a:solidFill>
                          <a:schemeClr val="tx1"/>
                        </a:solidFill>
                        <a:effectLst/>
                        <a:latin typeface="Book Antiqua" pitchFamily="18" charset="0"/>
                        <a:cs typeface="Times New Roman" pitchFamily="18" charset="0"/>
                      </a:endParaRPr>
                    </a:p>
                  </a:txBody>
                  <a:tcPr marL="0" marR="0" marT="254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95250"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I/O</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95250"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Port 2: </a:t>
                      </a:r>
                      <a:r>
                        <a:rPr kumimoji="0" lang="en-US" sz="2000" b="0" i="0" u="none" strike="noStrike" cap="none" normalizeH="0" baseline="0" smtClean="0">
                          <a:ln>
                            <a:noFill/>
                          </a:ln>
                          <a:solidFill>
                            <a:schemeClr val="tx1"/>
                          </a:solidFill>
                          <a:effectLst/>
                          <a:latin typeface="Calibri" pitchFamily="34" charset="0"/>
                          <a:cs typeface="Times New Roman" pitchFamily="18" charset="0"/>
                        </a:rPr>
                        <a:t>Port 2 is an 8-bit bidirectional I/O. Port 2 emits the</a:t>
                      </a:r>
                    </a:p>
                    <a:p>
                      <a:pPr marL="9525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high order address </a:t>
                      </a:r>
                      <a:r>
                        <a:rPr kumimoji="0" lang="en-US" sz="2000" b="0" i="0" u="none" strike="noStrike" cap="none" normalizeH="0" baseline="0" smtClean="0">
                          <a:ln>
                            <a:noFill/>
                          </a:ln>
                          <a:solidFill>
                            <a:schemeClr val="tx1"/>
                          </a:solidFill>
                          <a:effectLst/>
                          <a:latin typeface="Calibri" pitchFamily="34" charset="0"/>
                          <a:cs typeface="Times New Roman" pitchFamily="18" charset="0"/>
                        </a:rPr>
                        <a:t>byte</a:t>
                      </a: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r>
              <a:tr h="850900">
                <a:tc>
                  <a:txBody>
                    <a:bodyPr/>
                    <a:lstStyle/>
                    <a:p>
                      <a:pPr marL="6350" marR="0" lvl="0" indent="0" algn="ctr" defTabSz="914400" rtl="0" eaLnBrk="1" fontAlgn="base" latinLnBrk="0" hangingPunct="1">
                        <a:lnSpc>
                          <a:spcPct val="100000"/>
                        </a:lnSpc>
                        <a:spcBef>
                          <a:spcPts val="2013"/>
                        </a:spcBef>
                        <a:spcAft>
                          <a:spcPct val="0"/>
                        </a:spcAft>
                        <a:buClrTx/>
                        <a:buSzTx/>
                        <a:buFontTx/>
                        <a:buNone/>
                        <a:tabLst/>
                      </a:pPr>
                      <a:r>
                        <a:rPr kumimoji="0" lang="en-US" sz="2000" b="1" i="0" u="none" strike="noStrike" cap="none" normalizeH="0" baseline="0" smtClean="0">
                          <a:ln>
                            <a:noFill/>
                          </a:ln>
                          <a:solidFill>
                            <a:srgbClr val="0070C0"/>
                          </a:solidFill>
                          <a:effectLst/>
                          <a:latin typeface="Book Antiqua" pitchFamily="18" charset="0"/>
                          <a:cs typeface="Times New Roman" pitchFamily="18" charset="0"/>
                        </a:rPr>
                        <a:t>P3.0 - P3.7</a:t>
                      </a:r>
                      <a:endParaRPr kumimoji="0" lang="en-US" sz="2000" b="0" i="0" u="none" strike="noStrike" cap="none" normalizeH="0" baseline="0" smtClean="0">
                        <a:ln>
                          <a:noFill/>
                        </a:ln>
                        <a:solidFill>
                          <a:schemeClr val="tx1"/>
                        </a:solidFill>
                        <a:effectLst/>
                        <a:latin typeface="Book Antiqua" pitchFamily="18" charset="0"/>
                        <a:cs typeface="Times New Roman" pitchFamily="18" charset="0"/>
                      </a:endParaRPr>
                    </a:p>
                  </a:txBody>
                  <a:tcPr marL="0" marR="0" marT="25527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95250" marR="0" lvl="0" indent="0" algn="l" defTabSz="914400" rtl="0" eaLnBrk="1" fontAlgn="base" latinLnBrk="0" hangingPunct="1">
                        <a:lnSpc>
                          <a:spcPct val="100000"/>
                        </a:lnSpc>
                        <a:spcBef>
                          <a:spcPts val="238"/>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I/O</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845"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438150" marR="0" lvl="0" indent="-342900" algn="l" defTabSz="914400" rtl="0" eaLnBrk="1" fontAlgn="base" latinLnBrk="0" hangingPunct="1">
                        <a:lnSpc>
                          <a:spcPct val="100000"/>
                        </a:lnSpc>
                        <a:spcBef>
                          <a:spcPts val="238"/>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Port 3: </a:t>
                      </a:r>
                      <a:r>
                        <a:rPr kumimoji="0" lang="en-US" sz="2000" b="0" i="0" u="none" strike="noStrike" cap="none" normalizeH="0" baseline="0" smtClean="0">
                          <a:ln>
                            <a:noFill/>
                          </a:ln>
                          <a:solidFill>
                            <a:schemeClr val="tx1"/>
                          </a:solidFill>
                          <a:effectLst/>
                          <a:latin typeface="Calibri" pitchFamily="34" charset="0"/>
                          <a:cs typeface="Times New Roman" pitchFamily="18" charset="0"/>
                        </a:rPr>
                        <a:t>Port 3 is an 8 bit bidirectional I/O port. Port 3 also  serves </a:t>
                      </a:r>
                      <a:r>
                        <a:rPr kumimoji="0" lang="en-US" sz="2000" b="1" i="0" u="none" strike="noStrike" cap="none" normalizeH="0" baseline="0" smtClean="0">
                          <a:ln>
                            <a:noFill/>
                          </a:ln>
                          <a:solidFill>
                            <a:schemeClr val="tx1"/>
                          </a:solidFill>
                          <a:effectLst/>
                          <a:latin typeface="Calibri" pitchFamily="34" charset="0"/>
                          <a:cs typeface="Times New Roman" pitchFamily="18" charset="0"/>
                        </a:rPr>
                        <a:t>special features </a:t>
                      </a:r>
                      <a:r>
                        <a:rPr kumimoji="0" lang="en-US" sz="2000" b="0" i="0" u="none" strike="noStrike" cap="none" normalizeH="0" baseline="0" smtClean="0">
                          <a:ln>
                            <a:noFill/>
                          </a:ln>
                          <a:solidFill>
                            <a:schemeClr val="tx1"/>
                          </a:solidFill>
                          <a:effectLst/>
                          <a:latin typeface="Calibri" pitchFamily="34" charset="0"/>
                          <a:cs typeface="Times New Roman" pitchFamily="18" charset="0"/>
                        </a:rPr>
                        <a:t>as explained.</a:t>
                      </a:r>
                    </a:p>
                    <a:p>
                      <a:pPr marL="438150" marR="0" lvl="0" indent="-342900" algn="r" defTabSz="914400" rtl="0" eaLnBrk="1" fontAlgn="base" latinLnBrk="0" hangingPunct="1">
                        <a:lnSpc>
                          <a:spcPts val="1500"/>
                        </a:lnSpc>
                        <a:spcBef>
                          <a:spcPts val="63"/>
                        </a:spcBef>
                        <a:spcAft>
                          <a:spcPct val="0"/>
                        </a:spcAft>
                        <a:buClrTx/>
                        <a:buSzTx/>
                        <a:buFontTx/>
                        <a:buNone/>
                        <a:tabLst/>
                      </a:pPr>
                      <a:r>
                        <a:rPr kumimoji="0" lang="en-US" sz="1400" b="1" i="1" u="none" strike="noStrike" cap="none" normalizeH="0" baseline="0" smtClean="0">
                          <a:ln>
                            <a:noFill/>
                          </a:ln>
                          <a:solidFill>
                            <a:srgbClr val="FFFFFF"/>
                          </a:solidFill>
                          <a:effectLst/>
                          <a:latin typeface="Bradley Hand ITC" pitchFamily="66" charset="0"/>
                          <a:cs typeface="Times New Roman" pitchFamily="18" charset="0"/>
                        </a:rPr>
                        <a:t>51</a:t>
                      </a:r>
                      <a:endParaRPr kumimoji="0" lang="en-US" sz="1400" b="0" i="0" u="none" strike="noStrike" cap="none" normalizeH="0" baseline="0" smtClean="0">
                        <a:ln>
                          <a:noFill/>
                        </a:ln>
                        <a:solidFill>
                          <a:schemeClr val="tx1"/>
                        </a:solidFill>
                        <a:effectLst/>
                        <a:latin typeface="Bradley Hand ITC" pitchFamily="66" charset="0"/>
                        <a:cs typeface="Times New Roman" pitchFamily="18" charset="0"/>
                      </a:endParaRPr>
                    </a:p>
                  </a:txBody>
                  <a:tcPr marL="0" marR="0" marT="29845"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r>
            </a:tbl>
          </a:graphicData>
        </a:graphic>
      </p:graphicFrame>
      <p:sp>
        <p:nvSpPr>
          <p:cNvPr id="6" name="Date Placeholder 5"/>
          <p:cNvSpPr>
            <a:spLocks noGrp="1"/>
          </p:cNvSpPr>
          <p:nvPr>
            <p:ph type="dt" sz="half" idx="10"/>
          </p:nvPr>
        </p:nvSpPr>
        <p:spPr/>
        <p:txBody>
          <a:bodyPr/>
          <a:lstStyle/>
          <a:p>
            <a:pPr>
              <a:defRPr/>
            </a:pPr>
            <a:fld id="{AC485343-03AF-4CC8-BCE2-9762EBE4FB86}" type="datetime2">
              <a:rPr lang="en-US" smtClean="0"/>
              <a:pPr>
                <a:defRPr/>
              </a:pPr>
              <a:t>Friday, August 27, 2021</a:t>
            </a:fld>
            <a:endParaRPr lang="en-US"/>
          </a:p>
        </p:txBody>
      </p:sp>
      <p:sp>
        <p:nvSpPr>
          <p:cNvPr id="7" name="Slide Number Placeholder 6"/>
          <p:cNvSpPr>
            <a:spLocks noGrp="1"/>
          </p:cNvSpPr>
          <p:nvPr>
            <p:ph type="sldNum" sz="quarter" idx="12"/>
          </p:nvPr>
        </p:nvSpPr>
        <p:spPr/>
        <p:txBody>
          <a:bodyPr/>
          <a:lstStyle/>
          <a:p>
            <a:pPr>
              <a:defRPr/>
            </a:pPr>
            <a:fld id="{29365B32-0A66-4572-87C9-59177F07ABFF}" type="slidenum">
              <a:rPr lang="en-US" smtClean="0"/>
              <a:pPr>
                <a:defRPr/>
              </a:pPr>
              <a:t>16</a:t>
            </a:fld>
            <a:endParaRPr lang="en-US"/>
          </a:p>
        </p:txBody>
      </p:sp>
      <p:sp>
        <p:nvSpPr>
          <p:cNvPr id="8" name="Footer Placeholder 7"/>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object 2"/>
          <p:cNvSpPr>
            <a:spLocks noChangeArrowheads="1"/>
          </p:cNvSpPr>
          <p:nvPr/>
        </p:nvSpPr>
        <p:spPr bwMode="auto">
          <a:xfrm>
            <a:off x="0" y="0"/>
            <a:ext cx="9144000" cy="6858000"/>
          </a:xfrm>
          <a:custGeom>
            <a:avLst/>
            <a:gdLst>
              <a:gd name="T0" fmla="*/ 0 w 9144000"/>
              <a:gd name="T1" fmla="*/ 0 h 6858000"/>
              <a:gd name="T2" fmla="*/ 9144000 w 9144000"/>
              <a:gd name="T3" fmla="*/ 6858000 h 6858000"/>
            </a:gdLst>
            <a:ahLst/>
            <a:cxnLst/>
            <a:rect l="T0" t="T1" r="T2" b="T3"/>
            <a:pathLst>
              <a:path w="9144000" h="6858000">
                <a:moveTo>
                  <a:pt x="0" y="6858000"/>
                </a:moveTo>
                <a:lnTo>
                  <a:pt x="9144000" y="6858000"/>
                </a:lnTo>
                <a:lnTo>
                  <a:pt x="9144000" y="0"/>
                </a:lnTo>
                <a:lnTo>
                  <a:pt x="0" y="0"/>
                </a:lnTo>
                <a:lnTo>
                  <a:pt x="0" y="6858000"/>
                </a:lnTo>
                <a:close/>
              </a:path>
            </a:pathLst>
          </a:custGeom>
          <a:solidFill>
            <a:schemeClr val="bg1"/>
          </a:solidFill>
          <a:ln w="9525">
            <a:noFill/>
            <a:miter lim="800000"/>
            <a:headEnd/>
            <a:tailEnd/>
          </a:ln>
        </p:spPr>
        <p:txBody>
          <a:bodyPr lIns="0" tIns="0" rIns="0" bIns="0"/>
          <a:lstStyle/>
          <a:p>
            <a:endParaRPr lang="en-US"/>
          </a:p>
        </p:txBody>
      </p:sp>
      <p:sp>
        <p:nvSpPr>
          <p:cNvPr id="3" name="object 3"/>
          <p:cNvSpPr txBox="1">
            <a:spLocks noGrp="1"/>
          </p:cNvSpPr>
          <p:nvPr>
            <p:ph type="title"/>
          </p:nvPr>
        </p:nvSpPr>
        <p:spPr>
          <a:xfrm>
            <a:off x="1714500" y="0"/>
            <a:ext cx="5889625" cy="627063"/>
          </a:xfrm>
        </p:spPr>
        <p:txBody>
          <a:bodyPr lIns="0" tIns="12065" rIns="0" bIns="0" rtlCol="0">
            <a:spAutoFit/>
          </a:bodyPr>
          <a:lstStyle/>
          <a:p>
            <a:pPr marL="12700" eaLnBrk="1" fontAlgn="auto" hangingPunct="1">
              <a:spcBef>
                <a:spcPts val="95"/>
              </a:spcBef>
              <a:spcAft>
                <a:spcPts val="0"/>
              </a:spcAft>
              <a:defRPr/>
            </a:pPr>
            <a:r>
              <a:rPr sz="4000" b="1" spc="-5" dirty="0">
                <a:solidFill>
                  <a:schemeClr val="tx2"/>
                </a:solidFill>
                <a:cs typeface="Calibri"/>
              </a:rPr>
              <a:t>Pin Description</a:t>
            </a:r>
            <a:r>
              <a:rPr sz="4000" b="1" spc="-35" dirty="0">
                <a:solidFill>
                  <a:schemeClr val="tx2"/>
                </a:solidFill>
                <a:cs typeface="Calibri"/>
              </a:rPr>
              <a:t> </a:t>
            </a:r>
            <a:r>
              <a:rPr sz="4000" b="1" spc="-10" dirty="0">
                <a:solidFill>
                  <a:schemeClr val="tx2"/>
                </a:solidFill>
                <a:cs typeface="Calibri"/>
              </a:rPr>
              <a:t>Summary</a:t>
            </a:r>
          </a:p>
        </p:txBody>
      </p:sp>
      <p:sp>
        <p:nvSpPr>
          <p:cNvPr id="19460" name="object 4"/>
          <p:cNvSpPr>
            <a:spLocks noChangeArrowheads="1"/>
          </p:cNvSpPr>
          <p:nvPr/>
        </p:nvSpPr>
        <p:spPr bwMode="auto">
          <a:xfrm>
            <a:off x="2301875" y="2960688"/>
            <a:ext cx="6556375" cy="1263650"/>
          </a:xfrm>
          <a:custGeom>
            <a:avLst/>
            <a:gdLst>
              <a:gd name="T0" fmla="*/ 0 w 6557009"/>
              <a:gd name="T1" fmla="*/ 0 h 1263014"/>
              <a:gd name="T2" fmla="*/ 6557009 w 6557009"/>
              <a:gd name="T3" fmla="*/ 1263014 h 1263014"/>
            </a:gdLst>
            <a:ahLst/>
            <a:cxnLst/>
            <a:rect l="T0" t="T1" r="T2" b="T3"/>
            <a:pathLst>
              <a:path w="6557009" h="1263014">
                <a:moveTo>
                  <a:pt x="0" y="0"/>
                </a:moveTo>
                <a:lnTo>
                  <a:pt x="6556387" y="0"/>
                </a:lnTo>
                <a:lnTo>
                  <a:pt x="6556387" y="1262735"/>
                </a:lnTo>
                <a:lnTo>
                  <a:pt x="0" y="1262735"/>
                </a:lnTo>
                <a:lnTo>
                  <a:pt x="0" y="0"/>
                </a:lnTo>
                <a:close/>
              </a:path>
            </a:pathLst>
          </a:custGeom>
          <a:solidFill>
            <a:srgbClr val="C0C0C0"/>
          </a:solidFill>
          <a:ln w="9525">
            <a:noFill/>
            <a:miter lim="800000"/>
            <a:headEnd/>
            <a:tailEnd/>
          </a:ln>
        </p:spPr>
        <p:txBody>
          <a:bodyPr lIns="0" tIns="0" rIns="0" bIns="0"/>
          <a:lstStyle/>
          <a:p>
            <a:endParaRPr lang="en-US"/>
          </a:p>
        </p:txBody>
      </p:sp>
      <p:sp>
        <p:nvSpPr>
          <p:cNvPr id="19461" name="object 5"/>
          <p:cNvSpPr>
            <a:spLocks noChangeArrowheads="1"/>
          </p:cNvSpPr>
          <p:nvPr/>
        </p:nvSpPr>
        <p:spPr bwMode="auto">
          <a:xfrm>
            <a:off x="2301875" y="4222750"/>
            <a:ext cx="6556375" cy="2063750"/>
          </a:xfrm>
          <a:custGeom>
            <a:avLst/>
            <a:gdLst>
              <a:gd name="T0" fmla="*/ 0 w 6557009"/>
              <a:gd name="T1" fmla="*/ 0 h 2063114"/>
              <a:gd name="T2" fmla="*/ 6557009 w 6557009"/>
              <a:gd name="T3" fmla="*/ 2063114 h 2063114"/>
            </a:gdLst>
            <a:ahLst/>
            <a:cxnLst/>
            <a:rect l="T0" t="T1" r="T2" b="T3"/>
            <a:pathLst>
              <a:path w="6557009" h="2063114">
                <a:moveTo>
                  <a:pt x="0" y="0"/>
                </a:moveTo>
                <a:lnTo>
                  <a:pt x="6556387" y="0"/>
                </a:lnTo>
                <a:lnTo>
                  <a:pt x="6556387" y="2063076"/>
                </a:lnTo>
                <a:lnTo>
                  <a:pt x="0" y="2063076"/>
                </a:lnTo>
                <a:lnTo>
                  <a:pt x="0" y="0"/>
                </a:lnTo>
                <a:close/>
              </a:path>
            </a:pathLst>
          </a:custGeom>
          <a:solidFill>
            <a:srgbClr val="C0C0C0"/>
          </a:solidFill>
          <a:ln w="9525">
            <a:noFill/>
            <a:miter lim="800000"/>
            <a:headEnd/>
            <a:tailEnd/>
          </a:ln>
        </p:spPr>
        <p:txBody>
          <a:bodyPr lIns="0" tIns="0" rIns="0" bIns="0"/>
          <a:lstStyle/>
          <a:p>
            <a:endParaRPr lang="en-US"/>
          </a:p>
        </p:txBody>
      </p:sp>
      <p:graphicFrame>
        <p:nvGraphicFramePr>
          <p:cNvPr id="6" name="object 6"/>
          <p:cNvGraphicFramePr>
            <a:graphicFrameLocks noGrp="1"/>
          </p:cNvGraphicFramePr>
          <p:nvPr/>
        </p:nvGraphicFramePr>
        <p:xfrm>
          <a:off x="357188" y="785813"/>
          <a:ext cx="8540750" cy="5828348"/>
        </p:xfrm>
        <a:graphic>
          <a:graphicData uri="http://schemas.openxmlformats.org/drawingml/2006/table">
            <a:tbl>
              <a:tblPr/>
              <a:tblGrid>
                <a:gridCol w="1270000"/>
                <a:gridCol w="714375"/>
                <a:gridCol w="6556375"/>
              </a:tblGrid>
              <a:tr h="461963">
                <a:tc>
                  <a:txBody>
                    <a:bodyPr/>
                    <a:lstStyle/>
                    <a:p>
                      <a:pPr marL="11113" marR="0" lvl="0" indent="0" algn="ctr"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PIN</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c>
                  <a:txBody>
                    <a:bodyPr/>
                    <a:lstStyle/>
                    <a:p>
                      <a:pPr marL="10318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TYPE</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c>
                  <a:txBody>
                    <a:bodyPr/>
                    <a:lstStyle/>
                    <a:p>
                      <a:pPr marL="2092325"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NAME AND FUNCTION</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r>
              <a:tr h="466725">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RST</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I</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c>
                  <a:txBody>
                    <a:bodyPr/>
                    <a:lstStyle/>
                    <a:p>
                      <a:pPr marL="96838" marR="0" lvl="0" indent="0" algn="l" defTabSz="914400" rtl="0" eaLnBrk="1" fontAlgn="base" latinLnBrk="0" hangingPunct="1">
                        <a:lnSpc>
                          <a:spcPct val="100000"/>
                        </a:lnSpc>
                        <a:spcBef>
                          <a:spcPts val="225"/>
                        </a:spcBef>
                        <a:spcAft>
                          <a:spcPct val="0"/>
                        </a:spcAft>
                        <a:buClrTx/>
                        <a:buSzTx/>
                        <a:buFontTx/>
                        <a:buNone/>
                        <a:tabLst>
                          <a:tab pos="919163" algn="l"/>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Reset:	</a:t>
                      </a:r>
                      <a:r>
                        <a:rPr kumimoji="0" lang="en-US" sz="2000" b="0" i="0" u="none" strike="noStrike" cap="none" normalizeH="0" baseline="0" smtClean="0">
                          <a:ln>
                            <a:noFill/>
                          </a:ln>
                          <a:solidFill>
                            <a:schemeClr val="tx1"/>
                          </a:solidFill>
                          <a:effectLst/>
                          <a:latin typeface="Calibri" pitchFamily="34" charset="0"/>
                          <a:cs typeface="Times New Roman" pitchFamily="18" charset="0"/>
                        </a:rPr>
                        <a:t>resets the device.</a:t>
                      </a: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r>
              <a:tr h="928688">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ALE</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O</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c>
                  <a:txBody>
                    <a:bodyPr/>
                    <a:lstStyle/>
                    <a:p>
                      <a:pPr marL="193675" marR="0" lvl="0" indent="0" algn="l" defTabSz="914400" rtl="0" eaLnBrk="1" fontAlgn="base" latinLnBrk="0" hangingPunct="1">
                        <a:lnSpc>
                          <a:spcPts val="2388"/>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Address Latch Enable:</a:t>
                      </a:r>
                      <a:r>
                        <a:rPr kumimoji="0" lang="en-US" sz="1800" b="0" i="1" u="none" strike="noStrike" cap="none" normalizeH="0" baseline="0" smtClean="0">
                          <a:ln>
                            <a:noFill/>
                          </a:ln>
                          <a:solidFill>
                            <a:srgbClr val="C00000"/>
                          </a:solidFill>
                          <a:effectLst/>
                          <a:latin typeface="Calibri" pitchFamily="34" charset="0"/>
                          <a:cs typeface="Times New Roman" pitchFamily="18" charset="0"/>
                        </a:rPr>
                        <a:t>When ALE=0, it provides data D0-D7 </a:t>
                      </a:r>
                    </a:p>
                    <a:p>
                      <a:pPr marL="193675" marR="0" lvl="0" indent="0" algn="l" defTabSz="914400" rtl="0" eaLnBrk="1" fontAlgn="base" latinLnBrk="0" hangingPunct="1">
                        <a:lnSpc>
                          <a:spcPts val="2388"/>
                        </a:lnSpc>
                        <a:spcBef>
                          <a:spcPts val="225"/>
                        </a:spcBef>
                        <a:spcAft>
                          <a:spcPct val="0"/>
                        </a:spcAft>
                        <a:buClrTx/>
                        <a:buSzTx/>
                        <a:buFontTx/>
                        <a:buNone/>
                        <a:tabLst/>
                      </a:pPr>
                      <a:r>
                        <a:rPr kumimoji="0" lang="en-US" sz="1800" b="0" i="1" u="none" strike="noStrike" cap="none" normalizeH="0" baseline="0" smtClean="0">
                          <a:ln>
                            <a:noFill/>
                          </a:ln>
                          <a:solidFill>
                            <a:srgbClr val="C00000"/>
                          </a:solidFill>
                          <a:effectLst/>
                          <a:latin typeface="Calibri" pitchFamily="34" charset="0"/>
                          <a:cs typeface="Times New Roman" pitchFamily="18" charset="0"/>
                        </a:rPr>
                        <a:t>                                            When ALE=1, it has address A0-A7</a:t>
                      </a:r>
                      <a:endParaRPr kumimoji="0" lang="en-US" sz="18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r>
              <a:tr h="1262063">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PSEN*</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O</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Program Store Enable: </a:t>
                      </a:r>
                      <a:r>
                        <a:rPr kumimoji="0" lang="en-US" sz="2000" b="0" i="0" u="none" strike="noStrike" cap="none" normalizeH="0" baseline="0" smtClean="0">
                          <a:ln>
                            <a:noFill/>
                          </a:ln>
                          <a:solidFill>
                            <a:schemeClr val="tx1"/>
                          </a:solidFill>
                          <a:effectLst/>
                          <a:latin typeface="Calibri" pitchFamily="34" charset="0"/>
                          <a:cs typeface="Times New Roman" pitchFamily="18" charset="0"/>
                        </a:rPr>
                        <a:t>acts as read strobe to external program memory</a:t>
                      </a:r>
                    </a:p>
                    <a:p>
                      <a:pPr marL="96838" marR="0" lvl="0" indent="0" algn="l" defTabSz="914400" rtl="0" eaLnBrk="1" fontAlgn="base" latinLnBrk="0" hangingPunct="1">
                        <a:lnSpc>
                          <a:spcPct val="100000"/>
                        </a:lnSpc>
                        <a:spcBef>
                          <a:spcPts val="75"/>
                        </a:spcBef>
                        <a:spcAft>
                          <a:spcPct val="0"/>
                        </a:spcAft>
                        <a:buClrTx/>
                        <a:buSzTx/>
                        <a:buFontTx/>
                        <a:buNone/>
                        <a:tabLst/>
                      </a:pPr>
                      <a:r>
                        <a:rPr kumimoji="0" lang="en-US" sz="2000" b="0" i="0" u="none" strike="noStrike" cap="none" normalizeH="0" baseline="0" smtClean="0">
                          <a:ln>
                            <a:noFill/>
                          </a:ln>
                          <a:solidFill>
                            <a:srgbClr val="C00000"/>
                          </a:solidFill>
                          <a:effectLst/>
                          <a:latin typeface="Calibri" pitchFamily="34" charset="0"/>
                          <a:cs typeface="Arial" charset="0"/>
                        </a:rPr>
                        <a:t>For External Code Memory, PSEN = 0</a:t>
                      </a:r>
                      <a:endParaRPr kumimoji="0" lang="en-US" sz="2000" b="0" i="0" u="none" strike="noStrike" cap="none" normalizeH="0" baseline="0" smtClean="0">
                        <a:ln>
                          <a:noFill/>
                        </a:ln>
                        <a:solidFill>
                          <a:schemeClr val="tx1"/>
                        </a:solidFill>
                        <a:effectLst/>
                        <a:latin typeface="Calibri" pitchFamily="34" charset="0"/>
                        <a:cs typeface="Arial" charset="0"/>
                      </a:endParaRPr>
                    </a:p>
                    <a:p>
                      <a:pPr marL="96838" marR="0" lvl="0" indent="0" algn="l" defTabSz="914400" rtl="0" eaLnBrk="1" fontAlgn="base" latinLnBrk="0" hangingPunct="1">
                        <a:lnSpc>
                          <a:spcPct val="100000"/>
                        </a:lnSpc>
                        <a:spcBef>
                          <a:spcPts val="538"/>
                        </a:spcBef>
                        <a:spcAft>
                          <a:spcPct val="0"/>
                        </a:spcAft>
                        <a:buClrTx/>
                        <a:buSzTx/>
                        <a:buFontTx/>
                        <a:buNone/>
                        <a:tabLst/>
                      </a:pPr>
                      <a:r>
                        <a:rPr kumimoji="0" lang="en-US" sz="2000" b="0" i="0" u="none" strike="noStrike" cap="none" normalizeH="0" baseline="0" smtClean="0">
                          <a:ln>
                            <a:noFill/>
                          </a:ln>
                          <a:solidFill>
                            <a:srgbClr val="C00000"/>
                          </a:solidFill>
                          <a:effectLst/>
                          <a:latin typeface="Calibri" pitchFamily="34" charset="0"/>
                          <a:cs typeface="Arial" charset="0"/>
                        </a:rPr>
                        <a:t>For External Data Memory, PSEN = 1</a:t>
                      </a:r>
                      <a:endParaRPr kumimoji="0" lang="en-US" sz="2000" b="0" i="0" u="none" strike="noStrike" cap="none" normalizeH="0" baseline="0" smtClean="0">
                        <a:ln>
                          <a:noFill/>
                        </a:ln>
                        <a:solidFill>
                          <a:schemeClr val="tx1"/>
                        </a:solidFill>
                        <a:effectLst/>
                        <a:latin typeface="Calibri" pitchFamily="34" charset="0"/>
                        <a:cs typeface="Arial"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r>
              <a:tr h="1819275">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EA*/VPP</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I</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c>
                  <a:txBody>
                    <a:bodyPr/>
                    <a:lstStyle/>
                    <a:p>
                      <a:pPr marL="41275"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 External Access Enable/Programming Supply Voltage:</a:t>
                      </a:r>
                      <a:endParaRPr kumimoji="0" lang="en-US" sz="2000" b="0" i="0" u="none" strike="noStrike" cap="none" normalizeH="0" baseline="0" smtClean="0">
                        <a:ln>
                          <a:noFill/>
                        </a:ln>
                        <a:solidFill>
                          <a:schemeClr val="tx1"/>
                        </a:solidFill>
                        <a:effectLst/>
                        <a:latin typeface="Calibri" pitchFamily="34" charset="0"/>
                        <a:cs typeface="Times New Roman" pitchFamily="18" charset="0"/>
                      </a:endParaRPr>
                    </a:p>
                    <a:p>
                      <a:pPr marL="41275" marR="0" lvl="0" indent="0" algn="l" defTabSz="914400" rtl="0" eaLnBrk="1" fontAlgn="base" latinLnBrk="0" hangingPunct="1">
                        <a:lnSpc>
                          <a:spcPct val="100000"/>
                        </a:lnSpc>
                        <a:spcBef>
                          <a:spcPts val="75"/>
                        </a:spcBef>
                        <a:spcAft>
                          <a:spcPct val="0"/>
                        </a:spcAft>
                        <a:buClrTx/>
                        <a:buSzTx/>
                        <a:buFontTx/>
                        <a:buNone/>
                        <a:tabLst/>
                      </a:pPr>
                      <a:r>
                        <a:rPr kumimoji="0" lang="en-US" sz="2000" b="0" i="0" u="none" strike="noStrike" cap="none" normalizeH="0" baseline="0" smtClean="0">
                          <a:ln>
                            <a:noFill/>
                          </a:ln>
                          <a:solidFill>
                            <a:srgbClr val="FF0000"/>
                          </a:solidFill>
                          <a:effectLst/>
                          <a:latin typeface="Calibri" pitchFamily="34" charset="0"/>
                          <a:cs typeface="Arial" charset="0"/>
                        </a:rPr>
                        <a:t>EA	=	0,	8051 microcontroller fetches from	external program memory (ROM) only.</a:t>
                      </a:r>
                      <a:endParaRPr kumimoji="0" lang="en-US" sz="2000" b="0" i="0" u="none" strike="noStrike" cap="none" normalizeH="0" baseline="0" smtClean="0">
                        <a:ln>
                          <a:noFill/>
                        </a:ln>
                        <a:solidFill>
                          <a:schemeClr val="tx1"/>
                        </a:solidFill>
                        <a:effectLst/>
                        <a:latin typeface="Calibri" pitchFamily="34" charset="0"/>
                        <a:cs typeface="Arial" charset="0"/>
                      </a:endParaRPr>
                    </a:p>
                    <a:p>
                      <a:pPr marL="41275" marR="0" lvl="0" indent="0" algn="l" defTabSz="914400" rtl="0" eaLnBrk="1" fontAlgn="base" latinLnBrk="0" hangingPunct="1">
                        <a:lnSpc>
                          <a:spcPts val="2338"/>
                        </a:lnSpc>
                        <a:spcBef>
                          <a:spcPts val="1325"/>
                        </a:spcBef>
                        <a:spcAft>
                          <a:spcPct val="0"/>
                        </a:spcAft>
                        <a:buClrTx/>
                        <a:buSzTx/>
                        <a:buFontTx/>
                        <a:buNone/>
                        <a:tabLst/>
                      </a:pPr>
                      <a:r>
                        <a:rPr kumimoji="0" lang="en-US" sz="2000" b="0" i="0" u="none" strike="noStrike" cap="none" normalizeH="0" baseline="0" smtClean="0">
                          <a:ln>
                            <a:noFill/>
                          </a:ln>
                          <a:solidFill>
                            <a:srgbClr val="FF0000"/>
                          </a:solidFill>
                          <a:effectLst/>
                          <a:latin typeface="Calibri" pitchFamily="34" charset="0"/>
                          <a:cs typeface="Arial" charset="0"/>
                        </a:rPr>
                        <a:t>EA  =	1,	then	it	fetches from internal and external	program  memories (ROMS).</a:t>
                      </a:r>
                      <a:endParaRPr kumimoji="0" lang="en-US" sz="2000" b="0" i="0" u="none" strike="noStrike" cap="none" normalizeH="0" baseline="0" smtClean="0">
                        <a:ln>
                          <a:noFill/>
                        </a:ln>
                        <a:solidFill>
                          <a:schemeClr val="tx1"/>
                        </a:solidFill>
                        <a:effectLst/>
                        <a:latin typeface="Calibri" pitchFamily="34" charset="0"/>
                        <a:cs typeface="Arial" charset="0"/>
                      </a:endParaRP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r>
              <a:tr h="827088">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XTAL1 and XTAL2</a:t>
                      </a: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c>
                  <a:txBody>
                    <a:bodyPr/>
                    <a:lstStyle/>
                    <a:p>
                      <a:pPr marL="96838" marR="0" lvl="0" indent="0" algn="l" defTabSz="914400" rtl="0" eaLnBrk="1" fontAlgn="base" latinLnBrk="0" hangingPunct="1">
                        <a:lnSpc>
                          <a:spcPct val="100000"/>
                        </a:lnSpc>
                        <a:spcBef>
                          <a:spcPts val="225"/>
                        </a:spcBef>
                        <a:spcAft>
                          <a:spcPct val="0"/>
                        </a:spcAft>
                        <a:buClrTx/>
                        <a:buSzTx/>
                        <a:buFontTx/>
                        <a:buNone/>
                        <a:tabLst/>
                      </a:pPr>
                      <a:r>
                        <a:rPr kumimoji="0" lang="en-US" sz="2000" b="1" i="0" u="none" strike="noStrike" cap="none" normalizeH="0" baseline="0" smtClean="0">
                          <a:ln>
                            <a:noFill/>
                          </a:ln>
                          <a:solidFill>
                            <a:schemeClr val="tx1"/>
                          </a:solidFill>
                          <a:effectLst/>
                          <a:latin typeface="Calibri" pitchFamily="34" charset="0"/>
                          <a:cs typeface="Times New Roman" pitchFamily="18" charset="0"/>
                        </a:rPr>
                        <a:t>1</a:t>
                      </a: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c>
                  <a:txBody>
                    <a:bodyPr/>
                    <a:lstStyle/>
                    <a:p>
                      <a:pPr marL="96838" marR="0" lvl="0" indent="0" algn="l" defTabSz="914400" rtl="0" eaLnBrk="1" fontAlgn="base" latinLnBrk="0" hangingPunct="1">
                        <a:lnSpc>
                          <a:spcPts val="2338"/>
                        </a:lnSpc>
                        <a:spcBef>
                          <a:spcPts val="1325"/>
                        </a:spcBef>
                        <a:spcAft>
                          <a:spcPct val="0"/>
                        </a:spcAft>
                        <a:buClrTx/>
                        <a:buSzTx/>
                        <a:buFontTx/>
                        <a:buNone/>
                        <a:tabLst>
                          <a:tab pos="831850" algn="l"/>
                          <a:tab pos="1173163" algn="l"/>
                          <a:tab pos="1797050" algn="l"/>
                          <a:tab pos="2055813" algn="l"/>
                          <a:tab pos="2974975" algn="l"/>
                          <a:tab pos="3937000" algn="l"/>
                          <a:tab pos="4491038" algn="l"/>
                          <a:tab pos="5526088" algn="l"/>
                        </a:tabLst>
                      </a:pPr>
                      <a:r>
                        <a:rPr kumimoji="0" lang="en-US" sz="2000" b="1" i="0" u="none" strike="noStrike" cap="none" normalizeH="0" baseline="0" smtClean="0">
                          <a:ln>
                            <a:noFill/>
                          </a:ln>
                          <a:solidFill>
                            <a:schemeClr val="tx1"/>
                          </a:solidFill>
                          <a:effectLst/>
                          <a:latin typeface="Calibri" pitchFamily="34" charset="0"/>
                          <a:cs typeface="Arial" charset="0"/>
                        </a:rPr>
                        <a:t>Oscillator pins </a:t>
                      </a:r>
                      <a:r>
                        <a:rPr kumimoji="0" lang="en-US" sz="2000" b="0" i="0" u="none" strike="noStrike" cap="none" normalizeH="0" baseline="0" smtClean="0">
                          <a:ln>
                            <a:noFill/>
                          </a:ln>
                          <a:solidFill>
                            <a:schemeClr val="tx1"/>
                          </a:solidFill>
                          <a:effectLst/>
                          <a:latin typeface="Calibri" pitchFamily="34" charset="0"/>
                          <a:cs typeface="Arial" charset="0"/>
                        </a:rPr>
                        <a:t>for generating an internal clock. External oscillator is connected to these pins.</a:t>
                      </a:r>
                    </a:p>
                  </a:txBody>
                  <a:tcPr marL="0" marR="0" marT="29209"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FBFBF"/>
                    </a:solidFill>
                  </a:tcPr>
                </a:tc>
              </a:tr>
            </a:tbl>
          </a:graphicData>
        </a:graphic>
      </p:graphicFrame>
      <p:sp>
        <p:nvSpPr>
          <p:cNvPr id="19492" name="object 7"/>
          <p:cNvSpPr>
            <a:spLocks noChangeArrowheads="1"/>
          </p:cNvSpPr>
          <p:nvPr/>
        </p:nvSpPr>
        <p:spPr bwMode="auto">
          <a:xfrm>
            <a:off x="6527800" y="3602038"/>
            <a:ext cx="800100" cy="125412"/>
          </a:xfrm>
          <a:prstGeom prst="rect">
            <a:avLst/>
          </a:prstGeom>
          <a:blipFill dpi="0" rotWithShape="1">
            <a:blip r:embed="rId2"/>
            <a:srcRect/>
            <a:stretch>
              <a:fillRect/>
            </a:stretch>
          </a:blipFill>
          <a:ln w="9525">
            <a:noFill/>
            <a:miter lim="800000"/>
            <a:headEnd/>
            <a:tailEnd/>
          </a:ln>
        </p:spPr>
        <p:txBody>
          <a:bodyPr lIns="0" tIns="0" rIns="0" bIns="0"/>
          <a:lstStyle/>
          <a:p>
            <a:endParaRPr lang="en-US"/>
          </a:p>
        </p:txBody>
      </p:sp>
      <p:sp>
        <p:nvSpPr>
          <p:cNvPr id="19493" name="object 8"/>
          <p:cNvSpPr>
            <a:spLocks noChangeArrowheads="1"/>
          </p:cNvSpPr>
          <p:nvPr/>
        </p:nvSpPr>
        <p:spPr bwMode="auto">
          <a:xfrm>
            <a:off x="6286500" y="3500438"/>
            <a:ext cx="714375" cy="1587"/>
          </a:xfrm>
          <a:custGeom>
            <a:avLst/>
            <a:gdLst>
              <a:gd name="T0" fmla="*/ 0 w 714375"/>
              <a:gd name="T1" fmla="*/ 0 h 1904"/>
              <a:gd name="T2" fmla="*/ 714375 w 714375"/>
              <a:gd name="T3" fmla="*/ 1904 h 1904"/>
            </a:gdLst>
            <a:ahLst/>
            <a:cxnLst/>
            <a:rect l="T0" t="T1" r="T2" b="T3"/>
            <a:pathLst>
              <a:path w="714375" h="1904">
                <a:moveTo>
                  <a:pt x="0" y="0"/>
                </a:moveTo>
                <a:lnTo>
                  <a:pt x="714375" y="1587"/>
                </a:lnTo>
              </a:path>
            </a:pathLst>
          </a:custGeom>
          <a:noFill/>
          <a:ln w="38100">
            <a:solidFill>
              <a:srgbClr val="000000"/>
            </a:solidFill>
            <a:miter lim="800000"/>
            <a:headEnd/>
            <a:tailEnd/>
          </a:ln>
        </p:spPr>
        <p:txBody>
          <a:bodyPr lIns="0" tIns="0" rIns="0" bIns="0"/>
          <a:lstStyle/>
          <a:p>
            <a:endParaRPr lang="en-US"/>
          </a:p>
        </p:txBody>
      </p:sp>
      <p:sp>
        <p:nvSpPr>
          <p:cNvPr id="19494" name="object 9"/>
          <p:cNvSpPr>
            <a:spLocks noChangeArrowheads="1"/>
          </p:cNvSpPr>
          <p:nvPr/>
        </p:nvSpPr>
        <p:spPr bwMode="auto">
          <a:xfrm>
            <a:off x="6527800" y="3176588"/>
            <a:ext cx="800100" cy="123825"/>
          </a:xfrm>
          <a:prstGeom prst="rect">
            <a:avLst/>
          </a:prstGeom>
          <a:blipFill dpi="0" rotWithShape="1">
            <a:blip r:embed="rId3"/>
            <a:srcRect/>
            <a:stretch>
              <a:fillRect/>
            </a:stretch>
          </a:blipFill>
          <a:ln w="9525">
            <a:noFill/>
            <a:miter lim="800000"/>
            <a:headEnd/>
            <a:tailEnd/>
          </a:ln>
        </p:spPr>
        <p:txBody>
          <a:bodyPr lIns="0" tIns="0" rIns="0" bIns="0"/>
          <a:lstStyle/>
          <a:p>
            <a:endParaRPr lang="en-US"/>
          </a:p>
        </p:txBody>
      </p:sp>
      <p:sp>
        <p:nvSpPr>
          <p:cNvPr id="19495" name="object 10"/>
          <p:cNvSpPr>
            <a:spLocks noChangeArrowheads="1"/>
          </p:cNvSpPr>
          <p:nvPr/>
        </p:nvSpPr>
        <p:spPr bwMode="auto">
          <a:xfrm>
            <a:off x="6286500" y="3143250"/>
            <a:ext cx="714375" cy="1588"/>
          </a:xfrm>
          <a:custGeom>
            <a:avLst/>
            <a:gdLst>
              <a:gd name="T0" fmla="*/ 0 w 714375"/>
              <a:gd name="T1" fmla="*/ 0 h 1905"/>
              <a:gd name="T2" fmla="*/ 714375 w 714375"/>
              <a:gd name="T3" fmla="*/ 1905 h 1905"/>
            </a:gdLst>
            <a:ahLst/>
            <a:cxnLst/>
            <a:rect l="T0" t="T1" r="T2" b="T3"/>
            <a:pathLst>
              <a:path w="714375" h="1905">
                <a:moveTo>
                  <a:pt x="0" y="0"/>
                </a:moveTo>
                <a:lnTo>
                  <a:pt x="714375" y="1587"/>
                </a:lnTo>
              </a:path>
            </a:pathLst>
          </a:custGeom>
          <a:noFill/>
          <a:ln w="38100">
            <a:solidFill>
              <a:srgbClr val="000000"/>
            </a:solidFill>
            <a:miter lim="800000"/>
            <a:headEnd/>
            <a:tailEnd/>
          </a:ln>
        </p:spPr>
        <p:txBody>
          <a:bodyPr lIns="0" tIns="0" rIns="0" bIns="0"/>
          <a:lstStyle/>
          <a:p>
            <a:endParaRPr lang="en-US"/>
          </a:p>
        </p:txBody>
      </p:sp>
      <p:sp>
        <p:nvSpPr>
          <p:cNvPr id="19496" name="object 11"/>
          <p:cNvSpPr>
            <a:spLocks noChangeArrowheads="1"/>
          </p:cNvSpPr>
          <p:nvPr/>
        </p:nvSpPr>
        <p:spPr bwMode="auto">
          <a:xfrm>
            <a:off x="2357438" y="4929188"/>
            <a:ext cx="441325" cy="125412"/>
          </a:xfrm>
          <a:prstGeom prst="rect">
            <a:avLst/>
          </a:prstGeom>
          <a:blipFill dpi="0" rotWithShape="1">
            <a:blip r:embed="rId4">
              <a:grayscl/>
              <a:biLevel thresh="50000"/>
            </a:blip>
            <a:srcRect/>
            <a:stretch>
              <a:fillRect/>
            </a:stretch>
          </a:blipFill>
          <a:ln w="9525">
            <a:noFill/>
            <a:miter lim="800000"/>
            <a:headEnd/>
            <a:tailEnd/>
          </a:ln>
        </p:spPr>
        <p:txBody>
          <a:bodyPr lIns="0" tIns="0" rIns="0" bIns="0"/>
          <a:lstStyle/>
          <a:p>
            <a:endParaRPr lang="en-US"/>
          </a:p>
        </p:txBody>
      </p:sp>
      <p:sp>
        <p:nvSpPr>
          <p:cNvPr id="19497" name="object 13"/>
          <p:cNvSpPr>
            <a:spLocks noChangeArrowheads="1"/>
          </p:cNvSpPr>
          <p:nvPr/>
        </p:nvSpPr>
        <p:spPr bwMode="auto">
          <a:xfrm>
            <a:off x="2286000" y="4214813"/>
            <a:ext cx="441325" cy="125412"/>
          </a:xfrm>
          <a:prstGeom prst="rect">
            <a:avLst/>
          </a:prstGeom>
          <a:blipFill dpi="0" rotWithShape="1">
            <a:blip r:embed="rId5"/>
            <a:srcRect/>
            <a:stretch>
              <a:fillRect/>
            </a:stretch>
          </a:blipFill>
          <a:ln w="9525">
            <a:noFill/>
            <a:miter lim="800000"/>
            <a:headEnd/>
            <a:tailEnd/>
          </a:ln>
        </p:spPr>
        <p:txBody>
          <a:bodyPr lIns="0" tIns="0" rIns="0" bIns="0"/>
          <a:lstStyle/>
          <a:p>
            <a:endParaRPr lang="en-US"/>
          </a:p>
        </p:txBody>
      </p:sp>
      <p:sp>
        <p:nvSpPr>
          <p:cNvPr id="14" name="object 14"/>
          <p:cNvSpPr txBox="1"/>
          <p:nvPr/>
        </p:nvSpPr>
        <p:spPr>
          <a:xfrm>
            <a:off x="8732838" y="6599238"/>
            <a:ext cx="320675" cy="247650"/>
          </a:xfrm>
          <a:prstGeom prst="rect">
            <a:avLst/>
          </a:prstGeom>
        </p:spPr>
        <p:txBody>
          <a:bodyPr lIns="0" tIns="0" rIns="0" bIns="0">
            <a:spAutoFit/>
          </a:bodyPr>
          <a:lstStyle/>
          <a:p>
            <a:pPr marL="12700">
              <a:lnSpc>
                <a:spcPts val="1570"/>
              </a:lnSpc>
              <a:defRPr/>
            </a:pPr>
            <a:r>
              <a:rPr sz="1400" b="1" i="1" spc="5" dirty="0">
                <a:solidFill>
                  <a:srgbClr val="FFFFFF"/>
                </a:solidFill>
                <a:latin typeface="Bradley Hand ITC"/>
                <a:cs typeface="Bradley Hand ITC"/>
              </a:rPr>
              <a:t>5</a:t>
            </a:r>
            <a:r>
              <a:rPr sz="1400" b="1" i="1" dirty="0">
                <a:solidFill>
                  <a:srgbClr val="FFFFFF"/>
                </a:solidFill>
                <a:latin typeface="Bradley Hand ITC"/>
                <a:cs typeface="Bradley Hand ITC"/>
              </a:rPr>
              <a:t>12</a:t>
            </a:r>
            <a:endParaRPr sz="1400">
              <a:latin typeface="Bradley Hand ITC"/>
              <a:cs typeface="Bradley Hand ITC"/>
            </a:endParaRPr>
          </a:p>
        </p:txBody>
      </p:sp>
      <p:sp>
        <p:nvSpPr>
          <p:cNvPr id="15" name="Date Placeholder 14"/>
          <p:cNvSpPr>
            <a:spLocks noGrp="1"/>
          </p:cNvSpPr>
          <p:nvPr>
            <p:ph type="dt" sz="half" idx="10"/>
          </p:nvPr>
        </p:nvSpPr>
        <p:spPr/>
        <p:txBody>
          <a:bodyPr/>
          <a:lstStyle/>
          <a:p>
            <a:pPr>
              <a:defRPr/>
            </a:pPr>
            <a:fld id="{1DADC1AE-CCD7-4E00-AA60-89494E5A1340}" type="datetime2">
              <a:rPr lang="en-US" smtClean="0"/>
              <a:pPr>
                <a:defRPr/>
              </a:pPr>
              <a:t>Friday, August 27, 2021</a:t>
            </a:fld>
            <a:endParaRPr lang="en-US"/>
          </a:p>
        </p:txBody>
      </p:sp>
      <p:sp>
        <p:nvSpPr>
          <p:cNvPr id="16" name="Slide Number Placeholder 15"/>
          <p:cNvSpPr>
            <a:spLocks noGrp="1"/>
          </p:cNvSpPr>
          <p:nvPr>
            <p:ph type="sldNum" sz="quarter" idx="12"/>
          </p:nvPr>
        </p:nvSpPr>
        <p:spPr/>
        <p:txBody>
          <a:bodyPr/>
          <a:lstStyle/>
          <a:p>
            <a:pPr>
              <a:defRPr/>
            </a:pPr>
            <a:fld id="{29365B32-0A66-4572-87C9-59177F07ABFF}" type="slidenum">
              <a:rPr lang="en-US" smtClean="0"/>
              <a:pPr>
                <a:defRPr/>
              </a:pPr>
              <a:t>17</a:t>
            </a:fld>
            <a:endParaRPr lang="en-US"/>
          </a:p>
        </p:txBody>
      </p:sp>
      <p:sp>
        <p:nvSpPr>
          <p:cNvPr id="17" name="Footer Placeholder 16"/>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object 2"/>
          <p:cNvSpPr>
            <a:spLocks noChangeArrowheads="1"/>
          </p:cNvSpPr>
          <p:nvPr/>
        </p:nvSpPr>
        <p:spPr bwMode="auto">
          <a:xfrm>
            <a:off x="0" y="0"/>
            <a:ext cx="9144000" cy="6858000"/>
          </a:xfrm>
          <a:custGeom>
            <a:avLst/>
            <a:gdLst>
              <a:gd name="T0" fmla="*/ 0 w 9144000"/>
              <a:gd name="T1" fmla="*/ 0 h 6858000"/>
              <a:gd name="T2" fmla="*/ 9144000 w 9144000"/>
              <a:gd name="T3" fmla="*/ 6858000 h 6858000"/>
            </a:gdLst>
            <a:ahLst/>
            <a:cxnLst/>
            <a:rect l="T0" t="T1" r="T2" b="T3"/>
            <a:pathLst>
              <a:path w="9144000" h="6858000">
                <a:moveTo>
                  <a:pt x="0" y="6858000"/>
                </a:moveTo>
                <a:lnTo>
                  <a:pt x="9144000" y="6858000"/>
                </a:lnTo>
                <a:lnTo>
                  <a:pt x="9144000" y="0"/>
                </a:lnTo>
                <a:lnTo>
                  <a:pt x="0" y="0"/>
                </a:lnTo>
                <a:lnTo>
                  <a:pt x="0" y="6858000"/>
                </a:lnTo>
                <a:close/>
              </a:path>
            </a:pathLst>
          </a:custGeom>
          <a:solidFill>
            <a:schemeClr val="bg1"/>
          </a:solidFill>
          <a:ln w="9525">
            <a:noFill/>
            <a:miter lim="800000"/>
            <a:headEnd/>
            <a:tailEnd/>
          </a:ln>
        </p:spPr>
        <p:txBody>
          <a:bodyPr lIns="0" tIns="0" rIns="0" bIns="0"/>
          <a:lstStyle/>
          <a:p>
            <a:endParaRPr lang="en-US"/>
          </a:p>
        </p:txBody>
      </p:sp>
      <p:sp>
        <p:nvSpPr>
          <p:cNvPr id="3" name="object 3"/>
          <p:cNvSpPr txBox="1">
            <a:spLocks noGrp="1"/>
          </p:cNvSpPr>
          <p:nvPr>
            <p:ph type="title"/>
          </p:nvPr>
        </p:nvSpPr>
        <p:spPr>
          <a:xfrm>
            <a:off x="3571875" y="0"/>
            <a:ext cx="1649413" cy="688975"/>
          </a:xfrm>
        </p:spPr>
        <p:txBody>
          <a:bodyPr lIns="0" tIns="12065" rIns="0" bIns="0" rtlCol="0">
            <a:spAutoFit/>
          </a:bodyPr>
          <a:lstStyle/>
          <a:p>
            <a:pPr marL="12700" eaLnBrk="1" fontAlgn="auto" hangingPunct="1">
              <a:spcBef>
                <a:spcPts val="95"/>
              </a:spcBef>
              <a:spcAft>
                <a:spcPts val="0"/>
              </a:spcAft>
              <a:defRPr/>
            </a:pPr>
            <a:r>
              <a:rPr b="1" spc="-10" dirty="0">
                <a:solidFill>
                  <a:schemeClr val="tx2"/>
                </a:solidFill>
                <a:cs typeface="Calibri"/>
              </a:rPr>
              <a:t>Port</a:t>
            </a:r>
            <a:r>
              <a:rPr b="1" spc="-70" dirty="0">
                <a:solidFill>
                  <a:schemeClr val="tx2"/>
                </a:solidFill>
                <a:cs typeface="Calibri"/>
              </a:rPr>
              <a:t> </a:t>
            </a:r>
            <a:r>
              <a:rPr b="1" spc="-5" dirty="0">
                <a:solidFill>
                  <a:schemeClr val="tx2"/>
                </a:solidFill>
                <a:cs typeface="Calibri"/>
              </a:rPr>
              <a:t>3</a:t>
            </a:r>
          </a:p>
        </p:txBody>
      </p:sp>
      <p:sp>
        <p:nvSpPr>
          <p:cNvPr id="4" name="object 4"/>
          <p:cNvSpPr txBox="1"/>
          <p:nvPr/>
        </p:nvSpPr>
        <p:spPr>
          <a:xfrm>
            <a:off x="2092325" y="1336675"/>
            <a:ext cx="6777038" cy="2251075"/>
          </a:xfrm>
          <a:prstGeom prst="rect">
            <a:avLst/>
          </a:prstGeom>
        </p:spPr>
        <p:txBody>
          <a:bodyPr lIns="0" tIns="0" rIns="0" bIns="0">
            <a:spAutoFit/>
          </a:bodyPr>
          <a:lstStyle/>
          <a:p>
            <a:pPr>
              <a:lnSpc>
                <a:spcPts val="3045"/>
              </a:lnSpc>
              <a:tabLst>
                <a:tab pos="342900" algn="l"/>
              </a:tabLst>
              <a:defRPr/>
            </a:pPr>
            <a:r>
              <a:rPr sz="3200" dirty="0">
                <a:solidFill>
                  <a:srgbClr val="92D050"/>
                </a:solidFill>
                <a:latin typeface="Calibri"/>
                <a:cs typeface="Calibri"/>
              </a:rPr>
              <a:t>•	Port 3 can </a:t>
            </a:r>
            <a:r>
              <a:rPr sz="3200" spc="-5" dirty="0">
                <a:solidFill>
                  <a:srgbClr val="92D050"/>
                </a:solidFill>
                <a:latin typeface="Calibri"/>
                <a:cs typeface="Calibri"/>
              </a:rPr>
              <a:t>be used as </a:t>
            </a:r>
            <a:r>
              <a:rPr sz="3200" b="1" spc="-5" dirty="0">
                <a:solidFill>
                  <a:srgbClr val="CC99FF"/>
                </a:solidFill>
                <a:latin typeface="Calibri"/>
                <a:cs typeface="Calibri"/>
              </a:rPr>
              <a:t>input </a:t>
            </a:r>
            <a:r>
              <a:rPr sz="3200" b="1" dirty="0">
                <a:solidFill>
                  <a:srgbClr val="CC99FF"/>
                </a:solidFill>
                <a:latin typeface="Calibri"/>
                <a:cs typeface="Calibri"/>
              </a:rPr>
              <a:t>or</a:t>
            </a:r>
            <a:r>
              <a:rPr sz="3200" b="1" spc="-35" dirty="0">
                <a:solidFill>
                  <a:srgbClr val="CC99FF"/>
                </a:solidFill>
                <a:latin typeface="Calibri"/>
                <a:cs typeface="Calibri"/>
              </a:rPr>
              <a:t> </a:t>
            </a:r>
            <a:r>
              <a:rPr sz="3200" b="1" spc="-5" dirty="0">
                <a:solidFill>
                  <a:srgbClr val="CC99FF"/>
                </a:solidFill>
                <a:latin typeface="Calibri"/>
                <a:cs typeface="Calibri"/>
              </a:rPr>
              <a:t>output</a:t>
            </a:r>
            <a:r>
              <a:rPr sz="3200" spc="-5" dirty="0">
                <a:solidFill>
                  <a:srgbClr val="92D050"/>
                </a:solidFill>
                <a:latin typeface="Calibri"/>
                <a:cs typeface="Calibri"/>
              </a:rPr>
              <a:t>.</a:t>
            </a:r>
            <a:endParaRPr sz="3200">
              <a:latin typeface="Calibri"/>
              <a:cs typeface="Calibri"/>
            </a:endParaRPr>
          </a:p>
          <a:p>
            <a:pPr>
              <a:spcBef>
                <a:spcPts val="10"/>
              </a:spcBef>
              <a:defRPr/>
            </a:pPr>
            <a:endParaRPr sz="2600">
              <a:latin typeface="Times New Roman"/>
              <a:cs typeface="Times New Roman"/>
            </a:endParaRPr>
          </a:p>
          <a:p>
            <a:pPr marL="342900" indent="-343535" algn="just">
              <a:defRPr/>
            </a:pPr>
            <a:r>
              <a:rPr sz="3200" dirty="0">
                <a:solidFill>
                  <a:srgbClr val="92D050"/>
                </a:solidFill>
                <a:latin typeface="Calibri"/>
                <a:cs typeface="Calibri"/>
              </a:rPr>
              <a:t>• Port 3 has </a:t>
            </a:r>
            <a:r>
              <a:rPr sz="3200" spc="-5" dirty="0">
                <a:solidFill>
                  <a:srgbClr val="92D050"/>
                </a:solidFill>
                <a:latin typeface="Calibri"/>
                <a:cs typeface="Calibri"/>
              </a:rPr>
              <a:t>the </a:t>
            </a:r>
            <a:r>
              <a:rPr sz="3200" b="1" spc="-5" dirty="0">
                <a:solidFill>
                  <a:srgbClr val="CC99FF"/>
                </a:solidFill>
                <a:latin typeface="Calibri"/>
                <a:cs typeface="Calibri"/>
              </a:rPr>
              <a:t>additional function </a:t>
            </a:r>
            <a:r>
              <a:rPr sz="3200" dirty="0">
                <a:solidFill>
                  <a:srgbClr val="92D050"/>
                </a:solidFill>
                <a:latin typeface="Calibri"/>
                <a:cs typeface="Calibri"/>
              </a:rPr>
              <a:t>of  </a:t>
            </a:r>
            <a:r>
              <a:rPr sz="3200" spc="-5" dirty="0">
                <a:solidFill>
                  <a:srgbClr val="92D050"/>
                </a:solidFill>
                <a:latin typeface="Calibri"/>
                <a:cs typeface="Calibri"/>
              </a:rPr>
              <a:t>providing some extremely important  signals</a:t>
            </a:r>
            <a:endParaRPr sz="3200">
              <a:latin typeface="Calibri"/>
              <a:cs typeface="Calibri"/>
            </a:endParaRPr>
          </a:p>
        </p:txBody>
      </p:sp>
      <p:sp>
        <p:nvSpPr>
          <p:cNvPr id="20485" name="object 5"/>
          <p:cNvSpPr>
            <a:spLocks noChangeArrowheads="1"/>
          </p:cNvSpPr>
          <p:nvPr/>
        </p:nvSpPr>
        <p:spPr bwMode="auto">
          <a:xfrm>
            <a:off x="142875" y="2524125"/>
            <a:ext cx="1752600" cy="3976688"/>
          </a:xfrm>
          <a:prstGeom prst="rect">
            <a:avLst/>
          </a:prstGeom>
          <a:blipFill dpi="0" rotWithShape="1">
            <a:blip r:embed="rId2"/>
            <a:srcRect/>
            <a:stretch>
              <a:fillRect/>
            </a:stretch>
          </a:blipFill>
          <a:ln w="9525">
            <a:noFill/>
            <a:miter lim="800000"/>
            <a:headEnd/>
            <a:tailEnd/>
          </a:ln>
        </p:spPr>
        <p:txBody>
          <a:bodyPr lIns="0" tIns="0" rIns="0" bIns="0"/>
          <a:lstStyle/>
          <a:p>
            <a:endParaRPr lang="en-US"/>
          </a:p>
        </p:txBody>
      </p:sp>
      <p:sp>
        <p:nvSpPr>
          <p:cNvPr id="20486" name="object 6"/>
          <p:cNvSpPr>
            <a:spLocks noChangeArrowheads="1"/>
          </p:cNvSpPr>
          <p:nvPr/>
        </p:nvSpPr>
        <p:spPr bwMode="auto">
          <a:xfrm>
            <a:off x="119063" y="1214438"/>
            <a:ext cx="8905875" cy="5357812"/>
          </a:xfrm>
          <a:prstGeom prst="rect">
            <a:avLst/>
          </a:prstGeom>
          <a:blipFill dpi="0" rotWithShape="1">
            <a:blip r:embed="rId3"/>
            <a:srcRect/>
            <a:stretch>
              <a:fillRect/>
            </a:stretch>
          </a:blipFill>
          <a:ln w="9525">
            <a:noFill/>
            <a:miter lim="800000"/>
            <a:headEnd/>
            <a:tailEnd/>
          </a:ln>
        </p:spPr>
        <p:txBody>
          <a:bodyPr lIns="0" tIns="0" rIns="0" bIns="0"/>
          <a:lstStyle/>
          <a:p>
            <a:endParaRPr lang="en-US"/>
          </a:p>
        </p:txBody>
      </p:sp>
      <p:sp>
        <p:nvSpPr>
          <p:cNvPr id="20487" name="object 7"/>
          <p:cNvSpPr txBox="1">
            <a:spLocks noChangeArrowheads="1"/>
          </p:cNvSpPr>
          <p:nvPr/>
        </p:nvSpPr>
        <p:spPr bwMode="auto">
          <a:xfrm>
            <a:off x="8721725" y="6599238"/>
            <a:ext cx="346075" cy="247650"/>
          </a:xfrm>
          <a:prstGeom prst="rect">
            <a:avLst/>
          </a:prstGeom>
          <a:noFill/>
          <a:ln w="9525">
            <a:noFill/>
            <a:miter lim="800000"/>
            <a:headEnd/>
            <a:tailEnd/>
          </a:ln>
        </p:spPr>
        <p:txBody>
          <a:bodyPr lIns="0" tIns="0" rIns="0" bIns="0">
            <a:spAutoFit/>
          </a:bodyPr>
          <a:lstStyle/>
          <a:p>
            <a:pPr marL="25400">
              <a:lnSpc>
                <a:spcPts val="1575"/>
              </a:lnSpc>
            </a:pPr>
            <a:fld id="{CC7E1764-EC95-49C3-A461-BBA35B1CEC70}" type="slidenum">
              <a:rPr lang="en-US" sz="1400" b="1" i="1">
                <a:solidFill>
                  <a:srgbClr val="FFFFFF"/>
                </a:solidFill>
                <a:latin typeface="Bradley Hand ITC" pitchFamily="66" charset="0"/>
              </a:rPr>
              <a:pPr marL="25400">
                <a:lnSpc>
                  <a:spcPts val="1575"/>
                </a:lnSpc>
              </a:pPr>
              <a:t>18</a:t>
            </a:fld>
            <a:endParaRPr lang="en-US" sz="1400">
              <a:latin typeface="Bradley Hand ITC" pitchFamily="66" charset="0"/>
            </a:endParaRPr>
          </a:p>
        </p:txBody>
      </p:sp>
      <p:sp>
        <p:nvSpPr>
          <p:cNvPr id="8" name="Date Placeholder 7"/>
          <p:cNvSpPr>
            <a:spLocks noGrp="1"/>
          </p:cNvSpPr>
          <p:nvPr>
            <p:ph type="dt" sz="half" idx="10"/>
          </p:nvPr>
        </p:nvSpPr>
        <p:spPr/>
        <p:txBody>
          <a:bodyPr/>
          <a:lstStyle/>
          <a:p>
            <a:pPr>
              <a:defRPr/>
            </a:pPr>
            <a:fld id="{CADBCE15-5509-42C8-8A74-E58B34A5DC1C}" type="datetime2">
              <a:rPr lang="en-US" smtClean="0"/>
              <a:pPr>
                <a:defRPr/>
              </a:pPr>
              <a:t>Friday, August 27, 2021</a:t>
            </a:fld>
            <a:endParaRPr lang="en-US"/>
          </a:p>
        </p:txBody>
      </p:sp>
      <p:sp>
        <p:nvSpPr>
          <p:cNvPr id="9" name="Slide Number Placeholder 8"/>
          <p:cNvSpPr>
            <a:spLocks noGrp="1"/>
          </p:cNvSpPr>
          <p:nvPr>
            <p:ph type="sldNum" sz="quarter" idx="12"/>
          </p:nvPr>
        </p:nvSpPr>
        <p:spPr/>
        <p:txBody>
          <a:bodyPr/>
          <a:lstStyle/>
          <a:p>
            <a:pPr>
              <a:defRPr/>
            </a:pPr>
            <a:fld id="{90735788-BFEF-4612-9E0E-42C9D4C71D02}" type="slidenum">
              <a:rPr lang="en-US" smtClean="0"/>
              <a:pPr>
                <a:defRPr/>
              </a:pPr>
              <a:t>18</a:t>
            </a:fld>
            <a:endParaRPr lang="en-US"/>
          </a:p>
        </p:txBody>
      </p:sp>
      <p:sp>
        <p:nvSpPr>
          <p:cNvPr id="10" name="Footer Placeholder 9"/>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smtClean="0"/>
              <a:t>8051 Programming Model</a:t>
            </a:r>
          </a:p>
        </p:txBody>
      </p:sp>
      <p:pic>
        <p:nvPicPr>
          <p:cNvPr id="7" name="Content Placeholder 6" descr="oc29#0001.jpg"/>
          <p:cNvPicPr>
            <a:picLocks noGrp="1" noChangeAspect="1"/>
          </p:cNvPicPr>
          <p:nvPr>
            <p:ph idx="1"/>
          </p:nvPr>
        </p:nvPicPr>
        <p:blipFill>
          <a:blip r:embed="rId2"/>
          <a:srcRect/>
          <a:stretch>
            <a:fillRect/>
          </a:stretch>
        </p:blipFill>
        <p:spPr>
          <a:xfrm>
            <a:off x="0" y="0"/>
            <a:ext cx="9144000" cy="6858000"/>
          </a:xfrm>
        </p:spPr>
      </p:pic>
      <p:sp>
        <p:nvSpPr>
          <p:cNvPr id="6" name="Slide Number Placeholder 5"/>
          <p:cNvSpPr>
            <a:spLocks noGrp="1"/>
          </p:cNvSpPr>
          <p:nvPr>
            <p:ph type="sldNum" sz="quarter" idx="12"/>
          </p:nvPr>
        </p:nvSpPr>
        <p:spPr/>
        <p:txBody>
          <a:bodyPr/>
          <a:lstStyle/>
          <a:p>
            <a:pPr>
              <a:defRPr/>
            </a:pPr>
            <a:fld id="{4E1C0F4A-C258-4C07-95F8-57208874E87B}" type="slidenum">
              <a:rPr lang="en-US"/>
              <a:pPr>
                <a:defRPr/>
              </a:pPr>
              <a:t>19</a:t>
            </a:fld>
            <a:endParaRPr lang="en-US"/>
          </a:p>
        </p:txBody>
      </p:sp>
      <p:sp>
        <p:nvSpPr>
          <p:cNvPr id="5" name="Date Placeholder 4"/>
          <p:cNvSpPr>
            <a:spLocks noGrp="1"/>
          </p:cNvSpPr>
          <p:nvPr>
            <p:ph type="dt" sz="half" idx="10"/>
          </p:nvPr>
        </p:nvSpPr>
        <p:spPr/>
        <p:txBody>
          <a:bodyPr/>
          <a:lstStyle/>
          <a:p>
            <a:pPr>
              <a:defRPr/>
            </a:pPr>
            <a:fld id="{BFED9D3C-DEE4-44B4-B13C-83BDCE45CCB1}" type="datetime2">
              <a:rPr lang="en-US" smtClean="0"/>
              <a:pPr>
                <a:defRPr/>
              </a:pPr>
              <a:t>Friday, August 27, 2021</a:t>
            </a:fld>
            <a:endParaRPr lang="en-US"/>
          </a:p>
        </p:txBody>
      </p:sp>
      <p:sp>
        <p:nvSpPr>
          <p:cNvPr id="8" name="Footer Placeholder 7"/>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solidFill>
            <a:schemeClr val="bg1">
              <a:lumMod val="75000"/>
            </a:schemeClr>
          </a:solidFill>
          <a:ln>
            <a:solidFill>
              <a:srgbClr val="FF0000"/>
            </a:solidFill>
          </a:ln>
        </p:spPr>
        <p:txBody>
          <a:bodyPr rtlCol="0">
            <a:normAutofit/>
          </a:bodyPr>
          <a:lstStyle/>
          <a:p>
            <a:pPr eaLnBrk="1" fontAlgn="auto" hangingPunct="1">
              <a:spcAft>
                <a:spcPts val="0"/>
              </a:spcAft>
              <a:defRPr/>
            </a:pPr>
            <a:r>
              <a:rPr lang="en-US" b="1" u="sng" dirty="0" smtClean="0">
                <a:solidFill>
                  <a:srgbClr val="0066FF"/>
                </a:solidFill>
              </a:rPr>
              <a:t>A and B CPU registers</a:t>
            </a:r>
          </a:p>
        </p:txBody>
      </p:sp>
      <p:sp>
        <p:nvSpPr>
          <p:cNvPr id="17411" name="Content Placeholder 2"/>
          <p:cNvSpPr>
            <a:spLocks noGrp="1"/>
          </p:cNvSpPr>
          <p:nvPr>
            <p:ph idx="1"/>
          </p:nvPr>
        </p:nvSpPr>
        <p:spPr>
          <a:solidFill>
            <a:schemeClr val="bg1">
              <a:lumMod val="75000"/>
            </a:schemeClr>
          </a:solidFill>
          <a:ln>
            <a:solidFill>
              <a:srgbClr val="FF0000"/>
            </a:solidFill>
          </a:ln>
        </p:spPr>
        <p:txBody>
          <a:bodyPr rtlCol="0">
            <a:normAutofit/>
          </a:bodyPr>
          <a:lstStyle/>
          <a:p>
            <a:pPr algn="just" eaLnBrk="1" fontAlgn="auto" hangingPunct="1">
              <a:spcAft>
                <a:spcPts val="0"/>
              </a:spcAft>
              <a:buFont typeface="Arial" pitchFamily="34" charset="0"/>
              <a:buChar char="•"/>
              <a:defRPr/>
            </a:pPr>
            <a:r>
              <a:rPr lang="en-US" sz="2600" dirty="0" smtClean="0"/>
              <a:t>Totally 34 general purpose registers or working registers.</a:t>
            </a:r>
          </a:p>
          <a:p>
            <a:pPr algn="just" eaLnBrk="1" fontAlgn="auto" hangingPunct="1">
              <a:spcAft>
                <a:spcPts val="0"/>
              </a:spcAft>
              <a:buFont typeface="Arial" pitchFamily="34" charset="0"/>
              <a:buChar char="•"/>
              <a:defRPr/>
            </a:pPr>
            <a:r>
              <a:rPr lang="en-US" sz="2600" dirty="0" smtClean="0"/>
              <a:t>Two of these A and B hold results of many instructions, particularly math and logical operations of 8051.</a:t>
            </a:r>
          </a:p>
          <a:p>
            <a:pPr algn="just" eaLnBrk="1" fontAlgn="auto" hangingPunct="1">
              <a:spcAft>
                <a:spcPts val="0"/>
              </a:spcAft>
              <a:buFont typeface="Arial" pitchFamily="34" charset="0"/>
              <a:buChar char="•"/>
              <a:defRPr/>
            </a:pPr>
            <a:r>
              <a:rPr lang="en-US" sz="2600" dirty="0" smtClean="0"/>
              <a:t>The other 32 are in four banks,B0 – B3 of eight registers each.</a:t>
            </a:r>
          </a:p>
          <a:p>
            <a:pPr algn="just" eaLnBrk="1" fontAlgn="auto" hangingPunct="1">
              <a:spcAft>
                <a:spcPts val="0"/>
              </a:spcAft>
              <a:buFont typeface="Arial" pitchFamily="34" charset="0"/>
              <a:buChar char="•"/>
              <a:defRPr/>
            </a:pPr>
            <a:r>
              <a:rPr lang="en-US" sz="2600" dirty="0" smtClean="0"/>
              <a:t>A(accumulator) is used for addition,  subtraction, </a:t>
            </a:r>
            <a:r>
              <a:rPr lang="en-US" sz="2600" dirty="0" err="1" smtClean="0"/>
              <a:t>mul</a:t>
            </a:r>
            <a:r>
              <a:rPr lang="en-US" sz="2600" dirty="0" smtClean="0"/>
              <a:t>, div, </a:t>
            </a:r>
            <a:r>
              <a:rPr lang="en-US" sz="2600" dirty="0" err="1" smtClean="0"/>
              <a:t>boolean</a:t>
            </a:r>
            <a:r>
              <a:rPr lang="en-US" sz="2600" dirty="0" smtClean="0"/>
              <a:t> bit manipulation and for data transfers.</a:t>
            </a:r>
          </a:p>
          <a:p>
            <a:pPr algn="just" eaLnBrk="1" fontAlgn="auto" hangingPunct="1">
              <a:spcAft>
                <a:spcPts val="0"/>
              </a:spcAft>
              <a:buFont typeface="Arial" pitchFamily="34" charset="0"/>
              <a:buChar char="•"/>
              <a:defRPr/>
            </a:pPr>
            <a:r>
              <a:rPr lang="en-US" sz="2600" dirty="0" smtClean="0"/>
              <a:t>But B register can only be used for </a:t>
            </a:r>
            <a:r>
              <a:rPr lang="en-US" sz="2600" dirty="0" err="1" smtClean="0"/>
              <a:t>mul</a:t>
            </a:r>
            <a:r>
              <a:rPr lang="en-US" sz="2600" dirty="0" smtClean="0"/>
              <a:t> and div operations.</a:t>
            </a:r>
          </a:p>
        </p:txBody>
      </p:sp>
      <p:sp>
        <p:nvSpPr>
          <p:cNvPr id="6" name="Slide Number Placeholder 5"/>
          <p:cNvSpPr>
            <a:spLocks noGrp="1"/>
          </p:cNvSpPr>
          <p:nvPr>
            <p:ph type="sldNum" sz="quarter" idx="12"/>
          </p:nvPr>
        </p:nvSpPr>
        <p:spPr/>
        <p:txBody>
          <a:bodyPr/>
          <a:lstStyle/>
          <a:p>
            <a:pPr>
              <a:defRPr/>
            </a:pPr>
            <a:fld id="{129523DA-8A0C-4C60-8526-1784E2E3793E}" type="slidenum">
              <a:rPr lang="en-US"/>
              <a:pPr>
                <a:defRPr/>
              </a:pPr>
              <a:t>20</a:t>
            </a:fld>
            <a:endParaRPr lang="en-US"/>
          </a:p>
        </p:txBody>
      </p:sp>
      <p:sp>
        <p:nvSpPr>
          <p:cNvPr id="5" name="Date Placeholder 4"/>
          <p:cNvSpPr>
            <a:spLocks noGrp="1"/>
          </p:cNvSpPr>
          <p:nvPr>
            <p:ph type="dt" sz="half" idx="10"/>
          </p:nvPr>
        </p:nvSpPr>
        <p:spPr/>
        <p:txBody>
          <a:bodyPr/>
          <a:lstStyle/>
          <a:p>
            <a:pPr>
              <a:defRPr/>
            </a:pPr>
            <a:fld id="{FF5615A3-8777-4CF4-AAB9-D726A20F9921}" type="datetime2">
              <a:rPr lang="en-US" smtClean="0"/>
              <a:pPr>
                <a:defRPr/>
              </a:pPr>
              <a:t>Friday, August 27, 2021</a:t>
            </a:fld>
            <a:endParaRPr lang="en-US"/>
          </a:p>
        </p:txBody>
      </p:sp>
      <p:sp>
        <p:nvSpPr>
          <p:cNvPr id="7" name="Footer Placeholder 6"/>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7411">
                                            <p:txEl>
                                              <p:pRg st="0" end="0"/>
                                            </p:txEl>
                                          </p:spTgt>
                                        </p:tgtEl>
                                        <p:attrNameLst>
                                          <p:attrName>style.visibility</p:attrName>
                                        </p:attrNameLst>
                                      </p:cBhvr>
                                      <p:to>
                                        <p:strVal val="visible"/>
                                      </p:to>
                                    </p:set>
                                    <p:anim calcmode="discrete" valueType="clr">
                                      <p:cBhvr override="childStyle">
                                        <p:cTn id="7" dur="80"/>
                                        <p:tgtEl>
                                          <p:spTgt spid="1741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7411">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7411">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7411">
                                            <p:txEl>
                                              <p:pRg st="1" end="1"/>
                                            </p:txEl>
                                          </p:spTgt>
                                        </p:tgtEl>
                                        <p:attrNameLst>
                                          <p:attrName>style.visibility</p:attrName>
                                        </p:attrNameLst>
                                      </p:cBhvr>
                                      <p:to>
                                        <p:strVal val="visible"/>
                                      </p:to>
                                    </p:set>
                                    <p:anim calcmode="discrete" valueType="clr">
                                      <p:cBhvr override="childStyle">
                                        <p:cTn id="14" dur="80"/>
                                        <p:tgtEl>
                                          <p:spTgt spid="17411">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7411">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17411">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17411">
                                            <p:txEl>
                                              <p:pRg st="2" end="2"/>
                                            </p:txEl>
                                          </p:spTgt>
                                        </p:tgtEl>
                                        <p:attrNameLst>
                                          <p:attrName>style.visibility</p:attrName>
                                        </p:attrNameLst>
                                      </p:cBhvr>
                                      <p:to>
                                        <p:strVal val="visible"/>
                                      </p:to>
                                    </p:set>
                                    <p:anim calcmode="discrete" valueType="clr">
                                      <p:cBhvr override="childStyle">
                                        <p:cTn id="21" dur="80"/>
                                        <p:tgtEl>
                                          <p:spTgt spid="17411">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7411">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17411">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17411">
                                            <p:txEl>
                                              <p:pRg st="3" end="3"/>
                                            </p:txEl>
                                          </p:spTgt>
                                        </p:tgtEl>
                                        <p:attrNameLst>
                                          <p:attrName>style.visibility</p:attrName>
                                        </p:attrNameLst>
                                      </p:cBhvr>
                                      <p:to>
                                        <p:strVal val="visible"/>
                                      </p:to>
                                    </p:set>
                                    <p:anim calcmode="discrete" valueType="clr">
                                      <p:cBhvr override="childStyle">
                                        <p:cTn id="28" dur="80"/>
                                        <p:tgtEl>
                                          <p:spTgt spid="17411">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17411">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17411">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nodeType="clickEffect">
                                  <p:stCondLst>
                                    <p:cond delay="0"/>
                                  </p:stCondLst>
                                  <p:iterate type="lt">
                                    <p:tmPct val="50000"/>
                                  </p:iterate>
                                  <p:childTnLst>
                                    <p:set>
                                      <p:cBhvr>
                                        <p:cTn id="34" dur="1" fill="hold">
                                          <p:stCondLst>
                                            <p:cond delay="0"/>
                                          </p:stCondLst>
                                        </p:cTn>
                                        <p:tgtEl>
                                          <p:spTgt spid="17411">
                                            <p:txEl>
                                              <p:pRg st="4" end="4"/>
                                            </p:txEl>
                                          </p:spTgt>
                                        </p:tgtEl>
                                        <p:attrNameLst>
                                          <p:attrName>style.visibility</p:attrName>
                                        </p:attrNameLst>
                                      </p:cBhvr>
                                      <p:to>
                                        <p:strVal val="visible"/>
                                      </p:to>
                                    </p:set>
                                    <p:anim calcmode="discrete" valueType="clr">
                                      <p:cBhvr override="childStyle">
                                        <p:cTn id="35" dur="80"/>
                                        <p:tgtEl>
                                          <p:spTgt spid="17411">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17411">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17411">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le 5"/>
          <p:cNvSpPr>
            <a:spLocks noGrp="1"/>
          </p:cNvSpPr>
          <p:nvPr>
            <p:ph type="title"/>
          </p:nvPr>
        </p:nvSpPr>
        <p:spPr>
          <a:xfrm>
            <a:off x="457200" y="0"/>
            <a:ext cx="3114675" cy="785813"/>
          </a:xfrm>
          <a:solidFill>
            <a:schemeClr val="bg1">
              <a:lumMod val="75000"/>
            </a:schemeClr>
          </a:solidFill>
        </p:spPr>
        <p:txBody>
          <a:bodyPr rtlCol="0">
            <a:normAutofit/>
          </a:bodyPr>
          <a:lstStyle/>
          <a:p>
            <a:pPr eaLnBrk="1" fontAlgn="auto" hangingPunct="1">
              <a:spcAft>
                <a:spcPts val="0"/>
              </a:spcAft>
              <a:defRPr/>
            </a:pPr>
            <a:r>
              <a:rPr lang="en-US" sz="3200" b="1" u="sng" dirty="0" smtClean="0">
                <a:solidFill>
                  <a:srgbClr val="0066FF"/>
                </a:solidFill>
                <a:latin typeface="+mn-lt"/>
              </a:rPr>
              <a:t>Program Counter</a:t>
            </a:r>
          </a:p>
        </p:txBody>
      </p:sp>
      <p:sp>
        <p:nvSpPr>
          <p:cNvPr id="16386" name="Content Placeholder 2"/>
          <p:cNvSpPr>
            <a:spLocks noGrp="1"/>
          </p:cNvSpPr>
          <p:nvPr>
            <p:ph idx="1"/>
          </p:nvPr>
        </p:nvSpPr>
        <p:spPr>
          <a:xfrm>
            <a:off x="500063" y="928688"/>
            <a:ext cx="8229600" cy="5257800"/>
          </a:xfrm>
          <a:solidFill>
            <a:schemeClr val="bg1">
              <a:lumMod val="75000"/>
            </a:schemeClr>
          </a:solidFill>
        </p:spPr>
        <p:txBody>
          <a:bodyPr rtlCol="0">
            <a:normAutofit lnSpcReduction="10000"/>
          </a:bodyPr>
          <a:lstStyle/>
          <a:p>
            <a:pPr algn="just" eaLnBrk="1" fontAlgn="auto" hangingPunct="1">
              <a:spcAft>
                <a:spcPts val="0"/>
              </a:spcAft>
              <a:buFont typeface="Arial" pitchFamily="34" charset="0"/>
              <a:buChar char="•"/>
              <a:defRPr/>
            </a:pPr>
            <a:r>
              <a:rPr lang="en-US" sz="2400" dirty="0" smtClean="0"/>
              <a:t>16 bit register to hold the address of a byte in memory</a:t>
            </a:r>
          </a:p>
          <a:p>
            <a:pPr algn="just" eaLnBrk="1" fontAlgn="auto" hangingPunct="1">
              <a:spcAft>
                <a:spcPts val="0"/>
              </a:spcAft>
              <a:buFont typeface="Arial" pitchFamily="34" charset="0"/>
              <a:buChar char="•"/>
              <a:defRPr/>
            </a:pPr>
            <a:r>
              <a:rPr lang="en-US" sz="2400" dirty="0" smtClean="0"/>
              <a:t>PC contains the address of the next instruction to be executed.</a:t>
            </a:r>
          </a:p>
          <a:p>
            <a:pPr algn="just" eaLnBrk="1" fontAlgn="auto" hangingPunct="1">
              <a:spcAft>
                <a:spcPts val="0"/>
              </a:spcAft>
              <a:buFont typeface="Arial" pitchFamily="34" charset="0"/>
              <a:buNone/>
              <a:defRPr/>
            </a:pPr>
            <a:r>
              <a:rPr lang="en-US" b="1" u="sng" dirty="0" smtClean="0">
                <a:solidFill>
                  <a:srgbClr val="0066FF"/>
                </a:solidFill>
              </a:rPr>
              <a:t>Data </a:t>
            </a:r>
            <a:r>
              <a:rPr lang="en-US" b="1" u="sng" dirty="0">
                <a:solidFill>
                  <a:srgbClr val="0066FF"/>
                </a:solidFill>
              </a:rPr>
              <a:t>Pointer</a:t>
            </a:r>
            <a:endParaRPr lang="en-US" dirty="0" smtClean="0"/>
          </a:p>
          <a:p>
            <a:pPr algn="just" eaLnBrk="1" fontAlgn="auto" hangingPunct="1">
              <a:spcAft>
                <a:spcPts val="0"/>
              </a:spcAft>
              <a:buFont typeface="Arial" pitchFamily="34" charset="0"/>
              <a:buChar char="•"/>
              <a:defRPr/>
            </a:pPr>
            <a:r>
              <a:rPr lang="en-US" sz="2400" dirty="0" smtClean="0"/>
              <a:t>DPTR is made up of two 8 bit register DPH and DPL;</a:t>
            </a:r>
          </a:p>
          <a:p>
            <a:pPr algn="just" eaLnBrk="1" fontAlgn="auto" hangingPunct="1">
              <a:spcAft>
                <a:spcPts val="0"/>
              </a:spcAft>
              <a:buFont typeface="Arial" pitchFamily="34" charset="0"/>
              <a:buChar char="•"/>
              <a:defRPr/>
            </a:pPr>
            <a:r>
              <a:rPr lang="en-US" sz="2400" dirty="0" smtClean="0"/>
              <a:t>DPTR contains the address of internal &amp; external code and data that has to be accessed.</a:t>
            </a:r>
          </a:p>
          <a:p>
            <a:pPr algn="just" eaLnBrk="1" fontAlgn="auto" hangingPunct="1">
              <a:spcAft>
                <a:spcPts val="0"/>
              </a:spcAft>
              <a:buFont typeface="Arial" pitchFamily="34" charset="0"/>
              <a:buChar char="•"/>
              <a:defRPr/>
            </a:pPr>
            <a:r>
              <a:rPr lang="en-US" sz="2400" spc="-5" dirty="0">
                <a:latin typeface="Franklin Gothic Book"/>
                <a:cs typeface="Franklin Gothic Book"/>
              </a:rPr>
              <a:t>DPTR </a:t>
            </a:r>
            <a:r>
              <a:rPr lang="en-US" sz="2400" spc="-20" dirty="0">
                <a:latin typeface="Franklin Gothic Book"/>
                <a:cs typeface="Franklin Gothic Book"/>
              </a:rPr>
              <a:t>Register </a:t>
            </a:r>
            <a:r>
              <a:rPr lang="en-US" sz="2400" spc="-10" dirty="0">
                <a:latin typeface="Franklin Gothic Book"/>
                <a:cs typeface="Franklin Gothic Book"/>
              </a:rPr>
              <a:t>is </a:t>
            </a:r>
            <a:r>
              <a:rPr lang="en-US" sz="2400" spc="-5" dirty="0">
                <a:latin typeface="Franklin Gothic Book"/>
                <a:cs typeface="Franklin Gothic Book"/>
              </a:rPr>
              <a:t>usually </a:t>
            </a:r>
            <a:r>
              <a:rPr lang="en-US" sz="2400" spc="-10" dirty="0">
                <a:latin typeface="Franklin Gothic Book"/>
                <a:cs typeface="Franklin Gothic Book"/>
              </a:rPr>
              <a:t>used </a:t>
            </a:r>
            <a:r>
              <a:rPr lang="en-US" sz="2400" spc="-25" dirty="0">
                <a:latin typeface="Franklin Gothic Book"/>
                <a:cs typeface="Franklin Gothic Book"/>
              </a:rPr>
              <a:t>for </a:t>
            </a:r>
            <a:r>
              <a:rPr lang="en-US" sz="2400" spc="-15" dirty="0">
                <a:solidFill>
                  <a:srgbClr val="00B050"/>
                </a:solidFill>
                <a:latin typeface="Franklin Gothic Book"/>
                <a:cs typeface="Franklin Gothic Book"/>
              </a:rPr>
              <a:t>storing </a:t>
            </a:r>
            <a:r>
              <a:rPr lang="en-US" sz="2400" spc="-15" dirty="0" smtClean="0">
                <a:solidFill>
                  <a:srgbClr val="00B050"/>
                </a:solidFill>
                <a:latin typeface="Franklin Gothic Book"/>
                <a:cs typeface="Franklin Gothic Book"/>
              </a:rPr>
              <a:t>address of </a:t>
            </a:r>
            <a:r>
              <a:rPr lang="en-US" sz="2400" spc="-10" dirty="0" smtClean="0">
                <a:solidFill>
                  <a:srgbClr val="00B050"/>
                </a:solidFill>
                <a:latin typeface="Franklin Gothic Book"/>
                <a:cs typeface="Franklin Gothic Book"/>
              </a:rPr>
              <a:t>data </a:t>
            </a:r>
            <a:r>
              <a:rPr lang="en-US" sz="2400" spc="-10" dirty="0">
                <a:solidFill>
                  <a:srgbClr val="00B050"/>
                </a:solidFill>
                <a:latin typeface="Franklin Gothic Book"/>
                <a:cs typeface="Franklin Gothic Book"/>
              </a:rPr>
              <a:t>and  </a:t>
            </a:r>
            <a:r>
              <a:rPr lang="en-US" sz="2400" spc="-15" dirty="0">
                <a:solidFill>
                  <a:srgbClr val="00B050"/>
                </a:solidFill>
                <a:latin typeface="Franklin Gothic Book"/>
                <a:cs typeface="Franklin Gothic Book"/>
              </a:rPr>
              <a:t>intermediate</a:t>
            </a:r>
            <a:r>
              <a:rPr lang="en-US" sz="2400" spc="15" dirty="0">
                <a:solidFill>
                  <a:srgbClr val="00B050"/>
                </a:solidFill>
                <a:latin typeface="Franklin Gothic Book"/>
                <a:cs typeface="Franklin Gothic Book"/>
              </a:rPr>
              <a:t> </a:t>
            </a:r>
            <a:r>
              <a:rPr lang="en-US" sz="2400" spc="-5" dirty="0">
                <a:solidFill>
                  <a:srgbClr val="00B050"/>
                </a:solidFill>
                <a:latin typeface="Franklin Gothic Book"/>
                <a:cs typeface="Franklin Gothic Book"/>
              </a:rPr>
              <a:t>results</a:t>
            </a:r>
            <a:r>
              <a:rPr lang="en-US" sz="2400" spc="-5" dirty="0">
                <a:latin typeface="Franklin Gothic Book"/>
                <a:cs typeface="Franklin Gothic Book"/>
              </a:rPr>
              <a:t>.</a:t>
            </a:r>
            <a:endParaRPr lang="en-US" sz="2400" dirty="0">
              <a:latin typeface="Franklin Gothic Book"/>
              <a:cs typeface="Franklin Gothic Book"/>
            </a:endParaRPr>
          </a:p>
          <a:p>
            <a:pPr algn="just" eaLnBrk="1" fontAlgn="auto" hangingPunct="1">
              <a:spcAft>
                <a:spcPts val="0"/>
              </a:spcAft>
              <a:buFont typeface="Arial" pitchFamily="34" charset="0"/>
              <a:buNone/>
              <a:defRPr/>
            </a:pPr>
            <a:r>
              <a:rPr lang="en-US" sz="2400" dirty="0" smtClean="0"/>
              <a:t> </a:t>
            </a:r>
            <a:r>
              <a:rPr lang="en-US" b="1" u="sng" dirty="0" smtClean="0">
                <a:solidFill>
                  <a:srgbClr val="0066FF"/>
                </a:solidFill>
              </a:rPr>
              <a:t>Stack Pointer</a:t>
            </a:r>
          </a:p>
          <a:p>
            <a:pPr algn="just" eaLnBrk="1" fontAlgn="auto" hangingPunct="1">
              <a:spcAft>
                <a:spcPts val="0"/>
              </a:spcAft>
              <a:buFont typeface="Arial" pitchFamily="34" charset="0"/>
              <a:buChar char="•"/>
              <a:defRPr/>
            </a:pPr>
            <a:r>
              <a:rPr lang="en-US" sz="2400" dirty="0">
                <a:cs typeface="Franklin Gothic Book"/>
              </a:rPr>
              <a:t>It </a:t>
            </a:r>
            <a:r>
              <a:rPr lang="en-US" sz="2400" spc="-5" dirty="0">
                <a:cs typeface="Franklin Gothic Book"/>
              </a:rPr>
              <a:t>is an</a:t>
            </a:r>
            <a:r>
              <a:rPr lang="en-US" sz="2400" spc="-80" dirty="0">
                <a:cs typeface="Franklin Gothic Book"/>
              </a:rPr>
              <a:t> </a:t>
            </a:r>
            <a:r>
              <a:rPr lang="en-US" sz="2400" spc="-5" dirty="0">
                <a:cs typeface="Franklin Gothic Book"/>
              </a:rPr>
              <a:t>8-bit  </a:t>
            </a:r>
            <a:r>
              <a:rPr lang="en-US" sz="2400" spc="-10" dirty="0">
                <a:cs typeface="Franklin Gothic Book"/>
              </a:rPr>
              <a:t>register </a:t>
            </a:r>
            <a:r>
              <a:rPr lang="en-US" sz="2400" spc="-5" dirty="0">
                <a:cs typeface="Franklin Gothic Book"/>
              </a:rPr>
              <a:t>which </a:t>
            </a:r>
            <a:r>
              <a:rPr lang="en-US" sz="2400" spc="-10" dirty="0">
                <a:cs typeface="Franklin Gothic Book"/>
              </a:rPr>
              <a:t>stores </a:t>
            </a:r>
            <a:r>
              <a:rPr lang="en-US" sz="2400" spc="-5" dirty="0">
                <a:cs typeface="Franklin Gothic Book"/>
              </a:rPr>
              <a:t>the </a:t>
            </a:r>
            <a:r>
              <a:rPr lang="en-US" sz="2400" dirty="0">
                <a:cs typeface="Franklin Gothic Book"/>
              </a:rPr>
              <a:t>address of </a:t>
            </a:r>
            <a:r>
              <a:rPr lang="en-US" sz="2400" spc="-5" dirty="0">
                <a:cs typeface="Franklin Gothic Book"/>
              </a:rPr>
              <a:t>the  stack</a:t>
            </a:r>
            <a:r>
              <a:rPr lang="en-US" sz="2400" spc="-25" dirty="0">
                <a:cs typeface="Franklin Gothic Book"/>
              </a:rPr>
              <a:t> </a:t>
            </a:r>
            <a:r>
              <a:rPr lang="en-US" sz="2400" spc="-15" dirty="0">
                <a:cs typeface="Franklin Gothic Book"/>
              </a:rPr>
              <a:t>top.</a:t>
            </a:r>
            <a:endParaRPr lang="en-US" sz="2400" dirty="0"/>
          </a:p>
          <a:p>
            <a:pPr algn="just" eaLnBrk="1" fontAlgn="auto" hangingPunct="1">
              <a:spcAft>
                <a:spcPts val="0"/>
              </a:spcAft>
              <a:buFont typeface="Arial" pitchFamily="34" charset="0"/>
              <a:buNone/>
              <a:defRPr/>
            </a:pPr>
            <a:endParaRPr lang="en-US" sz="2400" dirty="0" smtClean="0"/>
          </a:p>
        </p:txBody>
      </p:sp>
      <p:sp>
        <p:nvSpPr>
          <p:cNvPr id="6" name="Slide Number Placeholder 5"/>
          <p:cNvSpPr>
            <a:spLocks noGrp="1"/>
          </p:cNvSpPr>
          <p:nvPr>
            <p:ph type="sldNum" sz="quarter" idx="12"/>
          </p:nvPr>
        </p:nvSpPr>
        <p:spPr/>
        <p:txBody>
          <a:bodyPr/>
          <a:lstStyle/>
          <a:p>
            <a:pPr>
              <a:defRPr/>
            </a:pPr>
            <a:fld id="{9ADF943D-4847-4FEB-9A04-029E41DC61C4}" type="slidenum">
              <a:rPr lang="en-US"/>
              <a:pPr>
                <a:defRPr/>
              </a:pPr>
              <a:t>21</a:t>
            </a:fld>
            <a:endParaRPr lang="en-US"/>
          </a:p>
        </p:txBody>
      </p:sp>
      <p:sp>
        <p:nvSpPr>
          <p:cNvPr id="5" name="Date Placeholder 4"/>
          <p:cNvSpPr>
            <a:spLocks noGrp="1"/>
          </p:cNvSpPr>
          <p:nvPr>
            <p:ph type="dt" sz="half" idx="10"/>
          </p:nvPr>
        </p:nvSpPr>
        <p:spPr/>
        <p:txBody>
          <a:bodyPr/>
          <a:lstStyle/>
          <a:p>
            <a:pPr>
              <a:defRPr/>
            </a:pPr>
            <a:fld id="{32E62A49-A010-4527-A7B4-FE4397101936}" type="datetime2">
              <a:rPr lang="en-US" smtClean="0"/>
              <a:pPr>
                <a:defRPr/>
              </a:pPr>
              <a:t>Friday, August 27, 2021</a:t>
            </a:fld>
            <a:endParaRPr lang="en-US"/>
          </a:p>
        </p:txBody>
      </p:sp>
      <p:sp>
        <p:nvSpPr>
          <p:cNvPr id="7" name="Footer Placeholder 6"/>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6386">
                                            <p:txEl>
                                              <p:pRg st="0" end="0"/>
                                            </p:txEl>
                                          </p:spTgt>
                                        </p:tgtEl>
                                        <p:attrNameLst>
                                          <p:attrName>style.visibility</p:attrName>
                                        </p:attrNameLst>
                                      </p:cBhvr>
                                      <p:to>
                                        <p:strVal val="visible"/>
                                      </p:to>
                                    </p:set>
                                    <p:anim calcmode="discrete" valueType="clr">
                                      <p:cBhvr override="childStyle">
                                        <p:cTn id="7" dur="80"/>
                                        <p:tgtEl>
                                          <p:spTgt spid="16386">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6386">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6386">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6386">
                                            <p:txEl>
                                              <p:pRg st="1" end="1"/>
                                            </p:txEl>
                                          </p:spTgt>
                                        </p:tgtEl>
                                        <p:attrNameLst>
                                          <p:attrName>style.visibility</p:attrName>
                                        </p:attrNameLst>
                                      </p:cBhvr>
                                      <p:to>
                                        <p:strVal val="visible"/>
                                      </p:to>
                                    </p:set>
                                    <p:anim calcmode="discrete" valueType="clr">
                                      <p:cBhvr override="childStyle">
                                        <p:cTn id="14" dur="80"/>
                                        <p:tgtEl>
                                          <p:spTgt spid="16386">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6386">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16386">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16386">
                                            <p:txEl>
                                              <p:pRg st="2" end="2"/>
                                            </p:txEl>
                                          </p:spTgt>
                                        </p:tgtEl>
                                        <p:attrNameLst>
                                          <p:attrName>style.visibility</p:attrName>
                                        </p:attrNameLst>
                                      </p:cBhvr>
                                      <p:to>
                                        <p:strVal val="visible"/>
                                      </p:to>
                                    </p:set>
                                    <p:anim calcmode="discrete" valueType="clr">
                                      <p:cBhvr override="childStyle">
                                        <p:cTn id="21" dur="80"/>
                                        <p:tgtEl>
                                          <p:spTgt spid="16386">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6386">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16386">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16386">
                                            <p:txEl>
                                              <p:pRg st="3" end="3"/>
                                            </p:txEl>
                                          </p:spTgt>
                                        </p:tgtEl>
                                        <p:attrNameLst>
                                          <p:attrName>style.visibility</p:attrName>
                                        </p:attrNameLst>
                                      </p:cBhvr>
                                      <p:to>
                                        <p:strVal val="visible"/>
                                      </p:to>
                                    </p:set>
                                    <p:anim calcmode="discrete" valueType="clr">
                                      <p:cBhvr override="childStyle">
                                        <p:cTn id="28" dur="80"/>
                                        <p:tgtEl>
                                          <p:spTgt spid="16386">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16386">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16386">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nodeType="clickEffect">
                                  <p:stCondLst>
                                    <p:cond delay="0"/>
                                  </p:stCondLst>
                                  <p:iterate type="lt">
                                    <p:tmPct val="50000"/>
                                  </p:iterate>
                                  <p:childTnLst>
                                    <p:set>
                                      <p:cBhvr>
                                        <p:cTn id="34" dur="1" fill="hold">
                                          <p:stCondLst>
                                            <p:cond delay="0"/>
                                          </p:stCondLst>
                                        </p:cTn>
                                        <p:tgtEl>
                                          <p:spTgt spid="16386">
                                            <p:txEl>
                                              <p:pRg st="4" end="4"/>
                                            </p:txEl>
                                          </p:spTgt>
                                        </p:tgtEl>
                                        <p:attrNameLst>
                                          <p:attrName>style.visibility</p:attrName>
                                        </p:attrNameLst>
                                      </p:cBhvr>
                                      <p:to>
                                        <p:strVal val="visible"/>
                                      </p:to>
                                    </p:set>
                                    <p:anim calcmode="discrete" valueType="clr">
                                      <p:cBhvr override="childStyle">
                                        <p:cTn id="35" dur="80"/>
                                        <p:tgtEl>
                                          <p:spTgt spid="16386">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16386">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16386">
                                            <p:txEl>
                                              <p:pRg st="4" end="4"/>
                                            </p:txEl>
                                          </p:spTgt>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27" presetClass="entr" presetSubtype="0" fill="hold" nodeType="clickEffect">
                                  <p:stCondLst>
                                    <p:cond delay="0"/>
                                  </p:stCondLst>
                                  <p:iterate type="lt">
                                    <p:tmPct val="50000"/>
                                  </p:iterate>
                                  <p:childTnLst>
                                    <p:set>
                                      <p:cBhvr>
                                        <p:cTn id="41" dur="1" fill="hold">
                                          <p:stCondLst>
                                            <p:cond delay="0"/>
                                          </p:stCondLst>
                                        </p:cTn>
                                        <p:tgtEl>
                                          <p:spTgt spid="16386">
                                            <p:txEl>
                                              <p:pRg st="6" end="6"/>
                                            </p:txEl>
                                          </p:spTgt>
                                        </p:tgtEl>
                                        <p:attrNameLst>
                                          <p:attrName>style.visibility</p:attrName>
                                        </p:attrNameLst>
                                      </p:cBhvr>
                                      <p:to>
                                        <p:strVal val="visible"/>
                                      </p:to>
                                    </p:set>
                                    <p:anim calcmode="discrete" valueType="clr">
                                      <p:cBhvr override="childStyle">
                                        <p:cTn id="42" dur="80"/>
                                        <p:tgtEl>
                                          <p:spTgt spid="16386">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16386">
                                            <p:txEl>
                                              <p:pRg st="6" end="6"/>
                                            </p:txEl>
                                          </p:spTgt>
                                        </p:tgtEl>
                                        <p:attrNameLst>
                                          <p:attrName>fillcolor</p:attrName>
                                        </p:attrNameLst>
                                      </p:cBhvr>
                                      <p:tavLst>
                                        <p:tav tm="0">
                                          <p:val>
                                            <p:clrVal>
                                              <a:schemeClr val="accent2"/>
                                            </p:clrVal>
                                          </p:val>
                                        </p:tav>
                                        <p:tav tm="50000">
                                          <p:val>
                                            <p:clrVal>
                                              <a:schemeClr val="hlink"/>
                                            </p:clrVal>
                                          </p:val>
                                        </p:tav>
                                      </p:tavLst>
                                    </p:anim>
                                    <p:set>
                                      <p:cBhvr>
                                        <p:cTn id="44" dur="80"/>
                                        <p:tgtEl>
                                          <p:spTgt spid="16386">
                                            <p:txEl>
                                              <p:pRg st="6" end="6"/>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27" presetClass="entr" presetSubtype="0" fill="hold" nodeType="clickEffect">
                                  <p:stCondLst>
                                    <p:cond delay="0"/>
                                  </p:stCondLst>
                                  <p:iterate type="lt">
                                    <p:tmPct val="50000"/>
                                  </p:iterate>
                                  <p:childTnLst>
                                    <p:set>
                                      <p:cBhvr>
                                        <p:cTn id="48" dur="1" fill="hold">
                                          <p:stCondLst>
                                            <p:cond delay="0"/>
                                          </p:stCondLst>
                                        </p:cTn>
                                        <p:tgtEl>
                                          <p:spTgt spid="16386">
                                            <p:txEl>
                                              <p:pRg st="7" end="7"/>
                                            </p:txEl>
                                          </p:spTgt>
                                        </p:tgtEl>
                                        <p:attrNameLst>
                                          <p:attrName>style.visibility</p:attrName>
                                        </p:attrNameLst>
                                      </p:cBhvr>
                                      <p:to>
                                        <p:strVal val="visible"/>
                                      </p:to>
                                    </p:set>
                                    <p:anim calcmode="discrete" valueType="clr">
                                      <p:cBhvr override="childStyle">
                                        <p:cTn id="49" dur="80"/>
                                        <p:tgtEl>
                                          <p:spTgt spid="16386">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16386">
                                            <p:txEl>
                                              <p:pRg st="7" end="7"/>
                                            </p:txEl>
                                          </p:spTgt>
                                        </p:tgtEl>
                                        <p:attrNameLst>
                                          <p:attrName>fillcolor</p:attrName>
                                        </p:attrNameLst>
                                      </p:cBhvr>
                                      <p:tavLst>
                                        <p:tav tm="0">
                                          <p:val>
                                            <p:clrVal>
                                              <a:schemeClr val="accent2"/>
                                            </p:clrVal>
                                          </p:val>
                                        </p:tav>
                                        <p:tav tm="50000">
                                          <p:val>
                                            <p:clrVal>
                                              <a:schemeClr val="hlink"/>
                                            </p:clrVal>
                                          </p:val>
                                        </p:tav>
                                      </p:tavLst>
                                    </p:anim>
                                    <p:set>
                                      <p:cBhvr>
                                        <p:cTn id="51" dur="80"/>
                                        <p:tgtEl>
                                          <p:spTgt spid="16386">
                                            <p:txEl>
                                              <p:pRg st="7" end="7"/>
                                            </p:txEl>
                                          </p:spTgt>
                                        </p:tgtEl>
                                        <p:attrNameLst>
                                          <p:attrName>fill.type</p:attrName>
                                        </p:attrNameLst>
                                      </p:cBhvr>
                                      <p:to>
                                        <p:strVal val="solid"/>
                                      </p:to>
                                    </p:set>
                                  </p:childTnLst>
                                </p:cTn>
                              </p:par>
                            </p:childTnLst>
                          </p:cTn>
                        </p:par>
                      </p:childTnLst>
                    </p:cTn>
                  </p:par>
                  <p:par>
                    <p:cTn id="52" fill="hold">
                      <p:stCondLst>
                        <p:cond delay="indefinite"/>
                      </p:stCondLst>
                      <p:childTnLst>
                        <p:par>
                          <p:cTn id="53" fill="hold">
                            <p:stCondLst>
                              <p:cond delay="0"/>
                            </p:stCondLst>
                            <p:childTnLst>
                              <p:par>
                                <p:cTn id="54" presetID="27" presetClass="entr" presetSubtype="0" fill="hold" nodeType="clickEffect">
                                  <p:stCondLst>
                                    <p:cond delay="0"/>
                                  </p:stCondLst>
                                  <p:iterate type="lt">
                                    <p:tmPct val="50000"/>
                                  </p:iterate>
                                  <p:childTnLst>
                                    <p:set>
                                      <p:cBhvr>
                                        <p:cTn id="55" dur="1" fill="hold">
                                          <p:stCondLst>
                                            <p:cond delay="0"/>
                                          </p:stCondLst>
                                        </p:cTn>
                                        <p:tgtEl>
                                          <p:spTgt spid="16386">
                                            <p:txEl>
                                              <p:pRg st="5" end="5"/>
                                            </p:txEl>
                                          </p:spTgt>
                                        </p:tgtEl>
                                        <p:attrNameLst>
                                          <p:attrName>style.visibility</p:attrName>
                                        </p:attrNameLst>
                                      </p:cBhvr>
                                      <p:to>
                                        <p:strVal val="visible"/>
                                      </p:to>
                                    </p:set>
                                    <p:anim calcmode="discrete" valueType="clr">
                                      <p:cBhvr override="childStyle">
                                        <p:cTn id="56" dur="80"/>
                                        <p:tgtEl>
                                          <p:spTgt spid="16386">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7" dur="80"/>
                                        <p:tgtEl>
                                          <p:spTgt spid="16386">
                                            <p:txEl>
                                              <p:pRg st="5" end="5"/>
                                            </p:txEl>
                                          </p:spTgt>
                                        </p:tgtEl>
                                        <p:attrNameLst>
                                          <p:attrName>fillcolor</p:attrName>
                                        </p:attrNameLst>
                                      </p:cBhvr>
                                      <p:tavLst>
                                        <p:tav tm="0">
                                          <p:val>
                                            <p:clrVal>
                                              <a:schemeClr val="accent2"/>
                                            </p:clrVal>
                                          </p:val>
                                        </p:tav>
                                        <p:tav tm="50000">
                                          <p:val>
                                            <p:clrVal>
                                              <a:schemeClr val="hlink"/>
                                            </p:clrVal>
                                          </p:val>
                                        </p:tav>
                                      </p:tavLst>
                                    </p:anim>
                                    <p:set>
                                      <p:cBhvr>
                                        <p:cTn id="58" dur="80"/>
                                        <p:tgtEl>
                                          <p:spTgt spid="16386">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68313" y="0"/>
            <a:ext cx="8229600" cy="714375"/>
          </a:xfrm>
          <a:solidFill>
            <a:schemeClr val="bg1">
              <a:lumMod val="75000"/>
            </a:schemeClr>
          </a:solidFill>
        </p:spPr>
        <p:txBody>
          <a:bodyPr rtlCol="0">
            <a:normAutofit fontScale="90000"/>
          </a:bodyPr>
          <a:lstStyle/>
          <a:p>
            <a:pPr eaLnBrk="1" fontAlgn="auto" hangingPunct="1">
              <a:spcAft>
                <a:spcPts val="0"/>
              </a:spcAft>
              <a:defRPr/>
            </a:pPr>
            <a:r>
              <a:rPr lang="en-US" altLang="ko-KR" sz="3200" b="1" dirty="0" smtClean="0">
                <a:solidFill>
                  <a:srgbClr val="7030A0"/>
                </a:solidFill>
                <a:ea typeface="굴림" pitchFamily="34" charset="-127"/>
              </a:rPr>
              <a:t>Program Status Word Register (PSW)/ Flag Register</a:t>
            </a:r>
            <a:endParaRPr lang="en-US" sz="3200" b="1" dirty="0" smtClean="0">
              <a:solidFill>
                <a:srgbClr val="7030A0"/>
              </a:solidFill>
            </a:endParaRPr>
          </a:p>
        </p:txBody>
      </p:sp>
      <p:sp>
        <p:nvSpPr>
          <p:cNvPr id="24579" name="Rectangle 3"/>
          <p:cNvSpPr>
            <a:spLocks noGrp="1" noChangeArrowheads="1"/>
          </p:cNvSpPr>
          <p:nvPr>
            <p:ph idx="1"/>
          </p:nvPr>
        </p:nvSpPr>
        <p:spPr>
          <a:xfrm>
            <a:off x="457200" y="785813"/>
            <a:ext cx="8229600" cy="5340350"/>
          </a:xfrm>
        </p:spPr>
        <p:txBody>
          <a:bodyPr/>
          <a:lstStyle/>
          <a:p>
            <a:pPr eaLnBrk="1" hangingPunct="1">
              <a:buFontTx/>
              <a:buNone/>
            </a:pPr>
            <a:r>
              <a:rPr lang="en-US" sz="2400" dirty="0" smtClean="0"/>
              <a:t>  </a:t>
            </a:r>
          </a:p>
        </p:txBody>
      </p:sp>
      <p:sp>
        <p:nvSpPr>
          <p:cNvPr id="22" name="Slide Number Placeholder 21"/>
          <p:cNvSpPr>
            <a:spLocks noGrp="1"/>
          </p:cNvSpPr>
          <p:nvPr>
            <p:ph type="sldNum" sz="quarter" idx="12"/>
          </p:nvPr>
        </p:nvSpPr>
        <p:spPr/>
        <p:txBody>
          <a:bodyPr/>
          <a:lstStyle/>
          <a:p>
            <a:pPr>
              <a:defRPr/>
            </a:pPr>
            <a:fld id="{1E4EF6EA-C2AA-4614-9370-FDC263EBDC19}" type="slidenum">
              <a:rPr lang="en-US"/>
              <a:pPr>
                <a:defRPr/>
              </a:pPr>
              <a:t>22</a:t>
            </a:fld>
            <a:endParaRPr lang="en-US"/>
          </a:p>
        </p:txBody>
      </p:sp>
      <p:grpSp>
        <p:nvGrpSpPr>
          <p:cNvPr id="24581" name="Group 4"/>
          <p:cNvGrpSpPr>
            <a:grpSpLocks noChangeAspect="1"/>
          </p:cNvGrpSpPr>
          <p:nvPr/>
        </p:nvGrpSpPr>
        <p:grpSpPr bwMode="auto">
          <a:xfrm>
            <a:off x="179388" y="928688"/>
            <a:ext cx="8750300" cy="5305425"/>
            <a:chOff x="1801" y="8689"/>
            <a:chExt cx="8638" cy="5913"/>
          </a:xfrm>
        </p:grpSpPr>
        <p:sp>
          <p:nvSpPr>
            <p:cNvPr id="24582" name="AutoShape 5"/>
            <p:cNvSpPr>
              <a:spLocks noChangeAspect="1" noChangeArrowheads="1"/>
            </p:cNvSpPr>
            <p:nvPr/>
          </p:nvSpPr>
          <p:spPr bwMode="auto">
            <a:xfrm>
              <a:off x="1801" y="8689"/>
              <a:ext cx="8638" cy="5913"/>
            </a:xfrm>
            <a:prstGeom prst="rect">
              <a:avLst/>
            </a:prstGeom>
            <a:noFill/>
            <a:ln w="9525">
              <a:noFill/>
              <a:miter lim="800000"/>
              <a:headEnd/>
              <a:tailEnd/>
            </a:ln>
          </p:spPr>
          <p:txBody>
            <a:bodyPr/>
            <a:lstStyle/>
            <a:p>
              <a:endParaRPr lang="en-US"/>
            </a:p>
          </p:txBody>
        </p:sp>
        <p:sp>
          <p:nvSpPr>
            <p:cNvPr id="24583" name="Text Box 6"/>
            <p:cNvSpPr txBox="1">
              <a:spLocks noChangeArrowheads="1"/>
            </p:cNvSpPr>
            <p:nvPr/>
          </p:nvSpPr>
          <p:spPr bwMode="auto">
            <a:xfrm>
              <a:off x="2654" y="9041"/>
              <a:ext cx="786" cy="504"/>
            </a:xfrm>
            <a:prstGeom prst="rect">
              <a:avLst/>
            </a:prstGeom>
            <a:solidFill>
              <a:srgbClr val="FFFFFF"/>
            </a:solidFill>
            <a:ln w="9525">
              <a:solidFill>
                <a:srgbClr val="000000"/>
              </a:solidFill>
              <a:miter lim="800000"/>
              <a:headEnd/>
              <a:tailEnd/>
            </a:ln>
          </p:spPr>
          <p:txBody>
            <a:bodyPr/>
            <a:lstStyle/>
            <a:p>
              <a:pPr algn="ctr" rtl="1"/>
              <a:r>
                <a:rPr lang="en-US" altLang="zh-CN" sz="2400">
                  <a:solidFill>
                    <a:srgbClr val="FF0000"/>
                  </a:solidFill>
                  <a:cs typeface="Arial" charset="0"/>
                </a:rPr>
                <a:t>CY</a:t>
              </a:r>
              <a:endParaRPr lang="en-US" sz="2400">
                <a:solidFill>
                  <a:srgbClr val="FF0000"/>
                </a:solidFill>
                <a:latin typeface="Arial" charset="0"/>
                <a:ea typeface="SimSun" pitchFamily="2" charset="-122"/>
                <a:cs typeface="Arial" charset="0"/>
              </a:endParaRPr>
            </a:p>
          </p:txBody>
        </p:sp>
        <p:sp>
          <p:nvSpPr>
            <p:cNvPr id="24584" name="Text Box 7"/>
            <p:cNvSpPr txBox="1">
              <a:spLocks noChangeArrowheads="1"/>
            </p:cNvSpPr>
            <p:nvPr/>
          </p:nvSpPr>
          <p:spPr bwMode="auto">
            <a:xfrm>
              <a:off x="3440" y="9041"/>
              <a:ext cx="785" cy="504"/>
            </a:xfrm>
            <a:prstGeom prst="rect">
              <a:avLst/>
            </a:prstGeom>
            <a:solidFill>
              <a:srgbClr val="FFFFFF"/>
            </a:solidFill>
            <a:ln w="9525">
              <a:solidFill>
                <a:srgbClr val="000000"/>
              </a:solidFill>
              <a:miter lim="800000"/>
              <a:headEnd/>
              <a:tailEnd/>
            </a:ln>
          </p:spPr>
          <p:txBody>
            <a:bodyPr/>
            <a:lstStyle/>
            <a:p>
              <a:pPr algn="ctr" rtl="1"/>
              <a:r>
                <a:rPr lang="en-US" altLang="zh-CN" sz="2400">
                  <a:solidFill>
                    <a:srgbClr val="0066FF"/>
                  </a:solidFill>
                  <a:cs typeface="Arial" charset="0"/>
                </a:rPr>
                <a:t>AC</a:t>
              </a:r>
              <a:endParaRPr lang="en-US" sz="2400">
                <a:solidFill>
                  <a:srgbClr val="0066FF"/>
                </a:solidFill>
                <a:latin typeface="Arial" charset="0"/>
                <a:ea typeface="SimSun" pitchFamily="2" charset="-122"/>
                <a:cs typeface="Arial" charset="0"/>
              </a:endParaRPr>
            </a:p>
          </p:txBody>
        </p:sp>
        <p:sp>
          <p:nvSpPr>
            <p:cNvPr id="35850" name="Text Box 8"/>
            <p:cNvSpPr txBox="1">
              <a:spLocks noChangeArrowheads="1"/>
            </p:cNvSpPr>
            <p:nvPr/>
          </p:nvSpPr>
          <p:spPr bwMode="auto">
            <a:xfrm>
              <a:off x="4222" y="9041"/>
              <a:ext cx="788" cy="504"/>
            </a:xfrm>
            <a:prstGeom prst="rect">
              <a:avLst/>
            </a:prstGeom>
            <a:solidFill>
              <a:srgbClr val="FFFFFF"/>
            </a:solidFill>
            <a:ln w="9525">
              <a:solidFill>
                <a:srgbClr val="000000"/>
              </a:solidFill>
              <a:miter lim="800000"/>
              <a:headEnd/>
              <a:tailEnd/>
            </a:ln>
          </p:spPr>
          <p:txBody>
            <a:bodyPr/>
            <a:lstStyle/>
            <a:p>
              <a:pPr algn="ctr" rtl="1">
                <a:defRPr/>
              </a:pPr>
              <a:r>
                <a:rPr lang="en-US" altLang="zh-CN" sz="2400" b="1" dirty="0">
                  <a:solidFill>
                    <a:schemeClr val="bg1">
                      <a:lumMod val="50000"/>
                    </a:schemeClr>
                  </a:solidFill>
                  <a:cs typeface="Arial" charset="0"/>
                </a:rPr>
                <a:t>F0</a:t>
              </a:r>
              <a:endParaRPr lang="en-US" sz="2400" b="1" dirty="0">
                <a:solidFill>
                  <a:schemeClr val="bg1">
                    <a:lumMod val="50000"/>
                  </a:schemeClr>
                </a:solidFill>
                <a:latin typeface="Arial" charset="0"/>
                <a:ea typeface="SimSun" pitchFamily="2" charset="-122"/>
                <a:cs typeface="Arial" charset="0"/>
              </a:endParaRPr>
            </a:p>
          </p:txBody>
        </p:sp>
        <p:sp>
          <p:nvSpPr>
            <p:cNvPr id="24586" name="Text Box 9"/>
            <p:cNvSpPr txBox="1">
              <a:spLocks noChangeArrowheads="1"/>
            </p:cNvSpPr>
            <p:nvPr/>
          </p:nvSpPr>
          <p:spPr bwMode="auto">
            <a:xfrm>
              <a:off x="5020" y="9041"/>
              <a:ext cx="787" cy="504"/>
            </a:xfrm>
            <a:prstGeom prst="rect">
              <a:avLst/>
            </a:prstGeom>
            <a:solidFill>
              <a:srgbClr val="FFFFFF"/>
            </a:solidFill>
            <a:ln w="9525">
              <a:solidFill>
                <a:srgbClr val="000000"/>
              </a:solidFill>
              <a:miter lim="800000"/>
              <a:headEnd/>
              <a:tailEnd/>
            </a:ln>
          </p:spPr>
          <p:txBody>
            <a:bodyPr/>
            <a:lstStyle/>
            <a:p>
              <a:pPr algn="ctr" rtl="1"/>
              <a:r>
                <a:rPr lang="en-US" altLang="zh-CN" sz="2400">
                  <a:solidFill>
                    <a:srgbClr val="FF0000"/>
                  </a:solidFill>
                  <a:cs typeface="Arial" charset="0"/>
                </a:rPr>
                <a:t>RS1</a:t>
              </a:r>
              <a:endParaRPr lang="en-US" sz="2400">
                <a:solidFill>
                  <a:srgbClr val="FF0000"/>
                </a:solidFill>
                <a:latin typeface="Arial" charset="0"/>
                <a:ea typeface="SimSun" pitchFamily="2" charset="-122"/>
                <a:cs typeface="Arial" charset="0"/>
              </a:endParaRPr>
            </a:p>
          </p:txBody>
        </p:sp>
        <p:sp>
          <p:nvSpPr>
            <p:cNvPr id="24587" name="Text Box 10"/>
            <p:cNvSpPr txBox="1">
              <a:spLocks noChangeArrowheads="1"/>
            </p:cNvSpPr>
            <p:nvPr/>
          </p:nvSpPr>
          <p:spPr bwMode="auto">
            <a:xfrm>
              <a:off x="6589" y="9041"/>
              <a:ext cx="786" cy="504"/>
            </a:xfrm>
            <a:prstGeom prst="rect">
              <a:avLst/>
            </a:prstGeom>
            <a:solidFill>
              <a:srgbClr val="FFFFFF"/>
            </a:solidFill>
            <a:ln w="9525">
              <a:solidFill>
                <a:srgbClr val="000000"/>
              </a:solidFill>
              <a:miter lim="800000"/>
              <a:headEnd/>
              <a:tailEnd/>
            </a:ln>
          </p:spPr>
          <p:txBody>
            <a:bodyPr/>
            <a:lstStyle/>
            <a:p>
              <a:pPr rtl="1"/>
              <a:r>
                <a:rPr lang="en-US" altLang="zh-CN" sz="2400" b="1">
                  <a:solidFill>
                    <a:srgbClr val="0066FF"/>
                  </a:solidFill>
                  <a:cs typeface="Arial" charset="0"/>
                </a:rPr>
                <a:t>OV</a:t>
              </a:r>
              <a:endParaRPr lang="en-US" sz="2400" b="1">
                <a:solidFill>
                  <a:srgbClr val="0066FF"/>
                </a:solidFill>
                <a:latin typeface="Arial" charset="0"/>
                <a:ea typeface="SimSun" pitchFamily="2" charset="-122"/>
                <a:cs typeface="Arial" charset="0"/>
              </a:endParaRPr>
            </a:p>
          </p:txBody>
        </p:sp>
        <p:sp>
          <p:nvSpPr>
            <p:cNvPr id="24588" name="Text Box 11"/>
            <p:cNvSpPr txBox="1">
              <a:spLocks noChangeArrowheads="1"/>
            </p:cNvSpPr>
            <p:nvPr/>
          </p:nvSpPr>
          <p:spPr bwMode="auto">
            <a:xfrm>
              <a:off x="5805" y="9041"/>
              <a:ext cx="786" cy="504"/>
            </a:xfrm>
            <a:prstGeom prst="rect">
              <a:avLst/>
            </a:prstGeom>
            <a:solidFill>
              <a:srgbClr val="FFFFFF"/>
            </a:solidFill>
            <a:ln w="9525">
              <a:solidFill>
                <a:srgbClr val="000000"/>
              </a:solidFill>
              <a:miter lim="800000"/>
              <a:headEnd/>
              <a:tailEnd/>
            </a:ln>
          </p:spPr>
          <p:txBody>
            <a:bodyPr/>
            <a:lstStyle/>
            <a:p>
              <a:pPr algn="ctr" rtl="1"/>
              <a:r>
                <a:rPr lang="en-US" altLang="zh-CN" sz="2400">
                  <a:solidFill>
                    <a:srgbClr val="FF0000"/>
                  </a:solidFill>
                  <a:cs typeface="Arial" charset="0"/>
                </a:rPr>
                <a:t>RS0</a:t>
              </a:r>
              <a:endParaRPr lang="en-US" sz="2400">
                <a:solidFill>
                  <a:srgbClr val="FF0000"/>
                </a:solidFill>
                <a:latin typeface="Arial" charset="0"/>
                <a:ea typeface="SimSun" pitchFamily="2" charset="-122"/>
                <a:cs typeface="Arial" charset="0"/>
              </a:endParaRPr>
            </a:p>
          </p:txBody>
        </p:sp>
        <p:sp>
          <p:nvSpPr>
            <p:cNvPr id="24589" name="Text Box 12"/>
            <p:cNvSpPr txBox="1">
              <a:spLocks noChangeArrowheads="1"/>
            </p:cNvSpPr>
            <p:nvPr/>
          </p:nvSpPr>
          <p:spPr bwMode="auto">
            <a:xfrm>
              <a:off x="8157" y="9041"/>
              <a:ext cx="786" cy="504"/>
            </a:xfrm>
            <a:prstGeom prst="rect">
              <a:avLst/>
            </a:prstGeom>
            <a:solidFill>
              <a:srgbClr val="FFFFFF"/>
            </a:solidFill>
            <a:ln w="9525">
              <a:solidFill>
                <a:srgbClr val="000000"/>
              </a:solidFill>
              <a:miter lim="800000"/>
              <a:headEnd/>
              <a:tailEnd/>
            </a:ln>
          </p:spPr>
          <p:txBody>
            <a:bodyPr/>
            <a:lstStyle/>
            <a:p>
              <a:pPr algn="ctr" rtl="1"/>
              <a:r>
                <a:rPr lang="en-US" altLang="zh-CN" sz="2400" b="1">
                  <a:solidFill>
                    <a:srgbClr val="7030A0"/>
                  </a:solidFill>
                  <a:cs typeface="Arial" charset="0"/>
                </a:rPr>
                <a:t>P</a:t>
              </a:r>
              <a:endParaRPr lang="en-US" sz="2400" b="1">
                <a:solidFill>
                  <a:srgbClr val="7030A0"/>
                </a:solidFill>
                <a:latin typeface="Arial" charset="0"/>
                <a:ea typeface="SimSun" pitchFamily="2" charset="-122"/>
                <a:cs typeface="Arial" charset="0"/>
              </a:endParaRPr>
            </a:p>
          </p:txBody>
        </p:sp>
        <p:sp>
          <p:nvSpPr>
            <p:cNvPr id="24590" name="Text Box 13"/>
            <p:cNvSpPr txBox="1">
              <a:spLocks noChangeArrowheads="1"/>
            </p:cNvSpPr>
            <p:nvPr/>
          </p:nvSpPr>
          <p:spPr bwMode="auto">
            <a:xfrm>
              <a:off x="7373" y="9041"/>
              <a:ext cx="786" cy="504"/>
            </a:xfrm>
            <a:prstGeom prst="rect">
              <a:avLst/>
            </a:prstGeom>
            <a:solidFill>
              <a:srgbClr val="FFFFFF"/>
            </a:solidFill>
            <a:ln w="9525">
              <a:solidFill>
                <a:srgbClr val="000000"/>
              </a:solidFill>
              <a:miter lim="800000"/>
              <a:headEnd/>
              <a:tailEnd/>
            </a:ln>
          </p:spPr>
          <p:txBody>
            <a:bodyPr/>
            <a:lstStyle/>
            <a:p>
              <a:pPr algn="ctr" rtl="1"/>
              <a:r>
                <a:rPr lang="en-US" altLang="zh-CN" sz="1200">
                  <a:cs typeface="Arial" charset="0"/>
                </a:rPr>
                <a:t>--</a:t>
              </a:r>
              <a:endParaRPr lang="en-US">
                <a:latin typeface="Arial" charset="0"/>
                <a:ea typeface="SimSun" pitchFamily="2" charset="-122"/>
                <a:cs typeface="Arial" charset="0"/>
              </a:endParaRPr>
            </a:p>
          </p:txBody>
        </p:sp>
        <p:sp>
          <p:nvSpPr>
            <p:cNvPr id="35856" name="Text Box 14"/>
            <p:cNvSpPr txBox="1">
              <a:spLocks noChangeArrowheads="1"/>
            </p:cNvSpPr>
            <p:nvPr/>
          </p:nvSpPr>
          <p:spPr bwMode="auto">
            <a:xfrm>
              <a:off x="2578" y="9910"/>
              <a:ext cx="6944" cy="2449"/>
            </a:xfrm>
            <a:prstGeom prst="rect">
              <a:avLst/>
            </a:prstGeom>
            <a:solidFill>
              <a:schemeClr val="bg1">
                <a:lumMod val="75000"/>
              </a:schemeClr>
            </a:solidFill>
            <a:ln w="9525">
              <a:noFill/>
              <a:miter lim="800000"/>
              <a:headEnd/>
              <a:tailEnd/>
            </a:ln>
          </p:spPr>
          <p:txBody>
            <a:bodyPr/>
            <a:lstStyle/>
            <a:p>
              <a:pPr algn="r" rtl="1">
                <a:defRPr/>
              </a:pPr>
              <a:r>
                <a:rPr lang="en-US" altLang="zh-CN" sz="1600" b="1" dirty="0">
                  <a:cs typeface="Arial" charset="0"/>
                </a:rPr>
                <a:t>CY</a:t>
              </a:r>
              <a:r>
                <a:rPr lang="en-US" altLang="zh-CN" sz="1600" dirty="0">
                  <a:cs typeface="Arial" charset="0"/>
                </a:rPr>
                <a:t>	</a:t>
              </a:r>
              <a:r>
                <a:rPr lang="en-US" altLang="zh-CN" sz="1600" b="1" dirty="0">
                  <a:cs typeface="Arial" charset="0"/>
                </a:rPr>
                <a:t>PSW.7</a:t>
              </a:r>
              <a:r>
                <a:rPr lang="en-US" altLang="zh-CN" sz="1600" dirty="0">
                  <a:cs typeface="Arial" charset="0"/>
                </a:rPr>
                <a:t>		</a:t>
              </a:r>
              <a:r>
                <a:rPr lang="en-US" altLang="zh-CN" sz="1600" b="1" i="1" dirty="0">
                  <a:cs typeface="Arial" charset="0"/>
                </a:rPr>
                <a:t>Carry flag</a:t>
              </a:r>
            </a:p>
            <a:p>
              <a:pPr algn="r" rtl="1">
                <a:defRPr/>
              </a:pPr>
              <a:r>
                <a:rPr lang="en-US" altLang="zh-CN" sz="1600" b="1" dirty="0">
                  <a:cs typeface="Arial" charset="0"/>
                </a:rPr>
                <a:t>AC	PSW.6		</a:t>
              </a:r>
              <a:r>
                <a:rPr lang="en-US" altLang="zh-CN" sz="1600" b="1" i="1" dirty="0">
                  <a:cs typeface="Arial" charset="0"/>
                </a:rPr>
                <a:t>Auxiliary carry flag</a:t>
              </a:r>
            </a:p>
            <a:p>
              <a:pPr algn="r" rtl="1">
                <a:defRPr/>
              </a:pPr>
              <a:r>
                <a:rPr lang="en-US" altLang="zh-CN" sz="1600" b="1" dirty="0">
                  <a:cs typeface="Arial" charset="0"/>
                </a:rPr>
                <a:t>--	PSW.5		</a:t>
              </a:r>
              <a:r>
                <a:rPr lang="en-US" altLang="zh-CN" sz="1600" b="1" i="1" dirty="0">
                  <a:cs typeface="Arial" charset="0"/>
                </a:rPr>
                <a:t>Available to the user for general purpose</a:t>
              </a:r>
              <a:endParaRPr lang="en-US" altLang="zh-CN" sz="1600" b="1" dirty="0">
                <a:cs typeface="Arial" charset="0"/>
              </a:endParaRPr>
            </a:p>
            <a:p>
              <a:pPr algn="r" rtl="1">
                <a:defRPr/>
              </a:pPr>
              <a:r>
                <a:rPr lang="en-US" altLang="zh-CN" sz="1600" b="1" dirty="0">
                  <a:cs typeface="Arial" charset="0"/>
                </a:rPr>
                <a:t>RS1	PSW.4		</a:t>
              </a:r>
              <a:r>
                <a:rPr lang="en-US" altLang="zh-CN" sz="1600" b="1" i="1" dirty="0">
                  <a:cs typeface="Arial" charset="0"/>
                </a:rPr>
                <a:t>Register Bank selector bit 1</a:t>
              </a:r>
            </a:p>
            <a:p>
              <a:pPr algn="r" rtl="1">
                <a:defRPr/>
              </a:pPr>
              <a:r>
                <a:rPr lang="en-US" altLang="zh-CN" sz="1600" b="1" dirty="0">
                  <a:cs typeface="Arial" charset="0"/>
                </a:rPr>
                <a:t>RS0	PSW.3		</a:t>
              </a:r>
              <a:r>
                <a:rPr lang="en-US" altLang="zh-CN" sz="1600" b="1" i="1" dirty="0">
                  <a:cs typeface="Arial" charset="0"/>
                </a:rPr>
                <a:t>Register Bank selector bit 0</a:t>
              </a:r>
            </a:p>
            <a:p>
              <a:pPr algn="r" rtl="1">
                <a:defRPr/>
              </a:pPr>
              <a:r>
                <a:rPr lang="en-US" altLang="zh-CN" sz="1600" b="1" dirty="0">
                  <a:cs typeface="Arial" charset="0"/>
                </a:rPr>
                <a:t>OV	PSW.2		</a:t>
              </a:r>
              <a:r>
                <a:rPr lang="en-US" altLang="zh-CN" sz="1600" b="1" i="1" dirty="0">
                  <a:cs typeface="Arial" charset="0"/>
                </a:rPr>
                <a:t>Overflow flag</a:t>
              </a:r>
            </a:p>
            <a:p>
              <a:pPr algn="r" rtl="1">
                <a:defRPr/>
              </a:pPr>
              <a:r>
                <a:rPr lang="en-US" altLang="zh-CN" sz="1600" b="1" dirty="0">
                  <a:cs typeface="Arial" charset="0"/>
                </a:rPr>
                <a:t>--	PSW.1		</a:t>
              </a:r>
              <a:r>
                <a:rPr lang="en-US" altLang="zh-CN" sz="1600" b="1" i="1" dirty="0">
                  <a:cs typeface="Arial" charset="0"/>
                </a:rPr>
                <a:t>User define bit</a:t>
              </a:r>
              <a:endParaRPr lang="en-US" altLang="zh-CN" sz="1600" b="1" dirty="0">
                <a:cs typeface="Arial" charset="0"/>
              </a:endParaRPr>
            </a:p>
            <a:p>
              <a:pPr algn="r" rtl="1">
                <a:defRPr/>
              </a:pPr>
              <a:r>
                <a:rPr lang="en-US" altLang="zh-CN" sz="1600" b="1" dirty="0">
                  <a:cs typeface="Arial" charset="0"/>
                </a:rPr>
                <a:t>P	PSW.0		</a:t>
              </a:r>
              <a:r>
                <a:rPr lang="en-US" altLang="zh-CN" sz="1600" b="1" i="1" dirty="0">
                  <a:cs typeface="Arial" charset="0"/>
                </a:rPr>
                <a:t>Parity flag Set/Reset   odd/even parity</a:t>
              </a:r>
              <a:endParaRPr lang="en-US" sz="2400" b="1" dirty="0">
                <a:latin typeface="Arial" charset="0"/>
                <a:ea typeface="SimSun" pitchFamily="2" charset="-122"/>
                <a:cs typeface="Arial" charset="0"/>
              </a:endParaRPr>
            </a:p>
          </p:txBody>
        </p:sp>
        <p:sp>
          <p:nvSpPr>
            <p:cNvPr id="24592" name="Rectangle 15"/>
            <p:cNvSpPr>
              <a:spLocks noChangeArrowheads="1"/>
            </p:cNvSpPr>
            <p:nvPr/>
          </p:nvSpPr>
          <p:spPr bwMode="auto">
            <a:xfrm>
              <a:off x="2501" y="12471"/>
              <a:ext cx="7420" cy="420"/>
            </a:xfrm>
            <a:prstGeom prst="rect">
              <a:avLst/>
            </a:prstGeom>
            <a:solidFill>
              <a:srgbClr val="FFFFFF"/>
            </a:solidFill>
            <a:ln w="9525">
              <a:solidFill>
                <a:srgbClr val="000000"/>
              </a:solidFill>
              <a:miter lim="800000"/>
              <a:headEnd/>
              <a:tailEnd/>
            </a:ln>
          </p:spPr>
          <p:txBody>
            <a:bodyPr/>
            <a:lstStyle/>
            <a:p>
              <a:r>
                <a:rPr lang="en-US" altLang="zh-CN" sz="2400" b="1">
                  <a:solidFill>
                    <a:srgbClr val="FF0000"/>
                  </a:solidFill>
                  <a:cs typeface="Arial" charset="0"/>
                </a:rPr>
                <a:t>RS1	RS0</a:t>
              </a:r>
              <a:r>
                <a:rPr lang="en-US" altLang="zh-CN" sz="1200" b="1">
                  <a:cs typeface="Arial" charset="0"/>
                </a:rPr>
                <a:t>		</a:t>
              </a:r>
              <a:r>
                <a:rPr lang="en-US" altLang="zh-CN" sz="2400" b="1">
                  <a:solidFill>
                    <a:srgbClr val="7030A0"/>
                  </a:solidFill>
                  <a:cs typeface="Arial" charset="0"/>
                </a:rPr>
                <a:t>Register Bank</a:t>
              </a:r>
              <a:r>
                <a:rPr lang="en-US" altLang="zh-CN" sz="1200" b="1">
                  <a:cs typeface="Arial" charset="0"/>
                </a:rPr>
                <a:t>		</a:t>
              </a:r>
              <a:r>
                <a:rPr lang="en-US" altLang="zh-CN" sz="2400" b="1">
                  <a:cs typeface="Arial" charset="0"/>
                </a:rPr>
                <a:t>Address</a:t>
              </a:r>
              <a:endParaRPr lang="en-US" sz="2400">
                <a:latin typeface="Arial" charset="0"/>
                <a:ea typeface="SimSun" pitchFamily="2" charset="-122"/>
                <a:cs typeface="Arial" charset="0"/>
              </a:endParaRPr>
            </a:p>
          </p:txBody>
        </p:sp>
        <p:sp>
          <p:nvSpPr>
            <p:cNvPr id="24593" name="Rectangle 16"/>
            <p:cNvSpPr>
              <a:spLocks noChangeArrowheads="1"/>
            </p:cNvSpPr>
            <p:nvPr/>
          </p:nvSpPr>
          <p:spPr bwMode="auto">
            <a:xfrm>
              <a:off x="2501" y="12891"/>
              <a:ext cx="7420" cy="420"/>
            </a:xfrm>
            <a:prstGeom prst="rect">
              <a:avLst/>
            </a:prstGeom>
            <a:solidFill>
              <a:srgbClr val="FFFFFF"/>
            </a:solidFill>
            <a:ln w="9525">
              <a:solidFill>
                <a:srgbClr val="000000"/>
              </a:solidFill>
              <a:miter lim="800000"/>
              <a:headEnd/>
              <a:tailEnd/>
            </a:ln>
          </p:spPr>
          <p:txBody>
            <a:bodyPr/>
            <a:lstStyle/>
            <a:p>
              <a:r>
                <a:rPr lang="en-US" altLang="zh-CN" sz="2000">
                  <a:solidFill>
                    <a:srgbClr val="0070C0"/>
                  </a:solidFill>
                  <a:cs typeface="Arial" charset="0"/>
                </a:rPr>
                <a:t>0        	    0</a:t>
              </a:r>
              <a:r>
                <a:rPr lang="en-US" altLang="zh-CN" sz="1200">
                  <a:cs typeface="Arial" charset="0"/>
                </a:rPr>
                <a:t>		         </a:t>
              </a:r>
              <a:r>
                <a:rPr lang="en-US" altLang="zh-CN" sz="2000">
                  <a:solidFill>
                    <a:srgbClr val="FF0000"/>
                  </a:solidFill>
                  <a:cs typeface="Arial" charset="0"/>
                </a:rPr>
                <a:t>0</a:t>
              </a:r>
              <a:r>
                <a:rPr lang="en-US" altLang="zh-CN" sz="1200">
                  <a:cs typeface="Arial" charset="0"/>
                </a:rPr>
                <a:t>			   	</a:t>
              </a:r>
              <a:r>
                <a:rPr lang="en-US" altLang="zh-CN" sz="1400" b="1">
                  <a:solidFill>
                    <a:srgbClr val="7030A0"/>
                  </a:solidFill>
                  <a:cs typeface="Arial" charset="0"/>
                </a:rPr>
                <a:t>00H-07H</a:t>
              </a:r>
              <a:endParaRPr lang="en-US" sz="2000" b="1">
                <a:solidFill>
                  <a:srgbClr val="7030A0"/>
                </a:solidFill>
                <a:latin typeface="Arial" charset="0"/>
                <a:ea typeface="SimSun" pitchFamily="2" charset="-122"/>
                <a:cs typeface="Arial" charset="0"/>
              </a:endParaRPr>
            </a:p>
          </p:txBody>
        </p:sp>
        <p:sp>
          <p:nvSpPr>
            <p:cNvPr id="24594" name="Rectangle 17"/>
            <p:cNvSpPr>
              <a:spLocks noChangeArrowheads="1"/>
            </p:cNvSpPr>
            <p:nvPr/>
          </p:nvSpPr>
          <p:spPr bwMode="auto">
            <a:xfrm>
              <a:off x="2501" y="13311"/>
              <a:ext cx="7420" cy="420"/>
            </a:xfrm>
            <a:prstGeom prst="rect">
              <a:avLst/>
            </a:prstGeom>
            <a:solidFill>
              <a:srgbClr val="FFFFFF"/>
            </a:solidFill>
            <a:ln w="9525">
              <a:solidFill>
                <a:srgbClr val="000000"/>
              </a:solidFill>
              <a:miter lim="800000"/>
              <a:headEnd/>
              <a:tailEnd/>
            </a:ln>
          </p:spPr>
          <p:txBody>
            <a:bodyPr/>
            <a:lstStyle/>
            <a:p>
              <a:r>
                <a:rPr lang="en-US" altLang="zh-CN" sz="2000">
                  <a:solidFill>
                    <a:srgbClr val="0070C0"/>
                  </a:solidFill>
                  <a:cs typeface="Arial" charset="0"/>
                </a:rPr>
                <a:t>0   </a:t>
              </a:r>
              <a:r>
                <a:rPr lang="en-US" altLang="zh-CN" sz="1200">
                  <a:cs typeface="Arial" charset="0"/>
                </a:rPr>
                <a:t> </a:t>
              </a:r>
              <a:r>
                <a:rPr lang="en-US" altLang="zh-CN" sz="2000">
                  <a:solidFill>
                    <a:srgbClr val="0070C0"/>
                  </a:solidFill>
                  <a:cs typeface="Arial" charset="0"/>
                </a:rPr>
                <a:t>    	    1</a:t>
              </a:r>
              <a:r>
                <a:rPr lang="en-US" altLang="zh-CN" sz="1200">
                  <a:cs typeface="Arial" charset="0"/>
                </a:rPr>
                <a:t>		         </a:t>
              </a:r>
              <a:r>
                <a:rPr lang="en-US" altLang="zh-CN" sz="2400">
                  <a:solidFill>
                    <a:srgbClr val="FF0000"/>
                  </a:solidFill>
                  <a:cs typeface="Arial" charset="0"/>
                </a:rPr>
                <a:t>1</a:t>
              </a:r>
              <a:r>
                <a:rPr lang="en-US" altLang="zh-CN" sz="1200">
                  <a:cs typeface="Arial" charset="0"/>
                </a:rPr>
                <a:t>			   	</a:t>
              </a:r>
              <a:r>
                <a:rPr lang="en-US" altLang="zh-CN" sz="1400" b="1">
                  <a:solidFill>
                    <a:srgbClr val="7030A0"/>
                  </a:solidFill>
                  <a:cs typeface="Arial" charset="0"/>
                </a:rPr>
                <a:t>08H-0FH</a:t>
              </a:r>
              <a:endParaRPr lang="en-US" sz="2000" b="1">
                <a:solidFill>
                  <a:srgbClr val="7030A0"/>
                </a:solidFill>
                <a:latin typeface="Arial" charset="0"/>
                <a:ea typeface="SimSun" pitchFamily="2" charset="-122"/>
                <a:cs typeface="Arial" charset="0"/>
              </a:endParaRPr>
            </a:p>
          </p:txBody>
        </p:sp>
        <p:sp>
          <p:nvSpPr>
            <p:cNvPr id="24595" name="Rectangle 18"/>
            <p:cNvSpPr>
              <a:spLocks noChangeArrowheads="1"/>
            </p:cNvSpPr>
            <p:nvPr/>
          </p:nvSpPr>
          <p:spPr bwMode="auto">
            <a:xfrm>
              <a:off x="2501" y="13731"/>
              <a:ext cx="7420" cy="420"/>
            </a:xfrm>
            <a:prstGeom prst="rect">
              <a:avLst/>
            </a:prstGeom>
            <a:solidFill>
              <a:srgbClr val="FFFFFF"/>
            </a:solidFill>
            <a:ln w="9525">
              <a:solidFill>
                <a:srgbClr val="000000"/>
              </a:solidFill>
              <a:miter lim="800000"/>
              <a:headEnd/>
              <a:tailEnd/>
            </a:ln>
          </p:spPr>
          <p:txBody>
            <a:bodyPr/>
            <a:lstStyle/>
            <a:p>
              <a:r>
                <a:rPr lang="en-US" altLang="zh-CN" sz="2000">
                  <a:solidFill>
                    <a:srgbClr val="0070C0"/>
                  </a:solidFill>
                  <a:cs typeface="Arial" charset="0"/>
                </a:rPr>
                <a:t>1         	    0</a:t>
              </a:r>
              <a:r>
                <a:rPr lang="en-US" altLang="zh-CN" sz="1200">
                  <a:cs typeface="Arial" charset="0"/>
                </a:rPr>
                <a:t>		        </a:t>
              </a:r>
              <a:r>
                <a:rPr lang="en-US" altLang="zh-CN" sz="2400">
                  <a:solidFill>
                    <a:srgbClr val="FF0000"/>
                  </a:solidFill>
                  <a:cs typeface="Arial" charset="0"/>
                </a:rPr>
                <a:t> 2</a:t>
              </a:r>
              <a:r>
                <a:rPr lang="en-US" altLang="zh-CN" sz="1200">
                  <a:cs typeface="Arial" charset="0"/>
                </a:rPr>
                <a:t>			   	</a:t>
              </a:r>
              <a:r>
                <a:rPr lang="en-US" altLang="zh-CN" sz="1400" b="1">
                  <a:solidFill>
                    <a:srgbClr val="7030A0"/>
                  </a:solidFill>
                  <a:cs typeface="Arial" charset="0"/>
                </a:rPr>
                <a:t>10H-17H</a:t>
              </a:r>
              <a:endParaRPr lang="en-US" sz="2000" b="1">
                <a:solidFill>
                  <a:srgbClr val="7030A0"/>
                </a:solidFill>
                <a:latin typeface="Arial" charset="0"/>
                <a:ea typeface="SimSun" pitchFamily="2" charset="-122"/>
                <a:cs typeface="Arial" charset="0"/>
              </a:endParaRPr>
            </a:p>
          </p:txBody>
        </p:sp>
        <p:sp>
          <p:nvSpPr>
            <p:cNvPr id="24596" name="Rectangle 19"/>
            <p:cNvSpPr>
              <a:spLocks noChangeArrowheads="1"/>
            </p:cNvSpPr>
            <p:nvPr/>
          </p:nvSpPr>
          <p:spPr bwMode="auto">
            <a:xfrm>
              <a:off x="2501" y="14151"/>
              <a:ext cx="7420" cy="420"/>
            </a:xfrm>
            <a:prstGeom prst="rect">
              <a:avLst/>
            </a:prstGeom>
            <a:solidFill>
              <a:srgbClr val="FFFFFF"/>
            </a:solidFill>
            <a:ln w="9525">
              <a:solidFill>
                <a:srgbClr val="000000"/>
              </a:solidFill>
              <a:miter lim="800000"/>
              <a:headEnd/>
              <a:tailEnd/>
            </a:ln>
          </p:spPr>
          <p:txBody>
            <a:bodyPr/>
            <a:lstStyle/>
            <a:p>
              <a:r>
                <a:rPr lang="en-US" altLang="zh-CN" sz="2000">
                  <a:solidFill>
                    <a:srgbClr val="0070C0"/>
                  </a:solidFill>
                  <a:cs typeface="Arial" charset="0"/>
                </a:rPr>
                <a:t>1        	    1</a:t>
              </a:r>
              <a:r>
                <a:rPr lang="en-US" altLang="zh-CN" sz="1200">
                  <a:cs typeface="Arial" charset="0"/>
                </a:rPr>
                <a:t>		</a:t>
              </a:r>
              <a:r>
                <a:rPr lang="en-US" altLang="zh-CN" sz="2400">
                  <a:solidFill>
                    <a:srgbClr val="FF0000"/>
                  </a:solidFill>
                  <a:cs typeface="Arial" charset="0"/>
                </a:rPr>
                <a:t>     3</a:t>
              </a:r>
              <a:r>
                <a:rPr lang="en-US" altLang="zh-CN" sz="1200">
                  <a:cs typeface="Arial" charset="0"/>
                </a:rPr>
                <a:t>			   	</a:t>
              </a:r>
              <a:r>
                <a:rPr lang="en-US" altLang="zh-CN" sz="1400" b="1">
                  <a:solidFill>
                    <a:srgbClr val="7030A0"/>
                  </a:solidFill>
                  <a:cs typeface="Arial" charset="0"/>
                </a:rPr>
                <a:t>18H-1FH</a:t>
              </a:r>
              <a:endParaRPr lang="en-US" sz="2000" b="1">
                <a:solidFill>
                  <a:srgbClr val="7030A0"/>
                </a:solidFill>
                <a:latin typeface="Arial" charset="0"/>
                <a:ea typeface="SimSun" pitchFamily="2" charset="-122"/>
                <a:cs typeface="Arial" charset="0"/>
              </a:endParaRPr>
            </a:p>
          </p:txBody>
        </p:sp>
      </p:grpSp>
      <p:sp>
        <p:nvSpPr>
          <p:cNvPr id="21" name="Date Placeholder 20"/>
          <p:cNvSpPr>
            <a:spLocks noGrp="1"/>
          </p:cNvSpPr>
          <p:nvPr>
            <p:ph type="dt" sz="half" idx="10"/>
          </p:nvPr>
        </p:nvSpPr>
        <p:spPr/>
        <p:txBody>
          <a:bodyPr/>
          <a:lstStyle/>
          <a:p>
            <a:pPr>
              <a:defRPr/>
            </a:pPr>
            <a:fld id="{4B3460AB-3E31-4486-B0FC-01A1543BA37B}" type="datetime2">
              <a:rPr lang="en-US" smtClean="0"/>
              <a:pPr>
                <a:defRPr/>
              </a:pPr>
              <a:t>Friday, August 27, 2021</a:t>
            </a:fld>
            <a:endParaRPr lang="en-US"/>
          </a:p>
        </p:txBody>
      </p:sp>
      <p:sp>
        <p:nvSpPr>
          <p:cNvPr id="23" name="Footer Placeholder 22"/>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785813" y="0"/>
            <a:ext cx="5500687" cy="582613"/>
          </a:xfrm>
        </p:spPr>
        <p:txBody>
          <a:bodyPr rtlCol="0">
            <a:normAutofit/>
          </a:bodyPr>
          <a:lstStyle/>
          <a:p>
            <a:pPr eaLnBrk="1" fontAlgn="auto" hangingPunct="1">
              <a:spcAft>
                <a:spcPts val="0"/>
              </a:spcAft>
              <a:defRPr/>
            </a:pPr>
            <a:r>
              <a:rPr lang="en-US" sz="2400" b="1" dirty="0" smtClean="0">
                <a:latin typeface="+mn-lt"/>
              </a:rPr>
              <a:t>Special Function Registers(</a:t>
            </a:r>
            <a:r>
              <a:rPr lang="en-US" sz="2800" b="1" dirty="0" smtClean="0">
                <a:solidFill>
                  <a:srgbClr val="7030A0"/>
                </a:solidFill>
                <a:latin typeface="+mn-lt"/>
              </a:rPr>
              <a:t>SFR</a:t>
            </a:r>
            <a:r>
              <a:rPr lang="en-US" sz="2400" b="1" dirty="0" smtClean="0">
                <a:latin typeface="+mn-lt"/>
              </a:rPr>
              <a:t>)</a:t>
            </a:r>
          </a:p>
        </p:txBody>
      </p:sp>
      <p:graphicFrame>
        <p:nvGraphicFramePr>
          <p:cNvPr id="6" name="Content Placeholder 5"/>
          <p:cNvGraphicFramePr>
            <a:graphicFrameLocks noGrp="1"/>
          </p:cNvGraphicFramePr>
          <p:nvPr>
            <p:ph idx="1"/>
          </p:nvPr>
        </p:nvGraphicFramePr>
        <p:xfrm>
          <a:off x="285750" y="571500"/>
          <a:ext cx="8501120" cy="5730240"/>
        </p:xfrm>
        <a:graphic>
          <a:graphicData uri="http://schemas.openxmlformats.org/drawingml/2006/table">
            <a:tbl>
              <a:tblPr firstRow="1" bandRow="1">
                <a:tableStyleId>{5C22544A-7EE6-4342-B048-85BDC9FD1C3A}</a:tableStyleId>
              </a:tblPr>
              <a:tblGrid>
                <a:gridCol w="2125279"/>
                <a:gridCol w="2472266"/>
                <a:gridCol w="1127699"/>
                <a:gridCol w="2775876"/>
              </a:tblGrid>
              <a:tr h="370840">
                <a:tc>
                  <a:txBody>
                    <a:bodyPr/>
                    <a:lstStyle/>
                    <a:p>
                      <a:r>
                        <a:rPr lang="en-US" dirty="0" smtClean="0"/>
                        <a:t>Name </a:t>
                      </a:r>
                      <a:endParaRPr lang="en-US" dirty="0"/>
                    </a:p>
                  </a:txBody>
                  <a:tcPr/>
                </a:tc>
                <a:tc>
                  <a:txBody>
                    <a:bodyPr/>
                    <a:lstStyle/>
                    <a:p>
                      <a:r>
                        <a:rPr lang="en-US" dirty="0" smtClean="0"/>
                        <a:t>Function</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Name </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Function</a:t>
                      </a:r>
                    </a:p>
                    <a:p>
                      <a:endParaRPr lang="en-US" dirty="0"/>
                    </a:p>
                  </a:txBody>
                  <a:tcPr/>
                </a:tc>
              </a:tr>
              <a:tr h="370840">
                <a:tc>
                  <a:txBody>
                    <a:bodyPr/>
                    <a:lstStyle/>
                    <a:p>
                      <a:r>
                        <a:rPr lang="en-US" dirty="0" smtClean="0"/>
                        <a:t>A</a:t>
                      </a:r>
                      <a:endParaRPr lang="en-US" dirty="0"/>
                    </a:p>
                  </a:txBody>
                  <a:tcPr/>
                </a:tc>
                <a:tc>
                  <a:txBody>
                    <a:bodyPr/>
                    <a:lstStyle/>
                    <a:p>
                      <a:r>
                        <a:rPr lang="en-US" dirty="0" smtClean="0"/>
                        <a:t>Accumulator</a:t>
                      </a:r>
                      <a:endParaRPr lang="en-US" dirty="0"/>
                    </a:p>
                  </a:txBody>
                  <a:tcPr/>
                </a:tc>
                <a:tc>
                  <a:txBody>
                    <a:bodyPr/>
                    <a:lstStyle/>
                    <a:p>
                      <a:r>
                        <a:rPr lang="en-US" dirty="0" smtClean="0"/>
                        <a:t>SBUF</a:t>
                      </a:r>
                      <a:endParaRPr lang="en-US" dirty="0"/>
                    </a:p>
                  </a:txBody>
                  <a:tcPr/>
                </a:tc>
                <a:tc>
                  <a:txBody>
                    <a:bodyPr/>
                    <a:lstStyle/>
                    <a:p>
                      <a:r>
                        <a:rPr lang="en-US" dirty="0" smtClean="0"/>
                        <a:t>Serial Port</a:t>
                      </a:r>
                      <a:r>
                        <a:rPr lang="en-US" baseline="0" dirty="0" smtClean="0"/>
                        <a:t>  data buffer</a:t>
                      </a:r>
                      <a:endParaRPr lang="en-US" dirty="0"/>
                    </a:p>
                  </a:txBody>
                  <a:tcPr/>
                </a:tc>
              </a:tr>
              <a:tr h="370840">
                <a:tc>
                  <a:txBody>
                    <a:bodyPr/>
                    <a:lstStyle/>
                    <a:p>
                      <a:r>
                        <a:rPr lang="en-US" dirty="0" smtClean="0"/>
                        <a:t>B</a:t>
                      </a:r>
                      <a:endParaRPr lang="en-US" dirty="0"/>
                    </a:p>
                  </a:txBody>
                  <a:tcPr/>
                </a:tc>
                <a:tc>
                  <a:txBody>
                    <a:bodyPr/>
                    <a:lstStyle/>
                    <a:p>
                      <a:r>
                        <a:rPr lang="en-US" dirty="0" smtClean="0"/>
                        <a:t>Arithmetic </a:t>
                      </a:r>
                      <a:endParaRPr lang="en-US" dirty="0"/>
                    </a:p>
                  </a:txBody>
                  <a:tcPr/>
                </a:tc>
                <a:tc>
                  <a:txBody>
                    <a:bodyPr/>
                    <a:lstStyle/>
                    <a:p>
                      <a:r>
                        <a:rPr lang="en-US" dirty="0" smtClean="0"/>
                        <a:t>SP</a:t>
                      </a:r>
                      <a:endParaRPr lang="en-US" dirty="0"/>
                    </a:p>
                  </a:txBody>
                  <a:tcPr/>
                </a:tc>
                <a:tc>
                  <a:txBody>
                    <a:bodyPr/>
                    <a:lstStyle/>
                    <a:p>
                      <a:r>
                        <a:rPr lang="en-US" dirty="0" smtClean="0"/>
                        <a:t>Stack Pointer</a:t>
                      </a:r>
                      <a:endParaRPr lang="en-US" dirty="0"/>
                    </a:p>
                  </a:txBody>
                  <a:tcPr/>
                </a:tc>
              </a:tr>
              <a:tr h="370840">
                <a:tc>
                  <a:txBody>
                    <a:bodyPr/>
                    <a:lstStyle/>
                    <a:p>
                      <a:r>
                        <a:rPr lang="en-US" dirty="0" smtClean="0"/>
                        <a:t>DPH</a:t>
                      </a:r>
                      <a:endParaRPr lang="en-US" dirty="0"/>
                    </a:p>
                  </a:txBody>
                  <a:tcPr/>
                </a:tc>
                <a:tc>
                  <a:txBody>
                    <a:bodyPr/>
                    <a:lstStyle/>
                    <a:p>
                      <a:r>
                        <a:rPr lang="en-US" dirty="0" smtClean="0"/>
                        <a:t>Addressing Ext Memory</a:t>
                      </a:r>
                      <a:endParaRPr lang="en-US" dirty="0"/>
                    </a:p>
                  </a:txBody>
                  <a:tcPr/>
                </a:tc>
                <a:tc>
                  <a:txBody>
                    <a:bodyPr/>
                    <a:lstStyle/>
                    <a:p>
                      <a:r>
                        <a:rPr lang="en-US" dirty="0" smtClean="0"/>
                        <a:t>TMOD</a:t>
                      </a:r>
                      <a:endParaRPr lang="en-US" dirty="0"/>
                    </a:p>
                  </a:txBody>
                  <a:tcPr/>
                </a:tc>
                <a:tc>
                  <a:txBody>
                    <a:bodyPr/>
                    <a:lstStyle/>
                    <a:p>
                      <a:r>
                        <a:rPr lang="en-US" dirty="0" smtClean="0"/>
                        <a:t>Timer/Counter mode control</a:t>
                      </a:r>
                      <a:endParaRPr lang="en-US" dirty="0"/>
                    </a:p>
                  </a:txBody>
                  <a:tcPr/>
                </a:tc>
              </a:tr>
              <a:tr h="370840">
                <a:tc>
                  <a:txBody>
                    <a:bodyPr/>
                    <a:lstStyle/>
                    <a:p>
                      <a:r>
                        <a:rPr lang="en-US" dirty="0" smtClean="0"/>
                        <a:t>DPL</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Addressing Ext Memory</a:t>
                      </a:r>
                      <a:endParaRPr lang="en-US" dirty="0"/>
                    </a:p>
                  </a:txBody>
                  <a:tcPr/>
                </a:tc>
                <a:tc>
                  <a:txBody>
                    <a:bodyPr/>
                    <a:lstStyle/>
                    <a:p>
                      <a:r>
                        <a:rPr lang="en-US" dirty="0" smtClean="0"/>
                        <a:t>TCON</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Timer/Counter control</a:t>
                      </a:r>
                      <a:endParaRPr lang="en-US" dirty="0"/>
                    </a:p>
                  </a:txBody>
                  <a:tcPr/>
                </a:tc>
              </a:tr>
              <a:tr h="370840">
                <a:tc>
                  <a:txBody>
                    <a:bodyPr/>
                    <a:lstStyle/>
                    <a:p>
                      <a:r>
                        <a:rPr lang="en-US" dirty="0" smtClean="0"/>
                        <a:t>IE</a:t>
                      </a:r>
                      <a:endParaRPr lang="en-US" dirty="0"/>
                    </a:p>
                  </a:txBody>
                  <a:tcPr/>
                </a:tc>
                <a:tc>
                  <a:txBody>
                    <a:bodyPr/>
                    <a:lstStyle/>
                    <a:p>
                      <a:r>
                        <a:rPr lang="en-US" dirty="0" smtClean="0"/>
                        <a:t>Interrupt enable</a:t>
                      </a:r>
                      <a:endParaRPr lang="en-US" dirty="0"/>
                    </a:p>
                  </a:txBody>
                  <a:tcPr/>
                </a:tc>
                <a:tc>
                  <a:txBody>
                    <a:bodyPr/>
                    <a:lstStyle/>
                    <a:p>
                      <a:r>
                        <a:rPr lang="en-US" dirty="0" smtClean="0"/>
                        <a:t>TL0</a:t>
                      </a:r>
                      <a:endParaRPr lang="en-US" dirty="0"/>
                    </a:p>
                  </a:txBody>
                  <a:tcPr/>
                </a:tc>
                <a:tc>
                  <a:txBody>
                    <a:bodyPr/>
                    <a:lstStyle/>
                    <a:p>
                      <a:r>
                        <a:rPr lang="en-US" dirty="0" smtClean="0"/>
                        <a:t>Timer0 lower byte</a:t>
                      </a:r>
                      <a:endParaRPr lang="en-US" dirty="0"/>
                    </a:p>
                  </a:txBody>
                  <a:tcPr/>
                </a:tc>
              </a:tr>
              <a:tr h="370840">
                <a:tc>
                  <a:txBody>
                    <a:bodyPr/>
                    <a:lstStyle/>
                    <a:p>
                      <a:r>
                        <a:rPr lang="en-US" dirty="0" smtClean="0"/>
                        <a:t>IP</a:t>
                      </a:r>
                      <a:endParaRPr lang="en-US" dirty="0"/>
                    </a:p>
                  </a:txBody>
                  <a:tcPr/>
                </a:tc>
                <a:tc>
                  <a:txBody>
                    <a:bodyPr/>
                    <a:lstStyle/>
                    <a:p>
                      <a:r>
                        <a:rPr lang="en-US" dirty="0" smtClean="0"/>
                        <a:t>Interrupt Priority</a:t>
                      </a:r>
                      <a:endParaRPr lang="en-US" dirty="0"/>
                    </a:p>
                  </a:txBody>
                  <a:tcPr/>
                </a:tc>
                <a:tc>
                  <a:txBody>
                    <a:bodyPr/>
                    <a:lstStyle/>
                    <a:p>
                      <a:r>
                        <a:rPr lang="en-US" dirty="0" smtClean="0"/>
                        <a:t>TH0</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Timer0 higher byte</a:t>
                      </a:r>
                      <a:endParaRPr lang="en-US" dirty="0"/>
                    </a:p>
                  </a:txBody>
                  <a:tcPr/>
                </a:tc>
              </a:tr>
              <a:tr h="370840">
                <a:tc>
                  <a:txBody>
                    <a:bodyPr/>
                    <a:lstStyle/>
                    <a:p>
                      <a:r>
                        <a:rPr lang="en-US" dirty="0" smtClean="0"/>
                        <a:t>P0</a:t>
                      </a:r>
                      <a:endParaRPr lang="en-US" dirty="0"/>
                    </a:p>
                  </a:txBody>
                  <a:tcPr/>
                </a:tc>
                <a:tc>
                  <a:txBody>
                    <a:bodyPr/>
                    <a:lstStyle/>
                    <a:p>
                      <a:r>
                        <a:rPr lang="en-US" dirty="0" smtClean="0"/>
                        <a:t>I/O</a:t>
                      </a:r>
                      <a:r>
                        <a:rPr lang="en-US" baseline="0" dirty="0" smtClean="0"/>
                        <a:t> Port Latch</a:t>
                      </a:r>
                      <a:endParaRPr lang="en-US" dirty="0"/>
                    </a:p>
                  </a:txBody>
                  <a:tcPr/>
                </a:tc>
                <a:tc>
                  <a:txBody>
                    <a:bodyPr/>
                    <a:lstStyle/>
                    <a:p>
                      <a:r>
                        <a:rPr lang="en-US" dirty="0" smtClean="0"/>
                        <a:t>TL1</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Timer1 lower byte</a:t>
                      </a:r>
                      <a:endParaRPr lang="en-US" dirty="0"/>
                    </a:p>
                  </a:txBody>
                  <a:tcPr/>
                </a:tc>
              </a:tr>
              <a:tr h="370840">
                <a:tc>
                  <a:txBody>
                    <a:bodyPr/>
                    <a:lstStyle/>
                    <a:p>
                      <a:r>
                        <a:rPr lang="en-US" dirty="0" smtClean="0"/>
                        <a:t>P1</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I/O</a:t>
                      </a:r>
                      <a:r>
                        <a:rPr lang="en-US" baseline="0" dirty="0" smtClean="0"/>
                        <a:t> Port Latch</a:t>
                      </a:r>
                      <a:endParaRPr lang="en-US" dirty="0"/>
                    </a:p>
                  </a:txBody>
                  <a:tcPr/>
                </a:tc>
                <a:tc>
                  <a:txBody>
                    <a:bodyPr/>
                    <a:lstStyle/>
                    <a:p>
                      <a:r>
                        <a:rPr lang="en-US" dirty="0" smtClean="0"/>
                        <a:t>TH1</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Timer1</a:t>
                      </a:r>
                      <a:r>
                        <a:rPr lang="en-US" baseline="0" dirty="0" smtClean="0"/>
                        <a:t> higher</a:t>
                      </a:r>
                      <a:r>
                        <a:rPr lang="en-US" dirty="0" smtClean="0"/>
                        <a:t> byte</a:t>
                      </a:r>
                      <a:endParaRPr lang="en-US" dirty="0"/>
                    </a:p>
                  </a:txBody>
                  <a:tcPr/>
                </a:tc>
              </a:tr>
              <a:tr h="370840">
                <a:tc>
                  <a:txBody>
                    <a:bodyPr/>
                    <a:lstStyle/>
                    <a:p>
                      <a:r>
                        <a:rPr lang="en-US" dirty="0" smtClean="0"/>
                        <a:t>P2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I/O</a:t>
                      </a:r>
                      <a:r>
                        <a:rPr lang="en-US" baseline="0" dirty="0" smtClean="0"/>
                        <a:t> Port Latch</a:t>
                      </a:r>
                      <a:endParaRPr lang="en-US" dirty="0"/>
                    </a:p>
                  </a:txBody>
                  <a:tcPr/>
                </a:tc>
                <a:tc>
                  <a:txBody>
                    <a:bodyPr/>
                    <a:lstStyle/>
                    <a:p>
                      <a:endParaRPr lang="en-US" dirty="0"/>
                    </a:p>
                  </a:txBody>
                  <a:tcPr>
                    <a:solidFill>
                      <a:schemeClr val="accent1">
                        <a:lumMod val="25000"/>
                      </a:schemeClr>
                    </a:solidFill>
                  </a:tcPr>
                </a:tc>
                <a:tc>
                  <a:txBody>
                    <a:bodyPr/>
                    <a:lstStyle/>
                    <a:p>
                      <a:endParaRPr lang="en-US"/>
                    </a:p>
                  </a:txBody>
                  <a:tcPr>
                    <a:solidFill>
                      <a:schemeClr val="accent1">
                        <a:lumMod val="25000"/>
                      </a:schemeClr>
                    </a:solidFill>
                  </a:tcPr>
                </a:tc>
              </a:tr>
              <a:tr h="370840">
                <a:tc>
                  <a:txBody>
                    <a:bodyPr/>
                    <a:lstStyle/>
                    <a:p>
                      <a:r>
                        <a:rPr lang="en-US" dirty="0" smtClean="0"/>
                        <a:t>P3</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I/O</a:t>
                      </a:r>
                      <a:r>
                        <a:rPr lang="en-US" baseline="0" dirty="0" smtClean="0"/>
                        <a:t> Port Latch</a:t>
                      </a:r>
                      <a:endParaRPr lang="en-US" dirty="0"/>
                    </a:p>
                  </a:txBody>
                  <a:tcPr/>
                </a:tc>
                <a:tc>
                  <a:txBody>
                    <a:bodyPr/>
                    <a:lstStyle/>
                    <a:p>
                      <a:endParaRPr lang="en-US" dirty="0"/>
                    </a:p>
                  </a:txBody>
                  <a:tcPr>
                    <a:solidFill>
                      <a:schemeClr val="accent1">
                        <a:lumMod val="25000"/>
                      </a:schemeClr>
                    </a:solidFill>
                  </a:tcPr>
                </a:tc>
                <a:tc>
                  <a:txBody>
                    <a:bodyPr/>
                    <a:lstStyle/>
                    <a:p>
                      <a:endParaRPr lang="en-US"/>
                    </a:p>
                  </a:txBody>
                  <a:tcPr>
                    <a:solidFill>
                      <a:schemeClr val="accent1">
                        <a:lumMod val="25000"/>
                      </a:schemeClr>
                    </a:solidFill>
                  </a:tcPr>
                </a:tc>
              </a:tr>
              <a:tr h="370840">
                <a:tc>
                  <a:txBody>
                    <a:bodyPr/>
                    <a:lstStyle/>
                    <a:p>
                      <a:r>
                        <a:rPr lang="en-US" dirty="0" smtClean="0"/>
                        <a:t>PCON</a:t>
                      </a:r>
                      <a:endParaRPr lang="en-US" dirty="0"/>
                    </a:p>
                  </a:txBody>
                  <a:tcPr/>
                </a:tc>
                <a:tc>
                  <a:txBody>
                    <a:bodyPr/>
                    <a:lstStyle/>
                    <a:p>
                      <a:r>
                        <a:rPr lang="en-US" dirty="0" smtClean="0"/>
                        <a:t>Power Control</a:t>
                      </a:r>
                      <a:endParaRPr lang="en-US" dirty="0"/>
                    </a:p>
                  </a:txBody>
                  <a:tcPr/>
                </a:tc>
                <a:tc>
                  <a:txBody>
                    <a:bodyPr/>
                    <a:lstStyle/>
                    <a:p>
                      <a:endParaRPr lang="en-US" dirty="0"/>
                    </a:p>
                  </a:txBody>
                  <a:tcPr>
                    <a:solidFill>
                      <a:schemeClr val="accent1">
                        <a:lumMod val="25000"/>
                      </a:schemeClr>
                    </a:solidFill>
                  </a:tcPr>
                </a:tc>
                <a:tc>
                  <a:txBody>
                    <a:bodyPr/>
                    <a:lstStyle/>
                    <a:p>
                      <a:endParaRPr lang="en-US" dirty="0"/>
                    </a:p>
                  </a:txBody>
                  <a:tcPr>
                    <a:solidFill>
                      <a:schemeClr val="accent1">
                        <a:lumMod val="25000"/>
                      </a:schemeClr>
                    </a:solidFill>
                  </a:tcPr>
                </a:tc>
              </a:tr>
              <a:tr h="370840">
                <a:tc>
                  <a:txBody>
                    <a:bodyPr/>
                    <a:lstStyle/>
                    <a:p>
                      <a:r>
                        <a:rPr lang="en-US" dirty="0" smtClean="0"/>
                        <a:t>PSW</a:t>
                      </a:r>
                      <a:endParaRPr lang="en-US" dirty="0"/>
                    </a:p>
                  </a:txBody>
                  <a:tcPr/>
                </a:tc>
                <a:tc>
                  <a:txBody>
                    <a:bodyPr/>
                    <a:lstStyle/>
                    <a:p>
                      <a:r>
                        <a:rPr lang="en-US" dirty="0" smtClean="0"/>
                        <a:t>Program Status  Word</a:t>
                      </a:r>
                      <a:endParaRPr lang="en-US" dirty="0"/>
                    </a:p>
                  </a:txBody>
                  <a:tcPr/>
                </a:tc>
                <a:tc>
                  <a:txBody>
                    <a:bodyPr/>
                    <a:lstStyle/>
                    <a:p>
                      <a:endParaRPr lang="en-US"/>
                    </a:p>
                  </a:txBody>
                  <a:tcPr>
                    <a:solidFill>
                      <a:schemeClr val="accent1">
                        <a:lumMod val="25000"/>
                      </a:schemeClr>
                    </a:solidFill>
                  </a:tcPr>
                </a:tc>
                <a:tc>
                  <a:txBody>
                    <a:bodyPr/>
                    <a:lstStyle/>
                    <a:p>
                      <a:endParaRPr lang="en-US" dirty="0"/>
                    </a:p>
                  </a:txBody>
                  <a:tcPr>
                    <a:solidFill>
                      <a:schemeClr val="accent1">
                        <a:lumMod val="25000"/>
                      </a:schemeClr>
                    </a:solidFill>
                  </a:tcPr>
                </a:tc>
              </a:tr>
              <a:tr h="370840">
                <a:tc>
                  <a:txBody>
                    <a:bodyPr/>
                    <a:lstStyle/>
                    <a:p>
                      <a:r>
                        <a:rPr lang="en-US" dirty="0" smtClean="0"/>
                        <a:t>SCON</a:t>
                      </a:r>
                      <a:endParaRPr lang="en-US" dirty="0"/>
                    </a:p>
                  </a:txBody>
                  <a:tcPr/>
                </a:tc>
                <a:tc>
                  <a:txBody>
                    <a:bodyPr/>
                    <a:lstStyle/>
                    <a:p>
                      <a:r>
                        <a:rPr lang="en-US" dirty="0" smtClean="0"/>
                        <a:t>Serial Port Control</a:t>
                      </a:r>
                      <a:endParaRPr lang="en-US" dirty="0"/>
                    </a:p>
                  </a:txBody>
                  <a:tcPr/>
                </a:tc>
                <a:tc>
                  <a:txBody>
                    <a:bodyPr/>
                    <a:lstStyle/>
                    <a:p>
                      <a:endParaRPr lang="en-US"/>
                    </a:p>
                  </a:txBody>
                  <a:tcPr>
                    <a:solidFill>
                      <a:schemeClr val="accent1">
                        <a:lumMod val="25000"/>
                      </a:schemeClr>
                    </a:solidFill>
                  </a:tcPr>
                </a:tc>
                <a:tc>
                  <a:txBody>
                    <a:bodyPr/>
                    <a:lstStyle/>
                    <a:p>
                      <a:endParaRPr lang="en-US" dirty="0"/>
                    </a:p>
                  </a:txBody>
                  <a:tcPr>
                    <a:solidFill>
                      <a:schemeClr val="accent1">
                        <a:lumMod val="25000"/>
                      </a:schemeClr>
                    </a:solidFill>
                  </a:tcPr>
                </a:tc>
              </a:tr>
            </a:tbl>
          </a:graphicData>
        </a:graphic>
      </p:graphicFrame>
      <p:sp>
        <p:nvSpPr>
          <p:cNvPr id="7" name="Slide Number Placeholder 6"/>
          <p:cNvSpPr>
            <a:spLocks noGrp="1"/>
          </p:cNvSpPr>
          <p:nvPr>
            <p:ph type="sldNum" sz="quarter" idx="12"/>
          </p:nvPr>
        </p:nvSpPr>
        <p:spPr/>
        <p:txBody>
          <a:bodyPr/>
          <a:lstStyle/>
          <a:p>
            <a:pPr>
              <a:defRPr/>
            </a:pPr>
            <a:fld id="{0013D03D-DE52-4A45-B45B-A0F47D252677}" type="slidenum">
              <a:rPr lang="en-US"/>
              <a:pPr>
                <a:defRPr/>
              </a:pPr>
              <a:t>23</a:t>
            </a:fld>
            <a:endParaRPr lang="en-US"/>
          </a:p>
        </p:txBody>
      </p:sp>
      <p:sp>
        <p:nvSpPr>
          <p:cNvPr id="5" name="Date Placeholder 4"/>
          <p:cNvSpPr>
            <a:spLocks noGrp="1"/>
          </p:cNvSpPr>
          <p:nvPr>
            <p:ph type="dt" sz="half" idx="10"/>
          </p:nvPr>
        </p:nvSpPr>
        <p:spPr/>
        <p:txBody>
          <a:bodyPr/>
          <a:lstStyle/>
          <a:p>
            <a:pPr>
              <a:defRPr/>
            </a:pPr>
            <a:fld id="{7CD3242C-FF31-4D16-829C-621CB13B69C7}" type="datetime2">
              <a:rPr lang="en-US" smtClean="0"/>
              <a:pPr>
                <a:defRPr/>
              </a:pPr>
              <a:t>Friday, August 27, 2021</a:t>
            </a:fld>
            <a:endParaRPr lang="en-US"/>
          </a:p>
        </p:txBody>
      </p:sp>
      <p:sp>
        <p:nvSpPr>
          <p:cNvPr id="8" name="Footer Placeholder 7"/>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endParaRPr lang="en-US" smtClean="0"/>
          </a:p>
        </p:txBody>
      </p:sp>
      <p:pic>
        <p:nvPicPr>
          <p:cNvPr id="26627" name="Picture 2"/>
          <p:cNvPicPr>
            <a:picLocks noGrp="1" noChangeAspect="1" noChangeArrowheads="1"/>
          </p:cNvPicPr>
          <p:nvPr>
            <p:ph idx="1"/>
          </p:nvPr>
        </p:nvPicPr>
        <p:blipFill>
          <a:blip r:embed="rId2"/>
          <a:srcRect/>
          <a:stretch>
            <a:fillRect/>
          </a:stretch>
        </p:blipFill>
        <p:spPr>
          <a:xfrm>
            <a:off x="357188" y="285750"/>
            <a:ext cx="8572500" cy="6215063"/>
          </a:xfrm>
          <a:noFill/>
        </p:spPr>
      </p:pic>
      <p:sp>
        <p:nvSpPr>
          <p:cNvPr id="5" name="Slide Number Placeholder 4"/>
          <p:cNvSpPr>
            <a:spLocks noGrp="1"/>
          </p:cNvSpPr>
          <p:nvPr>
            <p:ph type="sldNum" sz="quarter" idx="12"/>
          </p:nvPr>
        </p:nvSpPr>
        <p:spPr/>
        <p:txBody>
          <a:bodyPr/>
          <a:lstStyle/>
          <a:p>
            <a:pPr>
              <a:defRPr/>
            </a:pPr>
            <a:fld id="{0A216488-483F-4055-8170-B33EA01D2581}" type="slidenum">
              <a:rPr lang="en-US"/>
              <a:pPr>
                <a:defRPr/>
              </a:pPr>
              <a:t>24</a:t>
            </a:fld>
            <a:endParaRPr lang="en-US"/>
          </a:p>
        </p:txBody>
      </p:sp>
      <p:sp>
        <p:nvSpPr>
          <p:cNvPr id="6" name="Date Placeholder 5"/>
          <p:cNvSpPr>
            <a:spLocks noGrp="1"/>
          </p:cNvSpPr>
          <p:nvPr>
            <p:ph type="dt" sz="half" idx="10"/>
          </p:nvPr>
        </p:nvSpPr>
        <p:spPr/>
        <p:txBody>
          <a:bodyPr/>
          <a:lstStyle/>
          <a:p>
            <a:pPr>
              <a:defRPr/>
            </a:pPr>
            <a:fld id="{593D4A84-0913-4A74-8F0D-8D885AD51809}" type="datetime2">
              <a:rPr lang="en-US" smtClean="0"/>
              <a:pPr>
                <a:defRPr/>
              </a:pPr>
              <a:t>Friday, August 27, 2021</a:t>
            </a:fld>
            <a:endParaRPr lang="en-US"/>
          </a:p>
        </p:txBody>
      </p:sp>
      <p:sp>
        <p:nvSpPr>
          <p:cNvPr id="7" name="Footer Placeholder 6"/>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lstStyle/>
          <a:p>
            <a:r>
              <a:rPr lang="en-IN" b="1" dirty="0" smtClean="0"/>
              <a:t>8051 Memory Organization</a:t>
            </a:r>
            <a:br>
              <a:rPr lang="en-IN" b="1" dirty="0" smtClean="0"/>
            </a:br>
            <a:endParaRPr lang="en-IN" b="1"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25</a:t>
            </a:fld>
            <a:endParaRPr lang="en-US"/>
          </a:p>
        </p:txBody>
      </p:sp>
      <p:pic>
        <p:nvPicPr>
          <p:cNvPr id="52226" name="Picture 2"/>
          <p:cNvPicPr>
            <a:picLocks noGrp="1" noChangeAspect="1" noChangeArrowheads="1"/>
          </p:cNvPicPr>
          <p:nvPr>
            <p:ph idx="1"/>
          </p:nvPr>
        </p:nvPicPr>
        <p:blipFill>
          <a:blip r:embed="rId2"/>
          <a:srcRect/>
          <a:stretch>
            <a:fillRect/>
          </a:stretch>
        </p:blipFill>
        <p:spPr bwMode="auto">
          <a:xfrm>
            <a:off x="571472" y="1285860"/>
            <a:ext cx="8270738" cy="4357718"/>
          </a:xfrm>
          <a:prstGeom prst="rect">
            <a:avLst/>
          </a:prstGeom>
          <a:noFill/>
          <a:ln w="9525">
            <a:noFill/>
            <a:miter lim="800000"/>
            <a:headEnd/>
            <a:tailEnd/>
          </a:ln>
          <a:effectLst/>
        </p:spPr>
      </p:pic>
    </p:spTree>
  </p:cSld>
  <p:clrMapOvr>
    <a:masterClrMapping/>
  </p:clrMapOvr>
  <p:transition>
    <p:spli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26</a:t>
            </a:fld>
            <a:endParaRPr lang="en-US"/>
          </a:p>
        </p:txBody>
      </p:sp>
      <p:pic>
        <p:nvPicPr>
          <p:cNvPr id="53250" name="Picture 2"/>
          <p:cNvPicPr>
            <a:picLocks noGrp="1" noChangeAspect="1" noChangeArrowheads="1"/>
          </p:cNvPicPr>
          <p:nvPr>
            <p:ph idx="1"/>
          </p:nvPr>
        </p:nvPicPr>
        <p:blipFill>
          <a:blip r:embed="rId2"/>
          <a:srcRect/>
          <a:stretch>
            <a:fillRect/>
          </a:stretch>
        </p:blipFill>
        <p:spPr bwMode="auto">
          <a:xfrm>
            <a:off x="357158" y="500042"/>
            <a:ext cx="8358246" cy="5357850"/>
          </a:xfrm>
          <a:prstGeom prst="rect">
            <a:avLst/>
          </a:prstGeom>
          <a:noFill/>
          <a:ln w="9525">
            <a:noFill/>
            <a:miter lim="800000"/>
            <a:headEnd/>
            <a:tailEnd/>
          </a:ln>
          <a:effectLst/>
        </p:spPr>
      </p:pic>
    </p:spTree>
  </p:cSld>
  <p:clrMapOvr>
    <a:masterClrMapping/>
  </p:clrMapOvr>
  <p:transition>
    <p:spli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27</a:t>
            </a:fld>
            <a:endParaRPr lang="en-US"/>
          </a:p>
        </p:txBody>
      </p:sp>
      <p:pic>
        <p:nvPicPr>
          <p:cNvPr id="54274" name="Picture 2"/>
          <p:cNvPicPr>
            <a:picLocks noGrp="1" noChangeAspect="1" noChangeArrowheads="1"/>
          </p:cNvPicPr>
          <p:nvPr>
            <p:ph idx="1"/>
          </p:nvPr>
        </p:nvPicPr>
        <p:blipFill>
          <a:blip r:embed="rId2"/>
          <a:srcRect/>
          <a:stretch>
            <a:fillRect/>
          </a:stretch>
        </p:blipFill>
        <p:spPr bwMode="auto">
          <a:xfrm>
            <a:off x="316351" y="357166"/>
            <a:ext cx="8470491" cy="5357850"/>
          </a:xfrm>
          <a:prstGeom prst="rect">
            <a:avLst/>
          </a:prstGeom>
          <a:noFill/>
          <a:ln w="9525">
            <a:noFill/>
            <a:miter lim="800000"/>
            <a:headEnd/>
            <a:tailEnd/>
          </a:ln>
          <a:effectLst/>
        </p:spPr>
      </p:pic>
    </p:spTree>
  </p:cSld>
  <p:clrMapOvr>
    <a:masterClrMapping/>
  </p:clrMapOvr>
  <p:transition>
    <p:spli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2528"/>
          </a:xfrm>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28</a:t>
            </a:fld>
            <a:endParaRPr lang="en-US"/>
          </a:p>
        </p:txBody>
      </p:sp>
      <p:pic>
        <p:nvPicPr>
          <p:cNvPr id="55298" name="Picture 2"/>
          <p:cNvPicPr>
            <a:picLocks noGrp="1" noChangeAspect="1" noChangeArrowheads="1"/>
          </p:cNvPicPr>
          <p:nvPr>
            <p:ph idx="1"/>
          </p:nvPr>
        </p:nvPicPr>
        <p:blipFill>
          <a:blip r:embed="rId2"/>
          <a:srcRect/>
          <a:stretch>
            <a:fillRect/>
          </a:stretch>
        </p:blipFill>
        <p:spPr bwMode="auto">
          <a:xfrm>
            <a:off x="357158" y="642918"/>
            <a:ext cx="8009598" cy="4929222"/>
          </a:xfrm>
          <a:prstGeom prst="rect">
            <a:avLst/>
          </a:prstGeom>
          <a:noFill/>
          <a:ln w="9525">
            <a:noFill/>
            <a:miter lim="800000"/>
            <a:headEnd/>
            <a:tailEnd/>
          </a:ln>
          <a:effectLst/>
        </p:spPr>
      </p:pic>
    </p:spTree>
  </p:cSld>
  <p:clrMapOvr>
    <a:masterClrMapping/>
  </p:clrMapOvr>
  <p:transition>
    <p:spli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14290"/>
            <a:ext cx="8229600" cy="60348"/>
          </a:xfrm>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29</a:t>
            </a:fld>
            <a:endParaRPr lang="en-US"/>
          </a:p>
        </p:txBody>
      </p:sp>
      <p:pic>
        <p:nvPicPr>
          <p:cNvPr id="56322" name="Picture 2"/>
          <p:cNvPicPr>
            <a:picLocks noGrp="1" noChangeAspect="1" noChangeArrowheads="1"/>
          </p:cNvPicPr>
          <p:nvPr>
            <p:ph idx="1"/>
          </p:nvPr>
        </p:nvPicPr>
        <p:blipFill>
          <a:blip r:embed="rId2"/>
          <a:srcRect/>
          <a:stretch>
            <a:fillRect/>
          </a:stretch>
        </p:blipFill>
        <p:spPr bwMode="auto">
          <a:xfrm>
            <a:off x="225472" y="428604"/>
            <a:ext cx="8392706" cy="5500725"/>
          </a:xfrm>
          <a:prstGeom prst="rect">
            <a:avLst/>
          </a:prstGeom>
          <a:noFill/>
          <a:ln w="9525">
            <a:noFill/>
            <a:miter lim="800000"/>
            <a:headEnd/>
            <a:tailEnd/>
          </a:ln>
          <a:effectLst/>
        </p:spPr>
      </p:pic>
    </p:spTree>
  </p:cSld>
  <p:clrMapOvr>
    <a:masterClrMapping/>
  </p:clrMapOvr>
  <p:transition>
    <p:spli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a:xfrm>
            <a:off x="457200" y="274638"/>
            <a:ext cx="8229600" cy="654050"/>
          </a:xfrm>
          <a:solidFill>
            <a:schemeClr val="bg1">
              <a:lumMod val="75000"/>
            </a:schemeClr>
          </a:solidFill>
          <a:ln>
            <a:solidFill>
              <a:srgbClr val="FF0000"/>
            </a:solidFill>
          </a:ln>
        </p:spPr>
        <p:txBody>
          <a:bodyPr rtlCol="0">
            <a:normAutofit fontScale="90000"/>
          </a:bodyPr>
          <a:lstStyle/>
          <a:p>
            <a:pPr algn="l" eaLnBrk="1" fontAlgn="auto" hangingPunct="1">
              <a:spcAft>
                <a:spcPts val="0"/>
              </a:spcAft>
              <a:defRPr/>
            </a:pPr>
            <a:r>
              <a:rPr lang="en-US" dirty="0" smtClean="0"/>
              <a:t>8051 Memory </a:t>
            </a:r>
            <a:r>
              <a:rPr lang="en-US" altLang="ko-KR" b="1" dirty="0" smtClean="0">
                <a:solidFill>
                  <a:srgbClr val="000000"/>
                </a:solidFill>
                <a:ea typeface="Batang" pitchFamily="18" charset="-127"/>
              </a:rPr>
              <a:t> </a:t>
            </a:r>
            <a:r>
              <a:rPr lang="en-US" altLang="ko-KR" dirty="0" smtClean="0">
                <a:solidFill>
                  <a:srgbClr val="000000"/>
                </a:solidFill>
                <a:ea typeface="Batang" pitchFamily="18" charset="-127"/>
              </a:rPr>
              <a:t>Organization</a:t>
            </a:r>
            <a:r>
              <a:rPr lang="en-US" dirty="0" smtClean="0"/>
              <a:t> </a:t>
            </a:r>
          </a:p>
        </p:txBody>
      </p:sp>
      <p:sp>
        <p:nvSpPr>
          <p:cNvPr id="6" name="Slide Number Placeholder 4"/>
          <p:cNvSpPr>
            <a:spLocks noGrp="1"/>
          </p:cNvSpPr>
          <p:nvPr>
            <p:ph type="sldNum" sz="quarter" idx="12"/>
          </p:nvPr>
        </p:nvSpPr>
        <p:spPr/>
        <p:txBody>
          <a:bodyPr/>
          <a:lstStyle/>
          <a:p>
            <a:pPr>
              <a:defRPr/>
            </a:pPr>
            <a:fld id="{CF01767D-63D6-41EE-9456-32A79FD52C74}" type="slidenum">
              <a:rPr lang="en-US"/>
              <a:pPr>
                <a:defRPr/>
              </a:pPr>
              <a:t>30</a:t>
            </a:fld>
            <a:endParaRPr lang="en-US"/>
          </a:p>
        </p:txBody>
      </p:sp>
      <p:graphicFrame>
        <p:nvGraphicFramePr>
          <p:cNvPr id="2050" name="Object 2" descr="Water droplets"/>
          <p:cNvGraphicFramePr>
            <a:graphicFrameLocks noChangeAspect="1"/>
          </p:cNvGraphicFramePr>
          <p:nvPr/>
        </p:nvGraphicFramePr>
        <p:xfrm>
          <a:off x="357188" y="1214438"/>
          <a:ext cx="8285162" cy="5272087"/>
        </p:xfrm>
        <a:graphic>
          <a:graphicData uri="http://schemas.openxmlformats.org/presentationml/2006/ole">
            <p:oleObj spid="_x0000_s67586" name="Image" r:id="rId3" imgW="13711260" imgH="9073067" progId="">
              <p:embed/>
            </p:oleObj>
          </a:graphicData>
        </a:graphic>
      </p:graphicFrame>
      <p:sp>
        <p:nvSpPr>
          <p:cNvPr id="2053" name="object 44"/>
          <p:cNvSpPr>
            <a:spLocks noChangeArrowheads="1"/>
          </p:cNvSpPr>
          <p:nvPr/>
        </p:nvSpPr>
        <p:spPr bwMode="auto">
          <a:xfrm>
            <a:off x="428625" y="1714500"/>
            <a:ext cx="0" cy="1866900"/>
          </a:xfrm>
          <a:custGeom>
            <a:avLst/>
            <a:gdLst>
              <a:gd name="T0" fmla="*/ 0 h 1867535"/>
              <a:gd name="T1" fmla="*/ 1867535 h 1867535"/>
            </a:gdLst>
            <a:ahLst/>
            <a:cxnLst/>
            <a:rect l="0" t="T0" r="0" b="T1"/>
            <a:pathLst>
              <a:path h="1867535">
                <a:moveTo>
                  <a:pt x="0" y="1867280"/>
                </a:moveTo>
                <a:lnTo>
                  <a:pt x="0" y="0"/>
                </a:lnTo>
              </a:path>
            </a:pathLst>
          </a:custGeom>
          <a:noFill/>
          <a:ln w="38100">
            <a:solidFill>
              <a:schemeClr val="tx1"/>
            </a:solidFill>
            <a:miter lim="800000"/>
            <a:headEnd/>
            <a:tailEnd/>
          </a:ln>
        </p:spPr>
        <p:txBody>
          <a:bodyPr lIns="0" tIns="0" rIns="0" bIns="0"/>
          <a:lstStyle/>
          <a:p>
            <a:endParaRPr lang="en-US"/>
          </a:p>
        </p:txBody>
      </p:sp>
      <p:sp>
        <p:nvSpPr>
          <p:cNvPr id="2054" name="object 42"/>
          <p:cNvSpPr>
            <a:spLocks noChangeArrowheads="1"/>
          </p:cNvSpPr>
          <p:nvPr/>
        </p:nvSpPr>
        <p:spPr bwMode="auto">
          <a:xfrm>
            <a:off x="428625" y="4143375"/>
            <a:ext cx="0" cy="1714500"/>
          </a:xfrm>
          <a:custGeom>
            <a:avLst/>
            <a:gdLst>
              <a:gd name="T0" fmla="*/ 0 h 1715135"/>
              <a:gd name="T1" fmla="*/ 1715135 h 1715135"/>
            </a:gdLst>
            <a:ahLst/>
            <a:cxnLst/>
            <a:rect l="0" t="T0" r="0" b="T1"/>
            <a:pathLst>
              <a:path h="1715135">
                <a:moveTo>
                  <a:pt x="0" y="0"/>
                </a:moveTo>
                <a:lnTo>
                  <a:pt x="0" y="1714881"/>
                </a:lnTo>
              </a:path>
            </a:pathLst>
          </a:custGeom>
          <a:noFill/>
          <a:ln w="38100">
            <a:solidFill>
              <a:schemeClr val="tx1"/>
            </a:solidFill>
            <a:miter lim="800000"/>
            <a:headEnd/>
            <a:tailEnd/>
          </a:ln>
        </p:spPr>
        <p:txBody>
          <a:bodyPr lIns="0" tIns="0" rIns="0" bIns="0"/>
          <a:lstStyle/>
          <a:p>
            <a:endParaRPr lang="en-US"/>
          </a:p>
        </p:txBody>
      </p:sp>
      <p:sp>
        <p:nvSpPr>
          <p:cNvPr id="8" name="object 46"/>
          <p:cNvSpPr txBox="1"/>
          <p:nvPr/>
        </p:nvSpPr>
        <p:spPr>
          <a:xfrm>
            <a:off x="0" y="3643313"/>
            <a:ext cx="584200" cy="320675"/>
          </a:xfrm>
          <a:prstGeom prst="rect">
            <a:avLst/>
          </a:prstGeom>
        </p:spPr>
        <p:txBody>
          <a:bodyPr lIns="0" tIns="12700" rIns="0" bIns="0">
            <a:spAutoFit/>
          </a:bodyPr>
          <a:lstStyle/>
          <a:p>
            <a:pPr marL="12700">
              <a:spcBef>
                <a:spcPts val="100"/>
              </a:spcBef>
              <a:defRPr/>
            </a:pPr>
            <a:r>
              <a:rPr sz="2000" b="1" spc="-10" dirty="0">
                <a:latin typeface="Arial"/>
                <a:cs typeface="Arial"/>
              </a:rPr>
              <a:t>64</a:t>
            </a:r>
            <a:r>
              <a:rPr sz="2000" b="1" spc="-5" dirty="0">
                <a:latin typeface="Arial"/>
                <a:cs typeface="Arial"/>
              </a:rPr>
              <a:t>K</a:t>
            </a:r>
            <a:endParaRPr sz="2000">
              <a:latin typeface="Arial"/>
              <a:cs typeface="Arial"/>
            </a:endParaRPr>
          </a:p>
        </p:txBody>
      </p:sp>
      <p:sp>
        <p:nvSpPr>
          <p:cNvPr id="2056" name="object 45"/>
          <p:cNvSpPr>
            <a:spLocks noChangeArrowheads="1"/>
          </p:cNvSpPr>
          <p:nvPr/>
        </p:nvSpPr>
        <p:spPr bwMode="auto">
          <a:xfrm>
            <a:off x="357188" y="1643063"/>
            <a:ext cx="133350" cy="114300"/>
          </a:xfrm>
          <a:custGeom>
            <a:avLst/>
            <a:gdLst>
              <a:gd name="T0" fmla="*/ 0 w 133350"/>
              <a:gd name="T1" fmla="*/ 0 h 114300"/>
              <a:gd name="T2" fmla="*/ 133350 w 133350"/>
              <a:gd name="T3" fmla="*/ 114300 h 114300"/>
            </a:gdLst>
            <a:ahLst/>
            <a:cxnLst/>
            <a:rect l="T0" t="T1" r="T2" b="T3"/>
            <a:pathLst>
              <a:path w="133350" h="114300">
                <a:moveTo>
                  <a:pt x="0" y="114300"/>
                </a:moveTo>
                <a:lnTo>
                  <a:pt x="66662" y="0"/>
                </a:lnTo>
                <a:lnTo>
                  <a:pt x="133350" y="114287"/>
                </a:lnTo>
              </a:path>
            </a:pathLst>
          </a:custGeom>
          <a:noFill/>
          <a:ln w="38100">
            <a:solidFill>
              <a:schemeClr val="tx1"/>
            </a:solidFill>
            <a:miter lim="800000"/>
            <a:headEnd/>
            <a:tailEnd/>
          </a:ln>
        </p:spPr>
        <p:txBody>
          <a:bodyPr lIns="0" tIns="0" rIns="0" bIns="0"/>
          <a:lstStyle/>
          <a:p>
            <a:endParaRPr lang="en-US"/>
          </a:p>
        </p:txBody>
      </p:sp>
      <p:sp>
        <p:nvSpPr>
          <p:cNvPr id="2057" name="object 43"/>
          <p:cNvSpPr>
            <a:spLocks noChangeArrowheads="1"/>
          </p:cNvSpPr>
          <p:nvPr/>
        </p:nvSpPr>
        <p:spPr bwMode="auto">
          <a:xfrm>
            <a:off x="357188" y="5786438"/>
            <a:ext cx="133350" cy="114300"/>
          </a:xfrm>
          <a:custGeom>
            <a:avLst/>
            <a:gdLst>
              <a:gd name="T0" fmla="*/ 0 w 133350"/>
              <a:gd name="T1" fmla="*/ 0 h 114300"/>
              <a:gd name="T2" fmla="*/ 133350 w 133350"/>
              <a:gd name="T3" fmla="*/ 114300 h 114300"/>
            </a:gdLst>
            <a:ahLst/>
            <a:cxnLst/>
            <a:rect l="T0" t="T1" r="T2" b="T3"/>
            <a:pathLst>
              <a:path w="133350" h="114300">
                <a:moveTo>
                  <a:pt x="133350" y="0"/>
                </a:moveTo>
                <a:lnTo>
                  <a:pt x="66675" y="114300"/>
                </a:lnTo>
                <a:lnTo>
                  <a:pt x="0" y="0"/>
                </a:lnTo>
              </a:path>
            </a:pathLst>
          </a:custGeom>
          <a:noFill/>
          <a:ln w="38100">
            <a:solidFill>
              <a:schemeClr val="tx1"/>
            </a:solidFill>
            <a:miter lim="800000"/>
            <a:headEnd/>
            <a:tailEnd/>
          </a:ln>
        </p:spPr>
        <p:txBody>
          <a:bodyPr lIns="0" tIns="0" rIns="0" bIns="0"/>
          <a:lstStyle/>
          <a:p>
            <a:endParaRPr lang="en-US"/>
          </a:p>
        </p:txBody>
      </p:sp>
      <p:sp>
        <p:nvSpPr>
          <p:cNvPr id="2058" name="object 44"/>
          <p:cNvSpPr>
            <a:spLocks noChangeArrowheads="1"/>
          </p:cNvSpPr>
          <p:nvPr/>
        </p:nvSpPr>
        <p:spPr bwMode="auto">
          <a:xfrm>
            <a:off x="4071938" y="1857375"/>
            <a:ext cx="46037" cy="928688"/>
          </a:xfrm>
          <a:custGeom>
            <a:avLst/>
            <a:gdLst>
              <a:gd name="T0" fmla="*/ 0 w 45719"/>
              <a:gd name="T1" fmla="*/ 0 h 1867535"/>
              <a:gd name="T2" fmla="*/ 45719 w 45719"/>
              <a:gd name="T3" fmla="*/ 1867535 h 1867535"/>
            </a:gdLst>
            <a:ahLst/>
            <a:cxnLst/>
            <a:rect l="T0" t="T1" r="T2" b="T3"/>
            <a:pathLst>
              <a:path w="45719" h="1867535">
                <a:moveTo>
                  <a:pt x="0" y="1867280"/>
                </a:moveTo>
                <a:lnTo>
                  <a:pt x="0" y="0"/>
                </a:lnTo>
              </a:path>
            </a:pathLst>
          </a:custGeom>
          <a:noFill/>
          <a:ln w="38100">
            <a:solidFill>
              <a:schemeClr val="tx1"/>
            </a:solidFill>
            <a:miter lim="800000"/>
            <a:headEnd/>
            <a:tailEnd/>
          </a:ln>
        </p:spPr>
        <p:txBody>
          <a:bodyPr lIns="0" tIns="0" rIns="0" bIns="0"/>
          <a:lstStyle/>
          <a:p>
            <a:endParaRPr lang="en-US"/>
          </a:p>
        </p:txBody>
      </p:sp>
      <p:sp>
        <p:nvSpPr>
          <p:cNvPr id="2059" name="object 44"/>
          <p:cNvSpPr>
            <a:spLocks noChangeArrowheads="1"/>
          </p:cNvSpPr>
          <p:nvPr/>
        </p:nvSpPr>
        <p:spPr bwMode="auto">
          <a:xfrm>
            <a:off x="4071938" y="3143250"/>
            <a:ext cx="46037" cy="928688"/>
          </a:xfrm>
          <a:custGeom>
            <a:avLst/>
            <a:gdLst>
              <a:gd name="T0" fmla="*/ 0 w 45719"/>
              <a:gd name="T1" fmla="*/ 0 h 1867535"/>
              <a:gd name="T2" fmla="*/ 45719 w 45719"/>
              <a:gd name="T3" fmla="*/ 1867535 h 1867535"/>
            </a:gdLst>
            <a:ahLst/>
            <a:cxnLst/>
            <a:rect l="T0" t="T1" r="T2" b="T3"/>
            <a:pathLst>
              <a:path w="45719" h="1867535">
                <a:moveTo>
                  <a:pt x="0" y="1867280"/>
                </a:moveTo>
                <a:lnTo>
                  <a:pt x="0" y="0"/>
                </a:lnTo>
              </a:path>
            </a:pathLst>
          </a:custGeom>
          <a:noFill/>
          <a:ln w="38100">
            <a:solidFill>
              <a:schemeClr val="tx1"/>
            </a:solidFill>
            <a:miter lim="800000"/>
            <a:headEnd/>
            <a:tailEnd/>
          </a:ln>
        </p:spPr>
        <p:txBody>
          <a:bodyPr lIns="0" tIns="0" rIns="0" bIns="0"/>
          <a:lstStyle/>
          <a:p>
            <a:endParaRPr lang="en-US"/>
          </a:p>
        </p:txBody>
      </p:sp>
      <p:sp>
        <p:nvSpPr>
          <p:cNvPr id="13" name="object 46"/>
          <p:cNvSpPr txBox="1"/>
          <p:nvPr/>
        </p:nvSpPr>
        <p:spPr>
          <a:xfrm>
            <a:off x="3857625" y="2786063"/>
            <a:ext cx="584200" cy="320675"/>
          </a:xfrm>
          <a:prstGeom prst="rect">
            <a:avLst/>
          </a:prstGeom>
        </p:spPr>
        <p:txBody>
          <a:bodyPr lIns="0" tIns="12700" rIns="0" bIns="0">
            <a:spAutoFit/>
          </a:bodyPr>
          <a:lstStyle/>
          <a:p>
            <a:pPr marL="12700">
              <a:spcBef>
                <a:spcPts val="100"/>
              </a:spcBef>
              <a:defRPr/>
            </a:pPr>
            <a:r>
              <a:rPr sz="2000" b="1" spc="-10">
                <a:latin typeface="Arial"/>
                <a:cs typeface="Arial"/>
              </a:rPr>
              <a:t>6</a:t>
            </a:r>
            <a:r>
              <a:rPr lang="en-US" sz="2000" b="1" spc="-10" dirty="0">
                <a:latin typeface="Arial"/>
                <a:cs typeface="Arial"/>
              </a:rPr>
              <a:t>0</a:t>
            </a:r>
            <a:r>
              <a:rPr sz="2000" b="1" spc="-5">
                <a:latin typeface="Arial"/>
                <a:cs typeface="Arial"/>
              </a:rPr>
              <a:t>K</a:t>
            </a:r>
            <a:endParaRPr sz="2000">
              <a:latin typeface="Arial"/>
              <a:cs typeface="Arial"/>
            </a:endParaRPr>
          </a:p>
        </p:txBody>
      </p:sp>
      <p:sp>
        <p:nvSpPr>
          <p:cNvPr id="2061" name="object 45"/>
          <p:cNvSpPr>
            <a:spLocks noChangeArrowheads="1"/>
          </p:cNvSpPr>
          <p:nvPr/>
        </p:nvSpPr>
        <p:spPr bwMode="auto">
          <a:xfrm>
            <a:off x="4010025" y="1795463"/>
            <a:ext cx="133350" cy="114300"/>
          </a:xfrm>
          <a:custGeom>
            <a:avLst/>
            <a:gdLst>
              <a:gd name="T0" fmla="*/ 0 w 133350"/>
              <a:gd name="T1" fmla="*/ 0 h 114300"/>
              <a:gd name="T2" fmla="*/ 133350 w 133350"/>
              <a:gd name="T3" fmla="*/ 114300 h 114300"/>
            </a:gdLst>
            <a:ahLst/>
            <a:cxnLst/>
            <a:rect l="T0" t="T1" r="T2" b="T3"/>
            <a:pathLst>
              <a:path w="133350" h="114300">
                <a:moveTo>
                  <a:pt x="0" y="114300"/>
                </a:moveTo>
                <a:lnTo>
                  <a:pt x="66662" y="0"/>
                </a:lnTo>
                <a:lnTo>
                  <a:pt x="133350" y="114287"/>
                </a:lnTo>
              </a:path>
            </a:pathLst>
          </a:custGeom>
          <a:noFill/>
          <a:ln w="38100">
            <a:solidFill>
              <a:schemeClr val="tx1"/>
            </a:solidFill>
            <a:miter lim="800000"/>
            <a:headEnd/>
            <a:tailEnd/>
          </a:ln>
        </p:spPr>
        <p:txBody>
          <a:bodyPr lIns="0" tIns="0" rIns="0" bIns="0"/>
          <a:lstStyle/>
          <a:p>
            <a:endParaRPr lang="en-US"/>
          </a:p>
        </p:txBody>
      </p:sp>
      <p:sp>
        <p:nvSpPr>
          <p:cNvPr id="2062" name="object 43"/>
          <p:cNvSpPr>
            <a:spLocks noChangeArrowheads="1"/>
          </p:cNvSpPr>
          <p:nvPr/>
        </p:nvSpPr>
        <p:spPr bwMode="auto">
          <a:xfrm>
            <a:off x="4000500" y="4000500"/>
            <a:ext cx="133350" cy="114300"/>
          </a:xfrm>
          <a:custGeom>
            <a:avLst/>
            <a:gdLst>
              <a:gd name="T0" fmla="*/ 0 w 133350"/>
              <a:gd name="T1" fmla="*/ 0 h 114300"/>
              <a:gd name="T2" fmla="*/ 133350 w 133350"/>
              <a:gd name="T3" fmla="*/ 114300 h 114300"/>
            </a:gdLst>
            <a:ahLst/>
            <a:cxnLst/>
            <a:rect l="T0" t="T1" r="T2" b="T3"/>
            <a:pathLst>
              <a:path w="133350" h="114300">
                <a:moveTo>
                  <a:pt x="133350" y="0"/>
                </a:moveTo>
                <a:lnTo>
                  <a:pt x="66675" y="114300"/>
                </a:lnTo>
                <a:lnTo>
                  <a:pt x="0" y="0"/>
                </a:lnTo>
              </a:path>
            </a:pathLst>
          </a:custGeom>
          <a:noFill/>
          <a:ln w="38100">
            <a:solidFill>
              <a:schemeClr val="tx1"/>
            </a:solidFill>
            <a:miter lim="800000"/>
            <a:headEnd/>
            <a:tailEnd/>
          </a:ln>
        </p:spPr>
        <p:txBody>
          <a:bodyPr lIns="0" tIns="0" rIns="0" bIns="0"/>
          <a:lstStyle/>
          <a:p>
            <a:endParaRPr lang="en-US"/>
          </a:p>
        </p:txBody>
      </p:sp>
      <p:sp>
        <p:nvSpPr>
          <p:cNvPr id="2063" name="object 44"/>
          <p:cNvSpPr>
            <a:spLocks noChangeArrowheads="1"/>
          </p:cNvSpPr>
          <p:nvPr/>
        </p:nvSpPr>
        <p:spPr bwMode="auto">
          <a:xfrm>
            <a:off x="4000500" y="4286250"/>
            <a:ext cx="46038" cy="500063"/>
          </a:xfrm>
          <a:custGeom>
            <a:avLst/>
            <a:gdLst>
              <a:gd name="T0" fmla="*/ 0 w 45719"/>
              <a:gd name="T1" fmla="*/ 0 h 1867535"/>
              <a:gd name="T2" fmla="*/ 45719 w 45719"/>
              <a:gd name="T3" fmla="*/ 1867535 h 1867535"/>
            </a:gdLst>
            <a:ahLst/>
            <a:cxnLst/>
            <a:rect l="T0" t="T1" r="T2" b="T3"/>
            <a:pathLst>
              <a:path w="45719" h="1867535">
                <a:moveTo>
                  <a:pt x="0" y="1867280"/>
                </a:moveTo>
                <a:lnTo>
                  <a:pt x="0" y="0"/>
                </a:lnTo>
              </a:path>
            </a:pathLst>
          </a:custGeom>
          <a:noFill/>
          <a:ln w="38100">
            <a:solidFill>
              <a:schemeClr val="tx1"/>
            </a:solidFill>
            <a:miter lim="800000"/>
            <a:headEnd/>
            <a:tailEnd/>
          </a:ln>
        </p:spPr>
        <p:txBody>
          <a:bodyPr lIns="0" tIns="0" rIns="0" bIns="0"/>
          <a:lstStyle/>
          <a:p>
            <a:endParaRPr lang="en-US"/>
          </a:p>
        </p:txBody>
      </p:sp>
      <p:sp>
        <p:nvSpPr>
          <p:cNvPr id="2064" name="object 44"/>
          <p:cNvSpPr>
            <a:spLocks noChangeArrowheads="1"/>
          </p:cNvSpPr>
          <p:nvPr/>
        </p:nvSpPr>
        <p:spPr bwMode="auto">
          <a:xfrm>
            <a:off x="4000500" y="5143500"/>
            <a:ext cx="46038" cy="642938"/>
          </a:xfrm>
          <a:custGeom>
            <a:avLst/>
            <a:gdLst>
              <a:gd name="T0" fmla="*/ 0 w 45719"/>
              <a:gd name="T1" fmla="*/ 0 h 1867535"/>
              <a:gd name="T2" fmla="*/ 45719 w 45719"/>
              <a:gd name="T3" fmla="*/ 1867535 h 1867535"/>
            </a:gdLst>
            <a:ahLst/>
            <a:cxnLst/>
            <a:rect l="T0" t="T1" r="T2" b="T3"/>
            <a:pathLst>
              <a:path w="45719" h="1867535">
                <a:moveTo>
                  <a:pt x="0" y="1867280"/>
                </a:moveTo>
                <a:lnTo>
                  <a:pt x="0" y="0"/>
                </a:lnTo>
              </a:path>
            </a:pathLst>
          </a:custGeom>
          <a:noFill/>
          <a:ln w="38100">
            <a:solidFill>
              <a:schemeClr val="tx1"/>
            </a:solidFill>
            <a:miter lim="800000"/>
            <a:headEnd/>
            <a:tailEnd/>
          </a:ln>
        </p:spPr>
        <p:txBody>
          <a:bodyPr lIns="0" tIns="0" rIns="0" bIns="0"/>
          <a:lstStyle/>
          <a:p>
            <a:endParaRPr lang="en-US"/>
          </a:p>
        </p:txBody>
      </p:sp>
      <p:sp>
        <p:nvSpPr>
          <p:cNvPr id="18" name="object 46"/>
          <p:cNvSpPr txBox="1"/>
          <p:nvPr/>
        </p:nvSpPr>
        <p:spPr>
          <a:xfrm>
            <a:off x="3857625" y="4786313"/>
            <a:ext cx="584200" cy="320675"/>
          </a:xfrm>
          <a:prstGeom prst="rect">
            <a:avLst/>
          </a:prstGeom>
        </p:spPr>
        <p:txBody>
          <a:bodyPr lIns="0" tIns="12700" rIns="0" bIns="0">
            <a:spAutoFit/>
          </a:bodyPr>
          <a:lstStyle/>
          <a:p>
            <a:pPr marL="12700">
              <a:spcBef>
                <a:spcPts val="100"/>
              </a:spcBef>
              <a:defRPr/>
            </a:pPr>
            <a:r>
              <a:rPr lang="en-US" sz="2000" b="1" spc="-10" dirty="0">
                <a:latin typeface="Arial"/>
                <a:cs typeface="Arial"/>
              </a:rPr>
              <a:t>4</a:t>
            </a:r>
            <a:r>
              <a:rPr sz="2000" b="1" spc="-5">
                <a:latin typeface="Arial"/>
                <a:cs typeface="Arial"/>
              </a:rPr>
              <a:t>K</a:t>
            </a:r>
            <a:endParaRPr sz="2000">
              <a:latin typeface="Arial"/>
              <a:cs typeface="Arial"/>
            </a:endParaRPr>
          </a:p>
        </p:txBody>
      </p:sp>
      <p:sp>
        <p:nvSpPr>
          <p:cNvPr id="2066" name="object 45"/>
          <p:cNvSpPr>
            <a:spLocks noChangeArrowheads="1"/>
          </p:cNvSpPr>
          <p:nvPr/>
        </p:nvSpPr>
        <p:spPr bwMode="auto">
          <a:xfrm>
            <a:off x="3938588" y="4243388"/>
            <a:ext cx="133350" cy="114300"/>
          </a:xfrm>
          <a:custGeom>
            <a:avLst/>
            <a:gdLst>
              <a:gd name="T0" fmla="*/ 0 w 133350"/>
              <a:gd name="T1" fmla="*/ 0 h 114300"/>
              <a:gd name="T2" fmla="*/ 133350 w 133350"/>
              <a:gd name="T3" fmla="*/ 114300 h 114300"/>
            </a:gdLst>
            <a:ahLst/>
            <a:cxnLst/>
            <a:rect l="T0" t="T1" r="T2" b="T3"/>
            <a:pathLst>
              <a:path w="133350" h="114300">
                <a:moveTo>
                  <a:pt x="0" y="114300"/>
                </a:moveTo>
                <a:lnTo>
                  <a:pt x="66662" y="0"/>
                </a:lnTo>
                <a:lnTo>
                  <a:pt x="133350" y="114287"/>
                </a:lnTo>
              </a:path>
            </a:pathLst>
          </a:custGeom>
          <a:noFill/>
          <a:ln w="38100">
            <a:solidFill>
              <a:schemeClr val="tx1"/>
            </a:solidFill>
            <a:miter lim="800000"/>
            <a:headEnd/>
            <a:tailEnd/>
          </a:ln>
        </p:spPr>
        <p:txBody>
          <a:bodyPr lIns="0" tIns="0" rIns="0" bIns="0"/>
          <a:lstStyle/>
          <a:p>
            <a:endParaRPr lang="en-US"/>
          </a:p>
        </p:txBody>
      </p:sp>
      <p:sp>
        <p:nvSpPr>
          <p:cNvPr id="2067" name="object 43"/>
          <p:cNvSpPr>
            <a:spLocks noChangeArrowheads="1"/>
          </p:cNvSpPr>
          <p:nvPr/>
        </p:nvSpPr>
        <p:spPr bwMode="auto">
          <a:xfrm>
            <a:off x="3929063" y="5715000"/>
            <a:ext cx="133350" cy="114300"/>
          </a:xfrm>
          <a:custGeom>
            <a:avLst/>
            <a:gdLst>
              <a:gd name="T0" fmla="*/ 0 w 133350"/>
              <a:gd name="T1" fmla="*/ 0 h 114300"/>
              <a:gd name="T2" fmla="*/ 133350 w 133350"/>
              <a:gd name="T3" fmla="*/ 114300 h 114300"/>
            </a:gdLst>
            <a:ahLst/>
            <a:cxnLst/>
            <a:rect l="T0" t="T1" r="T2" b="T3"/>
            <a:pathLst>
              <a:path w="133350" h="114300">
                <a:moveTo>
                  <a:pt x="133350" y="0"/>
                </a:moveTo>
                <a:lnTo>
                  <a:pt x="66675" y="114300"/>
                </a:lnTo>
                <a:lnTo>
                  <a:pt x="0" y="0"/>
                </a:lnTo>
              </a:path>
            </a:pathLst>
          </a:custGeom>
          <a:noFill/>
          <a:ln w="38100">
            <a:solidFill>
              <a:schemeClr val="tx1"/>
            </a:solidFill>
            <a:miter lim="800000"/>
            <a:headEnd/>
            <a:tailEnd/>
          </a:ln>
        </p:spPr>
        <p:txBody>
          <a:bodyPr lIns="0" tIns="0" rIns="0" bIns="0"/>
          <a:lstStyle/>
          <a:p>
            <a:endParaRPr lang="en-US"/>
          </a:p>
        </p:txBody>
      </p:sp>
      <p:sp>
        <p:nvSpPr>
          <p:cNvPr id="2068" name="object 44"/>
          <p:cNvSpPr>
            <a:spLocks noChangeArrowheads="1"/>
          </p:cNvSpPr>
          <p:nvPr/>
        </p:nvSpPr>
        <p:spPr bwMode="auto">
          <a:xfrm>
            <a:off x="8643938" y="1857375"/>
            <a:ext cx="0" cy="1866900"/>
          </a:xfrm>
          <a:custGeom>
            <a:avLst/>
            <a:gdLst>
              <a:gd name="T0" fmla="*/ 0 h 1867535"/>
              <a:gd name="T1" fmla="*/ 1867535 h 1867535"/>
            </a:gdLst>
            <a:ahLst/>
            <a:cxnLst/>
            <a:rect l="0" t="T0" r="0" b="T1"/>
            <a:pathLst>
              <a:path h="1867535">
                <a:moveTo>
                  <a:pt x="0" y="1867280"/>
                </a:moveTo>
                <a:lnTo>
                  <a:pt x="0" y="0"/>
                </a:lnTo>
              </a:path>
            </a:pathLst>
          </a:custGeom>
          <a:noFill/>
          <a:ln w="38100">
            <a:solidFill>
              <a:schemeClr val="tx1"/>
            </a:solidFill>
            <a:miter lim="800000"/>
            <a:headEnd/>
            <a:tailEnd/>
          </a:ln>
        </p:spPr>
        <p:txBody>
          <a:bodyPr lIns="0" tIns="0" rIns="0" bIns="0"/>
          <a:lstStyle/>
          <a:p>
            <a:endParaRPr lang="en-US"/>
          </a:p>
        </p:txBody>
      </p:sp>
      <p:sp>
        <p:nvSpPr>
          <p:cNvPr id="22" name="object 46"/>
          <p:cNvSpPr txBox="1"/>
          <p:nvPr/>
        </p:nvSpPr>
        <p:spPr>
          <a:xfrm>
            <a:off x="8559800" y="3857625"/>
            <a:ext cx="584200" cy="320675"/>
          </a:xfrm>
          <a:prstGeom prst="rect">
            <a:avLst/>
          </a:prstGeom>
        </p:spPr>
        <p:txBody>
          <a:bodyPr lIns="0" tIns="12700" rIns="0" bIns="0">
            <a:spAutoFit/>
          </a:bodyPr>
          <a:lstStyle/>
          <a:p>
            <a:pPr marL="12700">
              <a:spcBef>
                <a:spcPts val="100"/>
              </a:spcBef>
              <a:defRPr/>
            </a:pPr>
            <a:r>
              <a:rPr sz="2000" b="1" spc="-10" dirty="0">
                <a:latin typeface="Arial"/>
                <a:cs typeface="Arial"/>
              </a:rPr>
              <a:t>64</a:t>
            </a:r>
            <a:r>
              <a:rPr sz="2000" b="1" spc="-5" dirty="0">
                <a:latin typeface="Arial"/>
                <a:cs typeface="Arial"/>
              </a:rPr>
              <a:t>K</a:t>
            </a:r>
            <a:endParaRPr sz="2000">
              <a:latin typeface="Arial"/>
              <a:cs typeface="Arial"/>
            </a:endParaRPr>
          </a:p>
        </p:txBody>
      </p:sp>
      <p:sp>
        <p:nvSpPr>
          <p:cNvPr id="2070" name="object 42"/>
          <p:cNvSpPr>
            <a:spLocks noChangeArrowheads="1"/>
          </p:cNvSpPr>
          <p:nvPr/>
        </p:nvSpPr>
        <p:spPr bwMode="auto">
          <a:xfrm>
            <a:off x="8643938" y="4286250"/>
            <a:ext cx="0" cy="1714500"/>
          </a:xfrm>
          <a:custGeom>
            <a:avLst/>
            <a:gdLst>
              <a:gd name="T0" fmla="*/ 0 h 1715135"/>
              <a:gd name="T1" fmla="*/ 1715135 h 1715135"/>
            </a:gdLst>
            <a:ahLst/>
            <a:cxnLst/>
            <a:rect l="0" t="T0" r="0" b="T1"/>
            <a:pathLst>
              <a:path h="1715135">
                <a:moveTo>
                  <a:pt x="0" y="0"/>
                </a:moveTo>
                <a:lnTo>
                  <a:pt x="0" y="1714881"/>
                </a:lnTo>
              </a:path>
            </a:pathLst>
          </a:custGeom>
          <a:noFill/>
          <a:ln w="38100">
            <a:solidFill>
              <a:schemeClr val="tx1"/>
            </a:solidFill>
            <a:miter lim="800000"/>
            <a:headEnd/>
            <a:tailEnd/>
          </a:ln>
        </p:spPr>
        <p:txBody>
          <a:bodyPr lIns="0" tIns="0" rIns="0" bIns="0"/>
          <a:lstStyle/>
          <a:p>
            <a:endParaRPr lang="en-US"/>
          </a:p>
        </p:txBody>
      </p:sp>
      <p:sp>
        <p:nvSpPr>
          <p:cNvPr id="2071" name="object 45"/>
          <p:cNvSpPr>
            <a:spLocks noChangeArrowheads="1"/>
          </p:cNvSpPr>
          <p:nvPr/>
        </p:nvSpPr>
        <p:spPr bwMode="auto">
          <a:xfrm>
            <a:off x="8572500" y="1785938"/>
            <a:ext cx="133350" cy="114300"/>
          </a:xfrm>
          <a:custGeom>
            <a:avLst/>
            <a:gdLst>
              <a:gd name="T0" fmla="*/ 0 w 133350"/>
              <a:gd name="T1" fmla="*/ 0 h 114300"/>
              <a:gd name="T2" fmla="*/ 133350 w 133350"/>
              <a:gd name="T3" fmla="*/ 114300 h 114300"/>
            </a:gdLst>
            <a:ahLst/>
            <a:cxnLst/>
            <a:rect l="T0" t="T1" r="T2" b="T3"/>
            <a:pathLst>
              <a:path w="133350" h="114300">
                <a:moveTo>
                  <a:pt x="0" y="114300"/>
                </a:moveTo>
                <a:lnTo>
                  <a:pt x="66662" y="0"/>
                </a:lnTo>
                <a:lnTo>
                  <a:pt x="133350" y="114287"/>
                </a:lnTo>
              </a:path>
            </a:pathLst>
          </a:custGeom>
          <a:noFill/>
          <a:ln w="38100">
            <a:solidFill>
              <a:schemeClr val="tx1"/>
            </a:solidFill>
            <a:miter lim="800000"/>
            <a:headEnd/>
            <a:tailEnd/>
          </a:ln>
        </p:spPr>
        <p:txBody>
          <a:bodyPr lIns="0" tIns="0" rIns="0" bIns="0"/>
          <a:lstStyle/>
          <a:p>
            <a:endParaRPr lang="en-US"/>
          </a:p>
        </p:txBody>
      </p:sp>
      <p:sp>
        <p:nvSpPr>
          <p:cNvPr id="2072" name="object 43"/>
          <p:cNvSpPr>
            <a:spLocks noChangeArrowheads="1"/>
          </p:cNvSpPr>
          <p:nvPr/>
        </p:nvSpPr>
        <p:spPr bwMode="auto">
          <a:xfrm>
            <a:off x="8572500" y="5929313"/>
            <a:ext cx="133350" cy="114300"/>
          </a:xfrm>
          <a:custGeom>
            <a:avLst/>
            <a:gdLst>
              <a:gd name="T0" fmla="*/ 0 w 133350"/>
              <a:gd name="T1" fmla="*/ 0 h 114300"/>
              <a:gd name="T2" fmla="*/ 133350 w 133350"/>
              <a:gd name="T3" fmla="*/ 114300 h 114300"/>
            </a:gdLst>
            <a:ahLst/>
            <a:cxnLst/>
            <a:rect l="T0" t="T1" r="T2" b="T3"/>
            <a:pathLst>
              <a:path w="133350" h="114300">
                <a:moveTo>
                  <a:pt x="133350" y="0"/>
                </a:moveTo>
                <a:lnTo>
                  <a:pt x="66675" y="114300"/>
                </a:lnTo>
                <a:lnTo>
                  <a:pt x="0" y="0"/>
                </a:lnTo>
              </a:path>
            </a:pathLst>
          </a:custGeom>
          <a:noFill/>
          <a:ln w="38100">
            <a:solidFill>
              <a:schemeClr val="tx1"/>
            </a:solidFill>
            <a:miter lim="800000"/>
            <a:headEnd/>
            <a:tailEnd/>
          </a:ln>
        </p:spPr>
        <p:txBody>
          <a:bodyPr lIns="0" tIns="0" rIns="0" bIns="0"/>
          <a:lstStyle/>
          <a:p>
            <a:endParaRPr lang="en-US"/>
          </a:p>
        </p:txBody>
      </p:sp>
      <p:sp>
        <p:nvSpPr>
          <p:cNvPr id="25" name="Date Placeholder 24"/>
          <p:cNvSpPr>
            <a:spLocks noGrp="1"/>
          </p:cNvSpPr>
          <p:nvPr>
            <p:ph type="dt" sz="half" idx="10"/>
          </p:nvPr>
        </p:nvSpPr>
        <p:spPr/>
        <p:txBody>
          <a:bodyPr/>
          <a:lstStyle/>
          <a:p>
            <a:pPr>
              <a:defRPr/>
            </a:pPr>
            <a:fld id="{1E776AB3-71CD-4847-82B7-2956AAF930B7}" type="datetime2">
              <a:rPr lang="en-US" smtClean="0"/>
              <a:pPr>
                <a:defRPr/>
              </a:pPr>
              <a:t>Friday, August 27, 2021</a:t>
            </a:fld>
            <a:endParaRPr lang="en-US"/>
          </a:p>
        </p:txBody>
      </p:sp>
      <p:sp>
        <p:nvSpPr>
          <p:cNvPr id="26" name="Footer Placeholder 2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25404"/>
          </a:xfrm>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31</a:t>
            </a:fld>
            <a:endParaRPr lang="en-US"/>
          </a:p>
        </p:txBody>
      </p:sp>
      <p:pic>
        <p:nvPicPr>
          <p:cNvPr id="57346" name="Picture 2"/>
          <p:cNvPicPr>
            <a:picLocks noGrp="1" noChangeAspect="1" noChangeArrowheads="1"/>
          </p:cNvPicPr>
          <p:nvPr>
            <p:ph idx="1"/>
          </p:nvPr>
        </p:nvPicPr>
        <p:blipFill>
          <a:blip r:embed="rId2"/>
          <a:srcRect/>
          <a:stretch>
            <a:fillRect/>
          </a:stretch>
        </p:blipFill>
        <p:spPr bwMode="auto">
          <a:xfrm>
            <a:off x="857224" y="714356"/>
            <a:ext cx="7643866" cy="5543951"/>
          </a:xfrm>
          <a:prstGeom prst="rect">
            <a:avLst/>
          </a:prstGeom>
          <a:noFill/>
          <a:ln w="9525">
            <a:noFill/>
            <a:miter lim="800000"/>
            <a:headEnd/>
            <a:tailEnd/>
          </a:ln>
          <a:effectLst/>
        </p:spPr>
      </p:pic>
    </p:spTree>
  </p:cSld>
  <p:clrMapOvr>
    <a:masterClrMapping/>
  </p:clrMapOvr>
  <p:transition>
    <p:spli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32</a:t>
            </a:fld>
            <a:endParaRPr lang="en-US"/>
          </a:p>
        </p:txBody>
      </p:sp>
      <p:pic>
        <p:nvPicPr>
          <p:cNvPr id="58370" name="Picture 2"/>
          <p:cNvPicPr>
            <a:picLocks noGrp="1" noChangeAspect="1" noChangeArrowheads="1"/>
          </p:cNvPicPr>
          <p:nvPr>
            <p:ph idx="1"/>
          </p:nvPr>
        </p:nvPicPr>
        <p:blipFill>
          <a:blip r:embed="rId2"/>
          <a:srcRect/>
          <a:stretch>
            <a:fillRect/>
          </a:stretch>
        </p:blipFill>
        <p:spPr bwMode="auto">
          <a:xfrm>
            <a:off x="928662" y="785794"/>
            <a:ext cx="7370499" cy="4834749"/>
          </a:xfrm>
          <a:prstGeom prst="rect">
            <a:avLst/>
          </a:prstGeom>
          <a:noFill/>
          <a:ln w="9525">
            <a:noFill/>
            <a:miter lim="800000"/>
            <a:headEnd/>
            <a:tailEnd/>
          </a:ln>
          <a:effectLst/>
        </p:spPr>
      </p:pic>
    </p:spTree>
  </p:cSld>
  <p:clrMapOvr>
    <a:masterClrMapping/>
  </p:clrMapOvr>
  <p:transition>
    <p:spli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33</a:t>
            </a:fld>
            <a:endParaRPr lang="en-US"/>
          </a:p>
        </p:txBody>
      </p:sp>
      <p:pic>
        <p:nvPicPr>
          <p:cNvPr id="59394" name="Picture 2"/>
          <p:cNvPicPr>
            <a:picLocks noGrp="1" noChangeAspect="1" noChangeArrowheads="1"/>
          </p:cNvPicPr>
          <p:nvPr>
            <p:ph idx="1"/>
          </p:nvPr>
        </p:nvPicPr>
        <p:blipFill>
          <a:blip r:embed="rId2"/>
          <a:srcRect/>
          <a:stretch>
            <a:fillRect/>
          </a:stretch>
        </p:blipFill>
        <p:spPr bwMode="auto">
          <a:xfrm>
            <a:off x="285720" y="571480"/>
            <a:ext cx="8358246" cy="5974329"/>
          </a:xfrm>
          <a:prstGeom prst="rect">
            <a:avLst/>
          </a:prstGeom>
          <a:noFill/>
          <a:ln w="9525">
            <a:noFill/>
            <a:miter lim="800000"/>
            <a:headEnd/>
            <a:tailEnd/>
          </a:ln>
          <a:effectLst/>
        </p:spPr>
      </p:pic>
    </p:spTree>
  </p:cSld>
  <p:clrMapOvr>
    <a:masterClrMapping/>
  </p:clrMapOvr>
  <p:transition>
    <p:spli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Register banks and stacks</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34</a:t>
            </a:fld>
            <a:endParaRPr lang="en-US"/>
          </a:p>
        </p:txBody>
      </p:sp>
      <p:pic>
        <p:nvPicPr>
          <p:cNvPr id="60418" name="Picture 2"/>
          <p:cNvPicPr>
            <a:picLocks noGrp="1" noChangeAspect="1" noChangeArrowheads="1"/>
          </p:cNvPicPr>
          <p:nvPr>
            <p:ph idx="1"/>
          </p:nvPr>
        </p:nvPicPr>
        <p:blipFill>
          <a:blip r:embed="rId2"/>
          <a:srcRect/>
          <a:stretch>
            <a:fillRect/>
          </a:stretch>
        </p:blipFill>
        <p:spPr bwMode="auto">
          <a:xfrm>
            <a:off x="928662" y="1357298"/>
            <a:ext cx="7643865" cy="4714908"/>
          </a:xfrm>
          <a:prstGeom prst="rect">
            <a:avLst/>
          </a:prstGeom>
          <a:noFill/>
          <a:ln w="9525">
            <a:noFill/>
            <a:miter lim="800000"/>
            <a:headEnd/>
            <a:tailEnd/>
          </a:ln>
          <a:effectLst/>
        </p:spPr>
      </p:pic>
    </p:spTree>
  </p:cSld>
  <p:clrMapOvr>
    <a:masterClrMapping/>
  </p:clrMapOvr>
  <p:transition>
    <p:spli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35</a:t>
            </a:fld>
            <a:endParaRPr lang="en-US"/>
          </a:p>
        </p:txBody>
      </p:sp>
      <p:pic>
        <p:nvPicPr>
          <p:cNvPr id="61442" name="Picture 2"/>
          <p:cNvPicPr>
            <a:picLocks noGrp="1" noChangeAspect="1" noChangeArrowheads="1"/>
          </p:cNvPicPr>
          <p:nvPr>
            <p:ph idx="1"/>
          </p:nvPr>
        </p:nvPicPr>
        <p:blipFill>
          <a:blip r:embed="rId2"/>
          <a:srcRect/>
          <a:stretch>
            <a:fillRect/>
          </a:stretch>
        </p:blipFill>
        <p:spPr bwMode="auto">
          <a:xfrm>
            <a:off x="642910" y="857232"/>
            <a:ext cx="8001056" cy="4944287"/>
          </a:xfrm>
          <a:prstGeom prst="rect">
            <a:avLst/>
          </a:prstGeom>
          <a:noFill/>
          <a:ln w="9525">
            <a:noFill/>
            <a:miter lim="800000"/>
            <a:headEnd/>
            <a:tailEnd/>
          </a:ln>
          <a:effectLst/>
        </p:spPr>
      </p:pic>
    </p:spTree>
  </p:cSld>
  <p:clrMapOvr>
    <a:masterClrMapping/>
  </p:clrMapOvr>
  <p:transition>
    <p:spli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96842"/>
          </a:xfrm>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36</a:t>
            </a:fld>
            <a:endParaRPr lang="en-US"/>
          </a:p>
        </p:txBody>
      </p:sp>
      <p:pic>
        <p:nvPicPr>
          <p:cNvPr id="62466" name="Picture 2"/>
          <p:cNvPicPr>
            <a:picLocks noGrp="1" noChangeAspect="1" noChangeArrowheads="1"/>
          </p:cNvPicPr>
          <p:nvPr>
            <p:ph idx="1"/>
          </p:nvPr>
        </p:nvPicPr>
        <p:blipFill>
          <a:blip r:embed="rId2"/>
          <a:srcRect/>
          <a:stretch>
            <a:fillRect/>
          </a:stretch>
        </p:blipFill>
        <p:spPr bwMode="auto">
          <a:xfrm>
            <a:off x="714348" y="441552"/>
            <a:ext cx="7954030" cy="5773529"/>
          </a:xfrm>
          <a:prstGeom prst="rect">
            <a:avLst/>
          </a:prstGeom>
          <a:noFill/>
          <a:ln w="9525">
            <a:noFill/>
            <a:miter lim="800000"/>
            <a:headEnd/>
            <a:tailEnd/>
          </a:ln>
          <a:effectLst/>
        </p:spPr>
      </p:pic>
    </p:spTree>
  </p:cSld>
  <p:clrMapOvr>
    <a:masterClrMapping/>
  </p:clrMapOvr>
  <p:transition>
    <p:spli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37</a:t>
            </a:fld>
            <a:endParaRPr lang="en-US"/>
          </a:p>
        </p:txBody>
      </p:sp>
      <p:pic>
        <p:nvPicPr>
          <p:cNvPr id="63490" name="Picture 2"/>
          <p:cNvPicPr>
            <a:picLocks noGrp="1" noChangeAspect="1" noChangeArrowheads="1"/>
          </p:cNvPicPr>
          <p:nvPr>
            <p:ph idx="1"/>
          </p:nvPr>
        </p:nvPicPr>
        <p:blipFill>
          <a:blip r:embed="rId2"/>
          <a:srcRect/>
          <a:stretch>
            <a:fillRect/>
          </a:stretch>
        </p:blipFill>
        <p:spPr bwMode="auto">
          <a:xfrm>
            <a:off x="785786" y="500042"/>
            <a:ext cx="7929618" cy="5357850"/>
          </a:xfrm>
          <a:prstGeom prst="rect">
            <a:avLst/>
          </a:prstGeom>
          <a:noFill/>
          <a:ln w="9525">
            <a:noFill/>
            <a:miter lim="800000"/>
            <a:headEnd/>
            <a:tailEnd/>
          </a:ln>
          <a:effectLst/>
        </p:spPr>
      </p:pic>
    </p:spTree>
  </p:cSld>
  <p:clrMapOvr>
    <a:masterClrMapping/>
  </p:clrMapOvr>
  <p:transition>
    <p:spli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8280"/>
          </a:xfrm>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38</a:t>
            </a:fld>
            <a:endParaRPr lang="en-US"/>
          </a:p>
        </p:txBody>
      </p:sp>
      <p:pic>
        <p:nvPicPr>
          <p:cNvPr id="64514" name="Picture 2"/>
          <p:cNvPicPr>
            <a:picLocks noGrp="1" noChangeAspect="1" noChangeArrowheads="1"/>
          </p:cNvPicPr>
          <p:nvPr>
            <p:ph idx="1"/>
          </p:nvPr>
        </p:nvPicPr>
        <p:blipFill>
          <a:blip r:embed="rId2"/>
          <a:srcRect/>
          <a:stretch>
            <a:fillRect/>
          </a:stretch>
        </p:blipFill>
        <p:spPr bwMode="auto">
          <a:xfrm>
            <a:off x="714348" y="428604"/>
            <a:ext cx="7864722" cy="5643602"/>
          </a:xfrm>
          <a:prstGeom prst="rect">
            <a:avLst/>
          </a:prstGeom>
          <a:noFill/>
          <a:ln w="9525">
            <a:noFill/>
            <a:miter lim="800000"/>
            <a:headEnd/>
            <a:tailEnd/>
          </a:ln>
          <a:effectLst/>
        </p:spPr>
      </p:pic>
    </p:spTree>
  </p:cSld>
  <p:clrMapOvr>
    <a:masterClrMapping/>
  </p:clrMapOvr>
  <p:transition>
    <p:spli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3966"/>
          </a:xfrm>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39</a:t>
            </a:fld>
            <a:endParaRPr lang="en-US"/>
          </a:p>
        </p:txBody>
      </p:sp>
      <p:pic>
        <p:nvPicPr>
          <p:cNvPr id="65538" name="Picture 2"/>
          <p:cNvPicPr>
            <a:picLocks noGrp="1" noChangeAspect="1" noChangeArrowheads="1"/>
          </p:cNvPicPr>
          <p:nvPr>
            <p:ph idx="1"/>
          </p:nvPr>
        </p:nvPicPr>
        <p:blipFill>
          <a:blip r:embed="rId2"/>
          <a:srcRect/>
          <a:stretch>
            <a:fillRect/>
          </a:stretch>
        </p:blipFill>
        <p:spPr bwMode="auto">
          <a:xfrm>
            <a:off x="642910" y="203339"/>
            <a:ext cx="8286808" cy="6204002"/>
          </a:xfrm>
          <a:prstGeom prst="rect">
            <a:avLst/>
          </a:prstGeom>
          <a:noFill/>
          <a:ln w="9525">
            <a:noFill/>
            <a:miter lim="800000"/>
            <a:headEnd/>
            <a:tailEnd/>
          </a:ln>
          <a:effectLst/>
        </p:spPr>
      </p:pic>
    </p:spTree>
  </p:cSld>
  <p:clrMapOvr>
    <a:masterClrMapping/>
  </p:clrMapOvr>
  <p:transition>
    <p:spli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4" name="Date Placeholder 3"/>
          <p:cNvSpPr>
            <a:spLocks noGrp="1"/>
          </p:cNvSpPr>
          <p:nvPr>
            <p:ph type="dt" sz="half" idx="10"/>
          </p:nvPr>
        </p:nvSpPr>
        <p:spPr/>
        <p:txBody>
          <a:bodyPr/>
          <a:lstStyle/>
          <a:p>
            <a:pPr>
              <a:defRPr/>
            </a:pPr>
            <a:fld id="{20A1ED9A-0FBF-4ADB-A9E2-07E4A8DA18AD}"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
        <p:nvSpPr>
          <p:cNvPr id="6" name="Slide Number Placeholder 5"/>
          <p:cNvSpPr>
            <a:spLocks noGrp="1"/>
          </p:cNvSpPr>
          <p:nvPr>
            <p:ph type="sldNum" sz="quarter" idx="12"/>
          </p:nvPr>
        </p:nvSpPr>
        <p:spPr/>
        <p:txBody>
          <a:bodyPr/>
          <a:lstStyle/>
          <a:p>
            <a:pPr>
              <a:defRPr/>
            </a:pPr>
            <a:fld id="{29365B32-0A66-4572-87C9-59177F07ABFF}" type="slidenum">
              <a:rPr lang="en-US" smtClean="0"/>
              <a:pPr>
                <a:defRPr/>
              </a:pPr>
              <a:t>40</a:t>
            </a:fld>
            <a:endParaRPr lang="en-US"/>
          </a:p>
        </p:txBody>
      </p:sp>
      <p:pic>
        <p:nvPicPr>
          <p:cNvPr id="66562" name="Picture 2"/>
          <p:cNvPicPr>
            <a:picLocks noGrp="1" noChangeAspect="1" noChangeArrowheads="1"/>
          </p:cNvPicPr>
          <p:nvPr>
            <p:ph idx="1"/>
          </p:nvPr>
        </p:nvPicPr>
        <p:blipFill>
          <a:blip r:embed="rId2"/>
          <a:srcRect/>
          <a:stretch>
            <a:fillRect/>
          </a:stretch>
        </p:blipFill>
        <p:spPr bwMode="auto">
          <a:xfrm>
            <a:off x="699356" y="214290"/>
            <a:ext cx="7801734" cy="6143668"/>
          </a:xfrm>
          <a:prstGeom prst="rect">
            <a:avLst/>
          </a:prstGeom>
          <a:noFill/>
          <a:ln w="9525">
            <a:noFill/>
            <a:miter lim="800000"/>
            <a:headEnd/>
            <a:tailEnd/>
          </a:ln>
          <a:effectLst/>
        </p:spPr>
      </p:pic>
    </p:spTree>
  </p:cSld>
  <p:clrMapOvr>
    <a:masterClrMapping/>
  </p:clrMapOvr>
  <p:transition>
    <p:spli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idx="1"/>
          </p:nvPr>
        </p:nvSpPr>
        <p:spPr>
          <a:xfrm>
            <a:off x="457200" y="2886075"/>
            <a:ext cx="8401050" cy="1042988"/>
          </a:xfrm>
          <a:solidFill>
            <a:schemeClr val="bg1">
              <a:lumMod val="75000"/>
            </a:schemeClr>
          </a:solidFill>
          <a:ln>
            <a:solidFill>
              <a:srgbClr val="FF0000"/>
            </a:solidFill>
          </a:ln>
        </p:spPr>
        <p:txBody>
          <a:bodyPr rtlCol="0">
            <a:normAutofit/>
          </a:bodyPr>
          <a:lstStyle/>
          <a:p>
            <a:pPr algn="ctr" eaLnBrk="1" fontAlgn="auto" hangingPunct="1">
              <a:spcAft>
                <a:spcPts val="0"/>
              </a:spcAft>
              <a:buFontTx/>
              <a:buNone/>
              <a:defRPr/>
            </a:pPr>
            <a:r>
              <a:rPr lang="en-US" sz="4400" b="1" dirty="0" smtClean="0">
                <a:solidFill>
                  <a:srgbClr val="0066FF"/>
                </a:solidFill>
              </a:rPr>
              <a:t>Accessing External  Memory</a:t>
            </a:r>
          </a:p>
        </p:txBody>
      </p:sp>
      <p:sp>
        <p:nvSpPr>
          <p:cNvPr id="5" name="Slide Number Placeholder 4"/>
          <p:cNvSpPr>
            <a:spLocks noGrp="1"/>
          </p:cNvSpPr>
          <p:nvPr>
            <p:ph type="sldNum" sz="quarter" idx="12"/>
          </p:nvPr>
        </p:nvSpPr>
        <p:spPr/>
        <p:txBody>
          <a:bodyPr/>
          <a:lstStyle/>
          <a:p>
            <a:pPr>
              <a:defRPr/>
            </a:pPr>
            <a:fld id="{3FDE5F1A-F771-4F55-9F8A-765B9FAC2784}" type="slidenum">
              <a:rPr lang="en-US"/>
              <a:pPr>
                <a:defRPr/>
              </a:pPr>
              <a:t>41</a:t>
            </a:fld>
            <a:endParaRPr lang="en-US"/>
          </a:p>
        </p:txBody>
      </p:sp>
      <p:sp>
        <p:nvSpPr>
          <p:cNvPr id="4" name="Date Placeholder 3"/>
          <p:cNvSpPr>
            <a:spLocks noGrp="1"/>
          </p:cNvSpPr>
          <p:nvPr>
            <p:ph type="dt" sz="half" idx="10"/>
          </p:nvPr>
        </p:nvSpPr>
        <p:spPr/>
        <p:txBody>
          <a:bodyPr/>
          <a:lstStyle/>
          <a:p>
            <a:pPr>
              <a:defRPr/>
            </a:pPr>
            <a:fld id="{408865D5-3C9A-4AD7-A5BC-526F708C55CF}" type="datetime2">
              <a:rPr lang="en-US" smtClean="0"/>
              <a:pPr>
                <a:defRPr/>
              </a:pPr>
              <a:t>Friday, August 27, 2021</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endParaRPr lang="en-US" smtClean="0"/>
          </a:p>
        </p:txBody>
      </p:sp>
      <p:sp>
        <p:nvSpPr>
          <p:cNvPr id="33795" name="Content Placeholder 2"/>
          <p:cNvSpPr>
            <a:spLocks noGrp="1"/>
          </p:cNvSpPr>
          <p:nvPr>
            <p:ph idx="1"/>
          </p:nvPr>
        </p:nvSpPr>
        <p:spPr/>
        <p:txBody>
          <a:bodyPr/>
          <a:lstStyle/>
          <a:p>
            <a:pPr eaLnBrk="1" hangingPunct="1"/>
            <a:endParaRPr lang="en-US" smtClean="0"/>
          </a:p>
        </p:txBody>
      </p:sp>
      <p:sp>
        <p:nvSpPr>
          <p:cNvPr id="5" name="Slide Number Placeholder 4"/>
          <p:cNvSpPr>
            <a:spLocks noGrp="1"/>
          </p:cNvSpPr>
          <p:nvPr>
            <p:ph type="sldNum" sz="quarter" idx="12"/>
          </p:nvPr>
        </p:nvSpPr>
        <p:spPr/>
        <p:txBody>
          <a:bodyPr/>
          <a:lstStyle/>
          <a:p>
            <a:pPr>
              <a:defRPr/>
            </a:pPr>
            <a:fld id="{1978055D-B73F-4BCC-A492-54F738BB85C9}" type="slidenum">
              <a:rPr lang="en-US"/>
              <a:pPr>
                <a:defRPr/>
              </a:pPr>
              <a:t>42</a:t>
            </a:fld>
            <a:endParaRPr lang="en-US"/>
          </a:p>
        </p:txBody>
      </p:sp>
      <p:pic>
        <p:nvPicPr>
          <p:cNvPr id="33798" name="Picture 2"/>
          <p:cNvPicPr>
            <a:picLocks noChangeAspect="1" noChangeArrowheads="1"/>
          </p:cNvPicPr>
          <p:nvPr/>
        </p:nvPicPr>
        <p:blipFill>
          <a:blip r:embed="rId2"/>
          <a:srcRect/>
          <a:stretch>
            <a:fillRect/>
          </a:stretch>
        </p:blipFill>
        <p:spPr bwMode="auto">
          <a:xfrm>
            <a:off x="144463" y="144463"/>
            <a:ext cx="8499475" cy="6362700"/>
          </a:xfrm>
          <a:prstGeom prst="rect">
            <a:avLst/>
          </a:prstGeom>
          <a:noFill/>
          <a:ln w="12700">
            <a:noFill/>
            <a:miter lim="800000"/>
            <a:headEnd type="none" w="sm" len="sm"/>
            <a:tailEnd type="none" w="sm" len="sm"/>
          </a:ln>
        </p:spPr>
      </p:pic>
      <p:sp>
        <p:nvSpPr>
          <p:cNvPr id="6" name="Date Placeholder 5"/>
          <p:cNvSpPr>
            <a:spLocks noGrp="1"/>
          </p:cNvSpPr>
          <p:nvPr>
            <p:ph type="dt" sz="half" idx="10"/>
          </p:nvPr>
        </p:nvSpPr>
        <p:spPr/>
        <p:txBody>
          <a:bodyPr/>
          <a:lstStyle/>
          <a:p>
            <a:pPr>
              <a:defRPr/>
            </a:pPr>
            <a:fld id="{C8FF8E4F-F145-4080-83AE-8B40BB0C6EAB}" type="datetime2">
              <a:rPr lang="en-US" smtClean="0"/>
              <a:pPr>
                <a:defRPr/>
              </a:pPr>
              <a:t>Friday, August 27, 2021</a:t>
            </a:fld>
            <a:endParaRPr lang="en-US"/>
          </a:p>
        </p:txBody>
      </p:sp>
      <p:sp>
        <p:nvSpPr>
          <p:cNvPr id="7" name="Footer Placeholder 6"/>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457200" y="274638"/>
            <a:ext cx="8229600" cy="796925"/>
          </a:xfrm>
          <a:solidFill>
            <a:schemeClr val="bg1">
              <a:lumMod val="75000"/>
            </a:schemeClr>
          </a:solidFill>
          <a:ln>
            <a:solidFill>
              <a:srgbClr val="FF0000"/>
            </a:solidFill>
          </a:ln>
        </p:spPr>
        <p:txBody>
          <a:bodyPr rtlCol="0">
            <a:normAutofit/>
          </a:bodyPr>
          <a:lstStyle/>
          <a:p>
            <a:pPr eaLnBrk="1" fontAlgn="auto" hangingPunct="1">
              <a:spcAft>
                <a:spcPts val="0"/>
              </a:spcAft>
              <a:defRPr/>
            </a:pPr>
            <a:r>
              <a:rPr lang="en-US" sz="3200" b="1" dirty="0" smtClean="0">
                <a:solidFill>
                  <a:srgbClr val="0066FF"/>
                </a:solidFill>
              </a:rPr>
              <a:t>Accessing External Program Memory</a:t>
            </a:r>
          </a:p>
        </p:txBody>
      </p:sp>
      <p:sp>
        <p:nvSpPr>
          <p:cNvPr id="7" name="Slide Number Placeholder 4"/>
          <p:cNvSpPr>
            <a:spLocks noGrp="1"/>
          </p:cNvSpPr>
          <p:nvPr>
            <p:ph type="sldNum" sz="quarter" idx="12"/>
          </p:nvPr>
        </p:nvSpPr>
        <p:spPr/>
        <p:txBody>
          <a:bodyPr/>
          <a:lstStyle/>
          <a:p>
            <a:pPr>
              <a:defRPr/>
            </a:pPr>
            <a:fld id="{5C0A8DDE-4C8F-442D-A495-5208FC49CF1F}" type="slidenum">
              <a:rPr lang="en-US"/>
              <a:pPr>
                <a:defRPr/>
              </a:pPr>
              <a:t>43</a:t>
            </a:fld>
            <a:endParaRPr lang="en-US"/>
          </a:p>
        </p:txBody>
      </p:sp>
      <p:graphicFrame>
        <p:nvGraphicFramePr>
          <p:cNvPr id="4098" name="Object 2"/>
          <p:cNvGraphicFramePr>
            <a:graphicFrameLocks noChangeAspect="1"/>
          </p:cNvGraphicFramePr>
          <p:nvPr/>
        </p:nvGraphicFramePr>
        <p:xfrm>
          <a:off x="642938" y="1428750"/>
          <a:ext cx="7672387" cy="4714875"/>
        </p:xfrm>
        <a:graphic>
          <a:graphicData uri="http://schemas.openxmlformats.org/presentationml/2006/ole">
            <p:oleObj spid="_x0000_s4098" name="Image" r:id="rId3" imgW="7294035" imgH="6252030" progId="">
              <p:embed/>
            </p:oleObj>
          </a:graphicData>
        </a:graphic>
      </p:graphicFrame>
      <p:sp>
        <p:nvSpPr>
          <p:cNvPr id="5" name="Date Placeholder 4"/>
          <p:cNvSpPr>
            <a:spLocks noGrp="1"/>
          </p:cNvSpPr>
          <p:nvPr>
            <p:ph type="dt" sz="half" idx="10"/>
          </p:nvPr>
        </p:nvSpPr>
        <p:spPr/>
        <p:txBody>
          <a:bodyPr/>
          <a:lstStyle/>
          <a:p>
            <a:pPr>
              <a:defRPr/>
            </a:pPr>
            <a:fld id="{1A59D201-2D81-4DFC-9028-4CBB7C61D747}" type="datetime2">
              <a:rPr lang="en-US" smtClean="0"/>
              <a:pPr>
                <a:defRPr/>
              </a:pPr>
              <a:t>Friday, August 27, 2021</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itle 9"/>
          <p:cNvSpPr>
            <a:spLocks noGrp="1"/>
          </p:cNvSpPr>
          <p:nvPr>
            <p:ph type="title"/>
          </p:nvPr>
        </p:nvSpPr>
        <p:spPr>
          <a:xfrm>
            <a:off x="457200" y="274638"/>
            <a:ext cx="8229600" cy="654050"/>
          </a:xfrm>
          <a:solidFill>
            <a:schemeClr val="bg1">
              <a:lumMod val="75000"/>
            </a:schemeClr>
          </a:solidFill>
          <a:ln>
            <a:solidFill>
              <a:srgbClr val="FF0000"/>
            </a:solidFill>
          </a:ln>
        </p:spPr>
        <p:txBody>
          <a:bodyPr rtlCol="0">
            <a:normAutofit/>
          </a:bodyPr>
          <a:lstStyle/>
          <a:p>
            <a:pPr eaLnBrk="1" fontAlgn="auto" hangingPunct="1">
              <a:spcAft>
                <a:spcPts val="0"/>
              </a:spcAft>
              <a:defRPr/>
            </a:pPr>
            <a:r>
              <a:rPr lang="en-US" sz="3200" b="1" dirty="0" smtClean="0">
                <a:solidFill>
                  <a:srgbClr val="0066FF"/>
                </a:solidFill>
              </a:rPr>
              <a:t>Accessing External Data Memory</a:t>
            </a:r>
            <a:endParaRPr lang="en-US" sz="3200" dirty="0" smtClean="0">
              <a:solidFill>
                <a:srgbClr val="0066FF"/>
              </a:solidFill>
            </a:endParaRPr>
          </a:p>
        </p:txBody>
      </p:sp>
      <p:graphicFrame>
        <p:nvGraphicFramePr>
          <p:cNvPr id="5122" name="Object 4"/>
          <p:cNvGraphicFramePr>
            <a:graphicFrameLocks noChangeAspect="1"/>
          </p:cNvGraphicFramePr>
          <p:nvPr>
            <p:ph idx="1"/>
          </p:nvPr>
        </p:nvGraphicFramePr>
        <p:xfrm>
          <a:off x="1687513" y="1600200"/>
          <a:ext cx="5768975" cy="4525963"/>
        </p:xfrm>
        <a:graphic>
          <a:graphicData uri="http://schemas.openxmlformats.org/presentationml/2006/ole">
            <p:oleObj spid="_x0000_s5122" name="Image" r:id="rId3" imgW="8018355" imgH="6290152" progId="">
              <p:embed/>
            </p:oleObj>
          </a:graphicData>
        </a:graphic>
      </p:graphicFrame>
      <p:sp>
        <p:nvSpPr>
          <p:cNvPr id="8" name="Slide Number Placeholder 5"/>
          <p:cNvSpPr>
            <a:spLocks noGrp="1"/>
          </p:cNvSpPr>
          <p:nvPr>
            <p:ph type="sldNum" sz="quarter" idx="12"/>
          </p:nvPr>
        </p:nvSpPr>
        <p:spPr/>
        <p:txBody>
          <a:bodyPr/>
          <a:lstStyle/>
          <a:p>
            <a:pPr>
              <a:defRPr/>
            </a:pPr>
            <a:fld id="{B3C05FF2-8059-4D2E-9182-B7BFE756FB93}" type="slidenum">
              <a:rPr lang="en-US"/>
              <a:pPr>
                <a:defRPr/>
              </a:pPr>
              <a:t>44</a:t>
            </a:fld>
            <a:endParaRPr lang="en-US"/>
          </a:p>
        </p:txBody>
      </p:sp>
      <p:sp>
        <p:nvSpPr>
          <p:cNvPr id="5" name="Date Placeholder 4"/>
          <p:cNvSpPr>
            <a:spLocks noGrp="1"/>
          </p:cNvSpPr>
          <p:nvPr>
            <p:ph type="dt" sz="half" idx="10"/>
          </p:nvPr>
        </p:nvSpPr>
        <p:spPr/>
        <p:txBody>
          <a:bodyPr/>
          <a:lstStyle/>
          <a:p>
            <a:pPr>
              <a:defRPr/>
            </a:pPr>
            <a:fld id="{ABB880C1-F41F-440E-9E1C-1D7EE1D7FD33}" type="datetime2">
              <a:rPr lang="en-US" smtClean="0"/>
              <a:pPr>
                <a:defRPr/>
              </a:pPr>
              <a:t>Friday, August 27, 2021</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a:solidFill>
            <a:schemeClr val="bg1">
              <a:lumMod val="75000"/>
            </a:schemeClr>
          </a:solidFill>
          <a:ln>
            <a:solidFill>
              <a:srgbClr val="FF0000"/>
            </a:solidFill>
          </a:ln>
        </p:spPr>
        <p:txBody>
          <a:bodyPr rtlCol="0">
            <a:normAutofit/>
          </a:bodyPr>
          <a:lstStyle/>
          <a:p>
            <a:pPr eaLnBrk="1" fontAlgn="auto" hangingPunct="1">
              <a:spcAft>
                <a:spcPts val="0"/>
              </a:spcAft>
              <a:defRPr/>
            </a:pPr>
            <a:r>
              <a:rPr lang="en-US" altLang="ko-KR" sz="4900" b="1" dirty="0" smtClean="0">
                <a:solidFill>
                  <a:srgbClr val="0066FF"/>
                </a:solidFill>
                <a:latin typeface="+mn-lt"/>
                <a:ea typeface="굴림" pitchFamily="34" charset="-127"/>
                <a:cs typeface="Times New Roman" pitchFamily="18" charset="0"/>
              </a:rPr>
              <a:t>Addressing Modes</a:t>
            </a:r>
            <a:endParaRPr lang="en-US" sz="4900" b="1" dirty="0" smtClean="0">
              <a:solidFill>
                <a:srgbClr val="0066FF"/>
              </a:solidFill>
              <a:latin typeface="+mn-lt"/>
              <a:ea typeface="굴림" pitchFamily="34" charset="-127"/>
              <a:cs typeface="Times New Roman" pitchFamily="18" charset="0"/>
            </a:endParaRPr>
          </a:p>
        </p:txBody>
      </p:sp>
      <p:sp>
        <p:nvSpPr>
          <p:cNvPr id="446467" name="Rectangle 3"/>
          <p:cNvSpPr>
            <a:spLocks noGrp="1" noChangeArrowheads="1"/>
          </p:cNvSpPr>
          <p:nvPr>
            <p:ph idx="1"/>
          </p:nvPr>
        </p:nvSpPr>
        <p:spPr>
          <a:xfrm>
            <a:off x="428625" y="2500313"/>
            <a:ext cx="8229600" cy="3817937"/>
          </a:xfrm>
          <a:solidFill>
            <a:schemeClr val="bg1">
              <a:lumMod val="75000"/>
            </a:schemeClr>
          </a:solidFill>
          <a:ln>
            <a:solidFill>
              <a:srgbClr val="FF0000"/>
            </a:solidFill>
          </a:ln>
        </p:spPr>
        <p:txBody>
          <a:bodyPr rtlCol="0">
            <a:normAutofit/>
          </a:bodyPr>
          <a:lstStyle/>
          <a:p>
            <a:pPr eaLnBrk="1" fontAlgn="auto" hangingPunct="1">
              <a:spcAft>
                <a:spcPts val="0"/>
              </a:spcAft>
              <a:buFont typeface="Arial" pitchFamily="34" charset="0"/>
              <a:buChar char="•"/>
              <a:defRPr/>
            </a:pPr>
            <a:r>
              <a:rPr lang="en-US" sz="3500" dirty="0" smtClean="0">
                <a:cs typeface="Times New Roman" pitchFamily="18" charset="0"/>
              </a:rPr>
              <a:t>Immediate</a:t>
            </a:r>
          </a:p>
          <a:p>
            <a:pPr eaLnBrk="1" fontAlgn="auto" hangingPunct="1">
              <a:spcAft>
                <a:spcPts val="0"/>
              </a:spcAft>
              <a:buFont typeface="Arial" pitchFamily="34" charset="0"/>
              <a:buChar char="•"/>
              <a:defRPr/>
            </a:pPr>
            <a:r>
              <a:rPr lang="en-US" sz="3500" dirty="0" smtClean="0">
                <a:cs typeface="Times New Roman" pitchFamily="18" charset="0"/>
              </a:rPr>
              <a:t>Register</a:t>
            </a:r>
          </a:p>
          <a:p>
            <a:pPr eaLnBrk="1" fontAlgn="auto" hangingPunct="1">
              <a:spcAft>
                <a:spcPts val="0"/>
              </a:spcAft>
              <a:buFont typeface="Arial" pitchFamily="34" charset="0"/>
              <a:buChar char="•"/>
              <a:defRPr/>
            </a:pPr>
            <a:r>
              <a:rPr lang="en-US" sz="3500" dirty="0" smtClean="0">
                <a:cs typeface="Times New Roman" pitchFamily="18" charset="0"/>
              </a:rPr>
              <a:t>Direct</a:t>
            </a:r>
          </a:p>
          <a:p>
            <a:pPr eaLnBrk="1" fontAlgn="auto" hangingPunct="1">
              <a:spcAft>
                <a:spcPts val="0"/>
              </a:spcAft>
              <a:buFont typeface="Arial" pitchFamily="34" charset="0"/>
              <a:buChar char="•"/>
              <a:defRPr/>
            </a:pPr>
            <a:r>
              <a:rPr lang="en-US" sz="3500" dirty="0" smtClean="0">
                <a:cs typeface="Times New Roman" pitchFamily="18" charset="0"/>
              </a:rPr>
              <a:t>Register Indirect</a:t>
            </a:r>
          </a:p>
          <a:p>
            <a:pPr eaLnBrk="1" fontAlgn="auto" hangingPunct="1">
              <a:spcAft>
                <a:spcPts val="0"/>
              </a:spcAft>
              <a:buFont typeface="Arial" pitchFamily="34" charset="0"/>
              <a:buChar char="•"/>
              <a:defRPr/>
            </a:pPr>
            <a:r>
              <a:rPr lang="en-US" sz="3500" dirty="0" smtClean="0">
                <a:cs typeface="Times New Roman" pitchFamily="18" charset="0"/>
              </a:rPr>
              <a:t>Indexed</a:t>
            </a:r>
          </a:p>
        </p:txBody>
      </p:sp>
      <p:sp>
        <p:nvSpPr>
          <p:cNvPr id="7" name="Slide Number Placeholder 6"/>
          <p:cNvSpPr>
            <a:spLocks noGrp="1"/>
          </p:cNvSpPr>
          <p:nvPr>
            <p:ph type="sldNum" sz="quarter" idx="12"/>
          </p:nvPr>
        </p:nvSpPr>
        <p:spPr/>
        <p:txBody>
          <a:bodyPr/>
          <a:lstStyle/>
          <a:p>
            <a:pPr>
              <a:defRPr/>
            </a:pPr>
            <a:fld id="{1F74D77D-1383-43AF-A277-CB8AB579F46F}" type="slidenum">
              <a:rPr lang="en-US"/>
              <a:pPr>
                <a:defRPr/>
              </a:pPr>
              <a:t>45</a:t>
            </a:fld>
            <a:endParaRPr lang="en-US"/>
          </a:p>
        </p:txBody>
      </p:sp>
      <p:sp>
        <p:nvSpPr>
          <p:cNvPr id="5" name="TextBox 4"/>
          <p:cNvSpPr txBox="1">
            <a:spLocks noChangeArrowheads="1"/>
          </p:cNvSpPr>
          <p:nvPr/>
        </p:nvSpPr>
        <p:spPr bwMode="auto">
          <a:xfrm>
            <a:off x="857250" y="1500188"/>
            <a:ext cx="8286750" cy="584200"/>
          </a:xfrm>
          <a:prstGeom prst="rect">
            <a:avLst/>
          </a:prstGeom>
          <a:noFill/>
          <a:ln w="9525">
            <a:noFill/>
            <a:miter lim="800000"/>
            <a:headEnd/>
            <a:tailEnd/>
          </a:ln>
        </p:spPr>
        <p:txBody>
          <a:bodyPr>
            <a:spAutoFit/>
          </a:bodyPr>
          <a:lstStyle/>
          <a:p>
            <a:r>
              <a:rPr lang="en-US" sz="3200" dirty="0">
                <a:latin typeface="+mn-lt"/>
              </a:rPr>
              <a:t>The way in which the instruction is specified.</a:t>
            </a:r>
          </a:p>
        </p:txBody>
      </p:sp>
      <p:sp>
        <p:nvSpPr>
          <p:cNvPr id="6" name="Date Placeholder 5"/>
          <p:cNvSpPr>
            <a:spLocks noGrp="1"/>
          </p:cNvSpPr>
          <p:nvPr>
            <p:ph type="dt" sz="half" idx="10"/>
          </p:nvPr>
        </p:nvSpPr>
        <p:spPr/>
        <p:txBody>
          <a:bodyPr/>
          <a:lstStyle/>
          <a:p>
            <a:pPr>
              <a:defRPr/>
            </a:pPr>
            <a:fld id="{62424E05-05A8-4D26-A241-6EC996A6C7ED}" type="datetime2">
              <a:rPr lang="en-US" smtClean="0"/>
              <a:pPr>
                <a:defRPr/>
              </a:pPr>
              <a:t>Friday, August 27, 2021</a:t>
            </a:fld>
            <a:endParaRPr lang="en-US"/>
          </a:p>
        </p:txBody>
      </p:sp>
      <p:sp>
        <p:nvSpPr>
          <p:cNvPr id="8" name="Footer Placeholder 7"/>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446466"/>
                                        </p:tgtEl>
                                        <p:attrNameLst>
                                          <p:attrName>style.visibility</p:attrName>
                                        </p:attrNameLst>
                                      </p:cBhvr>
                                      <p:to>
                                        <p:strVal val="visible"/>
                                      </p:to>
                                    </p:set>
                                    <p:anim calcmode="lin" valueType="num">
                                      <p:cBhvr>
                                        <p:cTn id="7" dur="3000" fill="hold"/>
                                        <p:tgtEl>
                                          <p:spTgt spid="446466"/>
                                        </p:tgtEl>
                                        <p:attrNameLst>
                                          <p:attrName>ppt_x</p:attrName>
                                        </p:attrNameLst>
                                      </p:cBhvr>
                                      <p:tavLst>
                                        <p:tav tm="0">
                                          <p:val>
                                            <p:strVal val="#ppt_x-.2"/>
                                          </p:val>
                                        </p:tav>
                                        <p:tav tm="100000">
                                          <p:val>
                                            <p:strVal val="#ppt_x"/>
                                          </p:val>
                                        </p:tav>
                                      </p:tavLst>
                                    </p:anim>
                                    <p:anim calcmode="lin" valueType="num">
                                      <p:cBhvr>
                                        <p:cTn id="8" dur="3000" fill="hold"/>
                                        <p:tgtEl>
                                          <p:spTgt spid="446466"/>
                                        </p:tgtEl>
                                        <p:attrNameLst>
                                          <p:attrName>ppt_y</p:attrName>
                                        </p:attrNameLst>
                                      </p:cBhvr>
                                      <p:tavLst>
                                        <p:tav tm="0">
                                          <p:val>
                                            <p:strVal val="#ppt_y"/>
                                          </p:val>
                                        </p:tav>
                                        <p:tav tm="100000">
                                          <p:val>
                                            <p:strVal val="#ppt_y"/>
                                          </p:val>
                                        </p:tav>
                                      </p:tavLst>
                                    </p:anim>
                                    <p:animEffect transition="in" filter="wipe(right)" prLst="gradientSize: 0.1">
                                      <p:cBhvr>
                                        <p:cTn id="9" dur="3000"/>
                                        <p:tgtEl>
                                          <p:spTgt spid="446466"/>
                                        </p:tgtEl>
                                      </p:cBhvr>
                                    </p:animEffec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5">
                                            <p:txEl>
                                              <p:pRg st="0" end="0"/>
                                            </p:txEl>
                                          </p:spTgt>
                                        </p:tgtEl>
                                        <p:attrNameLst>
                                          <p:attrName>style.visibility</p:attrName>
                                        </p:attrNameLst>
                                      </p:cBhvr>
                                      <p:to>
                                        <p:strVal val="visible"/>
                                      </p:to>
                                    </p:set>
                                    <p:anim calcmode="discrete" valueType="clr">
                                      <p:cBhvr override="childStyle">
                                        <p:cTn id="14" dur="80"/>
                                        <p:tgtEl>
                                          <p:spTgt spid="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5">
                                            <p:txEl>
                                              <p:pRg st="0" end="0"/>
                                            </p:txEl>
                                          </p:spTgt>
                                        </p:tgtEl>
                                        <p:attrNameLst>
                                          <p:attrName>fillcolor</p:attrName>
                                        </p:attrNameLst>
                                      </p:cBhvr>
                                      <p:tavLst>
                                        <p:tav tm="0">
                                          <p:val>
                                            <p:clrVal>
                                              <a:schemeClr val="accent2"/>
                                            </p:clrVal>
                                          </p:val>
                                        </p:tav>
                                        <p:tav tm="50000">
                                          <p:val>
                                            <p:clrVal>
                                              <a:schemeClr val="hlink"/>
                                            </p:clrVal>
                                          </p:val>
                                        </p:tav>
                                      </p:tavLst>
                                    </p:anim>
                                    <p:set>
                                      <p:cBhvr>
                                        <p:cTn id="16" dur="80"/>
                                        <p:tgtEl>
                                          <p:spTgt spid="5">
                                            <p:txEl>
                                              <p:pRg st="0" end="0"/>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446467">
                                            <p:txEl>
                                              <p:pRg st="0" end="0"/>
                                            </p:txEl>
                                          </p:spTgt>
                                        </p:tgtEl>
                                        <p:attrNameLst>
                                          <p:attrName>style.visibility</p:attrName>
                                        </p:attrNameLst>
                                      </p:cBhvr>
                                      <p:to>
                                        <p:strVal val="visible"/>
                                      </p:to>
                                    </p:set>
                                    <p:anim calcmode="discrete" valueType="clr">
                                      <p:cBhvr override="childStyle">
                                        <p:cTn id="21" dur="80"/>
                                        <p:tgtEl>
                                          <p:spTgt spid="44646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446467">
                                            <p:txEl>
                                              <p:pRg st="0" end="0"/>
                                            </p:txEl>
                                          </p:spTgt>
                                        </p:tgtEl>
                                        <p:attrNameLst>
                                          <p:attrName>fillcolor</p:attrName>
                                        </p:attrNameLst>
                                      </p:cBhvr>
                                      <p:tavLst>
                                        <p:tav tm="0">
                                          <p:val>
                                            <p:clrVal>
                                              <a:schemeClr val="accent2"/>
                                            </p:clrVal>
                                          </p:val>
                                        </p:tav>
                                        <p:tav tm="50000">
                                          <p:val>
                                            <p:clrVal>
                                              <a:schemeClr val="hlink"/>
                                            </p:clrVal>
                                          </p:val>
                                        </p:tav>
                                      </p:tavLst>
                                    </p:anim>
                                    <p:set>
                                      <p:cBhvr>
                                        <p:cTn id="23" dur="80"/>
                                        <p:tgtEl>
                                          <p:spTgt spid="446467">
                                            <p:txEl>
                                              <p:pRg st="0" end="0"/>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446467">
                                            <p:txEl>
                                              <p:pRg st="1" end="1"/>
                                            </p:txEl>
                                          </p:spTgt>
                                        </p:tgtEl>
                                        <p:attrNameLst>
                                          <p:attrName>style.visibility</p:attrName>
                                        </p:attrNameLst>
                                      </p:cBhvr>
                                      <p:to>
                                        <p:strVal val="visible"/>
                                      </p:to>
                                    </p:set>
                                    <p:anim calcmode="discrete" valueType="clr">
                                      <p:cBhvr override="childStyle">
                                        <p:cTn id="28" dur="80"/>
                                        <p:tgtEl>
                                          <p:spTgt spid="44646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446467">
                                            <p:txEl>
                                              <p:pRg st="1" end="1"/>
                                            </p:txEl>
                                          </p:spTgt>
                                        </p:tgtEl>
                                        <p:attrNameLst>
                                          <p:attrName>fillcolor</p:attrName>
                                        </p:attrNameLst>
                                      </p:cBhvr>
                                      <p:tavLst>
                                        <p:tav tm="0">
                                          <p:val>
                                            <p:clrVal>
                                              <a:schemeClr val="accent2"/>
                                            </p:clrVal>
                                          </p:val>
                                        </p:tav>
                                        <p:tav tm="50000">
                                          <p:val>
                                            <p:clrVal>
                                              <a:schemeClr val="hlink"/>
                                            </p:clrVal>
                                          </p:val>
                                        </p:tav>
                                      </p:tavLst>
                                    </p:anim>
                                    <p:set>
                                      <p:cBhvr>
                                        <p:cTn id="30" dur="80"/>
                                        <p:tgtEl>
                                          <p:spTgt spid="446467">
                                            <p:txEl>
                                              <p:pRg st="1" end="1"/>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nodeType="clickEffect">
                                  <p:stCondLst>
                                    <p:cond delay="0"/>
                                  </p:stCondLst>
                                  <p:iterate type="lt">
                                    <p:tmPct val="50000"/>
                                  </p:iterate>
                                  <p:childTnLst>
                                    <p:set>
                                      <p:cBhvr>
                                        <p:cTn id="34" dur="1" fill="hold">
                                          <p:stCondLst>
                                            <p:cond delay="0"/>
                                          </p:stCondLst>
                                        </p:cTn>
                                        <p:tgtEl>
                                          <p:spTgt spid="446467">
                                            <p:txEl>
                                              <p:pRg st="2" end="2"/>
                                            </p:txEl>
                                          </p:spTgt>
                                        </p:tgtEl>
                                        <p:attrNameLst>
                                          <p:attrName>style.visibility</p:attrName>
                                        </p:attrNameLst>
                                      </p:cBhvr>
                                      <p:to>
                                        <p:strVal val="visible"/>
                                      </p:to>
                                    </p:set>
                                    <p:anim calcmode="discrete" valueType="clr">
                                      <p:cBhvr override="childStyle">
                                        <p:cTn id="35" dur="80"/>
                                        <p:tgtEl>
                                          <p:spTgt spid="44646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446467">
                                            <p:txEl>
                                              <p:pRg st="2" end="2"/>
                                            </p:txEl>
                                          </p:spTgt>
                                        </p:tgtEl>
                                        <p:attrNameLst>
                                          <p:attrName>fillcolor</p:attrName>
                                        </p:attrNameLst>
                                      </p:cBhvr>
                                      <p:tavLst>
                                        <p:tav tm="0">
                                          <p:val>
                                            <p:clrVal>
                                              <a:schemeClr val="accent2"/>
                                            </p:clrVal>
                                          </p:val>
                                        </p:tav>
                                        <p:tav tm="50000">
                                          <p:val>
                                            <p:clrVal>
                                              <a:schemeClr val="hlink"/>
                                            </p:clrVal>
                                          </p:val>
                                        </p:tav>
                                      </p:tavLst>
                                    </p:anim>
                                    <p:set>
                                      <p:cBhvr>
                                        <p:cTn id="37" dur="80"/>
                                        <p:tgtEl>
                                          <p:spTgt spid="446467">
                                            <p:txEl>
                                              <p:pRg st="2" end="2"/>
                                            </p:txEl>
                                          </p:spTgt>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27" presetClass="entr" presetSubtype="0" fill="hold" nodeType="clickEffect">
                                  <p:stCondLst>
                                    <p:cond delay="0"/>
                                  </p:stCondLst>
                                  <p:iterate type="lt">
                                    <p:tmPct val="50000"/>
                                  </p:iterate>
                                  <p:childTnLst>
                                    <p:set>
                                      <p:cBhvr>
                                        <p:cTn id="41" dur="1" fill="hold">
                                          <p:stCondLst>
                                            <p:cond delay="0"/>
                                          </p:stCondLst>
                                        </p:cTn>
                                        <p:tgtEl>
                                          <p:spTgt spid="446467">
                                            <p:txEl>
                                              <p:pRg st="3" end="3"/>
                                            </p:txEl>
                                          </p:spTgt>
                                        </p:tgtEl>
                                        <p:attrNameLst>
                                          <p:attrName>style.visibility</p:attrName>
                                        </p:attrNameLst>
                                      </p:cBhvr>
                                      <p:to>
                                        <p:strVal val="visible"/>
                                      </p:to>
                                    </p:set>
                                    <p:anim calcmode="discrete" valueType="clr">
                                      <p:cBhvr override="childStyle">
                                        <p:cTn id="42" dur="80"/>
                                        <p:tgtEl>
                                          <p:spTgt spid="44646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446467">
                                            <p:txEl>
                                              <p:pRg st="3" end="3"/>
                                            </p:txEl>
                                          </p:spTgt>
                                        </p:tgtEl>
                                        <p:attrNameLst>
                                          <p:attrName>fillcolor</p:attrName>
                                        </p:attrNameLst>
                                      </p:cBhvr>
                                      <p:tavLst>
                                        <p:tav tm="0">
                                          <p:val>
                                            <p:clrVal>
                                              <a:schemeClr val="accent2"/>
                                            </p:clrVal>
                                          </p:val>
                                        </p:tav>
                                        <p:tav tm="50000">
                                          <p:val>
                                            <p:clrVal>
                                              <a:schemeClr val="hlink"/>
                                            </p:clrVal>
                                          </p:val>
                                        </p:tav>
                                      </p:tavLst>
                                    </p:anim>
                                    <p:set>
                                      <p:cBhvr>
                                        <p:cTn id="44" dur="80"/>
                                        <p:tgtEl>
                                          <p:spTgt spid="446467">
                                            <p:txEl>
                                              <p:pRg st="3" end="3"/>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27" presetClass="entr" presetSubtype="0" fill="hold" nodeType="clickEffect">
                                  <p:stCondLst>
                                    <p:cond delay="0"/>
                                  </p:stCondLst>
                                  <p:iterate type="lt">
                                    <p:tmPct val="50000"/>
                                  </p:iterate>
                                  <p:childTnLst>
                                    <p:set>
                                      <p:cBhvr>
                                        <p:cTn id="48" dur="1" fill="hold">
                                          <p:stCondLst>
                                            <p:cond delay="0"/>
                                          </p:stCondLst>
                                        </p:cTn>
                                        <p:tgtEl>
                                          <p:spTgt spid="446467">
                                            <p:txEl>
                                              <p:pRg st="4" end="4"/>
                                            </p:txEl>
                                          </p:spTgt>
                                        </p:tgtEl>
                                        <p:attrNameLst>
                                          <p:attrName>style.visibility</p:attrName>
                                        </p:attrNameLst>
                                      </p:cBhvr>
                                      <p:to>
                                        <p:strVal val="visible"/>
                                      </p:to>
                                    </p:set>
                                    <p:anim calcmode="discrete" valueType="clr">
                                      <p:cBhvr override="childStyle">
                                        <p:cTn id="49" dur="80"/>
                                        <p:tgtEl>
                                          <p:spTgt spid="446467">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446467">
                                            <p:txEl>
                                              <p:pRg st="4" end="4"/>
                                            </p:txEl>
                                          </p:spTgt>
                                        </p:tgtEl>
                                        <p:attrNameLst>
                                          <p:attrName>fillcolor</p:attrName>
                                        </p:attrNameLst>
                                      </p:cBhvr>
                                      <p:tavLst>
                                        <p:tav tm="0">
                                          <p:val>
                                            <p:clrVal>
                                              <a:schemeClr val="accent2"/>
                                            </p:clrVal>
                                          </p:val>
                                        </p:tav>
                                        <p:tav tm="50000">
                                          <p:val>
                                            <p:clrVal>
                                              <a:schemeClr val="hlink"/>
                                            </p:clrVal>
                                          </p:val>
                                        </p:tav>
                                      </p:tavLst>
                                    </p:anim>
                                    <p:set>
                                      <p:cBhvr>
                                        <p:cTn id="51" dur="80"/>
                                        <p:tgtEl>
                                          <p:spTgt spid="446467">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274638"/>
            <a:ext cx="8229600" cy="868362"/>
          </a:xfrm>
          <a:solidFill>
            <a:schemeClr val="bg1">
              <a:lumMod val="75000"/>
            </a:schemeClr>
          </a:solidFill>
          <a:ln>
            <a:solidFill>
              <a:srgbClr val="FF0000"/>
            </a:solidFill>
          </a:ln>
        </p:spPr>
        <p:txBody>
          <a:bodyPr rtlCol="0">
            <a:normAutofit/>
          </a:bodyPr>
          <a:lstStyle/>
          <a:p>
            <a:pPr eaLnBrk="1" fontAlgn="auto" hangingPunct="1">
              <a:spcAft>
                <a:spcPts val="0"/>
              </a:spcAft>
              <a:defRPr/>
            </a:pPr>
            <a:r>
              <a:rPr lang="en-US" b="1" dirty="0" smtClean="0">
                <a:solidFill>
                  <a:srgbClr val="0066FF"/>
                </a:solidFill>
                <a:latin typeface="+mn-lt"/>
                <a:cs typeface="Times New Roman" pitchFamily="18" charset="0"/>
              </a:rPr>
              <a:t>Immediate Addressing Mode</a:t>
            </a:r>
          </a:p>
        </p:txBody>
      </p:sp>
      <p:sp>
        <p:nvSpPr>
          <p:cNvPr id="447491" name="Rectangle 3"/>
          <p:cNvSpPr>
            <a:spLocks noGrp="1" noChangeArrowheads="1"/>
          </p:cNvSpPr>
          <p:nvPr>
            <p:ph idx="1"/>
          </p:nvPr>
        </p:nvSpPr>
        <p:spPr>
          <a:xfrm>
            <a:off x="457200" y="1600200"/>
            <a:ext cx="8229600" cy="3686175"/>
          </a:xfrm>
          <a:solidFill>
            <a:schemeClr val="bg1">
              <a:lumMod val="75000"/>
            </a:schemeClr>
          </a:solidFill>
          <a:ln>
            <a:solidFill>
              <a:srgbClr val="FF0000"/>
            </a:solidFill>
          </a:ln>
        </p:spPr>
        <p:txBody>
          <a:bodyPr rtlCol="0">
            <a:normAutofit lnSpcReduction="10000"/>
          </a:bodyPr>
          <a:lstStyle/>
          <a:p>
            <a:pPr eaLnBrk="1" fontAlgn="auto" hangingPunct="1">
              <a:lnSpc>
                <a:spcPct val="80000"/>
              </a:lnSpc>
              <a:spcAft>
                <a:spcPts val="0"/>
              </a:spcAft>
              <a:buFont typeface="Arial" pitchFamily="34" charset="0"/>
              <a:buChar char="•"/>
              <a:defRPr/>
            </a:pPr>
            <a:r>
              <a:rPr lang="en-US" sz="2800" dirty="0" smtClean="0">
                <a:cs typeface="Times New Roman" pitchFamily="18" charset="0"/>
              </a:rPr>
              <a:t>Immediate Data is specified in the  instruction itself</a:t>
            </a:r>
          </a:p>
          <a:p>
            <a:pPr eaLnBrk="1" fontAlgn="auto" hangingPunct="1">
              <a:lnSpc>
                <a:spcPct val="80000"/>
              </a:lnSpc>
              <a:spcAft>
                <a:spcPts val="0"/>
              </a:spcAft>
              <a:buFont typeface="Arial" pitchFamily="34" charset="0"/>
              <a:buChar char="•"/>
              <a:defRPr/>
            </a:pPr>
            <a:r>
              <a:rPr lang="en-US" sz="2800" dirty="0" smtClean="0">
                <a:cs typeface="Calibri"/>
              </a:rPr>
              <a:t>The immediate </a:t>
            </a:r>
            <a:r>
              <a:rPr lang="en-US" sz="2800" spc="-5" dirty="0" smtClean="0">
                <a:cs typeface="Calibri"/>
              </a:rPr>
              <a:t>data sign,</a:t>
            </a:r>
            <a:r>
              <a:rPr lang="en-US" sz="2800" spc="-75" dirty="0" smtClean="0">
                <a:cs typeface="Calibri"/>
              </a:rPr>
              <a:t> </a:t>
            </a:r>
            <a:r>
              <a:rPr lang="en-US" sz="2800" b="1" spc="-5" dirty="0" smtClean="0">
                <a:cs typeface="Calibri"/>
              </a:rPr>
              <a:t>“#”</a:t>
            </a:r>
            <a:endParaRPr lang="en-US" sz="2800" dirty="0" smtClean="0">
              <a:cs typeface="Calibri"/>
            </a:endParaRPr>
          </a:p>
          <a:p>
            <a:pPr eaLnBrk="1" fontAlgn="auto" hangingPunct="1">
              <a:lnSpc>
                <a:spcPct val="80000"/>
              </a:lnSpc>
              <a:spcAft>
                <a:spcPts val="0"/>
              </a:spcAft>
              <a:buFont typeface="Arial" pitchFamily="34" charset="0"/>
              <a:buChar char="•"/>
              <a:defRPr/>
            </a:pPr>
            <a:endParaRPr lang="en-US" sz="2800" dirty="0" smtClean="0">
              <a:cs typeface="Times New Roman" pitchFamily="18" charset="0"/>
            </a:endParaRPr>
          </a:p>
          <a:p>
            <a:pPr eaLnBrk="1" fontAlgn="auto" hangingPunct="1">
              <a:lnSpc>
                <a:spcPct val="80000"/>
              </a:lnSpc>
              <a:spcAft>
                <a:spcPts val="0"/>
              </a:spcAft>
              <a:buFont typeface="Arial" pitchFamily="34" charset="0"/>
              <a:buChar char="•"/>
              <a:defRPr/>
            </a:pPr>
            <a:endParaRPr lang="en-US" sz="2800" dirty="0" smtClean="0">
              <a:cs typeface="Times New Roman" pitchFamily="18" charset="0"/>
            </a:endParaRPr>
          </a:p>
          <a:p>
            <a:pPr eaLnBrk="1" fontAlgn="auto" hangingPunct="1">
              <a:lnSpc>
                <a:spcPct val="80000"/>
              </a:lnSpc>
              <a:spcAft>
                <a:spcPts val="0"/>
              </a:spcAft>
              <a:buFont typeface="Arial" pitchFamily="34" charset="0"/>
              <a:buChar char="•"/>
              <a:defRPr/>
            </a:pPr>
            <a:r>
              <a:rPr lang="en-US" sz="2800" dirty="0" err="1" smtClean="0">
                <a:cs typeface="Times New Roman" pitchFamily="18" charset="0"/>
              </a:rPr>
              <a:t>Eg</a:t>
            </a:r>
            <a:r>
              <a:rPr lang="en-US" sz="2800" dirty="0" smtClean="0">
                <a:cs typeface="Times New Roman" pitchFamily="18" charset="0"/>
              </a:rPr>
              <a:t>:</a:t>
            </a:r>
          </a:p>
          <a:p>
            <a:pPr eaLnBrk="1" fontAlgn="auto" hangingPunct="1">
              <a:lnSpc>
                <a:spcPct val="80000"/>
              </a:lnSpc>
              <a:spcAft>
                <a:spcPts val="0"/>
              </a:spcAft>
              <a:buFontTx/>
              <a:buNone/>
              <a:defRPr/>
            </a:pPr>
            <a:r>
              <a:rPr lang="en-US" sz="2800" dirty="0" smtClean="0">
                <a:cs typeface="Times New Roman" pitchFamily="18" charset="0"/>
              </a:rPr>
              <a:t>MOV	A,#65H</a:t>
            </a:r>
          </a:p>
          <a:p>
            <a:pPr eaLnBrk="1" fontAlgn="auto" hangingPunct="1">
              <a:lnSpc>
                <a:spcPct val="80000"/>
              </a:lnSpc>
              <a:spcAft>
                <a:spcPts val="0"/>
              </a:spcAft>
              <a:buFontTx/>
              <a:buNone/>
              <a:defRPr/>
            </a:pPr>
            <a:r>
              <a:rPr lang="en-US" sz="2800" dirty="0" smtClean="0">
                <a:cs typeface="Times New Roman" pitchFamily="18" charset="0"/>
              </a:rPr>
              <a:t>MOV	A,#’A’</a:t>
            </a:r>
          </a:p>
          <a:p>
            <a:pPr eaLnBrk="1" fontAlgn="auto" hangingPunct="1">
              <a:lnSpc>
                <a:spcPct val="80000"/>
              </a:lnSpc>
              <a:spcAft>
                <a:spcPts val="0"/>
              </a:spcAft>
              <a:buFontTx/>
              <a:buNone/>
              <a:defRPr/>
            </a:pPr>
            <a:r>
              <a:rPr lang="en-US" sz="2800" dirty="0" smtClean="0">
                <a:cs typeface="Times New Roman" pitchFamily="18" charset="0"/>
              </a:rPr>
              <a:t>MOV	R6,#65H</a:t>
            </a:r>
          </a:p>
          <a:p>
            <a:pPr eaLnBrk="1" fontAlgn="auto" hangingPunct="1">
              <a:lnSpc>
                <a:spcPct val="80000"/>
              </a:lnSpc>
              <a:spcAft>
                <a:spcPts val="0"/>
              </a:spcAft>
              <a:buFontTx/>
              <a:buNone/>
              <a:defRPr/>
            </a:pPr>
            <a:r>
              <a:rPr lang="en-US" sz="2800" dirty="0" smtClean="0">
                <a:cs typeface="Times New Roman" pitchFamily="18" charset="0"/>
              </a:rPr>
              <a:t>MOV	DPTR,#2343H</a:t>
            </a:r>
          </a:p>
          <a:p>
            <a:pPr eaLnBrk="1" fontAlgn="auto" hangingPunct="1">
              <a:lnSpc>
                <a:spcPct val="80000"/>
              </a:lnSpc>
              <a:spcAft>
                <a:spcPts val="0"/>
              </a:spcAft>
              <a:buFontTx/>
              <a:buNone/>
              <a:defRPr/>
            </a:pPr>
            <a:endParaRPr lang="en-US" sz="1800" dirty="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pPr>
              <a:defRPr/>
            </a:pPr>
            <a:fld id="{1D37E2C9-06B7-4F98-8A01-C75E10B07415}" type="slidenum">
              <a:rPr lang="en-US"/>
              <a:pPr>
                <a:defRPr/>
              </a:pPr>
              <a:t>46</a:t>
            </a:fld>
            <a:endParaRPr lang="en-US"/>
          </a:p>
        </p:txBody>
      </p:sp>
      <p:sp>
        <p:nvSpPr>
          <p:cNvPr id="5" name="Date Placeholder 4"/>
          <p:cNvSpPr>
            <a:spLocks noGrp="1"/>
          </p:cNvSpPr>
          <p:nvPr>
            <p:ph type="dt" sz="half" idx="10"/>
          </p:nvPr>
        </p:nvSpPr>
        <p:spPr/>
        <p:txBody>
          <a:bodyPr/>
          <a:lstStyle/>
          <a:p>
            <a:pPr>
              <a:defRPr/>
            </a:pPr>
            <a:fld id="{7E270A3A-BCE5-481D-B7BA-D46F4958A6B2}" type="datetime2">
              <a:rPr lang="en-US" smtClean="0"/>
              <a:pPr>
                <a:defRPr/>
              </a:pPr>
              <a:t>Friday, August 27, 2021</a:t>
            </a:fld>
            <a:endParaRPr lang="en-US"/>
          </a:p>
        </p:txBody>
      </p:sp>
      <p:sp>
        <p:nvSpPr>
          <p:cNvPr id="7" name="Footer Placeholder 6"/>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447491">
                                            <p:txEl>
                                              <p:pRg st="5" end="5"/>
                                            </p:txEl>
                                          </p:spTgt>
                                        </p:tgtEl>
                                        <p:attrNameLst>
                                          <p:attrName>style.visibility</p:attrName>
                                        </p:attrNameLst>
                                      </p:cBhvr>
                                      <p:to>
                                        <p:strVal val="visible"/>
                                      </p:to>
                                    </p:set>
                                    <p:animEffect transition="in" filter="diamond(in)">
                                      <p:cBhvr>
                                        <p:cTn id="7" dur="2000"/>
                                        <p:tgtEl>
                                          <p:spTgt spid="447491">
                                            <p:txEl>
                                              <p:pRg st="5" end="5"/>
                                            </p:txEl>
                                          </p:spTgt>
                                        </p:tgtEl>
                                      </p:cBhvr>
                                    </p:animEffect>
                                  </p:childTnLst>
                                </p:cTn>
                              </p:par>
                            </p:childTnLst>
                          </p:cTn>
                        </p:par>
                        <p:par>
                          <p:cTn id="8" fill="hold">
                            <p:stCondLst>
                              <p:cond delay="2000"/>
                            </p:stCondLst>
                            <p:childTnLst>
                              <p:par>
                                <p:cTn id="9" presetID="8" presetClass="entr" presetSubtype="16" fill="hold" nodeType="afterEffect">
                                  <p:stCondLst>
                                    <p:cond delay="0"/>
                                  </p:stCondLst>
                                  <p:childTnLst>
                                    <p:set>
                                      <p:cBhvr>
                                        <p:cTn id="10" dur="1" fill="hold">
                                          <p:stCondLst>
                                            <p:cond delay="0"/>
                                          </p:stCondLst>
                                        </p:cTn>
                                        <p:tgtEl>
                                          <p:spTgt spid="447491">
                                            <p:txEl>
                                              <p:pRg st="0" end="0"/>
                                            </p:txEl>
                                          </p:spTgt>
                                        </p:tgtEl>
                                        <p:attrNameLst>
                                          <p:attrName>style.visibility</p:attrName>
                                        </p:attrNameLst>
                                      </p:cBhvr>
                                      <p:to>
                                        <p:strVal val="visible"/>
                                      </p:to>
                                    </p:set>
                                    <p:animEffect transition="in" filter="diamond(in)">
                                      <p:cBhvr>
                                        <p:cTn id="11" dur="2000"/>
                                        <p:tgtEl>
                                          <p:spTgt spid="447491">
                                            <p:txEl>
                                              <p:pRg st="0" end="0"/>
                                            </p:txEl>
                                          </p:spTgt>
                                        </p:tgtEl>
                                      </p:cBhvr>
                                    </p:animEffect>
                                  </p:childTnLst>
                                </p:cTn>
                              </p:par>
                            </p:childTnLst>
                          </p:cTn>
                        </p:par>
                        <p:par>
                          <p:cTn id="12" fill="hold">
                            <p:stCondLst>
                              <p:cond delay="4000"/>
                            </p:stCondLst>
                            <p:childTnLst>
                              <p:par>
                                <p:cTn id="13" presetID="8" presetClass="entr" presetSubtype="16" fill="hold" nodeType="afterEffect">
                                  <p:stCondLst>
                                    <p:cond delay="0"/>
                                  </p:stCondLst>
                                  <p:childTnLst>
                                    <p:set>
                                      <p:cBhvr>
                                        <p:cTn id="14" dur="1" fill="hold">
                                          <p:stCondLst>
                                            <p:cond delay="0"/>
                                          </p:stCondLst>
                                        </p:cTn>
                                        <p:tgtEl>
                                          <p:spTgt spid="447491">
                                            <p:txEl>
                                              <p:pRg st="1" end="1"/>
                                            </p:txEl>
                                          </p:spTgt>
                                        </p:tgtEl>
                                        <p:attrNameLst>
                                          <p:attrName>style.visibility</p:attrName>
                                        </p:attrNameLst>
                                      </p:cBhvr>
                                      <p:to>
                                        <p:strVal val="visible"/>
                                      </p:to>
                                    </p:set>
                                    <p:animEffect transition="in" filter="diamond(in)">
                                      <p:cBhvr>
                                        <p:cTn id="15" dur="2000"/>
                                        <p:tgtEl>
                                          <p:spTgt spid="447491">
                                            <p:txEl>
                                              <p:pRg st="1" end="1"/>
                                            </p:txEl>
                                          </p:spTgt>
                                        </p:tgtEl>
                                      </p:cBhvr>
                                    </p:animEffect>
                                  </p:childTnLst>
                                </p:cTn>
                              </p:par>
                            </p:childTnLst>
                          </p:cTn>
                        </p:par>
                        <p:par>
                          <p:cTn id="16" fill="hold">
                            <p:stCondLst>
                              <p:cond delay="6000"/>
                            </p:stCondLst>
                            <p:childTnLst>
                              <p:par>
                                <p:cTn id="17" presetID="8" presetClass="entr" presetSubtype="16" fill="hold" nodeType="afterEffect">
                                  <p:stCondLst>
                                    <p:cond delay="0"/>
                                  </p:stCondLst>
                                  <p:childTnLst>
                                    <p:set>
                                      <p:cBhvr>
                                        <p:cTn id="18" dur="1" fill="hold">
                                          <p:stCondLst>
                                            <p:cond delay="0"/>
                                          </p:stCondLst>
                                        </p:cTn>
                                        <p:tgtEl>
                                          <p:spTgt spid="447491">
                                            <p:txEl>
                                              <p:pRg st="4" end="4"/>
                                            </p:txEl>
                                          </p:spTgt>
                                        </p:tgtEl>
                                        <p:attrNameLst>
                                          <p:attrName>style.visibility</p:attrName>
                                        </p:attrNameLst>
                                      </p:cBhvr>
                                      <p:to>
                                        <p:strVal val="visible"/>
                                      </p:to>
                                    </p:set>
                                    <p:animEffect transition="in" filter="diamond(in)">
                                      <p:cBhvr>
                                        <p:cTn id="19" dur="2000"/>
                                        <p:tgtEl>
                                          <p:spTgt spid="447491">
                                            <p:txEl>
                                              <p:pRg st="4" end="4"/>
                                            </p:txEl>
                                          </p:spTgt>
                                        </p:tgtEl>
                                      </p:cBhvr>
                                    </p:animEffect>
                                  </p:childTnLst>
                                </p:cTn>
                              </p:par>
                            </p:childTnLst>
                          </p:cTn>
                        </p:par>
                        <p:par>
                          <p:cTn id="20" fill="hold">
                            <p:stCondLst>
                              <p:cond delay="8000"/>
                            </p:stCondLst>
                            <p:childTnLst>
                              <p:par>
                                <p:cTn id="21" presetID="8" presetClass="entr" presetSubtype="16" fill="hold" nodeType="afterEffect">
                                  <p:stCondLst>
                                    <p:cond delay="0"/>
                                  </p:stCondLst>
                                  <p:childTnLst>
                                    <p:set>
                                      <p:cBhvr>
                                        <p:cTn id="22" dur="1" fill="hold">
                                          <p:stCondLst>
                                            <p:cond delay="0"/>
                                          </p:stCondLst>
                                        </p:cTn>
                                        <p:tgtEl>
                                          <p:spTgt spid="447491">
                                            <p:txEl>
                                              <p:pRg st="6" end="6"/>
                                            </p:txEl>
                                          </p:spTgt>
                                        </p:tgtEl>
                                        <p:attrNameLst>
                                          <p:attrName>style.visibility</p:attrName>
                                        </p:attrNameLst>
                                      </p:cBhvr>
                                      <p:to>
                                        <p:strVal val="visible"/>
                                      </p:to>
                                    </p:set>
                                    <p:animEffect transition="in" filter="diamond(in)">
                                      <p:cBhvr>
                                        <p:cTn id="23" dur="2000"/>
                                        <p:tgtEl>
                                          <p:spTgt spid="447491">
                                            <p:txEl>
                                              <p:pRg st="6" end="6"/>
                                            </p:txEl>
                                          </p:spTgt>
                                        </p:tgtEl>
                                      </p:cBhvr>
                                    </p:animEffect>
                                  </p:childTnLst>
                                </p:cTn>
                              </p:par>
                            </p:childTnLst>
                          </p:cTn>
                        </p:par>
                        <p:par>
                          <p:cTn id="24" fill="hold">
                            <p:stCondLst>
                              <p:cond delay="10000"/>
                            </p:stCondLst>
                            <p:childTnLst>
                              <p:par>
                                <p:cTn id="25" presetID="8" presetClass="entr" presetSubtype="16" fill="hold" nodeType="afterEffect">
                                  <p:stCondLst>
                                    <p:cond delay="0"/>
                                  </p:stCondLst>
                                  <p:childTnLst>
                                    <p:set>
                                      <p:cBhvr>
                                        <p:cTn id="26" dur="1" fill="hold">
                                          <p:stCondLst>
                                            <p:cond delay="0"/>
                                          </p:stCondLst>
                                        </p:cTn>
                                        <p:tgtEl>
                                          <p:spTgt spid="447491">
                                            <p:txEl>
                                              <p:pRg st="7" end="7"/>
                                            </p:txEl>
                                          </p:spTgt>
                                        </p:tgtEl>
                                        <p:attrNameLst>
                                          <p:attrName>style.visibility</p:attrName>
                                        </p:attrNameLst>
                                      </p:cBhvr>
                                      <p:to>
                                        <p:strVal val="visible"/>
                                      </p:to>
                                    </p:set>
                                    <p:animEffect transition="in" filter="diamond(in)">
                                      <p:cBhvr>
                                        <p:cTn id="27" dur="2000"/>
                                        <p:tgtEl>
                                          <p:spTgt spid="447491">
                                            <p:txEl>
                                              <p:pRg st="7" end="7"/>
                                            </p:txEl>
                                          </p:spTgt>
                                        </p:tgtEl>
                                      </p:cBhvr>
                                    </p:animEffect>
                                  </p:childTnLst>
                                </p:cTn>
                              </p:par>
                            </p:childTnLst>
                          </p:cTn>
                        </p:par>
                        <p:par>
                          <p:cTn id="28" fill="hold">
                            <p:stCondLst>
                              <p:cond delay="12000"/>
                            </p:stCondLst>
                            <p:childTnLst>
                              <p:par>
                                <p:cTn id="29" presetID="8" presetClass="entr" presetSubtype="16" fill="hold" nodeType="afterEffect">
                                  <p:stCondLst>
                                    <p:cond delay="0"/>
                                  </p:stCondLst>
                                  <p:childTnLst>
                                    <p:set>
                                      <p:cBhvr>
                                        <p:cTn id="30" dur="1" fill="hold">
                                          <p:stCondLst>
                                            <p:cond delay="0"/>
                                          </p:stCondLst>
                                        </p:cTn>
                                        <p:tgtEl>
                                          <p:spTgt spid="447491">
                                            <p:txEl>
                                              <p:pRg st="8" end="8"/>
                                            </p:txEl>
                                          </p:spTgt>
                                        </p:tgtEl>
                                        <p:attrNameLst>
                                          <p:attrName>style.visibility</p:attrName>
                                        </p:attrNameLst>
                                      </p:cBhvr>
                                      <p:to>
                                        <p:strVal val="visible"/>
                                      </p:to>
                                    </p:set>
                                    <p:animEffect transition="in" filter="diamond(in)">
                                      <p:cBhvr>
                                        <p:cTn id="31" dur="2000"/>
                                        <p:tgtEl>
                                          <p:spTgt spid="4474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solidFill>
            <a:schemeClr val="bg1">
              <a:lumMod val="75000"/>
            </a:schemeClr>
          </a:solidFill>
          <a:ln>
            <a:solidFill>
              <a:srgbClr val="FF0000"/>
            </a:solidFill>
          </a:ln>
        </p:spPr>
        <p:txBody>
          <a:bodyPr rtlCol="0">
            <a:normAutofit/>
          </a:bodyPr>
          <a:lstStyle/>
          <a:p>
            <a:pPr eaLnBrk="1" fontAlgn="auto" hangingPunct="1">
              <a:spcAft>
                <a:spcPts val="0"/>
              </a:spcAft>
              <a:defRPr/>
            </a:pPr>
            <a:r>
              <a:rPr lang="en-US" b="1" dirty="0" smtClean="0">
                <a:solidFill>
                  <a:srgbClr val="0066FF"/>
                </a:solidFill>
                <a:latin typeface="Times New Roman" pitchFamily="18" charset="0"/>
                <a:cs typeface="Times New Roman" pitchFamily="18" charset="0"/>
              </a:rPr>
              <a:t>Register Addressing Mode</a:t>
            </a:r>
          </a:p>
        </p:txBody>
      </p:sp>
      <p:sp>
        <p:nvSpPr>
          <p:cNvPr id="448515" name="Rectangle 3"/>
          <p:cNvSpPr>
            <a:spLocks noGrp="1" noChangeArrowheads="1"/>
          </p:cNvSpPr>
          <p:nvPr>
            <p:ph idx="1"/>
          </p:nvPr>
        </p:nvSpPr>
        <p:spPr>
          <a:xfrm>
            <a:off x="468313" y="1628775"/>
            <a:ext cx="8229600" cy="4525963"/>
          </a:xfrm>
          <a:solidFill>
            <a:schemeClr val="bg1">
              <a:lumMod val="75000"/>
            </a:schemeClr>
          </a:solidFill>
          <a:ln>
            <a:solidFill>
              <a:srgbClr val="FF0000"/>
            </a:solidFill>
          </a:ln>
        </p:spPr>
        <p:txBody>
          <a:bodyPr rtlCol="0">
            <a:normAutofit fontScale="92500" lnSpcReduction="10000"/>
          </a:bodyPr>
          <a:lstStyle/>
          <a:p>
            <a:pPr eaLnBrk="1" fontAlgn="auto" hangingPunct="1">
              <a:spcAft>
                <a:spcPts val="0"/>
              </a:spcAft>
              <a:defRPr/>
            </a:pPr>
            <a:r>
              <a:rPr lang="en-US" spc="-5" dirty="0" smtClean="0">
                <a:cs typeface="Calibri"/>
              </a:rPr>
              <a:t>In the Register Addressing mode, the </a:t>
            </a:r>
            <a:r>
              <a:rPr lang="en-US" spc="-10" dirty="0" smtClean="0">
                <a:cs typeface="Calibri"/>
              </a:rPr>
              <a:t>instruction involves  </a:t>
            </a:r>
            <a:r>
              <a:rPr lang="en-US" spc="-5" dirty="0" smtClean="0">
                <a:cs typeface="Calibri"/>
              </a:rPr>
              <a:t>transfer of </a:t>
            </a:r>
            <a:r>
              <a:rPr lang="en-US" spc="-10" dirty="0" smtClean="0">
                <a:cs typeface="Calibri"/>
              </a:rPr>
              <a:t>information </a:t>
            </a:r>
            <a:r>
              <a:rPr lang="en-US" spc="-5" dirty="0" smtClean="0">
                <a:cs typeface="Calibri"/>
              </a:rPr>
              <a:t>between</a:t>
            </a:r>
            <a:r>
              <a:rPr lang="en-US" spc="35" dirty="0" smtClean="0">
                <a:cs typeface="Calibri"/>
              </a:rPr>
              <a:t> </a:t>
            </a:r>
            <a:r>
              <a:rPr lang="en-US" spc="-5" dirty="0" smtClean="0">
                <a:cs typeface="Calibri"/>
              </a:rPr>
              <a:t>registers.</a:t>
            </a:r>
            <a:endParaRPr lang="en-US" dirty="0" smtClean="0">
              <a:cs typeface="Calibri"/>
            </a:endParaRPr>
          </a:p>
          <a:p>
            <a:pPr eaLnBrk="1" fontAlgn="auto" hangingPunct="1">
              <a:spcAft>
                <a:spcPts val="0"/>
              </a:spcAft>
              <a:buFontTx/>
              <a:buNone/>
              <a:defRPr/>
            </a:pPr>
            <a:endParaRPr lang="en-US" dirty="0" smtClean="0">
              <a:latin typeface="Times New Roman" pitchFamily="18" charset="0"/>
              <a:cs typeface="Times New Roman" pitchFamily="18" charset="0"/>
            </a:endParaRPr>
          </a:p>
          <a:p>
            <a:pPr eaLnBrk="1" fontAlgn="auto" hangingPunct="1">
              <a:spcAft>
                <a:spcPts val="0"/>
              </a:spcAft>
              <a:buFontTx/>
              <a:buNone/>
              <a:defRPr/>
            </a:pPr>
            <a:r>
              <a:rPr lang="en-US" dirty="0" smtClean="0">
                <a:latin typeface="Times New Roman" pitchFamily="18" charset="0"/>
                <a:cs typeface="Times New Roman" pitchFamily="18" charset="0"/>
              </a:rPr>
              <a:t>MOV	</a:t>
            </a:r>
            <a:r>
              <a:rPr lang="en-US" dirty="0" err="1" smtClean="0">
                <a:latin typeface="Times New Roman" pitchFamily="18" charset="0"/>
                <a:cs typeface="Times New Roman" pitchFamily="18" charset="0"/>
              </a:rPr>
              <a:t>Rn</a:t>
            </a:r>
            <a:r>
              <a:rPr lang="en-US" dirty="0" smtClean="0">
                <a:latin typeface="Times New Roman" pitchFamily="18" charset="0"/>
                <a:cs typeface="Times New Roman" pitchFamily="18" charset="0"/>
              </a:rPr>
              <a:t>, A		;n=0,..,7</a:t>
            </a:r>
          </a:p>
          <a:p>
            <a:pPr eaLnBrk="1" fontAlgn="auto" hangingPunct="1">
              <a:spcAft>
                <a:spcPts val="0"/>
              </a:spcAft>
              <a:buFontTx/>
              <a:buNone/>
              <a:defRPr/>
            </a:pPr>
            <a:r>
              <a:rPr lang="en-US" dirty="0" smtClean="0">
                <a:latin typeface="Times New Roman" pitchFamily="18" charset="0"/>
                <a:cs typeface="Times New Roman" pitchFamily="18" charset="0"/>
              </a:rPr>
              <a:t>ADD		A, </a:t>
            </a:r>
            <a:r>
              <a:rPr lang="en-US" dirty="0" err="1" smtClean="0">
                <a:latin typeface="Times New Roman" pitchFamily="18" charset="0"/>
                <a:cs typeface="Times New Roman" pitchFamily="18" charset="0"/>
              </a:rPr>
              <a:t>Rn</a:t>
            </a:r>
            <a:endParaRPr lang="en-US" dirty="0" smtClean="0">
              <a:latin typeface="Times New Roman" pitchFamily="18" charset="0"/>
              <a:cs typeface="Times New Roman" pitchFamily="18" charset="0"/>
            </a:endParaRPr>
          </a:p>
          <a:p>
            <a:pPr eaLnBrk="1" fontAlgn="auto" hangingPunct="1">
              <a:spcAft>
                <a:spcPts val="0"/>
              </a:spcAft>
              <a:buFontTx/>
              <a:buNone/>
              <a:defRPr/>
            </a:pPr>
            <a:r>
              <a:rPr lang="en-US" dirty="0" smtClean="0">
                <a:latin typeface="Times New Roman" pitchFamily="18" charset="0"/>
                <a:cs typeface="Times New Roman" pitchFamily="18" charset="0"/>
              </a:rPr>
              <a:t>MOV	DPL, R6</a:t>
            </a:r>
          </a:p>
          <a:p>
            <a:pPr eaLnBrk="1" fontAlgn="auto" hangingPunct="1">
              <a:spcAft>
                <a:spcPts val="0"/>
              </a:spcAft>
              <a:buFontTx/>
              <a:buNone/>
              <a:defRPr/>
            </a:pPr>
            <a:endParaRPr lang="en-US" dirty="0" smtClean="0">
              <a:latin typeface="Times New Roman" pitchFamily="18" charset="0"/>
              <a:cs typeface="Times New Roman" pitchFamily="18" charset="0"/>
            </a:endParaRPr>
          </a:p>
          <a:p>
            <a:pPr eaLnBrk="1" fontAlgn="auto" hangingPunct="1">
              <a:spcAft>
                <a:spcPts val="0"/>
              </a:spcAft>
              <a:buFontTx/>
              <a:buNone/>
              <a:defRPr/>
            </a:pPr>
            <a:r>
              <a:rPr lang="en-US" dirty="0" smtClean="0">
                <a:latin typeface="Times New Roman" pitchFamily="18" charset="0"/>
                <a:cs typeface="Times New Roman" pitchFamily="18" charset="0"/>
              </a:rPr>
              <a:t>MOV	DPTR, A</a:t>
            </a:r>
          </a:p>
          <a:p>
            <a:pPr eaLnBrk="1" fontAlgn="auto" hangingPunct="1">
              <a:spcAft>
                <a:spcPts val="0"/>
              </a:spcAft>
              <a:buFontTx/>
              <a:buNone/>
              <a:defRPr/>
            </a:pPr>
            <a:endParaRPr lang="en-US" dirty="0" smtClean="0">
              <a:latin typeface="Times New Roman" pitchFamily="18" charset="0"/>
              <a:cs typeface="Times New Roman" pitchFamily="18" charset="0"/>
            </a:endParaRPr>
          </a:p>
        </p:txBody>
      </p:sp>
      <p:sp>
        <p:nvSpPr>
          <p:cNvPr id="8" name="Slide Number Placeholder 7"/>
          <p:cNvSpPr>
            <a:spLocks noGrp="1"/>
          </p:cNvSpPr>
          <p:nvPr>
            <p:ph type="sldNum" sz="quarter" idx="12"/>
          </p:nvPr>
        </p:nvSpPr>
        <p:spPr/>
        <p:txBody>
          <a:bodyPr/>
          <a:lstStyle/>
          <a:p>
            <a:pPr>
              <a:defRPr/>
            </a:pPr>
            <a:fld id="{EE91E8E6-BE10-4962-A72E-F65C94F85C11}" type="slidenum">
              <a:rPr lang="en-US"/>
              <a:pPr>
                <a:defRPr/>
              </a:pPr>
              <a:t>47</a:t>
            </a:fld>
            <a:endParaRPr lang="en-US"/>
          </a:p>
        </p:txBody>
      </p:sp>
      <p:sp>
        <p:nvSpPr>
          <p:cNvPr id="448516" name="Line 4"/>
          <p:cNvSpPr>
            <a:spLocks noChangeShapeType="1"/>
          </p:cNvSpPr>
          <p:nvPr/>
        </p:nvSpPr>
        <p:spPr bwMode="auto">
          <a:xfrm>
            <a:off x="755650" y="3789363"/>
            <a:ext cx="3095625" cy="1584325"/>
          </a:xfrm>
          <a:prstGeom prst="line">
            <a:avLst/>
          </a:prstGeom>
          <a:noFill/>
          <a:ln w="76200">
            <a:solidFill>
              <a:srgbClr val="FF0000"/>
            </a:solidFill>
            <a:round/>
            <a:headEnd type="none" w="sm" len="sm"/>
            <a:tailEnd type="none" w="sm" len="sm"/>
          </a:ln>
        </p:spPr>
        <p:txBody>
          <a:bodyPr/>
          <a:lstStyle/>
          <a:p>
            <a:endParaRPr lang="en-US"/>
          </a:p>
        </p:txBody>
      </p:sp>
      <p:sp>
        <p:nvSpPr>
          <p:cNvPr id="448517" name="Line 5"/>
          <p:cNvSpPr>
            <a:spLocks noChangeShapeType="1"/>
          </p:cNvSpPr>
          <p:nvPr/>
        </p:nvSpPr>
        <p:spPr bwMode="auto">
          <a:xfrm rot="-3432365">
            <a:off x="793751" y="3656012"/>
            <a:ext cx="3097212" cy="1655763"/>
          </a:xfrm>
          <a:prstGeom prst="line">
            <a:avLst/>
          </a:prstGeom>
          <a:noFill/>
          <a:ln w="76200">
            <a:solidFill>
              <a:srgbClr val="FF0000"/>
            </a:solidFill>
            <a:round/>
            <a:headEnd type="none" w="sm" len="sm"/>
            <a:tailEnd type="none" w="sm" len="sm"/>
          </a:ln>
        </p:spPr>
        <p:txBody>
          <a:bodyPr/>
          <a:lstStyle/>
          <a:p>
            <a:endParaRPr lang="en-US"/>
          </a:p>
        </p:txBody>
      </p:sp>
      <p:sp>
        <p:nvSpPr>
          <p:cNvPr id="9" name="object 5"/>
          <p:cNvSpPr/>
          <p:nvPr/>
        </p:nvSpPr>
        <p:spPr>
          <a:xfrm>
            <a:off x="500034" y="3000372"/>
            <a:ext cx="7715291" cy="3071825"/>
          </a:xfrm>
          <a:prstGeom prst="rect">
            <a:avLst/>
          </a:prstGeom>
          <a:blipFill>
            <a:blip r:embed="rId2" cstate="print"/>
            <a:stretch>
              <a:fillRect/>
            </a:stretch>
          </a:blipFill>
        </p:spPr>
        <p:txBody>
          <a:bodyPr wrap="square" lIns="0" tIns="0" rIns="0" bIns="0" rtlCol="0"/>
          <a:lstStyle/>
          <a:p>
            <a:endParaRPr/>
          </a:p>
        </p:txBody>
      </p:sp>
      <p:sp>
        <p:nvSpPr>
          <p:cNvPr id="10" name="Date Placeholder 9"/>
          <p:cNvSpPr>
            <a:spLocks noGrp="1"/>
          </p:cNvSpPr>
          <p:nvPr>
            <p:ph type="dt" sz="half" idx="10"/>
          </p:nvPr>
        </p:nvSpPr>
        <p:spPr/>
        <p:txBody>
          <a:bodyPr/>
          <a:lstStyle/>
          <a:p>
            <a:pPr>
              <a:defRPr/>
            </a:pPr>
            <a:fld id="{A63A535D-9CFA-451C-BC1A-61416B2FACCF}" type="datetime2">
              <a:rPr lang="en-US" smtClean="0"/>
              <a:pPr>
                <a:defRPr/>
              </a:pPr>
              <a:t>Friday, August 27, 2021</a:t>
            </a:fld>
            <a:endParaRPr lang="en-US"/>
          </a:p>
        </p:txBody>
      </p:sp>
      <p:sp>
        <p:nvSpPr>
          <p:cNvPr id="11" name="Footer Placeholder 10"/>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8515">
                                            <p:txEl>
                                              <p:pRg st="2" end="2"/>
                                            </p:txEl>
                                          </p:spTgt>
                                        </p:tgtEl>
                                        <p:attrNameLst>
                                          <p:attrName>style.visibility</p:attrName>
                                        </p:attrNameLst>
                                      </p:cBhvr>
                                      <p:to>
                                        <p:strVal val="visible"/>
                                      </p:to>
                                    </p:set>
                                    <p:animEffect transition="in" filter="blinds(horizontal)">
                                      <p:cBhvr>
                                        <p:cTn id="7" dur="500"/>
                                        <p:tgtEl>
                                          <p:spTgt spid="44851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48515">
                                            <p:txEl>
                                              <p:pRg st="0" end="0"/>
                                            </p:txEl>
                                          </p:spTgt>
                                        </p:tgtEl>
                                        <p:attrNameLst>
                                          <p:attrName>style.visibility</p:attrName>
                                        </p:attrNameLst>
                                      </p:cBhvr>
                                      <p:to>
                                        <p:strVal val="visible"/>
                                      </p:to>
                                    </p:set>
                                    <p:animEffect transition="in" filter="blinds(horizontal)">
                                      <p:cBhvr>
                                        <p:cTn id="12" dur="500"/>
                                        <p:tgtEl>
                                          <p:spTgt spid="448515">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48515">
                                            <p:txEl>
                                              <p:pRg st="3" end="3"/>
                                            </p:txEl>
                                          </p:spTgt>
                                        </p:tgtEl>
                                        <p:attrNameLst>
                                          <p:attrName>style.visibility</p:attrName>
                                        </p:attrNameLst>
                                      </p:cBhvr>
                                      <p:to>
                                        <p:strVal val="visible"/>
                                      </p:to>
                                    </p:set>
                                    <p:animEffect transition="in" filter="blinds(horizontal)">
                                      <p:cBhvr>
                                        <p:cTn id="15" dur="500"/>
                                        <p:tgtEl>
                                          <p:spTgt spid="448515">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48515">
                                            <p:txEl>
                                              <p:pRg st="4" end="4"/>
                                            </p:txEl>
                                          </p:spTgt>
                                        </p:tgtEl>
                                        <p:attrNameLst>
                                          <p:attrName>style.visibility</p:attrName>
                                        </p:attrNameLst>
                                      </p:cBhvr>
                                      <p:to>
                                        <p:strVal val="visible"/>
                                      </p:to>
                                    </p:set>
                                    <p:animEffect transition="in" filter="blinds(horizontal)">
                                      <p:cBhvr>
                                        <p:cTn id="18" dur="500"/>
                                        <p:tgtEl>
                                          <p:spTgt spid="44851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48515">
                                            <p:txEl>
                                              <p:pRg st="6" end="6"/>
                                            </p:txEl>
                                          </p:spTgt>
                                        </p:tgtEl>
                                        <p:attrNameLst>
                                          <p:attrName>style.visibility</p:attrName>
                                        </p:attrNameLst>
                                      </p:cBhvr>
                                      <p:to>
                                        <p:strVal val="visible"/>
                                      </p:to>
                                    </p:set>
                                    <p:animEffect transition="in" filter="blinds(horizontal)">
                                      <p:cBhvr>
                                        <p:cTn id="23" dur="500"/>
                                        <p:tgtEl>
                                          <p:spTgt spid="448515">
                                            <p:txEl>
                                              <p:pRg st="6" end="6"/>
                                            </p:txEl>
                                          </p:spTgt>
                                        </p:tgtEl>
                                      </p:cBhvr>
                                    </p:animEffect>
                                  </p:childTnLst>
                                </p:cTn>
                              </p:par>
                            </p:childTnLst>
                          </p:cTn>
                        </p:par>
                        <p:par>
                          <p:cTn id="24" fill="hold">
                            <p:stCondLst>
                              <p:cond delay="500"/>
                            </p:stCondLst>
                            <p:childTnLst>
                              <p:par>
                                <p:cTn id="25" presetID="2" presetClass="entr" presetSubtype="4" fill="hold" grpId="0" nodeType="afterEffect">
                                  <p:stCondLst>
                                    <p:cond delay="0"/>
                                  </p:stCondLst>
                                  <p:childTnLst>
                                    <p:set>
                                      <p:cBhvr>
                                        <p:cTn id="26" dur="1" fill="hold">
                                          <p:stCondLst>
                                            <p:cond delay="0"/>
                                          </p:stCondLst>
                                        </p:cTn>
                                        <p:tgtEl>
                                          <p:spTgt spid="448517"/>
                                        </p:tgtEl>
                                        <p:attrNameLst>
                                          <p:attrName>style.visibility</p:attrName>
                                        </p:attrNameLst>
                                      </p:cBhvr>
                                      <p:to>
                                        <p:strVal val="visible"/>
                                      </p:to>
                                    </p:set>
                                    <p:anim calcmode="lin" valueType="num">
                                      <p:cBhvr additive="base">
                                        <p:cTn id="27" dur="500" fill="hold"/>
                                        <p:tgtEl>
                                          <p:spTgt spid="448517"/>
                                        </p:tgtEl>
                                        <p:attrNameLst>
                                          <p:attrName>ppt_x</p:attrName>
                                        </p:attrNameLst>
                                      </p:cBhvr>
                                      <p:tavLst>
                                        <p:tav tm="0">
                                          <p:val>
                                            <p:strVal val="#ppt_x"/>
                                          </p:val>
                                        </p:tav>
                                        <p:tav tm="100000">
                                          <p:val>
                                            <p:strVal val="#ppt_x"/>
                                          </p:val>
                                        </p:tav>
                                      </p:tavLst>
                                    </p:anim>
                                    <p:anim calcmode="lin" valueType="num">
                                      <p:cBhvr additive="base">
                                        <p:cTn id="28" dur="500" fill="hold"/>
                                        <p:tgtEl>
                                          <p:spTgt spid="448517"/>
                                        </p:tgtEl>
                                        <p:attrNameLst>
                                          <p:attrName>ppt_y</p:attrName>
                                        </p:attrNameLst>
                                      </p:cBhvr>
                                      <p:tavLst>
                                        <p:tav tm="0">
                                          <p:val>
                                            <p:strVal val="1+#ppt_h/2"/>
                                          </p:val>
                                        </p:tav>
                                        <p:tav tm="100000">
                                          <p:val>
                                            <p:strVal val="#ppt_y"/>
                                          </p:val>
                                        </p:tav>
                                      </p:tavLst>
                                    </p:anim>
                                  </p:childTnLst>
                                </p:cTn>
                              </p:par>
                            </p:childTnLst>
                          </p:cTn>
                        </p:par>
                        <p:par>
                          <p:cTn id="29" fill="hold">
                            <p:stCondLst>
                              <p:cond delay="1000"/>
                            </p:stCondLst>
                            <p:childTnLst>
                              <p:par>
                                <p:cTn id="30" presetID="2" presetClass="entr" presetSubtype="4" fill="hold" grpId="0" nodeType="afterEffect">
                                  <p:stCondLst>
                                    <p:cond delay="0"/>
                                  </p:stCondLst>
                                  <p:childTnLst>
                                    <p:set>
                                      <p:cBhvr>
                                        <p:cTn id="31" dur="1" fill="hold">
                                          <p:stCondLst>
                                            <p:cond delay="0"/>
                                          </p:stCondLst>
                                        </p:cTn>
                                        <p:tgtEl>
                                          <p:spTgt spid="448516"/>
                                        </p:tgtEl>
                                        <p:attrNameLst>
                                          <p:attrName>style.visibility</p:attrName>
                                        </p:attrNameLst>
                                      </p:cBhvr>
                                      <p:to>
                                        <p:strVal val="visible"/>
                                      </p:to>
                                    </p:set>
                                    <p:anim calcmode="lin" valueType="num">
                                      <p:cBhvr additive="base">
                                        <p:cTn id="32" dur="500" fill="hold"/>
                                        <p:tgtEl>
                                          <p:spTgt spid="448516"/>
                                        </p:tgtEl>
                                        <p:attrNameLst>
                                          <p:attrName>ppt_x</p:attrName>
                                        </p:attrNameLst>
                                      </p:cBhvr>
                                      <p:tavLst>
                                        <p:tav tm="0">
                                          <p:val>
                                            <p:strVal val="#ppt_x"/>
                                          </p:val>
                                        </p:tav>
                                        <p:tav tm="100000">
                                          <p:val>
                                            <p:strVal val="#ppt_x"/>
                                          </p:val>
                                        </p:tav>
                                      </p:tavLst>
                                    </p:anim>
                                    <p:anim calcmode="lin" valueType="num">
                                      <p:cBhvr additive="base">
                                        <p:cTn id="33" dur="500" fill="hold"/>
                                        <p:tgtEl>
                                          <p:spTgt spid="4485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6" grpId="0" animBg="1"/>
      <p:bldP spid="44851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142875"/>
            <a:ext cx="8229600" cy="654050"/>
          </a:xfrm>
          <a:solidFill>
            <a:schemeClr val="bg1">
              <a:lumMod val="75000"/>
            </a:schemeClr>
          </a:solidFill>
          <a:ln>
            <a:solidFill>
              <a:srgbClr val="FF0000"/>
            </a:solidFill>
          </a:ln>
        </p:spPr>
        <p:txBody>
          <a:bodyPr rtlCol="0">
            <a:normAutofit fontScale="90000"/>
          </a:bodyPr>
          <a:lstStyle/>
          <a:p>
            <a:pPr eaLnBrk="1" fontAlgn="auto" hangingPunct="1">
              <a:spcAft>
                <a:spcPts val="0"/>
              </a:spcAft>
              <a:defRPr/>
            </a:pPr>
            <a:r>
              <a:rPr lang="en-US" b="1" dirty="0" smtClean="0">
                <a:solidFill>
                  <a:srgbClr val="0066FF"/>
                </a:solidFill>
                <a:latin typeface="Times New Roman" pitchFamily="18" charset="0"/>
                <a:cs typeface="Times New Roman" pitchFamily="18" charset="0"/>
              </a:rPr>
              <a:t>Direct Addressing Mode</a:t>
            </a:r>
          </a:p>
        </p:txBody>
      </p:sp>
      <p:sp>
        <p:nvSpPr>
          <p:cNvPr id="47107" name="Rectangle 3"/>
          <p:cNvSpPr>
            <a:spLocks noGrp="1" noChangeArrowheads="1"/>
          </p:cNvSpPr>
          <p:nvPr>
            <p:ph idx="1"/>
          </p:nvPr>
        </p:nvSpPr>
        <p:spPr>
          <a:xfrm>
            <a:off x="457200" y="1071563"/>
            <a:ext cx="8229600" cy="4143387"/>
          </a:xfrm>
          <a:solidFill>
            <a:schemeClr val="bg1">
              <a:lumMod val="75000"/>
            </a:schemeClr>
          </a:solidFill>
          <a:ln>
            <a:solidFill>
              <a:srgbClr val="FF0000"/>
            </a:solidFill>
          </a:ln>
        </p:spPr>
        <p:txBody>
          <a:bodyPr rtlCol="0">
            <a:normAutofit/>
          </a:bodyPr>
          <a:lstStyle/>
          <a:p>
            <a:pPr algn="just" eaLnBrk="1" fontAlgn="auto" hangingPunct="1">
              <a:lnSpc>
                <a:spcPct val="80000"/>
              </a:lnSpc>
              <a:spcAft>
                <a:spcPts val="0"/>
              </a:spcAft>
              <a:buFont typeface="Arial" pitchFamily="34" charset="0"/>
              <a:buChar char="•"/>
              <a:defRPr/>
            </a:pPr>
            <a:r>
              <a:rPr lang="en-US" sz="2800" dirty="0" smtClean="0">
                <a:cs typeface="Times New Roman" pitchFamily="18" charset="0"/>
              </a:rPr>
              <a:t>The entire of 128 bytes of RAM can be accessed using direct addressing mode, it is most often used to access   RAM loc. 30 – 7FH.</a:t>
            </a:r>
          </a:p>
          <a:p>
            <a:pPr algn="just" eaLnBrk="1" fontAlgn="auto" hangingPunct="1">
              <a:lnSpc>
                <a:spcPct val="80000"/>
              </a:lnSpc>
              <a:spcAft>
                <a:spcPts val="0"/>
              </a:spcAft>
              <a:buFont typeface="Arial" pitchFamily="34" charset="0"/>
              <a:buChar char="•"/>
              <a:defRPr/>
            </a:pPr>
            <a:r>
              <a:rPr lang="en-US" sz="2800" dirty="0" smtClean="0">
                <a:cs typeface="Times New Roman" pitchFamily="18" charset="0"/>
              </a:rPr>
              <a:t>Only internal Data RAM and SFRs can be directly addressed</a:t>
            </a:r>
          </a:p>
          <a:p>
            <a:pPr algn="just" eaLnBrk="1" fontAlgn="auto" hangingPunct="1">
              <a:lnSpc>
                <a:spcPct val="80000"/>
              </a:lnSpc>
              <a:spcAft>
                <a:spcPts val="0"/>
              </a:spcAft>
              <a:buFont typeface="Arial" pitchFamily="34" charset="0"/>
              <a:buChar char="•"/>
              <a:defRPr/>
            </a:pPr>
            <a:r>
              <a:rPr lang="en-US" sz="2800" spc="-10" dirty="0" smtClean="0">
                <a:cs typeface="Calibri"/>
              </a:rPr>
              <a:t>This </a:t>
            </a:r>
            <a:r>
              <a:rPr lang="en-US" sz="2800" spc="-5" dirty="0" smtClean="0">
                <a:cs typeface="Calibri"/>
              </a:rPr>
              <a:t>mode </a:t>
            </a:r>
            <a:r>
              <a:rPr lang="en-US" sz="2800" spc="-10" dirty="0" smtClean="0">
                <a:cs typeface="Calibri"/>
              </a:rPr>
              <a:t>allows </a:t>
            </a:r>
            <a:r>
              <a:rPr lang="en-US" sz="2800" spc="-5" dirty="0" smtClean="0">
                <a:cs typeface="Calibri"/>
              </a:rPr>
              <a:t>you to </a:t>
            </a:r>
            <a:r>
              <a:rPr lang="en-US" sz="2800" spc="-10" dirty="0" smtClean="0">
                <a:cs typeface="Calibri"/>
              </a:rPr>
              <a:t>specify </a:t>
            </a:r>
            <a:r>
              <a:rPr lang="en-US" sz="2800" spc="-5" dirty="0" smtClean="0">
                <a:cs typeface="Calibri"/>
              </a:rPr>
              <a:t>the operand by </a:t>
            </a:r>
            <a:r>
              <a:rPr lang="en-US" sz="2800" spc="-10" dirty="0" smtClean="0">
                <a:cs typeface="Calibri"/>
              </a:rPr>
              <a:t>giving its  </a:t>
            </a:r>
            <a:r>
              <a:rPr lang="en-US" sz="2800" spc="-5" dirty="0" smtClean="0">
                <a:cs typeface="Calibri"/>
              </a:rPr>
              <a:t>actual memory</a:t>
            </a:r>
            <a:r>
              <a:rPr lang="en-US" sz="2800" spc="-10" dirty="0" smtClean="0">
                <a:cs typeface="Calibri"/>
              </a:rPr>
              <a:t> </a:t>
            </a:r>
            <a:r>
              <a:rPr lang="en-US" sz="2800" spc="-5" dirty="0" smtClean="0">
                <a:cs typeface="Calibri"/>
              </a:rPr>
              <a:t>address</a:t>
            </a:r>
            <a:endParaRPr lang="en-US" sz="2800" dirty="0" smtClean="0">
              <a:cs typeface="Calibri"/>
            </a:endParaRPr>
          </a:p>
          <a:p>
            <a:pPr algn="just" eaLnBrk="1" fontAlgn="auto" hangingPunct="1">
              <a:lnSpc>
                <a:spcPct val="80000"/>
              </a:lnSpc>
              <a:spcAft>
                <a:spcPts val="0"/>
              </a:spcAft>
              <a:buFont typeface="Arial" pitchFamily="34" charset="0"/>
              <a:buChar char="•"/>
              <a:defRPr/>
            </a:pPr>
            <a:endParaRPr lang="en-US" dirty="0" smtClean="0">
              <a:latin typeface="Times New Roman" pitchFamily="18" charset="0"/>
              <a:cs typeface="Times New Roman" pitchFamily="18" charset="0"/>
            </a:endParaRPr>
          </a:p>
          <a:p>
            <a:pPr eaLnBrk="1" fontAlgn="auto" hangingPunct="1">
              <a:lnSpc>
                <a:spcPct val="80000"/>
              </a:lnSpc>
              <a:spcAft>
                <a:spcPts val="0"/>
              </a:spcAft>
              <a:buFontTx/>
              <a:buNone/>
              <a:defRPr/>
            </a:pPr>
            <a:r>
              <a:rPr lang="en-US" dirty="0" smtClean="0">
                <a:latin typeface="Times New Roman" pitchFamily="18" charset="0"/>
                <a:cs typeface="Times New Roman" pitchFamily="18" charset="0"/>
              </a:rPr>
              <a:t>MOV	R0, 40H</a:t>
            </a:r>
          </a:p>
          <a:p>
            <a:pPr eaLnBrk="1" fontAlgn="auto" hangingPunct="1">
              <a:lnSpc>
                <a:spcPct val="80000"/>
              </a:lnSpc>
              <a:spcAft>
                <a:spcPts val="0"/>
              </a:spcAft>
              <a:buFontTx/>
              <a:buNone/>
              <a:defRPr/>
            </a:pPr>
            <a:r>
              <a:rPr lang="en-US" dirty="0" smtClean="0">
                <a:latin typeface="Times New Roman" pitchFamily="18" charset="0"/>
                <a:cs typeface="Times New Roman" pitchFamily="18" charset="0"/>
              </a:rPr>
              <a:t>MOV	56H,</a:t>
            </a:r>
            <a:r>
              <a:rPr lang="fa-IR"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a:t>
            </a:r>
            <a:endParaRPr lang="en-US" dirty="0" smtClean="0">
              <a:solidFill>
                <a:srgbClr val="FF0000"/>
              </a:solidFill>
              <a:latin typeface="Times New Roman" pitchFamily="18" charset="0"/>
              <a:cs typeface="Times New Roman" pitchFamily="18" charset="0"/>
            </a:endParaRPr>
          </a:p>
          <a:p>
            <a:pPr eaLnBrk="1" fontAlgn="auto" hangingPunct="1">
              <a:lnSpc>
                <a:spcPct val="80000"/>
              </a:lnSpc>
              <a:spcAft>
                <a:spcPts val="0"/>
              </a:spcAft>
              <a:buFontTx/>
              <a:buNone/>
              <a:defRPr/>
            </a:pPr>
            <a:endParaRPr lang="en-US" sz="2000" b="1" dirty="0" smtClean="0">
              <a:solidFill>
                <a:srgbClr val="000000"/>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pPr>
              <a:defRPr/>
            </a:pPr>
            <a:fld id="{656715E1-54A4-4786-B76B-9DE9110B61AD}" type="slidenum">
              <a:rPr lang="en-US"/>
              <a:pPr>
                <a:defRPr/>
              </a:pPr>
              <a:t>48</a:t>
            </a:fld>
            <a:endParaRPr lang="en-US"/>
          </a:p>
        </p:txBody>
      </p:sp>
      <p:sp>
        <p:nvSpPr>
          <p:cNvPr id="8" name="object 5"/>
          <p:cNvSpPr/>
          <p:nvPr/>
        </p:nvSpPr>
        <p:spPr>
          <a:xfrm>
            <a:off x="571472" y="3857628"/>
            <a:ext cx="6191249" cy="1285862"/>
          </a:xfrm>
          <a:prstGeom prst="rect">
            <a:avLst/>
          </a:prstGeom>
          <a:blipFill>
            <a:blip r:embed="rId2" cstate="print"/>
            <a:stretch>
              <a:fillRect/>
            </a:stretch>
          </a:blipFill>
        </p:spPr>
        <p:txBody>
          <a:bodyPr wrap="square" lIns="0" tIns="0" rIns="0" bIns="0" rtlCol="0"/>
          <a:lstStyle/>
          <a:p>
            <a:endParaRPr/>
          </a:p>
        </p:txBody>
      </p:sp>
      <p:sp>
        <p:nvSpPr>
          <p:cNvPr id="6" name="Date Placeholder 5"/>
          <p:cNvSpPr>
            <a:spLocks noGrp="1"/>
          </p:cNvSpPr>
          <p:nvPr>
            <p:ph type="dt" sz="half" idx="10"/>
          </p:nvPr>
        </p:nvSpPr>
        <p:spPr/>
        <p:txBody>
          <a:bodyPr/>
          <a:lstStyle/>
          <a:p>
            <a:pPr>
              <a:defRPr/>
            </a:pPr>
            <a:fld id="{A214BA98-533A-47D5-9C9E-3054E1D5A745}" type="datetime2">
              <a:rPr lang="en-US" smtClean="0"/>
              <a:pPr>
                <a:defRPr/>
              </a:pPr>
              <a:t>Friday, August 27, 2021</a:t>
            </a:fld>
            <a:endParaRPr lang="en-US"/>
          </a:p>
        </p:txBody>
      </p:sp>
      <p:sp>
        <p:nvSpPr>
          <p:cNvPr id="9" name="Footer Placeholder 8"/>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68313" y="0"/>
            <a:ext cx="8229600" cy="642938"/>
          </a:xfrm>
          <a:solidFill>
            <a:schemeClr val="bg1">
              <a:lumMod val="75000"/>
            </a:schemeClr>
          </a:solidFill>
          <a:ln>
            <a:solidFill>
              <a:srgbClr val="FF0000"/>
            </a:solidFill>
          </a:ln>
        </p:spPr>
        <p:txBody>
          <a:bodyPr rtlCol="0">
            <a:normAutofit fontScale="90000"/>
          </a:bodyPr>
          <a:lstStyle/>
          <a:p>
            <a:pPr eaLnBrk="1" fontAlgn="auto" hangingPunct="1">
              <a:spcAft>
                <a:spcPts val="0"/>
              </a:spcAft>
              <a:defRPr/>
            </a:pPr>
            <a:r>
              <a:rPr lang="en-US" sz="4000" b="1" dirty="0" smtClean="0">
                <a:solidFill>
                  <a:srgbClr val="0066FF"/>
                </a:solidFill>
                <a:latin typeface="Times New Roman" pitchFamily="18" charset="0"/>
                <a:cs typeface="Times New Roman" pitchFamily="18" charset="0"/>
              </a:rPr>
              <a:t>Register Indirect Addressing Mode</a:t>
            </a:r>
          </a:p>
        </p:txBody>
      </p:sp>
      <p:sp>
        <p:nvSpPr>
          <p:cNvPr id="451587" name="Rectangle 3"/>
          <p:cNvSpPr>
            <a:spLocks noGrp="1" noChangeArrowheads="1"/>
          </p:cNvSpPr>
          <p:nvPr>
            <p:ph idx="1"/>
          </p:nvPr>
        </p:nvSpPr>
        <p:spPr>
          <a:xfrm>
            <a:off x="500034" y="928670"/>
            <a:ext cx="8229600" cy="5718176"/>
          </a:xfrm>
          <a:solidFill>
            <a:schemeClr val="bg1">
              <a:lumMod val="75000"/>
            </a:schemeClr>
          </a:solidFill>
          <a:ln>
            <a:solidFill>
              <a:srgbClr val="FF0000"/>
            </a:solidFill>
          </a:ln>
        </p:spPr>
        <p:txBody>
          <a:bodyPr rtlCol="0">
            <a:normAutofit fontScale="70000" lnSpcReduction="20000"/>
          </a:bodyPr>
          <a:lstStyle/>
          <a:p>
            <a:pPr eaLnBrk="1" fontAlgn="auto" hangingPunct="1">
              <a:lnSpc>
                <a:spcPct val="80000"/>
              </a:lnSpc>
              <a:spcAft>
                <a:spcPts val="0"/>
              </a:spcAft>
              <a:buFont typeface="Arial" pitchFamily="34" charset="0"/>
              <a:buChar char="•"/>
              <a:defRPr/>
            </a:pPr>
            <a:endParaRPr lang="en-US" sz="3700" dirty="0" smtClean="0">
              <a:cs typeface="Times New Roman" pitchFamily="18" charset="0"/>
            </a:endParaRPr>
          </a:p>
          <a:p>
            <a:pPr eaLnBrk="1" fontAlgn="auto" hangingPunct="1">
              <a:lnSpc>
                <a:spcPct val="80000"/>
              </a:lnSpc>
              <a:spcAft>
                <a:spcPts val="0"/>
              </a:spcAft>
              <a:buFont typeface="Arial" pitchFamily="34" charset="0"/>
              <a:buChar char="•"/>
              <a:defRPr/>
            </a:pPr>
            <a:r>
              <a:rPr lang="en-US" sz="3700" dirty="0" smtClean="0">
                <a:cs typeface="Times New Roman" pitchFamily="18" charset="0"/>
              </a:rPr>
              <a:t>In this mode, register is used as a pointer to the data. </a:t>
            </a:r>
          </a:p>
          <a:p>
            <a:pPr eaLnBrk="1" fontAlgn="auto" hangingPunct="1">
              <a:lnSpc>
                <a:spcPct val="80000"/>
              </a:lnSpc>
              <a:spcAft>
                <a:spcPts val="0"/>
              </a:spcAft>
              <a:buFont typeface="Arial" pitchFamily="34" charset="0"/>
              <a:buChar char="•"/>
              <a:defRPr/>
            </a:pPr>
            <a:r>
              <a:rPr lang="en-US" sz="3700" dirty="0" smtClean="0">
                <a:cs typeface="Times New Roman" pitchFamily="18" charset="0"/>
              </a:rPr>
              <a:t>The operands are specified using the 8-bit address</a:t>
            </a:r>
          </a:p>
          <a:p>
            <a:pPr eaLnBrk="1" fontAlgn="auto" hangingPunct="1">
              <a:lnSpc>
                <a:spcPct val="80000"/>
              </a:lnSpc>
              <a:spcAft>
                <a:spcPts val="0"/>
              </a:spcAft>
              <a:buFont typeface="Arial" pitchFamily="34" charset="0"/>
              <a:buChar char="•"/>
              <a:defRPr/>
            </a:pPr>
            <a:r>
              <a:rPr lang="en-US" sz="3700" dirty="0" smtClean="0">
                <a:cs typeface="Times New Roman" pitchFamily="18" charset="0"/>
              </a:rPr>
              <a:t>The address register for 16-bit addresses can only be Data pointer (</a:t>
            </a:r>
            <a:r>
              <a:rPr lang="en-US" sz="3700" dirty="0" smtClean="0">
                <a:solidFill>
                  <a:srgbClr val="0066FF"/>
                </a:solidFill>
                <a:cs typeface="Times New Roman" pitchFamily="18" charset="0"/>
              </a:rPr>
              <a:t>DPTR</a:t>
            </a:r>
            <a:r>
              <a:rPr lang="en-US" sz="3700" dirty="0" smtClean="0">
                <a:cs typeface="Times New Roman" pitchFamily="18" charset="0"/>
              </a:rPr>
              <a:t>)</a:t>
            </a:r>
          </a:p>
          <a:p>
            <a:pPr marL="355600">
              <a:spcBef>
                <a:spcPts val="670"/>
              </a:spcBef>
              <a:tabLst>
                <a:tab pos="355600" algn="l"/>
                <a:tab pos="356235" algn="l"/>
              </a:tabLst>
            </a:pPr>
            <a:r>
              <a:rPr lang="en-US" sz="3700" spc="-10" dirty="0" smtClean="0">
                <a:cs typeface="Calibri"/>
              </a:rPr>
              <a:t>Only </a:t>
            </a:r>
            <a:r>
              <a:rPr lang="en-US" sz="3700" spc="-5" dirty="0" smtClean="0">
                <a:cs typeface="Calibri"/>
              </a:rPr>
              <a:t>register </a:t>
            </a:r>
            <a:r>
              <a:rPr lang="en-US" sz="3700" b="1" spc="-5" dirty="0" smtClean="0">
                <a:cs typeface="Calibri"/>
              </a:rPr>
              <a:t>R0 </a:t>
            </a:r>
            <a:r>
              <a:rPr lang="en-US" sz="3700" spc="-5" dirty="0" smtClean="0">
                <a:cs typeface="Calibri"/>
              </a:rPr>
              <a:t>and </a:t>
            </a:r>
            <a:r>
              <a:rPr lang="en-US" sz="3700" b="1" spc="-5" dirty="0" smtClean="0">
                <a:cs typeface="Calibri"/>
              </a:rPr>
              <a:t>R1 </a:t>
            </a:r>
            <a:r>
              <a:rPr lang="en-US" sz="3700" spc="-5" dirty="0" smtClean="0">
                <a:cs typeface="Calibri"/>
              </a:rPr>
              <a:t>are used for </a:t>
            </a:r>
            <a:r>
              <a:rPr lang="en-US" sz="3700" spc="-10" dirty="0" smtClean="0">
                <a:cs typeface="Calibri"/>
              </a:rPr>
              <a:t>this</a:t>
            </a:r>
            <a:r>
              <a:rPr lang="en-US" sz="3700" spc="105" dirty="0" smtClean="0">
                <a:cs typeface="Calibri"/>
              </a:rPr>
              <a:t> </a:t>
            </a:r>
            <a:r>
              <a:rPr lang="en-US" sz="3700" spc="-10" dirty="0" smtClean="0">
                <a:cs typeface="Calibri"/>
              </a:rPr>
              <a:t>purpose.</a:t>
            </a:r>
            <a:endParaRPr lang="en-US" sz="3700" dirty="0" smtClean="0">
              <a:cs typeface="Calibri"/>
            </a:endParaRPr>
          </a:p>
          <a:p>
            <a:pPr marL="356235" marR="5080" indent="-343535">
              <a:spcBef>
                <a:spcPts val="670"/>
              </a:spcBef>
              <a:buFont typeface="Calibri"/>
              <a:buChar char="•"/>
              <a:tabLst>
                <a:tab pos="355600" algn="l"/>
                <a:tab pos="356235" algn="l"/>
                <a:tab pos="922655" algn="l"/>
                <a:tab pos="1286510" algn="l"/>
                <a:tab pos="1856739" algn="l"/>
                <a:tab pos="3046095" algn="l"/>
                <a:tab pos="3596004" algn="l"/>
                <a:tab pos="4472305" algn="l"/>
                <a:tab pos="4966335" algn="l"/>
                <a:tab pos="5795645" algn="l"/>
                <a:tab pos="6465570" algn="l"/>
                <a:tab pos="7774940" algn="l"/>
                <a:tab pos="8258175" algn="l"/>
              </a:tabLst>
            </a:pPr>
            <a:r>
              <a:rPr lang="en-US" sz="3700" b="1" spc="-10" dirty="0" smtClean="0">
                <a:cs typeface="Calibri"/>
              </a:rPr>
              <a:t>R</a:t>
            </a:r>
            <a:r>
              <a:rPr lang="en-US" sz="3700" b="1" spc="-5" dirty="0" smtClean="0">
                <a:cs typeface="Calibri"/>
              </a:rPr>
              <a:t>2-</a:t>
            </a:r>
            <a:r>
              <a:rPr lang="en-US" sz="3700" b="1" dirty="0" smtClean="0">
                <a:cs typeface="Calibri"/>
              </a:rPr>
              <a:t>R</a:t>
            </a:r>
            <a:r>
              <a:rPr lang="en-US" sz="3700" b="1" spc="-5" dirty="0" smtClean="0">
                <a:cs typeface="Calibri"/>
              </a:rPr>
              <a:t>7 </a:t>
            </a:r>
            <a:r>
              <a:rPr lang="en-US" sz="3700" dirty="0" smtClean="0">
                <a:cs typeface="Calibri"/>
              </a:rPr>
              <a:t>ca</a:t>
            </a:r>
            <a:r>
              <a:rPr lang="en-US" sz="3700" spc="-10" dirty="0" smtClean="0">
                <a:cs typeface="Calibri"/>
              </a:rPr>
              <a:t>nn</a:t>
            </a:r>
            <a:r>
              <a:rPr lang="en-US" sz="3700" spc="-5" dirty="0" smtClean="0">
                <a:cs typeface="Calibri"/>
              </a:rPr>
              <a:t>ot </a:t>
            </a:r>
            <a:r>
              <a:rPr lang="en-US" sz="3700" spc="-10" dirty="0" smtClean="0">
                <a:cs typeface="Calibri"/>
              </a:rPr>
              <a:t>b</a:t>
            </a:r>
            <a:r>
              <a:rPr lang="en-US" sz="3700" spc="-5" dirty="0" smtClean="0">
                <a:cs typeface="Calibri"/>
              </a:rPr>
              <a:t>e </a:t>
            </a:r>
            <a:r>
              <a:rPr lang="en-US" sz="3700" spc="-10" dirty="0" smtClean="0">
                <a:cs typeface="Calibri"/>
              </a:rPr>
              <a:t>us</a:t>
            </a:r>
            <a:r>
              <a:rPr lang="en-US" sz="3700" dirty="0" smtClean="0">
                <a:cs typeface="Calibri"/>
              </a:rPr>
              <a:t>e</a:t>
            </a:r>
            <a:r>
              <a:rPr lang="en-US" sz="3700" spc="-5" dirty="0" smtClean="0">
                <a:cs typeface="Calibri"/>
              </a:rPr>
              <a:t>d to </a:t>
            </a:r>
            <a:r>
              <a:rPr lang="en-US" sz="3700" spc="-10" dirty="0" smtClean="0">
                <a:cs typeface="Calibri"/>
              </a:rPr>
              <a:t>h</a:t>
            </a:r>
            <a:r>
              <a:rPr lang="en-US" sz="3700" spc="-5" dirty="0" smtClean="0">
                <a:cs typeface="Calibri"/>
              </a:rPr>
              <a:t>o</a:t>
            </a:r>
            <a:r>
              <a:rPr lang="en-US" sz="3700" dirty="0" smtClean="0">
                <a:cs typeface="Calibri"/>
              </a:rPr>
              <a:t>l</a:t>
            </a:r>
            <a:r>
              <a:rPr lang="en-US" sz="3700" spc="-5" dirty="0" smtClean="0">
                <a:cs typeface="Calibri"/>
              </a:rPr>
              <a:t>d </a:t>
            </a:r>
            <a:r>
              <a:rPr lang="en-US" sz="3700" dirty="0" smtClean="0">
                <a:cs typeface="Calibri"/>
              </a:rPr>
              <a:t>t</a:t>
            </a:r>
            <a:r>
              <a:rPr lang="en-US" sz="3700" spc="-10" dirty="0" smtClean="0">
                <a:cs typeface="Calibri"/>
              </a:rPr>
              <a:t>h</a:t>
            </a:r>
            <a:r>
              <a:rPr lang="en-US" sz="3700" spc="-5" dirty="0" smtClean="0">
                <a:cs typeface="Calibri"/>
              </a:rPr>
              <a:t>e </a:t>
            </a:r>
            <a:r>
              <a:rPr lang="en-US" sz="3700" dirty="0" smtClean="0">
                <a:cs typeface="Calibri"/>
              </a:rPr>
              <a:t>a</a:t>
            </a:r>
            <a:r>
              <a:rPr lang="en-US" sz="3700" spc="-10" dirty="0" smtClean="0">
                <a:cs typeface="Calibri"/>
              </a:rPr>
              <a:t>d</a:t>
            </a:r>
            <a:r>
              <a:rPr lang="en-US" sz="3700" dirty="0" smtClean="0">
                <a:cs typeface="Calibri"/>
              </a:rPr>
              <a:t>d</a:t>
            </a:r>
            <a:r>
              <a:rPr lang="en-US" sz="3700" spc="-10" dirty="0" smtClean="0">
                <a:cs typeface="Calibri"/>
              </a:rPr>
              <a:t>r</a:t>
            </a:r>
            <a:r>
              <a:rPr lang="en-US" sz="3700" spc="-5" dirty="0" smtClean="0">
                <a:cs typeface="Calibri"/>
              </a:rPr>
              <a:t>e</a:t>
            </a:r>
            <a:r>
              <a:rPr lang="en-US" sz="3700" spc="-10" dirty="0" smtClean="0">
                <a:cs typeface="Calibri"/>
              </a:rPr>
              <a:t>s</a:t>
            </a:r>
            <a:r>
              <a:rPr lang="en-US" sz="3700" spc="-5" dirty="0" smtClean="0">
                <a:cs typeface="Calibri"/>
              </a:rPr>
              <a:t>s </a:t>
            </a:r>
            <a:r>
              <a:rPr lang="en-US" sz="3700" dirty="0" smtClean="0">
                <a:cs typeface="Calibri"/>
              </a:rPr>
              <a:t>o</a:t>
            </a:r>
            <a:r>
              <a:rPr lang="en-US" sz="3700" spc="-5" dirty="0" smtClean="0">
                <a:cs typeface="Calibri"/>
              </a:rPr>
              <a:t>f </a:t>
            </a:r>
            <a:r>
              <a:rPr lang="en-US" sz="3700" dirty="0" smtClean="0">
                <a:cs typeface="Calibri"/>
              </a:rPr>
              <a:t>an </a:t>
            </a:r>
            <a:r>
              <a:rPr lang="en-US" sz="3700" spc="-5" dirty="0" smtClean="0">
                <a:cs typeface="Calibri"/>
              </a:rPr>
              <a:t>operand located </a:t>
            </a:r>
            <a:r>
              <a:rPr lang="en-US" sz="3700" spc="-10" dirty="0" smtClean="0">
                <a:cs typeface="Calibri"/>
              </a:rPr>
              <a:t>in</a:t>
            </a:r>
            <a:r>
              <a:rPr lang="en-US" sz="3700" spc="25" dirty="0" smtClean="0">
                <a:cs typeface="Calibri"/>
              </a:rPr>
              <a:t> </a:t>
            </a:r>
            <a:r>
              <a:rPr lang="en-US" sz="3700" spc="-5" dirty="0" smtClean="0">
                <a:cs typeface="Calibri"/>
              </a:rPr>
              <a:t>RAM.</a:t>
            </a:r>
            <a:endParaRPr lang="en-US" sz="3700" dirty="0" smtClean="0">
              <a:cs typeface="Calibri"/>
            </a:endParaRPr>
          </a:p>
          <a:p>
            <a:pPr marL="357505" marR="5080" indent="-343535">
              <a:spcBef>
                <a:spcPts val="670"/>
              </a:spcBef>
              <a:tabLst>
                <a:tab pos="356870" algn="l"/>
                <a:tab pos="357505" algn="l"/>
              </a:tabLst>
            </a:pPr>
            <a:r>
              <a:rPr lang="en-US" sz="3700" spc="-5" dirty="0" smtClean="0">
                <a:cs typeface="Calibri"/>
              </a:rPr>
              <a:t>When </a:t>
            </a:r>
            <a:r>
              <a:rPr lang="en-US" sz="3700" b="1" dirty="0" smtClean="0">
                <a:cs typeface="Calibri"/>
              </a:rPr>
              <a:t>R0 </a:t>
            </a:r>
            <a:r>
              <a:rPr lang="en-US" sz="3700" spc="-5" dirty="0" smtClean="0">
                <a:cs typeface="Calibri"/>
              </a:rPr>
              <a:t>and </a:t>
            </a:r>
            <a:r>
              <a:rPr lang="en-US" sz="3700" b="1" dirty="0" smtClean="0">
                <a:cs typeface="Calibri"/>
              </a:rPr>
              <a:t>R1 </a:t>
            </a:r>
            <a:r>
              <a:rPr lang="en-US" sz="3700" spc="-5" dirty="0" smtClean="0">
                <a:cs typeface="Calibri"/>
              </a:rPr>
              <a:t>hold the addresses of RAM locations,  they </a:t>
            </a:r>
            <a:r>
              <a:rPr lang="en-US" sz="3700" spc="-10" dirty="0" smtClean="0">
                <a:cs typeface="Calibri"/>
              </a:rPr>
              <a:t>must </a:t>
            </a:r>
            <a:r>
              <a:rPr lang="en-US" sz="3700" spc="-5" dirty="0" smtClean="0">
                <a:cs typeface="Calibri"/>
              </a:rPr>
              <a:t>be preceded by the </a:t>
            </a:r>
            <a:r>
              <a:rPr lang="en-US" sz="3700" b="1" spc="-10" dirty="0" smtClean="0">
                <a:cs typeface="Calibri"/>
              </a:rPr>
              <a:t>“@”</a:t>
            </a:r>
            <a:r>
              <a:rPr lang="en-US" sz="3700" b="1" spc="85" dirty="0" smtClean="0">
                <a:cs typeface="Calibri"/>
              </a:rPr>
              <a:t> </a:t>
            </a:r>
            <a:r>
              <a:rPr lang="en-US" sz="3700" spc="-10" dirty="0" smtClean="0">
                <a:cs typeface="Calibri"/>
              </a:rPr>
              <a:t>sign.</a:t>
            </a:r>
            <a:endParaRPr lang="en-US" sz="3700" dirty="0" smtClean="0">
              <a:cs typeface="Calibri"/>
            </a:endParaRPr>
          </a:p>
          <a:p>
            <a:pPr eaLnBrk="1" fontAlgn="auto" hangingPunct="1">
              <a:lnSpc>
                <a:spcPct val="80000"/>
              </a:lnSpc>
              <a:spcAft>
                <a:spcPts val="0"/>
              </a:spcAft>
              <a:buFont typeface="Arial" pitchFamily="34" charset="0"/>
              <a:buChar char="•"/>
              <a:defRPr/>
            </a:pPr>
            <a:endParaRPr lang="en-US" sz="2400" dirty="0" smtClean="0">
              <a:latin typeface="Times New Roman" pitchFamily="18" charset="0"/>
              <a:cs typeface="Times New Roman" pitchFamily="18" charset="0"/>
            </a:endParaRPr>
          </a:p>
          <a:p>
            <a:pPr eaLnBrk="1" fontAlgn="auto" hangingPunct="1">
              <a:lnSpc>
                <a:spcPct val="80000"/>
              </a:lnSpc>
              <a:spcAft>
                <a:spcPts val="0"/>
              </a:spcAft>
              <a:buFont typeface="Arial" pitchFamily="34" charset="0"/>
              <a:buChar char="•"/>
              <a:defRPr/>
            </a:pPr>
            <a:endParaRPr lang="en-US" sz="2400" dirty="0" smtClean="0">
              <a:latin typeface="Times New Roman" pitchFamily="18" charset="0"/>
              <a:cs typeface="Times New Roman" pitchFamily="18" charset="0"/>
            </a:endParaRPr>
          </a:p>
          <a:p>
            <a:pPr eaLnBrk="1" fontAlgn="auto" hangingPunct="1">
              <a:lnSpc>
                <a:spcPct val="80000"/>
              </a:lnSpc>
              <a:spcAft>
                <a:spcPts val="0"/>
              </a:spcAft>
              <a:buFontTx/>
              <a:buNone/>
              <a:defRPr/>
            </a:pPr>
            <a:r>
              <a:rPr lang="en-US" sz="2400" dirty="0" smtClean="0">
                <a:latin typeface="Times New Roman" pitchFamily="18" charset="0"/>
                <a:cs typeface="Times New Roman" pitchFamily="18" charset="0"/>
              </a:rPr>
              <a:t>             </a:t>
            </a:r>
            <a:r>
              <a:rPr lang="en-US" sz="2400" dirty="0" smtClean="0">
                <a:solidFill>
                  <a:srgbClr val="7030A0"/>
                </a:solidFill>
                <a:latin typeface="Times New Roman" pitchFamily="18" charset="0"/>
                <a:cs typeface="Times New Roman" pitchFamily="18" charset="0"/>
              </a:rPr>
              <a:t>MOV	A , @</a:t>
            </a:r>
            <a:r>
              <a:rPr lang="en-US" sz="2400" dirty="0" err="1" smtClean="0">
                <a:solidFill>
                  <a:srgbClr val="7030A0"/>
                </a:solidFill>
                <a:latin typeface="Times New Roman" pitchFamily="18" charset="0"/>
                <a:cs typeface="Times New Roman" pitchFamily="18" charset="0"/>
              </a:rPr>
              <a:t>Ri</a:t>
            </a:r>
            <a:endParaRPr lang="en-US" sz="2400" dirty="0" smtClean="0">
              <a:solidFill>
                <a:srgbClr val="7030A0"/>
              </a:solidFill>
              <a:latin typeface="Times New Roman" pitchFamily="18" charset="0"/>
              <a:cs typeface="Times New Roman" pitchFamily="18" charset="0"/>
            </a:endParaRPr>
          </a:p>
          <a:p>
            <a:pPr eaLnBrk="1" fontAlgn="auto" hangingPunct="1">
              <a:lnSpc>
                <a:spcPct val="80000"/>
              </a:lnSpc>
              <a:spcAft>
                <a:spcPts val="0"/>
              </a:spcAft>
              <a:buFontTx/>
              <a:buNone/>
              <a:defRPr/>
            </a:pPr>
            <a:r>
              <a:rPr lang="en-US" sz="2400" dirty="0" smtClean="0">
                <a:latin typeface="Times New Roman" pitchFamily="18" charset="0"/>
                <a:cs typeface="Times New Roman" pitchFamily="18" charset="0"/>
              </a:rPr>
              <a:t>; move content of RAM loc. Where address is held by </a:t>
            </a:r>
            <a:r>
              <a:rPr lang="en-US" sz="2400" dirty="0" err="1" smtClean="0">
                <a:latin typeface="Times New Roman" pitchFamily="18" charset="0"/>
                <a:cs typeface="Times New Roman" pitchFamily="18" charset="0"/>
              </a:rPr>
              <a:t>Ri</a:t>
            </a:r>
            <a:r>
              <a:rPr lang="en-US" sz="2400" dirty="0" smtClean="0">
                <a:latin typeface="Times New Roman" pitchFamily="18" charset="0"/>
                <a:cs typeface="Times New Roman" pitchFamily="18" charset="0"/>
              </a:rPr>
              <a:t> into A  </a:t>
            </a:r>
          </a:p>
          <a:p>
            <a:pPr eaLnBrk="1" fontAlgn="auto" hangingPunct="1">
              <a:lnSpc>
                <a:spcPct val="80000"/>
              </a:lnSpc>
              <a:spcAft>
                <a:spcPts val="0"/>
              </a:spcAft>
              <a:buFontTx/>
              <a:buNone/>
              <a:defRPr/>
            </a:pP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=0 or 1 ) </a:t>
            </a:r>
          </a:p>
          <a:p>
            <a:pPr eaLnBrk="1" fontAlgn="auto" hangingPunct="1">
              <a:lnSpc>
                <a:spcPct val="80000"/>
              </a:lnSpc>
              <a:spcAft>
                <a:spcPts val="0"/>
              </a:spcAft>
              <a:buFontTx/>
              <a:buNone/>
              <a:defRPr/>
            </a:pPr>
            <a:r>
              <a:rPr lang="en-US" sz="2400" dirty="0" smtClean="0">
                <a:latin typeface="Times New Roman" pitchFamily="18" charset="0"/>
                <a:cs typeface="Times New Roman" pitchFamily="18" charset="0"/>
              </a:rPr>
              <a:t>		</a:t>
            </a:r>
            <a:r>
              <a:rPr lang="en-US" sz="2400" dirty="0" smtClean="0">
                <a:solidFill>
                  <a:srgbClr val="7030A0"/>
                </a:solidFill>
                <a:latin typeface="Times New Roman" pitchFamily="18" charset="0"/>
                <a:cs typeface="Times New Roman" pitchFamily="18" charset="0"/>
              </a:rPr>
              <a:t>MOV	@R1,B</a:t>
            </a:r>
          </a:p>
          <a:p>
            <a:pPr eaLnBrk="1" fontAlgn="auto" hangingPunct="1">
              <a:lnSpc>
                <a:spcPct val="80000"/>
              </a:lnSpc>
              <a:spcAft>
                <a:spcPts val="0"/>
              </a:spcAft>
              <a:buFontTx/>
              <a:buNone/>
              <a:defRPr/>
            </a:pPr>
            <a:endParaRPr lang="en-US" sz="2400" dirty="0" smtClean="0">
              <a:latin typeface="Times New Roman" pitchFamily="18" charset="0"/>
              <a:cs typeface="Times New Roman" pitchFamily="18" charset="0"/>
            </a:endParaRPr>
          </a:p>
          <a:p>
            <a:pPr eaLnBrk="1" fontAlgn="auto" hangingPunct="1">
              <a:lnSpc>
                <a:spcPct val="80000"/>
              </a:lnSpc>
              <a:spcAft>
                <a:spcPts val="0"/>
              </a:spcAft>
              <a:buFontTx/>
              <a:buNone/>
              <a:defRPr/>
            </a:pPr>
            <a:r>
              <a:rPr lang="en-US" sz="2400" dirty="0" smtClean="0">
                <a:latin typeface="Times New Roman" pitchFamily="18" charset="0"/>
                <a:cs typeface="Times New Roman" pitchFamily="18" charset="0"/>
              </a:rPr>
              <a:t>	</a:t>
            </a:r>
          </a:p>
        </p:txBody>
      </p:sp>
      <p:sp>
        <p:nvSpPr>
          <p:cNvPr id="7" name="Slide Number Placeholder 6"/>
          <p:cNvSpPr>
            <a:spLocks noGrp="1"/>
          </p:cNvSpPr>
          <p:nvPr>
            <p:ph type="sldNum" sz="quarter" idx="12"/>
          </p:nvPr>
        </p:nvSpPr>
        <p:spPr/>
        <p:txBody>
          <a:bodyPr/>
          <a:lstStyle/>
          <a:p>
            <a:pPr>
              <a:defRPr/>
            </a:pPr>
            <a:fld id="{CC3A3995-6D41-44F1-8684-8729ED4837DA}" type="slidenum">
              <a:rPr lang="en-US"/>
              <a:pPr>
                <a:defRPr/>
              </a:pPr>
              <a:t>49</a:t>
            </a:fld>
            <a:endParaRPr lang="en-US"/>
          </a:p>
        </p:txBody>
      </p:sp>
      <p:sp>
        <p:nvSpPr>
          <p:cNvPr id="8" name="object 5"/>
          <p:cNvSpPr/>
          <p:nvPr/>
        </p:nvSpPr>
        <p:spPr>
          <a:xfrm>
            <a:off x="500063" y="4429124"/>
            <a:ext cx="8115300" cy="1609725"/>
          </a:xfrm>
          <a:prstGeom prst="rect">
            <a:avLst/>
          </a:prstGeom>
          <a:blipFill>
            <a:blip r:embed="rId2" cstate="print"/>
            <a:stretch>
              <a:fillRect/>
            </a:stretch>
          </a:blipFill>
        </p:spPr>
        <p:txBody>
          <a:bodyPr wrap="square" lIns="0" tIns="0" rIns="0" bIns="0" rtlCol="0"/>
          <a:lstStyle/>
          <a:p>
            <a:endParaRPr/>
          </a:p>
        </p:txBody>
      </p:sp>
      <p:sp>
        <p:nvSpPr>
          <p:cNvPr id="9" name="object 6"/>
          <p:cNvSpPr txBox="1"/>
          <p:nvPr/>
        </p:nvSpPr>
        <p:spPr>
          <a:xfrm>
            <a:off x="793088" y="6170567"/>
            <a:ext cx="6991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MOVX</a:t>
            </a:r>
            <a:endParaRPr sz="1800">
              <a:latin typeface="Arial"/>
              <a:cs typeface="Arial"/>
            </a:endParaRPr>
          </a:p>
        </p:txBody>
      </p:sp>
      <p:sp>
        <p:nvSpPr>
          <p:cNvPr id="10" name="object 7"/>
          <p:cNvSpPr txBox="1"/>
          <p:nvPr/>
        </p:nvSpPr>
        <p:spPr>
          <a:xfrm>
            <a:off x="1710688" y="6170567"/>
            <a:ext cx="1146800" cy="289823"/>
          </a:xfrm>
          <a:prstGeom prst="rect">
            <a:avLst/>
          </a:prstGeom>
        </p:spPr>
        <p:txBody>
          <a:bodyPr vert="horz" wrap="square" lIns="0" tIns="12700" rIns="0" bIns="0" rtlCol="0">
            <a:spAutoFit/>
          </a:bodyPr>
          <a:lstStyle/>
          <a:p>
            <a:pPr marL="12700">
              <a:lnSpc>
                <a:spcPct val="100000"/>
              </a:lnSpc>
              <a:spcBef>
                <a:spcPts val="100"/>
              </a:spcBef>
            </a:pPr>
            <a:r>
              <a:rPr sz="1800" b="1" spc="-60">
                <a:latin typeface="Arial"/>
                <a:cs typeface="Arial"/>
              </a:rPr>
              <a:t>A</a:t>
            </a:r>
            <a:r>
              <a:rPr sz="1800" b="1" smtClean="0">
                <a:latin typeface="Arial"/>
                <a:cs typeface="Arial"/>
              </a:rPr>
              <a:t>,</a:t>
            </a:r>
            <a:r>
              <a:rPr lang="en-US" sz="1800" b="1" dirty="0" smtClean="0">
                <a:latin typeface="Arial"/>
                <a:cs typeface="Arial"/>
              </a:rPr>
              <a:t> </a:t>
            </a:r>
            <a:r>
              <a:rPr sz="1800" b="1" spc="-10" smtClean="0">
                <a:latin typeface="Arial"/>
                <a:cs typeface="Arial"/>
              </a:rPr>
              <a:t>@</a:t>
            </a:r>
            <a:r>
              <a:rPr sz="1800" b="1" spc="-10" dirty="0">
                <a:latin typeface="Arial"/>
                <a:cs typeface="Arial"/>
              </a:rPr>
              <a:t>D</a:t>
            </a:r>
            <a:r>
              <a:rPr sz="1800" b="1" dirty="0">
                <a:latin typeface="Arial"/>
                <a:cs typeface="Arial"/>
              </a:rPr>
              <a:t>PT</a:t>
            </a:r>
            <a:r>
              <a:rPr sz="1800" b="1" spc="-5" dirty="0">
                <a:latin typeface="Arial"/>
                <a:cs typeface="Arial"/>
              </a:rPr>
              <a:t>R</a:t>
            </a:r>
            <a:endParaRPr sz="1800">
              <a:latin typeface="Arial"/>
              <a:cs typeface="Arial"/>
            </a:endParaRPr>
          </a:p>
        </p:txBody>
      </p:sp>
      <p:sp>
        <p:nvSpPr>
          <p:cNvPr id="11" name="TextBox 10"/>
          <p:cNvSpPr txBox="1"/>
          <p:nvPr/>
        </p:nvSpPr>
        <p:spPr>
          <a:xfrm>
            <a:off x="3143240" y="6072206"/>
            <a:ext cx="3857652" cy="461665"/>
          </a:xfrm>
          <a:prstGeom prst="rect">
            <a:avLst/>
          </a:prstGeom>
          <a:noFill/>
        </p:spPr>
        <p:txBody>
          <a:bodyPr wrap="square" rtlCol="0">
            <a:spAutoFit/>
          </a:bodyPr>
          <a:lstStyle/>
          <a:p>
            <a:r>
              <a:rPr lang="en-US" sz="2400" dirty="0" smtClean="0">
                <a:latin typeface="+mn-lt"/>
              </a:rPr>
              <a:t>Moves contents of DPTR to A</a:t>
            </a:r>
            <a:endParaRPr lang="en-US" sz="2400" dirty="0">
              <a:latin typeface="+mn-lt"/>
            </a:endParaRPr>
          </a:p>
        </p:txBody>
      </p:sp>
      <p:sp>
        <p:nvSpPr>
          <p:cNvPr id="12" name="Date Placeholder 11"/>
          <p:cNvSpPr>
            <a:spLocks noGrp="1"/>
          </p:cNvSpPr>
          <p:nvPr>
            <p:ph type="dt" sz="half" idx="10"/>
          </p:nvPr>
        </p:nvSpPr>
        <p:spPr/>
        <p:txBody>
          <a:bodyPr/>
          <a:lstStyle/>
          <a:p>
            <a:pPr>
              <a:defRPr/>
            </a:pPr>
            <a:fld id="{5E9BC98D-A034-44F7-B998-21AECBFC109D}" type="datetime2">
              <a:rPr lang="en-US" smtClean="0"/>
              <a:pPr>
                <a:defRPr/>
              </a:pPr>
              <a:t>Friday, August 27, 2021</a:t>
            </a:fld>
            <a:endParaRPr lang="en-US"/>
          </a:p>
        </p:txBody>
      </p:sp>
      <p:sp>
        <p:nvSpPr>
          <p:cNvPr id="13" name="Footer Placeholder 12"/>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1587">
                                            <p:txEl>
                                              <p:pRg st="1" end="1"/>
                                            </p:txEl>
                                          </p:spTgt>
                                        </p:tgtEl>
                                        <p:attrNameLst>
                                          <p:attrName>style.visibility</p:attrName>
                                        </p:attrNameLst>
                                      </p:cBhvr>
                                      <p:to>
                                        <p:strVal val="visible"/>
                                      </p:to>
                                    </p:set>
                                    <p:animEffect transition="in" filter="blinds(horizontal)">
                                      <p:cBhvr>
                                        <p:cTn id="7" dur="500"/>
                                        <p:tgtEl>
                                          <p:spTgt spid="45158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1587">
                                            <p:txEl>
                                              <p:pRg st="2" end="2"/>
                                            </p:txEl>
                                          </p:spTgt>
                                        </p:tgtEl>
                                        <p:attrNameLst>
                                          <p:attrName>style.visibility</p:attrName>
                                        </p:attrNameLst>
                                      </p:cBhvr>
                                      <p:to>
                                        <p:strVal val="visible"/>
                                      </p:to>
                                    </p:set>
                                    <p:animEffect transition="in" filter="blinds(horizontal)">
                                      <p:cBhvr>
                                        <p:cTn id="12" dur="500"/>
                                        <p:tgtEl>
                                          <p:spTgt spid="45158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51587">
                                            <p:txEl>
                                              <p:pRg st="3" end="3"/>
                                            </p:txEl>
                                          </p:spTgt>
                                        </p:tgtEl>
                                        <p:attrNameLst>
                                          <p:attrName>style.visibility</p:attrName>
                                        </p:attrNameLst>
                                      </p:cBhvr>
                                      <p:to>
                                        <p:strVal val="visible"/>
                                      </p:to>
                                    </p:set>
                                    <p:animEffect transition="in" filter="blinds(horizontal)">
                                      <p:cBhvr>
                                        <p:cTn id="17" dur="500"/>
                                        <p:tgtEl>
                                          <p:spTgt spid="45158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51587">
                                            <p:txEl>
                                              <p:pRg st="4" end="4"/>
                                            </p:txEl>
                                          </p:spTgt>
                                        </p:tgtEl>
                                        <p:attrNameLst>
                                          <p:attrName>style.visibility</p:attrName>
                                        </p:attrNameLst>
                                      </p:cBhvr>
                                      <p:to>
                                        <p:strVal val="visible"/>
                                      </p:to>
                                    </p:set>
                                    <p:animEffect transition="in" filter="blinds(horizontal)">
                                      <p:cBhvr>
                                        <p:cTn id="22" dur="500"/>
                                        <p:tgtEl>
                                          <p:spTgt spid="45158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51587">
                                            <p:txEl>
                                              <p:pRg st="5" end="5"/>
                                            </p:txEl>
                                          </p:spTgt>
                                        </p:tgtEl>
                                        <p:attrNameLst>
                                          <p:attrName>style.visibility</p:attrName>
                                        </p:attrNameLst>
                                      </p:cBhvr>
                                      <p:to>
                                        <p:strVal val="visible"/>
                                      </p:to>
                                    </p:set>
                                    <p:animEffect transition="in" filter="blinds(horizontal)">
                                      <p:cBhvr>
                                        <p:cTn id="27" dur="500"/>
                                        <p:tgtEl>
                                          <p:spTgt spid="45158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51587">
                                            <p:txEl>
                                              <p:pRg st="6" end="6"/>
                                            </p:txEl>
                                          </p:spTgt>
                                        </p:tgtEl>
                                        <p:attrNameLst>
                                          <p:attrName>style.visibility</p:attrName>
                                        </p:attrNameLst>
                                      </p:cBhvr>
                                      <p:to>
                                        <p:strVal val="visible"/>
                                      </p:to>
                                    </p:set>
                                    <p:animEffect transition="in" filter="blinds(horizontal)">
                                      <p:cBhvr>
                                        <p:cTn id="32" dur="500"/>
                                        <p:tgtEl>
                                          <p:spTgt spid="451587">
                                            <p:txEl>
                                              <p:pRg st="6" end="6"/>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51587">
                                            <p:txEl>
                                              <p:pRg st="9" end="9"/>
                                            </p:txEl>
                                          </p:spTgt>
                                        </p:tgtEl>
                                        <p:attrNameLst>
                                          <p:attrName>style.visibility</p:attrName>
                                        </p:attrNameLst>
                                      </p:cBhvr>
                                      <p:to>
                                        <p:strVal val="visible"/>
                                      </p:to>
                                    </p:set>
                                    <p:animEffect transition="in" filter="blinds(horizontal)">
                                      <p:cBhvr>
                                        <p:cTn id="35" dur="500"/>
                                        <p:tgtEl>
                                          <p:spTgt spid="451587">
                                            <p:txEl>
                                              <p:pRg st="9" end="9"/>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451587">
                                            <p:txEl>
                                              <p:pRg st="10" end="10"/>
                                            </p:txEl>
                                          </p:spTgt>
                                        </p:tgtEl>
                                        <p:attrNameLst>
                                          <p:attrName>style.visibility</p:attrName>
                                        </p:attrNameLst>
                                      </p:cBhvr>
                                      <p:to>
                                        <p:strVal val="visible"/>
                                      </p:to>
                                    </p:set>
                                    <p:animEffect transition="in" filter="blinds(horizontal)">
                                      <p:cBhvr>
                                        <p:cTn id="38" dur="500"/>
                                        <p:tgtEl>
                                          <p:spTgt spid="451587">
                                            <p:txEl>
                                              <p:pRg st="10" end="10"/>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451587">
                                            <p:txEl>
                                              <p:pRg st="11" end="11"/>
                                            </p:txEl>
                                          </p:spTgt>
                                        </p:tgtEl>
                                        <p:attrNameLst>
                                          <p:attrName>style.visibility</p:attrName>
                                        </p:attrNameLst>
                                      </p:cBhvr>
                                      <p:to>
                                        <p:strVal val="visible"/>
                                      </p:to>
                                    </p:set>
                                    <p:animEffect transition="in" filter="blinds(horizontal)">
                                      <p:cBhvr>
                                        <p:cTn id="41" dur="500"/>
                                        <p:tgtEl>
                                          <p:spTgt spid="451587">
                                            <p:txEl>
                                              <p:pRg st="11" end="11"/>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451587">
                                            <p:txEl>
                                              <p:pRg st="12" end="12"/>
                                            </p:txEl>
                                          </p:spTgt>
                                        </p:tgtEl>
                                        <p:attrNameLst>
                                          <p:attrName>style.visibility</p:attrName>
                                        </p:attrNameLst>
                                      </p:cBhvr>
                                      <p:to>
                                        <p:strVal val="visible"/>
                                      </p:to>
                                    </p:set>
                                    <p:animEffect transition="in" filter="blinds(horizontal)">
                                      <p:cBhvr>
                                        <p:cTn id="44" dur="500"/>
                                        <p:tgtEl>
                                          <p:spTgt spid="451587">
                                            <p:txEl>
                                              <p:pRg st="12" end="12"/>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451587">
                                            <p:txEl>
                                              <p:pRg st="14" end="14"/>
                                            </p:txEl>
                                          </p:spTgt>
                                        </p:tgtEl>
                                        <p:attrNameLst>
                                          <p:attrName>style.visibility</p:attrName>
                                        </p:attrNameLst>
                                      </p:cBhvr>
                                      <p:to>
                                        <p:strVal val="visible"/>
                                      </p:to>
                                    </p:set>
                                    <p:animEffect transition="in" filter="blinds(horizontal)">
                                      <p:cBhvr>
                                        <p:cTn id="47" dur="500"/>
                                        <p:tgtEl>
                                          <p:spTgt spid="451587">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14313" y="274638"/>
            <a:ext cx="8786812" cy="868362"/>
          </a:xfrm>
          <a:solidFill>
            <a:schemeClr val="bg1">
              <a:lumMod val="75000"/>
            </a:schemeClr>
          </a:solidFill>
        </p:spPr>
        <p:txBody>
          <a:bodyPr rtlCol="0">
            <a:normAutofit/>
          </a:bodyPr>
          <a:lstStyle/>
          <a:p>
            <a:pPr eaLnBrk="1" fontAlgn="auto" hangingPunct="1">
              <a:spcAft>
                <a:spcPts val="0"/>
              </a:spcAft>
              <a:defRPr/>
            </a:pPr>
            <a:r>
              <a:rPr lang="en-US" sz="2800" b="1" dirty="0" smtClean="0">
                <a:solidFill>
                  <a:srgbClr val="7030A0"/>
                </a:solidFill>
                <a:latin typeface="Times New Roman" pitchFamily="18" charset="0"/>
                <a:cs typeface="Times New Roman" pitchFamily="18" charset="0"/>
              </a:rPr>
              <a:t>Indexed Addressing Mode for ROM Access</a:t>
            </a:r>
          </a:p>
        </p:txBody>
      </p:sp>
      <p:sp>
        <p:nvSpPr>
          <p:cNvPr id="49155" name="Rectangle 3"/>
          <p:cNvSpPr>
            <a:spLocks noGrp="1" noChangeArrowheads="1"/>
          </p:cNvSpPr>
          <p:nvPr>
            <p:ph idx="1"/>
          </p:nvPr>
        </p:nvSpPr>
        <p:spPr>
          <a:xfrm>
            <a:off x="457200" y="1285875"/>
            <a:ext cx="8229600" cy="4143375"/>
          </a:xfrm>
          <a:solidFill>
            <a:schemeClr val="bg1">
              <a:lumMod val="75000"/>
            </a:schemeClr>
          </a:solidFill>
          <a:ln>
            <a:solidFill>
              <a:srgbClr val="FF0000"/>
            </a:solidFill>
          </a:ln>
        </p:spPr>
        <p:txBody>
          <a:bodyPr rtlCol="0">
            <a:normAutofit/>
          </a:bodyPr>
          <a:lstStyle/>
          <a:p>
            <a:pPr eaLnBrk="1" fontAlgn="auto" hangingPunct="1">
              <a:lnSpc>
                <a:spcPct val="90000"/>
              </a:lnSpc>
              <a:spcAft>
                <a:spcPts val="0"/>
              </a:spcAft>
              <a:buFont typeface="Arial" pitchFamily="34" charset="0"/>
              <a:buChar char="•"/>
              <a:defRPr/>
            </a:pPr>
            <a:r>
              <a:rPr lang="en-US" sz="2800" dirty="0" smtClean="0">
                <a:latin typeface="Times New Roman" pitchFamily="18" charset="0"/>
                <a:cs typeface="Times New Roman" pitchFamily="18" charset="0"/>
              </a:rPr>
              <a:t>This mode is widely used in accessing data elements of look-up table entries located in the program  (code) space ROM at the 8051</a:t>
            </a:r>
          </a:p>
          <a:p>
            <a:pPr algn="ctr" eaLnBrk="1" fontAlgn="auto" hangingPunct="1">
              <a:lnSpc>
                <a:spcPct val="90000"/>
              </a:lnSpc>
              <a:spcAft>
                <a:spcPts val="0"/>
              </a:spcAft>
              <a:buFontTx/>
              <a:buNone/>
              <a:defRPr/>
            </a:pPr>
            <a:r>
              <a:rPr lang="en-US" sz="2800" dirty="0" smtClean="0">
                <a:solidFill>
                  <a:srgbClr val="0066FF"/>
                </a:solidFill>
                <a:latin typeface="Times New Roman" pitchFamily="18" charset="0"/>
                <a:cs typeface="Times New Roman" pitchFamily="18" charset="0"/>
              </a:rPr>
              <a:t>MOVC  A,@A+DPTR</a:t>
            </a:r>
          </a:p>
          <a:p>
            <a:pPr algn="ctr" eaLnBrk="1" fontAlgn="auto" hangingPunct="1">
              <a:lnSpc>
                <a:spcPct val="90000"/>
              </a:lnSpc>
              <a:spcAft>
                <a:spcPts val="0"/>
              </a:spcAft>
              <a:buFontTx/>
              <a:buNone/>
              <a:defRPr/>
            </a:pPr>
            <a:r>
              <a:rPr lang="en-US" sz="2800" dirty="0" smtClean="0">
                <a:latin typeface="Times New Roman" pitchFamily="18" charset="0"/>
                <a:cs typeface="Times New Roman" pitchFamily="18" charset="0"/>
              </a:rPr>
              <a:t>A= content of address A +DPTR from ROM </a:t>
            </a:r>
          </a:p>
          <a:p>
            <a:pPr eaLnBrk="1" fontAlgn="auto" hangingPunct="1">
              <a:lnSpc>
                <a:spcPct val="90000"/>
              </a:lnSpc>
              <a:spcAft>
                <a:spcPts val="0"/>
              </a:spcAft>
              <a:buFontTx/>
              <a:buNone/>
              <a:defRPr/>
            </a:pPr>
            <a:r>
              <a:rPr lang="en-US" sz="2800" b="1" u="sng" dirty="0" smtClean="0">
                <a:latin typeface="Times New Roman" pitchFamily="18" charset="0"/>
                <a:cs typeface="Times New Roman" pitchFamily="18" charset="0"/>
              </a:rPr>
              <a:t>Note:</a:t>
            </a:r>
            <a:endParaRPr lang="en-US" sz="2800" dirty="0" smtClean="0">
              <a:latin typeface="Times New Roman" pitchFamily="18" charset="0"/>
              <a:cs typeface="Times New Roman" pitchFamily="18" charset="0"/>
            </a:endParaRPr>
          </a:p>
          <a:p>
            <a:pPr eaLnBrk="1" fontAlgn="auto" hangingPunct="1">
              <a:lnSpc>
                <a:spcPct val="90000"/>
              </a:lnSpc>
              <a:spcAft>
                <a:spcPts val="0"/>
              </a:spcAft>
              <a:buFontTx/>
              <a:buNone/>
              <a:defRPr/>
            </a:pPr>
            <a:r>
              <a:rPr lang="en-US" sz="2800" dirty="0" smtClean="0">
                <a:latin typeface="Times New Roman" pitchFamily="18" charset="0"/>
                <a:cs typeface="Times New Roman" pitchFamily="18" charset="0"/>
              </a:rPr>
              <a:t>	Because the data elements are stored in the program (code ) space ROM of the 8051, it uses the instruction MOVC instead of MOV. The “</a:t>
            </a:r>
            <a:r>
              <a:rPr lang="en-US" sz="2800" dirty="0" smtClean="0">
                <a:solidFill>
                  <a:srgbClr val="0066FF"/>
                </a:solidFill>
                <a:latin typeface="Times New Roman" pitchFamily="18" charset="0"/>
                <a:cs typeface="Times New Roman" pitchFamily="18" charset="0"/>
              </a:rPr>
              <a:t>C</a:t>
            </a:r>
            <a:r>
              <a:rPr lang="en-US" sz="2800" dirty="0" smtClean="0">
                <a:latin typeface="Times New Roman" pitchFamily="18" charset="0"/>
                <a:cs typeface="Times New Roman" pitchFamily="18" charset="0"/>
              </a:rPr>
              <a:t>” means code.</a:t>
            </a:r>
            <a:endParaRPr lang="en-US" sz="2800" b="1" u="sng" dirty="0" smtClean="0">
              <a:latin typeface="Times New Roman" pitchFamily="18" charset="0"/>
              <a:cs typeface="Times New Roman" pitchFamily="18" charset="0"/>
            </a:endParaRPr>
          </a:p>
          <a:p>
            <a:pPr eaLnBrk="1" fontAlgn="auto" hangingPunct="1">
              <a:lnSpc>
                <a:spcPct val="90000"/>
              </a:lnSpc>
              <a:spcAft>
                <a:spcPts val="0"/>
              </a:spcAft>
              <a:buFontTx/>
              <a:buNone/>
              <a:defRPr/>
            </a:pPr>
            <a:endParaRPr lang="en-US" sz="2800" dirty="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pPr>
              <a:defRPr/>
            </a:pPr>
            <a:fld id="{ABA076B2-C2D9-47D2-ACB3-6E1346754EAB}" type="slidenum">
              <a:rPr lang="en-US"/>
              <a:pPr>
                <a:defRPr/>
              </a:pPr>
              <a:t>50</a:t>
            </a:fld>
            <a:endParaRPr lang="en-US"/>
          </a:p>
        </p:txBody>
      </p:sp>
      <p:sp>
        <p:nvSpPr>
          <p:cNvPr id="5" name="Date Placeholder 4"/>
          <p:cNvSpPr>
            <a:spLocks noGrp="1"/>
          </p:cNvSpPr>
          <p:nvPr>
            <p:ph type="dt" sz="half" idx="10"/>
          </p:nvPr>
        </p:nvSpPr>
        <p:spPr/>
        <p:txBody>
          <a:bodyPr/>
          <a:lstStyle/>
          <a:p>
            <a:pPr>
              <a:defRPr/>
            </a:pPr>
            <a:fld id="{35E5DAFA-C591-444D-A4B4-412FD5202136}" type="datetime2">
              <a:rPr lang="en-US" smtClean="0"/>
              <a:pPr>
                <a:defRPr/>
              </a:pPr>
              <a:t>Friday, August 27, 2021</a:t>
            </a:fld>
            <a:endParaRPr lang="en-US"/>
          </a:p>
        </p:txBody>
      </p:sp>
      <p:sp>
        <p:nvSpPr>
          <p:cNvPr id="7" name="Footer Placeholder 6"/>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ctrTitle"/>
          </p:nvPr>
        </p:nvSpPr>
        <p:spPr/>
        <p:txBody>
          <a:bodyPr/>
          <a:lstStyle/>
          <a:p>
            <a:pPr eaLnBrk="1" hangingPunct="1">
              <a:defRPr/>
            </a:pPr>
            <a:r>
              <a:rPr lang="en-US" b="1" dirty="0" smtClean="0">
                <a:solidFill>
                  <a:schemeClr val="accent6">
                    <a:lumMod val="50000"/>
                  </a:schemeClr>
                </a:solidFill>
                <a:latin typeface="Calibri" pitchFamily="34" charset="0"/>
              </a:rPr>
              <a:t>8051 Instruction Set</a:t>
            </a:r>
            <a:endParaRPr lang="en-MY" b="1" dirty="0" smtClean="0">
              <a:solidFill>
                <a:schemeClr val="accent6">
                  <a:lumMod val="50000"/>
                </a:schemeClr>
              </a:solidFill>
              <a:latin typeface="Calibri" pitchFamily="34" charset="0"/>
            </a:endParaRPr>
          </a:p>
        </p:txBody>
      </p:sp>
      <p:sp>
        <p:nvSpPr>
          <p:cNvPr id="3" name="Date Placeholder 2"/>
          <p:cNvSpPr>
            <a:spLocks noGrp="1"/>
          </p:cNvSpPr>
          <p:nvPr>
            <p:ph type="dt" sz="half" idx="10"/>
          </p:nvPr>
        </p:nvSpPr>
        <p:spPr/>
        <p:txBody>
          <a:bodyPr/>
          <a:lstStyle/>
          <a:p>
            <a:pPr>
              <a:defRPr/>
            </a:pPr>
            <a:fld id="{8367C675-D7D3-4D1F-9F16-5CC853D66117}"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E06337E7-7C2B-4182-8757-64ACC983A25F}" type="slidenum">
              <a:rPr lang="en-US" smtClean="0"/>
              <a:pPr>
                <a:defRPr/>
              </a:pPr>
              <a:t>51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p:cNvSpPr>
            <a:spLocks noGrp="1"/>
          </p:cNvSpPr>
          <p:nvPr>
            <p:ph idx="1"/>
          </p:nvPr>
        </p:nvSpPr>
        <p:spPr>
          <a:xfrm>
            <a:off x="225425" y="349250"/>
            <a:ext cx="8748713" cy="6508750"/>
          </a:xfrm>
        </p:spPr>
        <p:txBody>
          <a:bodyPr/>
          <a:lstStyle/>
          <a:p>
            <a:r>
              <a:rPr lang="en-US" sz="2000" smtClean="0">
                <a:latin typeface="Calibri" pitchFamily="34" charset="0"/>
              </a:rPr>
              <a:t>The first part of each instruction, called</a:t>
            </a:r>
            <a:r>
              <a:rPr lang="en-US" sz="2000" smtClean="0">
                <a:solidFill>
                  <a:srgbClr val="FF0000"/>
                </a:solidFill>
                <a:latin typeface="Calibri" pitchFamily="34" charset="0"/>
              </a:rPr>
              <a:t> MNEMONIC </a:t>
            </a:r>
            <a:r>
              <a:rPr lang="en-US" sz="2000" smtClean="0">
                <a:latin typeface="Calibri" pitchFamily="34" charset="0"/>
              </a:rPr>
              <a:t>refers to the operation an instruction performs Mnemonics are abbreviations of the name of operation being executed. </a:t>
            </a:r>
          </a:p>
          <a:p>
            <a:pPr>
              <a:buFontTx/>
              <a:buNone/>
            </a:pPr>
            <a:r>
              <a:rPr lang="en-US" sz="2000" smtClean="0">
                <a:latin typeface="Calibri" pitchFamily="34" charset="0"/>
              </a:rPr>
              <a:t>	Eg:     INC R1 - Increment register R1 (increment register R1);</a:t>
            </a:r>
          </a:p>
          <a:p>
            <a:pPr>
              <a:buFontTx/>
              <a:buNone/>
            </a:pPr>
            <a:r>
              <a:rPr lang="en-US" sz="2000" smtClean="0">
                <a:latin typeface="Calibri" pitchFamily="34" charset="0"/>
              </a:rPr>
              <a:t>	          LJMP LAB5 - Long Jump LAB5 (long jump to the address marked as LAB5);</a:t>
            </a:r>
          </a:p>
          <a:p>
            <a:pPr>
              <a:buFontTx/>
              <a:buNone/>
            </a:pPr>
            <a:r>
              <a:rPr lang="en-US" sz="2000" smtClean="0">
                <a:latin typeface="Calibri" pitchFamily="34" charset="0"/>
              </a:rPr>
              <a:t>            	JNZ LOOP - Jump if Not Zero LOOP (if the number in the accumulator is 			not 0, jump to the address marked as LOOP);</a:t>
            </a:r>
          </a:p>
          <a:p>
            <a:r>
              <a:rPr lang="en-US" sz="2000" smtClean="0">
                <a:latin typeface="Calibri" pitchFamily="34" charset="0"/>
              </a:rPr>
              <a:t>The other part of instruction, called </a:t>
            </a:r>
            <a:r>
              <a:rPr lang="en-US" sz="2000" smtClean="0">
                <a:solidFill>
                  <a:srgbClr val="FF0000"/>
                </a:solidFill>
                <a:latin typeface="Calibri" pitchFamily="34" charset="0"/>
              </a:rPr>
              <a:t>OPERAND</a:t>
            </a:r>
            <a:r>
              <a:rPr lang="en-US" sz="2000" smtClean="0">
                <a:latin typeface="Calibri" pitchFamily="34" charset="0"/>
              </a:rPr>
              <a:t> is separated from mnemonic by at least one whitespace and defines data being processed by instructions. </a:t>
            </a:r>
          </a:p>
          <a:p>
            <a:r>
              <a:rPr lang="en-US" sz="2000" smtClean="0">
                <a:latin typeface="Calibri" pitchFamily="34" charset="0"/>
              </a:rPr>
              <a:t>If there is more than one operand in an instruction, they are separated by a comma.</a:t>
            </a:r>
          </a:p>
          <a:p>
            <a:pPr>
              <a:buFontTx/>
              <a:buNone/>
            </a:pPr>
            <a:r>
              <a:rPr lang="en-US" sz="2000" smtClean="0">
                <a:latin typeface="Calibri" pitchFamily="34" charset="0"/>
              </a:rPr>
              <a:t>	 Eg:    RET - return from a subroutine; no operand</a:t>
            </a:r>
          </a:p>
          <a:p>
            <a:pPr>
              <a:buFontTx/>
              <a:buNone/>
            </a:pPr>
            <a:r>
              <a:rPr lang="en-US" sz="2000" smtClean="0">
                <a:latin typeface="Calibri" pitchFamily="34" charset="0"/>
              </a:rPr>
              <a:t>	     	JZ TEMP - if the number in the accumulator is 0, jump to the address 						marked as TEMP;</a:t>
            </a:r>
          </a:p>
          <a:p>
            <a:pPr>
              <a:buFontTx/>
              <a:buNone/>
            </a:pPr>
            <a:r>
              <a:rPr lang="en-US" sz="2000" smtClean="0">
                <a:latin typeface="Calibri" pitchFamily="34" charset="0"/>
              </a:rPr>
              <a:t>            	ADD A,R3 - add R3 and accumulator;</a:t>
            </a:r>
          </a:p>
          <a:p>
            <a:pPr>
              <a:buFontTx/>
              <a:buNone/>
            </a:pPr>
            <a:r>
              <a:rPr lang="en-US" sz="2000" smtClean="0">
                <a:latin typeface="Calibri" pitchFamily="34" charset="0"/>
              </a:rPr>
              <a:t>            	CJNE A,#20,LOOP - compare accumulator with 20. If they are not equal, 				jump to the address marked as LOOP;</a:t>
            </a:r>
          </a:p>
          <a:p>
            <a:endParaRPr lang="en-US" smtClean="0"/>
          </a:p>
        </p:txBody>
      </p:sp>
      <p:sp>
        <p:nvSpPr>
          <p:cNvPr id="3075" name="Slide Number Placeholder 3"/>
          <p:cNvSpPr>
            <a:spLocks noGrp="1"/>
          </p:cNvSpPr>
          <p:nvPr>
            <p:ph type="sldNum" sz="quarter" idx="12"/>
          </p:nvPr>
        </p:nvSpPr>
        <p:spPr>
          <a:noFill/>
        </p:spPr>
        <p:txBody>
          <a:bodyPr/>
          <a:lstStyle/>
          <a:p>
            <a:fld id="{BB3A880E-FA71-4343-A13B-ADC2066EC296}" type="slidenum">
              <a:rPr lang="en-US" smtClean="0"/>
              <a:pPr/>
              <a:t>52</a:t>
            </a:fld>
            <a:endParaRPr lang="en-US" smtClean="0"/>
          </a:p>
        </p:txBody>
      </p:sp>
      <p:sp>
        <p:nvSpPr>
          <p:cNvPr id="4" name="Date Placeholder 3"/>
          <p:cNvSpPr>
            <a:spLocks noGrp="1"/>
          </p:cNvSpPr>
          <p:nvPr>
            <p:ph type="dt" sz="half" idx="10"/>
          </p:nvPr>
        </p:nvSpPr>
        <p:spPr/>
        <p:txBody>
          <a:bodyPr/>
          <a:lstStyle/>
          <a:p>
            <a:pPr>
              <a:defRPr/>
            </a:pPr>
            <a:fld id="{7B8D561A-E8B7-4040-93C1-29C583B99135}"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p:cNvSpPr>
            <a:spLocks noGrp="1"/>
          </p:cNvSpPr>
          <p:nvPr>
            <p:ph idx="1"/>
          </p:nvPr>
        </p:nvSpPr>
        <p:spPr>
          <a:xfrm>
            <a:off x="214313" y="200025"/>
            <a:ext cx="8658225" cy="6657975"/>
          </a:xfrm>
        </p:spPr>
        <p:txBody>
          <a:bodyPr/>
          <a:lstStyle/>
          <a:p>
            <a:r>
              <a:rPr lang="en-US" sz="2000" smtClean="0">
                <a:latin typeface="Calibri" pitchFamily="34" charset="0"/>
              </a:rPr>
              <a:t>The following nomenclatures for register, data, address and variables are used while write instructions. </a:t>
            </a:r>
          </a:p>
          <a:p>
            <a:r>
              <a:rPr lang="en-US" sz="2000" smtClean="0">
                <a:solidFill>
                  <a:srgbClr val="FF0000"/>
                </a:solidFill>
                <a:latin typeface="Calibri" pitchFamily="34" charset="0"/>
              </a:rPr>
              <a:t>A</a:t>
            </a:r>
            <a:r>
              <a:rPr lang="en-US" sz="2000" smtClean="0">
                <a:latin typeface="Calibri" pitchFamily="34" charset="0"/>
              </a:rPr>
              <a:t>: Accumulator </a:t>
            </a:r>
          </a:p>
          <a:p>
            <a:r>
              <a:rPr lang="en-US" sz="2000" smtClean="0">
                <a:solidFill>
                  <a:srgbClr val="FF0000"/>
                </a:solidFill>
                <a:latin typeface="Calibri" pitchFamily="34" charset="0"/>
              </a:rPr>
              <a:t>B</a:t>
            </a:r>
            <a:r>
              <a:rPr lang="en-US" sz="2000" smtClean="0">
                <a:latin typeface="Calibri" pitchFamily="34" charset="0"/>
              </a:rPr>
              <a:t>: "B" register </a:t>
            </a:r>
          </a:p>
          <a:p>
            <a:r>
              <a:rPr lang="en-US" sz="2000" smtClean="0">
                <a:solidFill>
                  <a:srgbClr val="FF0000"/>
                </a:solidFill>
                <a:latin typeface="Calibri" pitchFamily="34" charset="0"/>
              </a:rPr>
              <a:t>C</a:t>
            </a:r>
            <a:r>
              <a:rPr lang="en-US" sz="2000" smtClean="0">
                <a:latin typeface="Calibri" pitchFamily="34" charset="0"/>
              </a:rPr>
              <a:t>: Carry bit </a:t>
            </a:r>
          </a:p>
          <a:p>
            <a:r>
              <a:rPr lang="en-US" sz="2000" smtClean="0">
                <a:solidFill>
                  <a:srgbClr val="FF0000"/>
                </a:solidFill>
                <a:latin typeface="Calibri" pitchFamily="34" charset="0"/>
              </a:rPr>
              <a:t>Rn</a:t>
            </a:r>
            <a:r>
              <a:rPr lang="en-US" sz="2000" smtClean="0">
                <a:latin typeface="Calibri" pitchFamily="34" charset="0"/>
              </a:rPr>
              <a:t>: Register R0 - R7 of the currently selected register bank </a:t>
            </a:r>
          </a:p>
          <a:p>
            <a:r>
              <a:rPr lang="en-US" sz="2000" smtClean="0">
                <a:solidFill>
                  <a:srgbClr val="FF0000"/>
                </a:solidFill>
                <a:latin typeface="Calibri" pitchFamily="34" charset="0"/>
              </a:rPr>
              <a:t>Direct</a:t>
            </a:r>
            <a:r>
              <a:rPr lang="en-US" sz="2000" smtClean="0">
                <a:latin typeface="Calibri" pitchFamily="34" charset="0"/>
              </a:rPr>
              <a:t>: 8-bit internal direct address for data. The data could be in lower 128bytes of RAM (00 - 7FH) or it could be in the special function register (80 - FFH).</a:t>
            </a:r>
          </a:p>
          <a:p>
            <a:r>
              <a:rPr lang="en-US" sz="2000" smtClean="0">
                <a:solidFill>
                  <a:srgbClr val="FF0000"/>
                </a:solidFill>
                <a:latin typeface="Calibri" pitchFamily="34" charset="0"/>
              </a:rPr>
              <a:t>@Ri</a:t>
            </a:r>
            <a:r>
              <a:rPr lang="en-US" sz="2000" smtClean="0">
                <a:latin typeface="Calibri" pitchFamily="34" charset="0"/>
              </a:rPr>
              <a:t>: 8-bit external or internal RAM address available in register R0 or R1. This is used for indirect addressing mode. </a:t>
            </a:r>
          </a:p>
          <a:p>
            <a:r>
              <a:rPr lang="en-US" sz="2000" smtClean="0">
                <a:solidFill>
                  <a:srgbClr val="FF0000"/>
                </a:solidFill>
                <a:latin typeface="Calibri" pitchFamily="34" charset="0"/>
              </a:rPr>
              <a:t>#data8</a:t>
            </a:r>
            <a:r>
              <a:rPr lang="en-US" sz="2000" smtClean="0">
                <a:latin typeface="Calibri" pitchFamily="34" charset="0"/>
              </a:rPr>
              <a:t>: Immediate 8-bit data available in the instruction.</a:t>
            </a:r>
          </a:p>
          <a:p>
            <a:r>
              <a:rPr lang="en-US" sz="2000" smtClean="0">
                <a:solidFill>
                  <a:srgbClr val="FF0000"/>
                </a:solidFill>
                <a:latin typeface="Calibri" pitchFamily="34" charset="0"/>
              </a:rPr>
              <a:t>#data16</a:t>
            </a:r>
            <a:r>
              <a:rPr lang="en-US" sz="2000" smtClean="0">
                <a:latin typeface="Calibri" pitchFamily="34" charset="0"/>
              </a:rPr>
              <a:t>: Immediate 16-bit data available in the instruction. </a:t>
            </a:r>
          </a:p>
          <a:p>
            <a:r>
              <a:rPr lang="en-US" sz="2000" smtClean="0">
                <a:solidFill>
                  <a:srgbClr val="FF0000"/>
                </a:solidFill>
                <a:latin typeface="Calibri" pitchFamily="34" charset="0"/>
              </a:rPr>
              <a:t>Addr11</a:t>
            </a:r>
            <a:r>
              <a:rPr lang="en-US" sz="2000" smtClean="0">
                <a:latin typeface="Calibri" pitchFamily="34" charset="0"/>
              </a:rPr>
              <a:t>: 11-bit destination address for short absolute jump. Used by instructions AJMP &amp; ACALL. Jump range is 2 kbyte (one page).</a:t>
            </a:r>
          </a:p>
          <a:p>
            <a:r>
              <a:rPr lang="en-US" sz="2000" smtClean="0">
                <a:solidFill>
                  <a:srgbClr val="FF0000"/>
                </a:solidFill>
                <a:latin typeface="Calibri" pitchFamily="34" charset="0"/>
              </a:rPr>
              <a:t>Addr16</a:t>
            </a:r>
            <a:r>
              <a:rPr lang="en-US" sz="2000" smtClean="0">
                <a:latin typeface="Calibri" pitchFamily="34" charset="0"/>
              </a:rPr>
              <a:t>: 16-bit destination address for long call or long jump. </a:t>
            </a:r>
          </a:p>
          <a:p>
            <a:r>
              <a:rPr lang="en-US" sz="2000" smtClean="0">
                <a:solidFill>
                  <a:srgbClr val="FF0000"/>
                </a:solidFill>
                <a:latin typeface="Calibri" pitchFamily="34" charset="0"/>
              </a:rPr>
              <a:t>Rel</a:t>
            </a:r>
            <a:r>
              <a:rPr lang="en-US" sz="2000" smtClean="0">
                <a:latin typeface="Calibri" pitchFamily="34" charset="0"/>
              </a:rPr>
              <a:t>: 2's complement 8-bit offset (one - byte) used for short jump (SJMP) and all conditional jumps. </a:t>
            </a:r>
          </a:p>
          <a:p>
            <a:r>
              <a:rPr lang="en-US" sz="2000" smtClean="0">
                <a:solidFill>
                  <a:srgbClr val="FF0000"/>
                </a:solidFill>
                <a:latin typeface="Calibri" pitchFamily="34" charset="0"/>
              </a:rPr>
              <a:t>bit</a:t>
            </a:r>
            <a:r>
              <a:rPr lang="en-US" sz="2000" smtClean="0">
                <a:latin typeface="Calibri" pitchFamily="34" charset="0"/>
              </a:rPr>
              <a:t>: Directly addressed bit in internal RAM or SFR </a:t>
            </a:r>
          </a:p>
          <a:p>
            <a:endParaRPr lang="en-US" smtClean="0"/>
          </a:p>
        </p:txBody>
      </p:sp>
      <p:sp>
        <p:nvSpPr>
          <p:cNvPr id="4099" name="Slide Number Placeholder 3"/>
          <p:cNvSpPr>
            <a:spLocks noGrp="1"/>
          </p:cNvSpPr>
          <p:nvPr>
            <p:ph type="sldNum" sz="quarter" idx="12"/>
          </p:nvPr>
        </p:nvSpPr>
        <p:spPr>
          <a:noFill/>
        </p:spPr>
        <p:txBody>
          <a:bodyPr/>
          <a:lstStyle/>
          <a:p>
            <a:fld id="{62E4EAFD-88DF-416F-9978-085045BB258A}" type="slidenum">
              <a:rPr lang="en-US" smtClean="0"/>
              <a:pPr/>
              <a:t>53</a:t>
            </a:fld>
            <a:endParaRPr lang="en-US" smtClean="0"/>
          </a:p>
        </p:txBody>
      </p:sp>
      <p:sp>
        <p:nvSpPr>
          <p:cNvPr id="4" name="Date Placeholder 3"/>
          <p:cNvSpPr>
            <a:spLocks noGrp="1"/>
          </p:cNvSpPr>
          <p:nvPr>
            <p:ph type="dt" sz="half" idx="10"/>
          </p:nvPr>
        </p:nvSpPr>
        <p:spPr/>
        <p:txBody>
          <a:bodyPr/>
          <a:lstStyle/>
          <a:p>
            <a:pPr>
              <a:defRPr/>
            </a:pPr>
            <a:fld id="{3F6E5CEB-136F-4A71-8E9B-3B4E1A2023B9}"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defRPr/>
            </a:pPr>
            <a:r>
              <a:rPr lang="en-US" b="1" dirty="0" smtClean="0">
                <a:solidFill>
                  <a:schemeClr val="accent6">
                    <a:lumMod val="50000"/>
                  </a:schemeClr>
                </a:solidFill>
                <a:latin typeface="Calibri" pitchFamily="34" charset="0"/>
              </a:rPr>
              <a:t>Instruction Groups</a:t>
            </a:r>
          </a:p>
        </p:txBody>
      </p:sp>
      <p:sp>
        <p:nvSpPr>
          <p:cNvPr id="5123" name="Rectangle 3"/>
          <p:cNvSpPr>
            <a:spLocks noGrp="1" noChangeArrowheads="1"/>
          </p:cNvSpPr>
          <p:nvPr>
            <p:ph type="body" idx="1"/>
          </p:nvPr>
        </p:nvSpPr>
        <p:spPr/>
        <p:txBody>
          <a:bodyPr/>
          <a:lstStyle/>
          <a:p>
            <a:pPr lvl="1" eaLnBrk="1" hangingPunct="1"/>
            <a:endParaRPr lang="en-US" sz="2400" smtClean="0">
              <a:latin typeface="Calibri" pitchFamily="34" charset="0"/>
            </a:endParaRPr>
          </a:p>
          <a:p>
            <a:pPr eaLnBrk="1" hangingPunct="1"/>
            <a:r>
              <a:rPr lang="en-US" sz="2400" smtClean="0">
                <a:latin typeface="Calibri" pitchFamily="34" charset="0"/>
              </a:rPr>
              <a:t>The 8051 instructions are grouped into 5 groups</a:t>
            </a:r>
          </a:p>
          <a:p>
            <a:pPr lvl="1" eaLnBrk="1" hangingPunct="1"/>
            <a:r>
              <a:rPr lang="en-US" sz="2400" smtClean="0">
                <a:latin typeface="Calibri" pitchFamily="34" charset="0"/>
              </a:rPr>
              <a:t>Arithmetic Instructions</a:t>
            </a:r>
          </a:p>
          <a:p>
            <a:pPr lvl="1" eaLnBrk="1" hangingPunct="1"/>
            <a:r>
              <a:rPr lang="en-US" sz="2400" smtClean="0">
                <a:latin typeface="Calibri" pitchFamily="34" charset="0"/>
              </a:rPr>
              <a:t>Logic Instructions</a:t>
            </a:r>
          </a:p>
          <a:p>
            <a:pPr lvl="1" eaLnBrk="1" hangingPunct="1"/>
            <a:r>
              <a:rPr lang="en-US" sz="2400" smtClean="0">
                <a:latin typeface="Calibri" pitchFamily="34" charset="0"/>
              </a:rPr>
              <a:t>Data Transfer Instructions</a:t>
            </a:r>
          </a:p>
          <a:p>
            <a:pPr lvl="1" eaLnBrk="1" hangingPunct="1"/>
            <a:r>
              <a:rPr lang="en-US" sz="2400" smtClean="0">
                <a:latin typeface="Calibri" pitchFamily="34" charset="0"/>
              </a:rPr>
              <a:t>Boolean Instructions</a:t>
            </a:r>
          </a:p>
          <a:p>
            <a:pPr lvl="1" eaLnBrk="1" hangingPunct="1"/>
            <a:r>
              <a:rPr lang="en-US" sz="2400" smtClean="0">
                <a:latin typeface="Calibri" pitchFamily="34" charset="0"/>
              </a:rPr>
              <a:t>Program Branching Instructions</a:t>
            </a:r>
          </a:p>
        </p:txBody>
      </p:sp>
      <p:sp>
        <p:nvSpPr>
          <p:cNvPr id="4" name="Date Placeholder 3"/>
          <p:cNvSpPr>
            <a:spLocks noGrp="1"/>
          </p:cNvSpPr>
          <p:nvPr>
            <p:ph type="dt" sz="half" idx="10"/>
          </p:nvPr>
        </p:nvSpPr>
        <p:spPr/>
        <p:txBody>
          <a:bodyPr/>
          <a:lstStyle/>
          <a:p>
            <a:pPr>
              <a:defRPr/>
            </a:pPr>
            <a:fld id="{4955CA58-9CC9-467C-AFE7-9305C5BB0010}" type="datetime2">
              <a:rPr lang="en-US" smtClean="0"/>
              <a:pPr>
                <a:defRPr/>
              </a:pPr>
              <a:t>Friday, August 27, 2021</a:t>
            </a:fld>
            <a:endParaRPr lang="en-US"/>
          </a:p>
        </p:txBody>
      </p:sp>
      <p:sp>
        <p:nvSpPr>
          <p:cNvPr id="5" name="Slide Number Placeholder 4"/>
          <p:cNvSpPr>
            <a:spLocks noGrp="1"/>
          </p:cNvSpPr>
          <p:nvPr>
            <p:ph type="sldNum" sz="quarter" idx="12"/>
          </p:nvPr>
        </p:nvSpPr>
        <p:spPr/>
        <p:txBody>
          <a:bodyPr/>
          <a:lstStyle/>
          <a:p>
            <a:pPr>
              <a:defRPr/>
            </a:pPr>
            <a:fld id="{29365B32-0A66-4572-87C9-59177F07ABFF}" type="slidenum">
              <a:rPr lang="en-US" smtClean="0"/>
              <a:pPr>
                <a:defRPr/>
              </a:pPr>
              <a:t>54</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90538" y="0"/>
            <a:ext cx="8229600" cy="881063"/>
          </a:xfrm>
        </p:spPr>
        <p:txBody>
          <a:bodyPr/>
          <a:lstStyle/>
          <a:p>
            <a:pPr eaLnBrk="1" hangingPunct="1">
              <a:defRPr/>
            </a:pPr>
            <a:r>
              <a:rPr lang="en-US" b="1" dirty="0" smtClean="0">
                <a:solidFill>
                  <a:schemeClr val="accent6">
                    <a:lumMod val="50000"/>
                  </a:schemeClr>
                </a:solidFill>
                <a:latin typeface="Calibri" pitchFamily="34" charset="0"/>
              </a:rPr>
              <a:t>Arithmetic Instructions</a:t>
            </a:r>
          </a:p>
        </p:txBody>
      </p:sp>
      <p:sp>
        <p:nvSpPr>
          <p:cNvPr id="6147" name="Rectangle 3"/>
          <p:cNvSpPr>
            <a:spLocks noGrp="1" noChangeArrowheads="1"/>
          </p:cNvSpPr>
          <p:nvPr>
            <p:ph type="body" idx="1"/>
          </p:nvPr>
        </p:nvSpPr>
        <p:spPr>
          <a:xfrm>
            <a:off x="457200" y="1004888"/>
            <a:ext cx="8229600" cy="5700712"/>
          </a:xfrm>
        </p:spPr>
        <p:txBody>
          <a:bodyPr/>
          <a:lstStyle/>
          <a:p>
            <a:pPr eaLnBrk="1" hangingPunct="1"/>
            <a:r>
              <a:rPr lang="en-US" sz="2200" smtClean="0">
                <a:latin typeface="Calibri" pitchFamily="34" charset="0"/>
              </a:rPr>
              <a:t>Arithmetic instructions perform several basic operations such as addition, subtraction, division, multiplication etc. After execution, the result is stored in the first operand.</a:t>
            </a:r>
          </a:p>
          <a:p>
            <a:pPr eaLnBrk="1" hangingPunct="1"/>
            <a:r>
              <a:rPr lang="en-US" sz="2200" smtClean="0">
                <a:solidFill>
                  <a:srgbClr val="FF0000"/>
                </a:solidFill>
                <a:latin typeface="Calibri" pitchFamily="34" charset="0"/>
              </a:rPr>
              <a:t>ADD</a:t>
            </a:r>
          </a:p>
          <a:p>
            <a:pPr lvl="1" eaLnBrk="1" hangingPunct="1"/>
            <a:r>
              <a:rPr lang="en-US" sz="2200" smtClean="0">
                <a:latin typeface="Calibri" pitchFamily="34" charset="0"/>
              </a:rPr>
              <a:t>8-bit addition between the accumulator (A) and a second operand.</a:t>
            </a:r>
          </a:p>
          <a:p>
            <a:pPr lvl="2" eaLnBrk="1" hangingPunct="1"/>
            <a:r>
              <a:rPr lang="en-US" sz="2200" smtClean="0">
                <a:latin typeface="Calibri" pitchFamily="34" charset="0"/>
              </a:rPr>
              <a:t>The result is always in the accumulator.</a:t>
            </a:r>
          </a:p>
          <a:p>
            <a:pPr lvl="2" eaLnBrk="1" hangingPunct="1"/>
            <a:r>
              <a:rPr lang="en-US" sz="2200" smtClean="0">
                <a:latin typeface="Calibri" pitchFamily="34" charset="0"/>
              </a:rPr>
              <a:t>The CY flag is set/reset appropriately.</a:t>
            </a:r>
          </a:p>
          <a:p>
            <a:pPr lvl="2" eaLnBrk="1" hangingPunct="1"/>
            <a:r>
              <a:rPr lang="en-US" sz="2200" smtClean="0">
                <a:solidFill>
                  <a:srgbClr val="FF0000"/>
                </a:solidFill>
                <a:latin typeface="Calibri" pitchFamily="34" charset="0"/>
              </a:rPr>
              <a:t>Eg: ADD A, R1</a:t>
            </a:r>
          </a:p>
          <a:p>
            <a:pPr eaLnBrk="1" hangingPunct="1"/>
            <a:r>
              <a:rPr lang="en-US" sz="2200" smtClean="0">
                <a:solidFill>
                  <a:srgbClr val="FF0000"/>
                </a:solidFill>
                <a:latin typeface="Calibri" pitchFamily="34" charset="0"/>
              </a:rPr>
              <a:t>ADDC</a:t>
            </a:r>
          </a:p>
          <a:p>
            <a:pPr lvl="1" eaLnBrk="1" hangingPunct="1"/>
            <a:r>
              <a:rPr lang="en-US" sz="2200" smtClean="0">
                <a:latin typeface="Calibri" pitchFamily="34" charset="0"/>
              </a:rPr>
              <a:t>8-bit addition between the accumulator, a second operand and the previous value of the CY flag.</a:t>
            </a:r>
          </a:p>
          <a:p>
            <a:pPr lvl="2" eaLnBrk="1" hangingPunct="1"/>
            <a:r>
              <a:rPr lang="en-US" sz="2200" smtClean="0">
                <a:latin typeface="Calibri" pitchFamily="34" charset="0"/>
              </a:rPr>
              <a:t>Useful for 16-bit addition in two steps.</a:t>
            </a:r>
          </a:p>
          <a:p>
            <a:pPr lvl="2" eaLnBrk="1" hangingPunct="1"/>
            <a:r>
              <a:rPr lang="en-US" sz="2200" smtClean="0">
                <a:latin typeface="Calibri" pitchFamily="34" charset="0"/>
              </a:rPr>
              <a:t>The CY flag is set/reset appropriately.</a:t>
            </a:r>
          </a:p>
          <a:p>
            <a:pPr lvl="2" eaLnBrk="1" hangingPunct="1"/>
            <a:r>
              <a:rPr lang="en-US" sz="2200" smtClean="0">
                <a:solidFill>
                  <a:srgbClr val="FF0000"/>
                </a:solidFill>
                <a:latin typeface="Calibri" pitchFamily="34" charset="0"/>
              </a:rPr>
              <a:t>Eg: ADDC A, R1</a:t>
            </a:r>
          </a:p>
        </p:txBody>
      </p:sp>
      <p:sp>
        <p:nvSpPr>
          <p:cNvPr id="4" name="Date Placeholder 3"/>
          <p:cNvSpPr>
            <a:spLocks noGrp="1"/>
          </p:cNvSpPr>
          <p:nvPr>
            <p:ph type="dt" sz="half" idx="10"/>
          </p:nvPr>
        </p:nvSpPr>
        <p:spPr/>
        <p:txBody>
          <a:bodyPr/>
          <a:lstStyle/>
          <a:p>
            <a:pPr>
              <a:defRPr/>
            </a:pPr>
            <a:fld id="{93C86523-8A3F-42E9-A3F3-B777F5F1C316}" type="datetime2">
              <a:rPr lang="en-US" smtClean="0"/>
              <a:pPr>
                <a:defRPr/>
              </a:pPr>
              <a:t>Friday, August 27, 2021</a:t>
            </a:fld>
            <a:endParaRPr lang="en-US"/>
          </a:p>
        </p:txBody>
      </p:sp>
      <p:sp>
        <p:nvSpPr>
          <p:cNvPr id="5" name="Slide Number Placeholder 4"/>
          <p:cNvSpPr>
            <a:spLocks noGrp="1"/>
          </p:cNvSpPr>
          <p:nvPr>
            <p:ph type="sldNum" sz="quarter" idx="12"/>
          </p:nvPr>
        </p:nvSpPr>
        <p:spPr/>
        <p:txBody>
          <a:bodyPr/>
          <a:lstStyle/>
          <a:p>
            <a:pPr>
              <a:defRPr/>
            </a:pPr>
            <a:fld id="{29365B32-0A66-4572-87C9-59177F07ABFF}" type="slidenum">
              <a:rPr lang="en-US" smtClean="0"/>
              <a:pPr>
                <a:defRPr/>
              </a:pPr>
              <a:t>55</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1"/>
          </p:nvPr>
        </p:nvSpPr>
        <p:spPr>
          <a:xfrm>
            <a:off x="457200" y="835025"/>
            <a:ext cx="8324850" cy="5848350"/>
          </a:xfrm>
        </p:spPr>
        <p:txBody>
          <a:bodyPr/>
          <a:lstStyle/>
          <a:p>
            <a:pPr eaLnBrk="1" hangingPunct="1">
              <a:lnSpc>
                <a:spcPct val="90000"/>
              </a:lnSpc>
            </a:pPr>
            <a:r>
              <a:rPr lang="en-US" sz="2200" smtClean="0">
                <a:solidFill>
                  <a:srgbClr val="FF0000"/>
                </a:solidFill>
              </a:rPr>
              <a:t>DAA</a:t>
            </a:r>
          </a:p>
          <a:p>
            <a:pPr lvl="1" eaLnBrk="1" hangingPunct="1">
              <a:lnSpc>
                <a:spcPct val="90000"/>
              </a:lnSpc>
            </a:pPr>
            <a:r>
              <a:rPr lang="en-US" sz="2200" smtClean="0"/>
              <a:t>Decimal adjust the accumulator.</a:t>
            </a:r>
          </a:p>
          <a:p>
            <a:pPr lvl="2" eaLnBrk="1" hangingPunct="1">
              <a:lnSpc>
                <a:spcPct val="90000"/>
              </a:lnSpc>
            </a:pPr>
            <a:r>
              <a:rPr lang="en-US" sz="2200" smtClean="0"/>
              <a:t>Format the accumulator into a proper 2 digit packed BCD number.</a:t>
            </a:r>
          </a:p>
          <a:p>
            <a:pPr lvl="2" eaLnBrk="1" hangingPunct="1">
              <a:lnSpc>
                <a:spcPct val="90000"/>
              </a:lnSpc>
            </a:pPr>
            <a:r>
              <a:rPr lang="en-US" sz="2200" smtClean="0"/>
              <a:t>Operates only on the accumulator.</a:t>
            </a:r>
          </a:p>
          <a:p>
            <a:pPr lvl="2" eaLnBrk="1" hangingPunct="1">
              <a:lnSpc>
                <a:spcPct val="90000"/>
              </a:lnSpc>
            </a:pPr>
            <a:r>
              <a:rPr lang="en-US" sz="2200" smtClean="0"/>
              <a:t>Works only after the ADD instruction.</a:t>
            </a:r>
          </a:p>
          <a:p>
            <a:pPr eaLnBrk="1" hangingPunct="1">
              <a:lnSpc>
                <a:spcPct val="90000"/>
              </a:lnSpc>
            </a:pPr>
            <a:r>
              <a:rPr lang="en-US" sz="2200" smtClean="0">
                <a:solidFill>
                  <a:srgbClr val="FF0000"/>
                </a:solidFill>
              </a:rPr>
              <a:t>SUBB</a:t>
            </a:r>
          </a:p>
          <a:p>
            <a:pPr lvl="1" eaLnBrk="1" hangingPunct="1">
              <a:lnSpc>
                <a:spcPct val="90000"/>
              </a:lnSpc>
            </a:pPr>
            <a:r>
              <a:rPr lang="en-US" sz="2200" smtClean="0"/>
              <a:t>Subtract with Borrow.</a:t>
            </a:r>
          </a:p>
          <a:p>
            <a:pPr lvl="2" eaLnBrk="1" hangingPunct="1">
              <a:lnSpc>
                <a:spcPct val="90000"/>
              </a:lnSpc>
            </a:pPr>
            <a:r>
              <a:rPr lang="en-US" sz="2200" smtClean="0"/>
              <a:t>Subtract an operand and the previous value of the borrow (carry) flag from the accumulator.</a:t>
            </a:r>
          </a:p>
          <a:p>
            <a:pPr lvl="3" eaLnBrk="1" hangingPunct="1">
              <a:lnSpc>
                <a:spcPct val="90000"/>
              </a:lnSpc>
            </a:pPr>
            <a:r>
              <a:rPr lang="en-US" sz="2200" smtClean="0"/>
              <a:t>A </a:t>
            </a:r>
            <a:r>
              <a:rPr lang="en-US" sz="2200" smtClean="0">
                <a:sym typeface="Symbol" pitchFamily="18" charset="2"/>
              </a:rPr>
              <a:t> A - &lt;operand&gt; - CY.</a:t>
            </a:r>
            <a:endParaRPr lang="en-US" sz="2200" smtClean="0"/>
          </a:p>
          <a:p>
            <a:pPr lvl="3" eaLnBrk="1" hangingPunct="1">
              <a:lnSpc>
                <a:spcPct val="90000"/>
              </a:lnSpc>
            </a:pPr>
            <a:r>
              <a:rPr lang="en-US" sz="2200" smtClean="0"/>
              <a:t>The result is always saved in the accumulator.</a:t>
            </a:r>
          </a:p>
          <a:p>
            <a:pPr lvl="3" eaLnBrk="1" hangingPunct="1">
              <a:lnSpc>
                <a:spcPct val="90000"/>
              </a:lnSpc>
            </a:pPr>
            <a:r>
              <a:rPr lang="en-US" sz="2200" smtClean="0"/>
              <a:t>The CY flag is set/reset appropriately.</a:t>
            </a:r>
          </a:p>
          <a:p>
            <a:pPr lvl="3" eaLnBrk="1" hangingPunct="1">
              <a:lnSpc>
                <a:spcPct val="90000"/>
              </a:lnSpc>
              <a:buFontTx/>
              <a:buNone/>
            </a:pPr>
            <a:r>
              <a:rPr lang="en-US" sz="2200" smtClean="0">
                <a:solidFill>
                  <a:srgbClr val="FF0000"/>
                </a:solidFill>
              </a:rPr>
              <a:t>Eg: SUBB A, R1</a:t>
            </a:r>
          </a:p>
          <a:p>
            <a:pPr lvl="1" eaLnBrk="1" hangingPunct="1">
              <a:lnSpc>
                <a:spcPct val="90000"/>
              </a:lnSpc>
            </a:pPr>
            <a:endParaRPr lang="en-US" sz="2000" smtClean="0"/>
          </a:p>
          <a:p>
            <a:pPr lvl="3" eaLnBrk="1" hangingPunct="1">
              <a:lnSpc>
                <a:spcPct val="90000"/>
              </a:lnSpc>
              <a:buFontTx/>
              <a:buNone/>
            </a:pPr>
            <a:endParaRPr lang="en-US" sz="1800" smtClean="0"/>
          </a:p>
        </p:txBody>
      </p:sp>
      <p:sp>
        <p:nvSpPr>
          <p:cNvPr id="3" name="Date Placeholder 2"/>
          <p:cNvSpPr>
            <a:spLocks noGrp="1"/>
          </p:cNvSpPr>
          <p:nvPr>
            <p:ph type="dt" sz="half" idx="10"/>
          </p:nvPr>
        </p:nvSpPr>
        <p:spPr/>
        <p:txBody>
          <a:bodyPr/>
          <a:lstStyle/>
          <a:p>
            <a:pPr>
              <a:defRPr/>
            </a:pPr>
            <a:fld id="{9C72A862-A875-4C6C-9A5D-047352F0CD8F}"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56</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417513"/>
            <a:ext cx="8229600" cy="6208712"/>
          </a:xfrm>
        </p:spPr>
        <p:txBody>
          <a:bodyPr/>
          <a:lstStyle/>
          <a:p>
            <a:pPr eaLnBrk="1" hangingPunct="1">
              <a:lnSpc>
                <a:spcPct val="90000"/>
              </a:lnSpc>
              <a:defRPr/>
            </a:pPr>
            <a:r>
              <a:rPr lang="en-US" sz="2200" dirty="0" smtClean="0">
                <a:solidFill>
                  <a:srgbClr val="FF0000"/>
                </a:solidFill>
                <a:latin typeface="Calibri" pitchFamily="34" charset="0"/>
              </a:rPr>
              <a:t>MUL AB</a:t>
            </a:r>
          </a:p>
          <a:p>
            <a:pPr lvl="1" eaLnBrk="1" hangingPunct="1">
              <a:lnSpc>
                <a:spcPct val="90000"/>
              </a:lnSpc>
              <a:defRPr/>
            </a:pPr>
            <a:r>
              <a:rPr lang="en-US" sz="2200" dirty="0" smtClean="0">
                <a:latin typeface="Calibri" pitchFamily="34" charset="0"/>
              </a:rPr>
              <a:t>Multiply A by B and place result in A:B.</a:t>
            </a:r>
          </a:p>
          <a:p>
            <a:pPr lvl="1" eaLnBrk="1" hangingPunct="1">
              <a:lnSpc>
                <a:spcPct val="90000"/>
              </a:lnSpc>
              <a:defRPr/>
            </a:pPr>
            <a:r>
              <a:rPr lang="en-US" sz="2200" dirty="0" smtClean="0">
                <a:latin typeface="Calibri" pitchFamily="34" charset="0"/>
              </a:rPr>
              <a:t>lower byte of result stored in A, higher byte in B</a:t>
            </a:r>
          </a:p>
          <a:p>
            <a:pPr lvl="1" eaLnBrk="1" hangingPunct="1">
              <a:lnSpc>
                <a:spcPct val="90000"/>
              </a:lnSpc>
              <a:buFontTx/>
              <a:buNone/>
              <a:defRPr/>
            </a:pPr>
            <a:endParaRPr lang="en-US" sz="2200" dirty="0" smtClean="0">
              <a:latin typeface="Calibri" pitchFamily="34" charset="0"/>
            </a:endParaRPr>
          </a:p>
          <a:p>
            <a:pPr marL="57150" lvl="1" indent="400050" eaLnBrk="1" hangingPunct="1">
              <a:lnSpc>
                <a:spcPct val="90000"/>
              </a:lnSpc>
              <a:buFont typeface="Arial" pitchFamily="34" charset="0"/>
              <a:buChar char="•"/>
              <a:defRPr/>
            </a:pPr>
            <a:r>
              <a:rPr lang="en-US" sz="2200" dirty="0" smtClean="0">
                <a:solidFill>
                  <a:srgbClr val="FF0000"/>
                </a:solidFill>
                <a:latin typeface="Calibri" pitchFamily="34" charset="0"/>
              </a:rPr>
              <a:t>DIV AB</a:t>
            </a:r>
          </a:p>
          <a:p>
            <a:pPr lvl="1" eaLnBrk="1" hangingPunct="1">
              <a:lnSpc>
                <a:spcPct val="90000"/>
              </a:lnSpc>
              <a:defRPr/>
            </a:pPr>
            <a:r>
              <a:rPr lang="en-US" sz="2200" dirty="0" smtClean="0">
                <a:latin typeface="Calibri" pitchFamily="34" charset="0"/>
              </a:rPr>
              <a:t>Divide A by B and place result quotient in A and remainder in B.</a:t>
            </a:r>
          </a:p>
          <a:p>
            <a:pPr lvl="1" eaLnBrk="1" hangingPunct="1">
              <a:lnSpc>
                <a:spcPct val="90000"/>
              </a:lnSpc>
              <a:buFontTx/>
              <a:buNone/>
              <a:defRPr/>
            </a:pPr>
            <a:endParaRPr lang="en-US" sz="2200" dirty="0" smtClean="0">
              <a:latin typeface="Calibri" pitchFamily="34" charset="0"/>
            </a:endParaRPr>
          </a:p>
          <a:p>
            <a:pPr eaLnBrk="1" hangingPunct="1">
              <a:lnSpc>
                <a:spcPct val="90000"/>
              </a:lnSpc>
              <a:defRPr/>
            </a:pPr>
            <a:r>
              <a:rPr lang="en-US" sz="2200" dirty="0" smtClean="0">
                <a:solidFill>
                  <a:srgbClr val="FF0000"/>
                </a:solidFill>
                <a:latin typeface="Calibri" pitchFamily="34" charset="0"/>
              </a:rPr>
              <a:t>INC</a:t>
            </a:r>
          </a:p>
          <a:p>
            <a:pPr lvl="1" eaLnBrk="1" hangingPunct="1">
              <a:lnSpc>
                <a:spcPct val="90000"/>
              </a:lnSpc>
              <a:defRPr/>
            </a:pPr>
            <a:r>
              <a:rPr lang="en-US" sz="2200" dirty="0" smtClean="0">
                <a:latin typeface="Calibri" pitchFamily="34" charset="0"/>
              </a:rPr>
              <a:t>Increment the operand by one.</a:t>
            </a:r>
          </a:p>
          <a:p>
            <a:pPr lvl="2" eaLnBrk="1" hangingPunct="1">
              <a:lnSpc>
                <a:spcPct val="90000"/>
              </a:lnSpc>
              <a:defRPr/>
            </a:pPr>
            <a:r>
              <a:rPr lang="en-US" sz="2200" dirty="0" smtClean="0">
                <a:latin typeface="Calibri" pitchFamily="34" charset="0"/>
              </a:rPr>
              <a:t>The operand can be a register, a direct address, an indirect address, the data pointer.</a:t>
            </a:r>
          </a:p>
          <a:p>
            <a:pPr lvl="2" eaLnBrk="1" hangingPunct="1">
              <a:lnSpc>
                <a:spcPct val="90000"/>
              </a:lnSpc>
              <a:defRPr/>
            </a:pPr>
            <a:r>
              <a:rPr lang="en-US" sz="2200" dirty="0" err="1" smtClean="0">
                <a:solidFill>
                  <a:srgbClr val="FF0000"/>
                </a:solidFill>
                <a:latin typeface="Calibri" pitchFamily="34" charset="0"/>
              </a:rPr>
              <a:t>Eg</a:t>
            </a:r>
            <a:r>
              <a:rPr lang="en-US" sz="2200" dirty="0" smtClean="0">
                <a:solidFill>
                  <a:srgbClr val="FF0000"/>
                </a:solidFill>
                <a:latin typeface="Calibri" pitchFamily="34" charset="0"/>
              </a:rPr>
              <a:t>: INC A</a:t>
            </a:r>
          </a:p>
          <a:p>
            <a:pPr eaLnBrk="1" hangingPunct="1">
              <a:lnSpc>
                <a:spcPct val="90000"/>
              </a:lnSpc>
              <a:defRPr/>
            </a:pPr>
            <a:r>
              <a:rPr lang="en-US" sz="2200" dirty="0" smtClean="0">
                <a:solidFill>
                  <a:srgbClr val="FF0000"/>
                </a:solidFill>
                <a:latin typeface="Calibri" pitchFamily="34" charset="0"/>
              </a:rPr>
              <a:t>DEC</a:t>
            </a:r>
          </a:p>
          <a:p>
            <a:pPr lvl="1" eaLnBrk="1" hangingPunct="1">
              <a:lnSpc>
                <a:spcPct val="90000"/>
              </a:lnSpc>
              <a:defRPr/>
            </a:pPr>
            <a:r>
              <a:rPr lang="en-US" sz="2200" dirty="0" smtClean="0">
                <a:latin typeface="Calibri" pitchFamily="34" charset="0"/>
              </a:rPr>
              <a:t>Decrement the operand by one.</a:t>
            </a:r>
          </a:p>
          <a:p>
            <a:pPr lvl="2" eaLnBrk="1" hangingPunct="1">
              <a:lnSpc>
                <a:spcPct val="90000"/>
              </a:lnSpc>
              <a:defRPr/>
            </a:pPr>
            <a:r>
              <a:rPr lang="en-US" sz="2200" dirty="0" smtClean="0">
                <a:latin typeface="Calibri" pitchFamily="34" charset="0"/>
              </a:rPr>
              <a:t>The operand can be a register, a direct address, an indirect address.</a:t>
            </a:r>
          </a:p>
          <a:p>
            <a:pPr lvl="2" eaLnBrk="1" hangingPunct="1">
              <a:lnSpc>
                <a:spcPct val="90000"/>
              </a:lnSpc>
              <a:defRPr/>
            </a:pPr>
            <a:r>
              <a:rPr lang="en-US" sz="2200" dirty="0" err="1" smtClean="0">
                <a:solidFill>
                  <a:srgbClr val="FF0000"/>
                </a:solidFill>
                <a:latin typeface="Calibri" pitchFamily="34" charset="0"/>
              </a:rPr>
              <a:t>Eg</a:t>
            </a:r>
            <a:r>
              <a:rPr lang="en-US" sz="2200" dirty="0" smtClean="0">
                <a:solidFill>
                  <a:srgbClr val="FF0000"/>
                </a:solidFill>
                <a:latin typeface="Calibri" pitchFamily="34" charset="0"/>
              </a:rPr>
              <a:t>: DEC A</a:t>
            </a:r>
          </a:p>
          <a:p>
            <a:pPr eaLnBrk="1" hangingPunct="1">
              <a:lnSpc>
                <a:spcPct val="90000"/>
              </a:lnSpc>
              <a:defRPr/>
            </a:pPr>
            <a:endParaRPr lang="en-US" sz="2000" dirty="0" smtClean="0"/>
          </a:p>
        </p:txBody>
      </p:sp>
      <p:sp>
        <p:nvSpPr>
          <p:cNvPr id="3" name="Date Placeholder 2"/>
          <p:cNvSpPr>
            <a:spLocks noGrp="1"/>
          </p:cNvSpPr>
          <p:nvPr>
            <p:ph type="dt" sz="half" idx="10"/>
          </p:nvPr>
        </p:nvSpPr>
        <p:spPr/>
        <p:txBody>
          <a:bodyPr/>
          <a:lstStyle/>
          <a:p>
            <a:pPr>
              <a:defRPr/>
            </a:pPr>
            <a:fld id="{B59ABE9F-E6A5-4BE7-83A9-0C56CF364B43}"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57</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p:cNvSpPr>
            <a:spLocks noGrp="1"/>
          </p:cNvSpPr>
          <p:nvPr>
            <p:ph type="sldNum" sz="quarter" idx="12"/>
          </p:nvPr>
        </p:nvSpPr>
        <p:spPr>
          <a:noFill/>
        </p:spPr>
        <p:txBody>
          <a:bodyPr/>
          <a:lstStyle/>
          <a:p>
            <a:fld id="{ED7FE745-0656-47A2-B606-826D0155A5CC}" type="slidenum">
              <a:rPr lang="en-US" smtClean="0"/>
              <a:pPr/>
              <a:t>58</a:t>
            </a:fld>
            <a:endParaRPr lang="en-US" smtClean="0"/>
          </a:p>
        </p:txBody>
      </p:sp>
      <p:pic>
        <p:nvPicPr>
          <p:cNvPr id="9219" name="Picture 4"/>
          <p:cNvPicPr>
            <a:picLocks noChangeAspect="1" noChangeArrowheads="1"/>
          </p:cNvPicPr>
          <p:nvPr/>
        </p:nvPicPr>
        <p:blipFill>
          <a:blip r:embed="rId2"/>
          <a:srcRect/>
          <a:stretch>
            <a:fillRect/>
          </a:stretch>
        </p:blipFill>
        <p:spPr bwMode="auto">
          <a:xfrm>
            <a:off x="0" y="0"/>
            <a:ext cx="9144000" cy="6858000"/>
          </a:xfrm>
          <a:prstGeom prst="rect">
            <a:avLst/>
          </a:prstGeom>
          <a:noFill/>
          <a:ln w="12700">
            <a:noFill/>
            <a:miter lim="800000"/>
            <a:headEnd/>
            <a:tailEnd/>
          </a:ln>
        </p:spPr>
      </p:pic>
      <p:sp>
        <p:nvSpPr>
          <p:cNvPr id="4" name="Date Placeholder 3"/>
          <p:cNvSpPr>
            <a:spLocks noGrp="1"/>
          </p:cNvSpPr>
          <p:nvPr>
            <p:ph type="dt" sz="half" idx="10"/>
          </p:nvPr>
        </p:nvSpPr>
        <p:spPr/>
        <p:txBody>
          <a:bodyPr/>
          <a:lstStyle/>
          <a:p>
            <a:pPr>
              <a:defRPr/>
            </a:pPr>
            <a:fld id="{F2B03644-5981-419B-9296-23961A87EB4E}"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0"/>
            <a:ext cx="8229600" cy="1143000"/>
          </a:xfrm>
        </p:spPr>
        <p:txBody>
          <a:bodyPr/>
          <a:lstStyle/>
          <a:p>
            <a:pPr eaLnBrk="1" hangingPunct="1">
              <a:defRPr/>
            </a:pPr>
            <a:r>
              <a:rPr lang="en-US" b="1" dirty="0" smtClean="0">
                <a:solidFill>
                  <a:schemeClr val="accent6">
                    <a:lumMod val="50000"/>
                  </a:schemeClr>
                </a:solidFill>
                <a:latin typeface="Calibri" pitchFamily="34" charset="0"/>
              </a:rPr>
              <a:t>Logical Operations</a:t>
            </a:r>
          </a:p>
        </p:txBody>
      </p:sp>
      <p:sp>
        <p:nvSpPr>
          <p:cNvPr id="10243" name="Rectangle 3"/>
          <p:cNvSpPr>
            <a:spLocks noGrp="1" noChangeArrowheads="1"/>
          </p:cNvSpPr>
          <p:nvPr>
            <p:ph type="body" idx="1"/>
          </p:nvPr>
        </p:nvSpPr>
        <p:spPr>
          <a:xfrm>
            <a:off x="457200" y="1263650"/>
            <a:ext cx="8229600" cy="5238750"/>
          </a:xfrm>
        </p:spPr>
        <p:txBody>
          <a:bodyPr/>
          <a:lstStyle/>
          <a:p>
            <a:pPr eaLnBrk="1" hangingPunct="1"/>
            <a:r>
              <a:rPr lang="en-US" sz="2400" smtClean="0">
                <a:latin typeface="Calibri" pitchFamily="34" charset="0"/>
              </a:rPr>
              <a:t>Logic instructions perform logic operations upon corresponding bits of two registers. After execution, the result is stored in the first operand. </a:t>
            </a:r>
          </a:p>
          <a:p>
            <a:pPr eaLnBrk="1" hangingPunct="1"/>
            <a:r>
              <a:rPr lang="en-US" sz="2400" smtClean="0">
                <a:solidFill>
                  <a:srgbClr val="C00000"/>
                </a:solidFill>
                <a:latin typeface="Calibri" pitchFamily="34" charset="0"/>
              </a:rPr>
              <a:t>ANL (Logical AND) / ORL (Logical OR)</a:t>
            </a:r>
          </a:p>
          <a:p>
            <a:pPr lvl="1" eaLnBrk="1" hangingPunct="1"/>
            <a:r>
              <a:rPr lang="en-US" sz="2400" smtClean="0">
                <a:latin typeface="Calibri" pitchFamily="34" charset="0"/>
              </a:rPr>
              <a:t>Work on byte sized operands or the CY flag.</a:t>
            </a:r>
          </a:p>
          <a:p>
            <a:pPr lvl="2" eaLnBrk="1" hangingPunct="1"/>
            <a:r>
              <a:rPr lang="en-US" smtClean="0">
                <a:latin typeface="Calibri" pitchFamily="34" charset="0"/>
              </a:rPr>
              <a:t>Eg: </a:t>
            </a:r>
            <a:r>
              <a:rPr lang="en-US" smtClean="0">
                <a:solidFill>
                  <a:srgbClr val="C00000"/>
                </a:solidFill>
                <a:latin typeface="Calibri" pitchFamily="34" charset="0"/>
              </a:rPr>
              <a:t>ANL A, Rn</a:t>
            </a:r>
          </a:p>
          <a:p>
            <a:pPr lvl="2" eaLnBrk="1" hangingPunct="1">
              <a:buFontTx/>
              <a:buNone/>
            </a:pPr>
            <a:r>
              <a:rPr lang="en-US" smtClean="0">
                <a:solidFill>
                  <a:srgbClr val="C00000"/>
                </a:solidFill>
                <a:latin typeface="Calibri" pitchFamily="34" charset="0"/>
              </a:rPr>
              <a:t>	      ANL A, direct</a:t>
            </a:r>
          </a:p>
          <a:p>
            <a:pPr lvl="2" eaLnBrk="1" hangingPunct="1">
              <a:buFontTx/>
              <a:buNone/>
            </a:pPr>
            <a:r>
              <a:rPr lang="en-US" smtClean="0">
                <a:solidFill>
                  <a:srgbClr val="C00000"/>
                </a:solidFill>
                <a:latin typeface="Calibri" pitchFamily="34" charset="0"/>
              </a:rPr>
              <a:t>         ORL A, Rn</a:t>
            </a:r>
          </a:p>
          <a:p>
            <a:pPr eaLnBrk="1" hangingPunct="1"/>
            <a:r>
              <a:rPr lang="en-US" sz="2400" smtClean="0">
                <a:solidFill>
                  <a:srgbClr val="C00000"/>
                </a:solidFill>
                <a:latin typeface="Calibri" pitchFamily="34" charset="0"/>
              </a:rPr>
              <a:t>XRL (Exclusive-OR) </a:t>
            </a:r>
          </a:p>
          <a:p>
            <a:pPr lvl="1" eaLnBrk="1" hangingPunct="1"/>
            <a:r>
              <a:rPr lang="en-US" sz="2400" smtClean="0">
                <a:latin typeface="Calibri" pitchFamily="34" charset="0"/>
              </a:rPr>
              <a:t>Works on bytes only.</a:t>
            </a:r>
          </a:p>
          <a:p>
            <a:pPr lvl="1" eaLnBrk="1" hangingPunct="1"/>
            <a:r>
              <a:rPr lang="en-US" sz="2400" smtClean="0">
                <a:solidFill>
                  <a:srgbClr val="C00000"/>
                </a:solidFill>
                <a:latin typeface="Calibri" pitchFamily="34" charset="0"/>
              </a:rPr>
              <a:t>Eg:  XRL A, Rn</a:t>
            </a:r>
          </a:p>
          <a:p>
            <a:pPr lvl="2" eaLnBrk="1" hangingPunct="1">
              <a:buFontTx/>
              <a:buNone/>
            </a:pPr>
            <a:endParaRPr lang="en-US" sz="2000" smtClean="0"/>
          </a:p>
          <a:p>
            <a:pPr lvl="3" eaLnBrk="1" hangingPunct="1"/>
            <a:endParaRPr lang="en-US" sz="800" smtClean="0"/>
          </a:p>
        </p:txBody>
      </p:sp>
      <p:sp>
        <p:nvSpPr>
          <p:cNvPr id="4" name="Date Placeholder 3"/>
          <p:cNvSpPr>
            <a:spLocks noGrp="1"/>
          </p:cNvSpPr>
          <p:nvPr>
            <p:ph type="dt" sz="half" idx="10"/>
          </p:nvPr>
        </p:nvSpPr>
        <p:spPr/>
        <p:txBody>
          <a:bodyPr/>
          <a:lstStyle/>
          <a:p>
            <a:pPr>
              <a:defRPr/>
            </a:pPr>
            <a:fld id="{59996968-DE71-4CAD-95C7-584A05FA50E0}" type="datetime2">
              <a:rPr lang="en-US" smtClean="0"/>
              <a:pPr>
                <a:defRPr/>
              </a:pPr>
              <a:t>Friday, August 27, 2021</a:t>
            </a:fld>
            <a:endParaRPr lang="en-US"/>
          </a:p>
        </p:txBody>
      </p:sp>
      <p:sp>
        <p:nvSpPr>
          <p:cNvPr id="5" name="Slide Number Placeholder 4"/>
          <p:cNvSpPr>
            <a:spLocks noGrp="1"/>
          </p:cNvSpPr>
          <p:nvPr>
            <p:ph type="sldNum" sz="quarter" idx="12"/>
          </p:nvPr>
        </p:nvSpPr>
        <p:spPr/>
        <p:txBody>
          <a:bodyPr/>
          <a:lstStyle/>
          <a:p>
            <a:pPr>
              <a:defRPr/>
            </a:pPr>
            <a:fld id="{29365B32-0A66-4572-87C9-59177F07ABFF}" type="slidenum">
              <a:rPr lang="en-US" smtClean="0"/>
              <a:pPr>
                <a:defRPr/>
              </a:pPr>
              <a:t>59</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body" idx="1"/>
          </p:nvPr>
        </p:nvSpPr>
        <p:spPr>
          <a:xfrm>
            <a:off x="457200" y="685800"/>
            <a:ext cx="8229600" cy="5962650"/>
          </a:xfrm>
        </p:spPr>
        <p:txBody>
          <a:bodyPr/>
          <a:lstStyle/>
          <a:p>
            <a:pPr lvl="1" eaLnBrk="1" hangingPunct="1"/>
            <a:endParaRPr lang="en-US" sz="2400" smtClean="0">
              <a:latin typeface="Calibri" pitchFamily="34" charset="0"/>
            </a:endParaRPr>
          </a:p>
          <a:p>
            <a:pPr eaLnBrk="1" hangingPunct="1"/>
            <a:r>
              <a:rPr lang="en-US" sz="2400" smtClean="0">
                <a:solidFill>
                  <a:srgbClr val="C00000"/>
                </a:solidFill>
                <a:latin typeface="Calibri" pitchFamily="34" charset="0"/>
              </a:rPr>
              <a:t>CPL / CLR</a:t>
            </a:r>
          </a:p>
          <a:p>
            <a:pPr lvl="1" eaLnBrk="1" hangingPunct="1"/>
            <a:r>
              <a:rPr lang="en-US" sz="2400" smtClean="0">
                <a:latin typeface="Calibri" pitchFamily="34" charset="0"/>
              </a:rPr>
              <a:t>Complement  / Clear.</a:t>
            </a:r>
          </a:p>
          <a:p>
            <a:pPr lvl="1" eaLnBrk="1" hangingPunct="1"/>
            <a:r>
              <a:rPr lang="en-US" sz="2400" smtClean="0">
                <a:latin typeface="Calibri" pitchFamily="34" charset="0"/>
              </a:rPr>
              <a:t>Work on the accumulator or a bit.</a:t>
            </a:r>
          </a:p>
          <a:p>
            <a:pPr lvl="2" eaLnBrk="1" hangingPunct="1">
              <a:buFontTx/>
              <a:buNone/>
            </a:pPr>
            <a:r>
              <a:rPr lang="en-US" smtClean="0">
                <a:solidFill>
                  <a:srgbClr val="C00000"/>
                </a:solidFill>
                <a:latin typeface="Calibri" pitchFamily="34" charset="0"/>
              </a:rPr>
              <a:t>Eg: CPL	P1.2, CLR A</a:t>
            </a:r>
          </a:p>
          <a:p>
            <a:pPr eaLnBrk="1" hangingPunct="1"/>
            <a:r>
              <a:rPr lang="en-US" sz="2400" smtClean="0">
                <a:solidFill>
                  <a:srgbClr val="C00000"/>
                </a:solidFill>
                <a:latin typeface="Calibri" pitchFamily="34" charset="0"/>
              </a:rPr>
              <a:t>RL / RLC / RR / RRC</a:t>
            </a:r>
          </a:p>
          <a:p>
            <a:pPr lvl="1" eaLnBrk="1" hangingPunct="1"/>
            <a:r>
              <a:rPr lang="en-US" sz="2400" smtClean="0">
                <a:latin typeface="Calibri" pitchFamily="34" charset="0"/>
              </a:rPr>
              <a:t>Rotate the accumulator.</a:t>
            </a:r>
          </a:p>
          <a:p>
            <a:pPr lvl="2" eaLnBrk="1" hangingPunct="1"/>
            <a:r>
              <a:rPr lang="en-US" smtClean="0">
                <a:latin typeface="Calibri" pitchFamily="34" charset="0"/>
              </a:rPr>
              <a:t>RL and RR without the carry</a:t>
            </a:r>
          </a:p>
          <a:p>
            <a:pPr lvl="2" eaLnBrk="1" hangingPunct="1"/>
            <a:r>
              <a:rPr lang="en-US" smtClean="0">
                <a:latin typeface="Calibri" pitchFamily="34" charset="0"/>
              </a:rPr>
              <a:t>RLC and RRC rotate through the carry.</a:t>
            </a:r>
          </a:p>
          <a:p>
            <a:pPr lvl="2" eaLnBrk="1" hangingPunct="1"/>
            <a:r>
              <a:rPr lang="en-US" smtClean="0">
                <a:solidFill>
                  <a:srgbClr val="C00000"/>
                </a:solidFill>
                <a:latin typeface="Calibri" pitchFamily="34" charset="0"/>
              </a:rPr>
              <a:t>Eg: RL A, RRC A</a:t>
            </a:r>
          </a:p>
          <a:p>
            <a:pPr eaLnBrk="1" hangingPunct="1"/>
            <a:r>
              <a:rPr lang="en-US" sz="2400" smtClean="0">
                <a:solidFill>
                  <a:srgbClr val="C00000"/>
                </a:solidFill>
                <a:latin typeface="Calibri" pitchFamily="34" charset="0"/>
              </a:rPr>
              <a:t>SWAP A</a:t>
            </a:r>
          </a:p>
          <a:p>
            <a:pPr lvl="1" eaLnBrk="1" hangingPunct="1"/>
            <a:r>
              <a:rPr lang="en-US" sz="2400" smtClean="0">
                <a:latin typeface="Calibri" pitchFamily="34" charset="0"/>
              </a:rPr>
              <a:t>Swap the upper and lower nibbles of the accumulator.</a:t>
            </a:r>
          </a:p>
          <a:p>
            <a:pPr lvl="2" eaLnBrk="1" hangingPunct="1"/>
            <a:endParaRPr lang="en-US" smtClean="0"/>
          </a:p>
          <a:p>
            <a:pPr eaLnBrk="1" hangingPunct="1"/>
            <a:endParaRPr lang="en-US" smtClean="0"/>
          </a:p>
        </p:txBody>
      </p:sp>
      <p:sp>
        <p:nvSpPr>
          <p:cNvPr id="3" name="Date Placeholder 2"/>
          <p:cNvSpPr>
            <a:spLocks noGrp="1"/>
          </p:cNvSpPr>
          <p:nvPr>
            <p:ph type="dt" sz="half" idx="10"/>
          </p:nvPr>
        </p:nvSpPr>
        <p:spPr/>
        <p:txBody>
          <a:bodyPr/>
          <a:lstStyle/>
          <a:p>
            <a:pPr>
              <a:defRPr/>
            </a:pPr>
            <a:fld id="{D61DDDBB-846B-4317-9B42-175A67C4FDF0}"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60</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12"/>
          </p:nvPr>
        </p:nvSpPr>
        <p:spPr>
          <a:noFill/>
        </p:spPr>
        <p:txBody>
          <a:bodyPr/>
          <a:lstStyle/>
          <a:p>
            <a:fld id="{0DA470D4-23D2-4D28-A3B5-99316E2A16F2}" type="slidenum">
              <a:rPr lang="en-US" smtClean="0"/>
              <a:pPr/>
              <a:t>61</a:t>
            </a:fld>
            <a:endParaRPr lang="en-US" smtClean="0"/>
          </a:p>
        </p:txBody>
      </p:sp>
      <p:pic>
        <p:nvPicPr>
          <p:cNvPr id="12291"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12700">
            <a:noFill/>
            <a:miter lim="800000"/>
            <a:headEnd/>
            <a:tailEnd/>
          </a:ln>
        </p:spPr>
      </p:pic>
      <p:sp>
        <p:nvSpPr>
          <p:cNvPr id="4" name="Date Placeholder 3"/>
          <p:cNvSpPr>
            <a:spLocks noGrp="1"/>
          </p:cNvSpPr>
          <p:nvPr>
            <p:ph type="dt" sz="half" idx="10"/>
          </p:nvPr>
        </p:nvSpPr>
        <p:spPr/>
        <p:txBody>
          <a:bodyPr/>
          <a:lstStyle/>
          <a:p>
            <a:pPr>
              <a:defRPr/>
            </a:pPr>
            <a:fld id="{DAAEFC2A-F04C-494B-BFF7-678C297CD855}"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12750" y="0"/>
            <a:ext cx="8229600" cy="911225"/>
          </a:xfrm>
        </p:spPr>
        <p:txBody>
          <a:bodyPr/>
          <a:lstStyle/>
          <a:p>
            <a:pPr eaLnBrk="1" hangingPunct="1">
              <a:defRPr/>
            </a:pPr>
            <a:r>
              <a:rPr lang="en-US" b="1" dirty="0" smtClean="0">
                <a:solidFill>
                  <a:schemeClr val="accent6">
                    <a:lumMod val="50000"/>
                  </a:schemeClr>
                </a:solidFill>
                <a:latin typeface="Calibri" pitchFamily="34" charset="0"/>
              </a:rPr>
              <a:t>Data Transfer Instructions</a:t>
            </a:r>
          </a:p>
        </p:txBody>
      </p:sp>
      <p:sp>
        <p:nvSpPr>
          <p:cNvPr id="13315" name="Rectangle 3"/>
          <p:cNvSpPr>
            <a:spLocks noGrp="1" noChangeArrowheads="1"/>
          </p:cNvSpPr>
          <p:nvPr>
            <p:ph type="body" idx="1"/>
          </p:nvPr>
        </p:nvSpPr>
        <p:spPr>
          <a:xfrm>
            <a:off x="468313" y="1069975"/>
            <a:ext cx="8229600" cy="5602288"/>
          </a:xfrm>
        </p:spPr>
        <p:txBody>
          <a:bodyPr/>
          <a:lstStyle/>
          <a:p>
            <a:pPr eaLnBrk="1" hangingPunct="1">
              <a:lnSpc>
                <a:spcPct val="90000"/>
              </a:lnSpc>
            </a:pPr>
            <a:r>
              <a:rPr lang="en-US" sz="2200" smtClean="0">
                <a:latin typeface="Calibri" pitchFamily="34" charset="0"/>
              </a:rPr>
              <a:t>Data transfer instructions move the content of one register to another. The register the content of which is moved remains unchanged.</a:t>
            </a:r>
          </a:p>
          <a:p>
            <a:pPr eaLnBrk="1" hangingPunct="1">
              <a:lnSpc>
                <a:spcPct val="90000"/>
              </a:lnSpc>
            </a:pPr>
            <a:endParaRPr lang="en-US" sz="2200" smtClean="0">
              <a:latin typeface="Calibri" pitchFamily="34" charset="0"/>
            </a:endParaRPr>
          </a:p>
          <a:p>
            <a:pPr eaLnBrk="1" hangingPunct="1">
              <a:lnSpc>
                <a:spcPct val="90000"/>
              </a:lnSpc>
            </a:pPr>
            <a:r>
              <a:rPr lang="en-US" sz="2200" smtClean="0">
                <a:solidFill>
                  <a:srgbClr val="C00000"/>
                </a:solidFill>
                <a:latin typeface="Calibri" pitchFamily="34" charset="0"/>
              </a:rPr>
              <a:t>MOV</a:t>
            </a:r>
          </a:p>
          <a:p>
            <a:pPr lvl="1" eaLnBrk="1" hangingPunct="1">
              <a:lnSpc>
                <a:spcPct val="90000"/>
              </a:lnSpc>
            </a:pPr>
            <a:r>
              <a:rPr lang="en-US" sz="2200" smtClean="0">
                <a:latin typeface="Calibri" pitchFamily="34" charset="0"/>
              </a:rPr>
              <a:t>8-bit data transfer for internal RAM and the SFR.</a:t>
            </a:r>
          </a:p>
          <a:p>
            <a:pPr lvl="2" eaLnBrk="1" hangingPunct="1">
              <a:lnSpc>
                <a:spcPct val="90000"/>
              </a:lnSpc>
            </a:pPr>
            <a:r>
              <a:rPr lang="en-US" sz="2200" smtClean="0">
                <a:solidFill>
                  <a:srgbClr val="C00000"/>
                </a:solidFill>
                <a:latin typeface="Calibri" pitchFamily="34" charset="0"/>
              </a:rPr>
              <a:t>Eg: MOV A, Rn</a:t>
            </a:r>
            <a:r>
              <a:rPr lang="en-US" sz="2200" smtClean="0">
                <a:latin typeface="Calibri" pitchFamily="34" charset="0"/>
              </a:rPr>
              <a:t>	</a:t>
            </a:r>
          </a:p>
          <a:p>
            <a:pPr eaLnBrk="1" hangingPunct="1"/>
            <a:r>
              <a:rPr lang="en-US" sz="2200" smtClean="0">
                <a:solidFill>
                  <a:srgbClr val="C00000"/>
                </a:solidFill>
                <a:latin typeface="Calibri" pitchFamily="34" charset="0"/>
              </a:rPr>
              <a:t>MOV</a:t>
            </a:r>
          </a:p>
          <a:p>
            <a:pPr lvl="1" eaLnBrk="1" hangingPunct="1"/>
            <a:r>
              <a:rPr lang="en-US" sz="2200" smtClean="0">
                <a:latin typeface="Calibri" pitchFamily="34" charset="0"/>
              </a:rPr>
              <a:t>1-bit data transfer involving the CY flag</a:t>
            </a:r>
          </a:p>
          <a:p>
            <a:pPr lvl="2" eaLnBrk="1" hangingPunct="1"/>
            <a:r>
              <a:rPr lang="en-US" sz="2200" smtClean="0">
                <a:solidFill>
                  <a:srgbClr val="C00000"/>
                </a:solidFill>
                <a:latin typeface="Calibri" pitchFamily="34" charset="0"/>
              </a:rPr>
              <a:t>Eg: MOV C, bit</a:t>
            </a:r>
          </a:p>
          <a:p>
            <a:pPr lvl="2" eaLnBrk="1" hangingPunct="1">
              <a:buFontTx/>
              <a:buNone/>
            </a:pPr>
            <a:r>
              <a:rPr lang="en-US" sz="2200" smtClean="0">
                <a:solidFill>
                  <a:srgbClr val="C00000"/>
                </a:solidFill>
                <a:latin typeface="Calibri" pitchFamily="34" charset="0"/>
              </a:rPr>
              <a:t>	      MOV bit, C</a:t>
            </a:r>
          </a:p>
          <a:p>
            <a:pPr eaLnBrk="1" hangingPunct="1"/>
            <a:r>
              <a:rPr lang="en-US" sz="2200" smtClean="0">
                <a:solidFill>
                  <a:srgbClr val="C00000"/>
                </a:solidFill>
                <a:latin typeface="Calibri" pitchFamily="34" charset="0"/>
              </a:rPr>
              <a:t>MOV</a:t>
            </a:r>
          </a:p>
          <a:p>
            <a:pPr lvl="1" eaLnBrk="1" hangingPunct="1"/>
            <a:r>
              <a:rPr lang="en-US" sz="2200" smtClean="0">
                <a:latin typeface="Calibri" pitchFamily="34" charset="0"/>
              </a:rPr>
              <a:t>16-bit data transfer involving the DPTR</a:t>
            </a:r>
          </a:p>
          <a:p>
            <a:pPr lvl="2" eaLnBrk="1" hangingPunct="1"/>
            <a:r>
              <a:rPr lang="en-US" sz="2200" smtClean="0">
                <a:solidFill>
                  <a:srgbClr val="C00000"/>
                </a:solidFill>
                <a:latin typeface="Calibri" pitchFamily="34" charset="0"/>
              </a:rPr>
              <a:t>Eg: MOV DPTR, #data</a:t>
            </a:r>
          </a:p>
          <a:p>
            <a:pPr lvl="2" eaLnBrk="1" hangingPunct="1">
              <a:lnSpc>
                <a:spcPct val="90000"/>
              </a:lnSpc>
            </a:pPr>
            <a:endParaRPr lang="en-US" sz="2200" smtClean="0">
              <a:latin typeface="Calibri" pitchFamily="34" charset="0"/>
            </a:endParaRPr>
          </a:p>
        </p:txBody>
      </p:sp>
      <p:sp>
        <p:nvSpPr>
          <p:cNvPr id="4" name="Date Placeholder 3"/>
          <p:cNvSpPr>
            <a:spLocks noGrp="1"/>
          </p:cNvSpPr>
          <p:nvPr>
            <p:ph type="dt" sz="half" idx="10"/>
          </p:nvPr>
        </p:nvSpPr>
        <p:spPr/>
        <p:txBody>
          <a:bodyPr/>
          <a:lstStyle/>
          <a:p>
            <a:pPr>
              <a:defRPr/>
            </a:pPr>
            <a:fld id="{6E49C9B3-EF60-4A9E-A9B0-D0651F3180AB}" type="datetime2">
              <a:rPr lang="en-US" smtClean="0"/>
              <a:pPr>
                <a:defRPr/>
              </a:pPr>
              <a:t>Friday, August 27, 2021</a:t>
            </a:fld>
            <a:endParaRPr lang="en-US"/>
          </a:p>
        </p:txBody>
      </p:sp>
      <p:sp>
        <p:nvSpPr>
          <p:cNvPr id="5" name="Slide Number Placeholder 4"/>
          <p:cNvSpPr>
            <a:spLocks noGrp="1"/>
          </p:cNvSpPr>
          <p:nvPr>
            <p:ph type="sldNum" sz="quarter" idx="12"/>
          </p:nvPr>
        </p:nvSpPr>
        <p:spPr/>
        <p:txBody>
          <a:bodyPr/>
          <a:lstStyle/>
          <a:p>
            <a:pPr>
              <a:defRPr/>
            </a:pPr>
            <a:fld id="{29365B32-0A66-4572-87C9-59177F07ABFF}" type="slidenum">
              <a:rPr lang="en-US" smtClean="0"/>
              <a:pPr>
                <a:defRPr/>
              </a:pPr>
              <a:t>62</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idx="1"/>
          </p:nvPr>
        </p:nvSpPr>
        <p:spPr>
          <a:xfrm>
            <a:off x="569913" y="552450"/>
            <a:ext cx="8229600" cy="5961063"/>
          </a:xfrm>
        </p:spPr>
        <p:txBody>
          <a:bodyPr/>
          <a:lstStyle/>
          <a:p>
            <a:pPr eaLnBrk="1" hangingPunct="1"/>
            <a:r>
              <a:rPr lang="en-US" sz="2200" smtClean="0">
                <a:solidFill>
                  <a:srgbClr val="C00000"/>
                </a:solidFill>
                <a:latin typeface="Calibri" pitchFamily="34" charset="0"/>
              </a:rPr>
              <a:t>MOVC</a:t>
            </a:r>
          </a:p>
          <a:p>
            <a:pPr lvl="1" eaLnBrk="1" hangingPunct="1"/>
            <a:r>
              <a:rPr lang="en-US" sz="2200" smtClean="0">
                <a:latin typeface="Calibri" pitchFamily="34" charset="0"/>
              </a:rPr>
              <a:t>Move Code Byte</a:t>
            </a:r>
          </a:p>
          <a:p>
            <a:pPr lvl="2" eaLnBrk="1" hangingPunct="1"/>
            <a:r>
              <a:rPr lang="en-US" sz="2200" smtClean="0">
                <a:latin typeface="Calibri" pitchFamily="34" charset="0"/>
              </a:rPr>
              <a:t>Load the accumulator with a code byte from external program memory.</a:t>
            </a:r>
          </a:p>
          <a:p>
            <a:pPr lvl="2" eaLnBrk="1" hangingPunct="1"/>
            <a:r>
              <a:rPr lang="en-US" sz="2200" smtClean="0">
                <a:latin typeface="Calibri" pitchFamily="34" charset="0"/>
              </a:rPr>
              <a:t>Must use indexed addressing</a:t>
            </a:r>
          </a:p>
          <a:p>
            <a:pPr lvl="2" eaLnBrk="1" hangingPunct="1"/>
            <a:r>
              <a:rPr lang="en-US" sz="2200" smtClean="0">
                <a:solidFill>
                  <a:srgbClr val="C00000"/>
                </a:solidFill>
                <a:latin typeface="Calibri" pitchFamily="34" charset="0"/>
              </a:rPr>
              <a:t>Eg:  MOVC	A, @A+DPTR</a:t>
            </a:r>
          </a:p>
          <a:p>
            <a:pPr lvl="3" eaLnBrk="1" hangingPunct="1">
              <a:buFontTx/>
              <a:buNone/>
            </a:pPr>
            <a:r>
              <a:rPr lang="en-US" sz="2200" smtClean="0">
                <a:solidFill>
                  <a:srgbClr val="C00000"/>
                </a:solidFill>
                <a:latin typeface="Calibri" pitchFamily="34" charset="0"/>
              </a:rPr>
              <a:t>    MOVC	A, @A+PC</a:t>
            </a:r>
          </a:p>
          <a:p>
            <a:pPr eaLnBrk="1" hangingPunct="1"/>
            <a:r>
              <a:rPr lang="en-US" sz="2200" smtClean="0">
                <a:solidFill>
                  <a:srgbClr val="C00000"/>
                </a:solidFill>
                <a:latin typeface="Calibri" pitchFamily="34" charset="0"/>
              </a:rPr>
              <a:t>MOVX</a:t>
            </a:r>
          </a:p>
          <a:p>
            <a:pPr lvl="1" eaLnBrk="1" hangingPunct="1"/>
            <a:r>
              <a:rPr lang="en-US" sz="2200" smtClean="0">
                <a:latin typeface="Calibri" pitchFamily="34" charset="0"/>
              </a:rPr>
              <a:t>Data transfer between the accumulator and a byte from external data memory.</a:t>
            </a:r>
          </a:p>
          <a:p>
            <a:pPr lvl="2" eaLnBrk="1" hangingPunct="1"/>
            <a:r>
              <a:rPr lang="en-US" sz="2200" smtClean="0">
                <a:solidFill>
                  <a:srgbClr val="C00000"/>
                </a:solidFill>
                <a:latin typeface="Calibri" pitchFamily="34" charset="0"/>
              </a:rPr>
              <a:t>Eg: MOVX	A, @Ri</a:t>
            </a:r>
          </a:p>
          <a:p>
            <a:pPr lvl="2" eaLnBrk="1" hangingPunct="1">
              <a:buFontTx/>
              <a:buNone/>
            </a:pPr>
            <a:r>
              <a:rPr lang="en-US" sz="2200" smtClean="0">
                <a:solidFill>
                  <a:srgbClr val="C00000"/>
                </a:solidFill>
                <a:latin typeface="Calibri" pitchFamily="34" charset="0"/>
              </a:rPr>
              <a:t>	      MOVX	A, @DPTR</a:t>
            </a:r>
          </a:p>
          <a:p>
            <a:pPr lvl="2" eaLnBrk="1" hangingPunct="1">
              <a:buFontTx/>
              <a:buNone/>
            </a:pPr>
            <a:r>
              <a:rPr lang="en-US" sz="2200" smtClean="0">
                <a:solidFill>
                  <a:srgbClr val="C00000"/>
                </a:solidFill>
                <a:latin typeface="Calibri" pitchFamily="34" charset="0"/>
              </a:rPr>
              <a:t>	      MOVX	@Ri, A</a:t>
            </a:r>
          </a:p>
          <a:p>
            <a:pPr lvl="2" eaLnBrk="1" hangingPunct="1">
              <a:buFontTx/>
              <a:buNone/>
            </a:pPr>
            <a:r>
              <a:rPr lang="en-US" sz="2200" smtClean="0">
                <a:solidFill>
                  <a:srgbClr val="C00000"/>
                </a:solidFill>
                <a:latin typeface="Calibri" pitchFamily="34" charset="0"/>
              </a:rPr>
              <a:t>	      MOVX	@DPTR, A</a:t>
            </a:r>
          </a:p>
          <a:p>
            <a:pPr lvl="3" eaLnBrk="1" hangingPunct="1">
              <a:buFont typeface="Wingdings" pitchFamily="2" charset="2"/>
              <a:buChar char="§"/>
            </a:pPr>
            <a:endParaRPr lang="en-US" smtClean="0"/>
          </a:p>
        </p:txBody>
      </p:sp>
      <p:sp>
        <p:nvSpPr>
          <p:cNvPr id="3" name="Date Placeholder 2"/>
          <p:cNvSpPr>
            <a:spLocks noGrp="1"/>
          </p:cNvSpPr>
          <p:nvPr>
            <p:ph type="dt" sz="half" idx="10"/>
          </p:nvPr>
        </p:nvSpPr>
        <p:spPr/>
        <p:txBody>
          <a:bodyPr/>
          <a:lstStyle/>
          <a:p>
            <a:pPr>
              <a:defRPr/>
            </a:pPr>
            <a:fld id="{D3B0AB89-EF9B-4B00-AB2B-A5CD8DF3BD52}"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63</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body" idx="1"/>
          </p:nvPr>
        </p:nvSpPr>
        <p:spPr>
          <a:xfrm>
            <a:off x="366713" y="203200"/>
            <a:ext cx="8359775" cy="6440488"/>
          </a:xfrm>
        </p:spPr>
        <p:txBody>
          <a:bodyPr/>
          <a:lstStyle/>
          <a:p>
            <a:pPr eaLnBrk="1" hangingPunct="1"/>
            <a:r>
              <a:rPr lang="en-US" sz="2200" smtClean="0">
                <a:solidFill>
                  <a:srgbClr val="C00000"/>
                </a:solidFill>
                <a:latin typeface="Calibri" pitchFamily="34" charset="0"/>
              </a:rPr>
              <a:t>PUSH / POP</a:t>
            </a:r>
          </a:p>
          <a:p>
            <a:pPr lvl="1" eaLnBrk="1" hangingPunct="1"/>
            <a:r>
              <a:rPr lang="en-US" sz="2200" smtClean="0">
                <a:latin typeface="Calibri" pitchFamily="34" charset="0"/>
              </a:rPr>
              <a:t>Push and Pop a data byte onto the stack.</a:t>
            </a:r>
          </a:p>
          <a:p>
            <a:pPr lvl="1" eaLnBrk="1" hangingPunct="1"/>
            <a:r>
              <a:rPr lang="en-US" sz="2200" smtClean="0">
                <a:latin typeface="Calibri" pitchFamily="34" charset="0"/>
              </a:rPr>
              <a:t>The data byte is identified by a direct address from the internal RAM locations.</a:t>
            </a:r>
          </a:p>
          <a:p>
            <a:pPr lvl="1" eaLnBrk="1" hangingPunct="1"/>
            <a:r>
              <a:rPr lang="en-US" sz="2200" smtClean="0">
                <a:latin typeface="Calibri" pitchFamily="34" charset="0"/>
              </a:rPr>
              <a:t>Eg:  </a:t>
            </a:r>
            <a:r>
              <a:rPr lang="en-US" sz="2200" smtClean="0">
                <a:solidFill>
                  <a:srgbClr val="C00000"/>
                </a:solidFill>
                <a:latin typeface="Calibri" pitchFamily="34" charset="0"/>
              </a:rPr>
              <a:t>PUSH	DPL</a:t>
            </a:r>
          </a:p>
          <a:p>
            <a:pPr lvl="2" eaLnBrk="1" hangingPunct="1">
              <a:buFontTx/>
              <a:buNone/>
            </a:pPr>
            <a:r>
              <a:rPr lang="en-US" sz="2200" smtClean="0">
                <a:solidFill>
                  <a:srgbClr val="C00000"/>
                </a:solidFill>
                <a:latin typeface="Calibri" pitchFamily="34" charset="0"/>
              </a:rPr>
              <a:t>     POP		40H</a:t>
            </a:r>
          </a:p>
          <a:p>
            <a:pPr eaLnBrk="1" hangingPunct="1">
              <a:lnSpc>
                <a:spcPct val="90000"/>
              </a:lnSpc>
            </a:pPr>
            <a:r>
              <a:rPr lang="en-US" sz="2200" smtClean="0">
                <a:solidFill>
                  <a:srgbClr val="C00000"/>
                </a:solidFill>
                <a:latin typeface="Calibri" pitchFamily="34" charset="0"/>
              </a:rPr>
              <a:t>XCH</a:t>
            </a:r>
          </a:p>
          <a:p>
            <a:pPr lvl="1" eaLnBrk="1" hangingPunct="1">
              <a:lnSpc>
                <a:spcPct val="90000"/>
              </a:lnSpc>
            </a:pPr>
            <a:r>
              <a:rPr lang="en-US" sz="2200" smtClean="0">
                <a:latin typeface="Calibri" pitchFamily="34" charset="0"/>
              </a:rPr>
              <a:t>Exchange accumulator and a byte variable</a:t>
            </a:r>
          </a:p>
          <a:p>
            <a:pPr lvl="2" eaLnBrk="1" hangingPunct="1">
              <a:lnSpc>
                <a:spcPct val="90000"/>
              </a:lnSpc>
            </a:pPr>
            <a:r>
              <a:rPr lang="en-US" sz="2200" smtClean="0">
                <a:solidFill>
                  <a:srgbClr val="C00000"/>
                </a:solidFill>
                <a:latin typeface="Calibri" pitchFamily="34" charset="0"/>
              </a:rPr>
              <a:t>XCH	A, Rn</a:t>
            </a:r>
          </a:p>
          <a:p>
            <a:pPr eaLnBrk="1" hangingPunct="1">
              <a:lnSpc>
                <a:spcPct val="90000"/>
              </a:lnSpc>
            </a:pPr>
            <a:r>
              <a:rPr lang="en-US" sz="2200" smtClean="0">
                <a:solidFill>
                  <a:srgbClr val="C00000"/>
                </a:solidFill>
                <a:latin typeface="Calibri" pitchFamily="34" charset="0"/>
              </a:rPr>
              <a:t>XCHD</a:t>
            </a:r>
          </a:p>
          <a:p>
            <a:pPr lvl="1" eaLnBrk="1" hangingPunct="1">
              <a:lnSpc>
                <a:spcPct val="90000"/>
              </a:lnSpc>
            </a:pPr>
            <a:r>
              <a:rPr lang="en-US" sz="2200" smtClean="0">
                <a:latin typeface="Calibri" pitchFamily="34" charset="0"/>
              </a:rPr>
              <a:t>Exchange lower digit of accumulator with the lower digit of the memory location specified.</a:t>
            </a:r>
          </a:p>
          <a:p>
            <a:pPr lvl="2" eaLnBrk="1" hangingPunct="1">
              <a:lnSpc>
                <a:spcPct val="90000"/>
              </a:lnSpc>
            </a:pPr>
            <a:r>
              <a:rPr lang="en-US" sz="2200" smtClean="0">
                <a:solidFill>
                  <a:srgbClr val="C00000"/>
                </a:solidFill>
                <a:latin typeface="Calibri" pitchFamily="34" charset="0"/>
              </a:rPr>
              <a:t>XCHD A, @Ri</a:t>
            </a:r>
          </a:p>
          <a:p>
            <a:pPr lvl="2" eaLnBrk="1" hangingPunct="1">
              <a:lnSpc>
                <a:spcPct val="90000"/>
              </a:lnSpc>
            </a:pPr>
            <a:r>
              <a:rPr lang="en-US" sz="2200" smtClean="0">
                <a:latin typeface="Calibri" pitchFamily="34" charset="0"/>
              </a:rPr>
              <a:t>The lower 4-bits of the accumulator are exchanged with the lower 4-bits of the internal memory location identified indirectly by the index register.</a:t>
            </a:r>
          </a:p>
          <a:p>
            <a:pPr lvl="2" eaLnBrk="1" hangingPunct="1">
              <a:lnSpc>
                <a:spcPct val="90000"/>
              </a:lnSpc>
            </a:pPr>
            <a:r>
              <a:rPr lang="en-US" sz="2200" smtClean="0">
                <a:latin typeface="Calibri" pitchFamily="34" charset="0"/>
              </a:rPr>
              <a:t>The upper 4-bits of each are not modified.</a:t>
            </a:r>
          </a:p>
          <a:p>
            <a:pPr lvl="2" eaLnBrk="1" hangingPunct="1">
              <a:buFontTx/>
              <a:buNone/>
            </a:pPr>
            <a:endParaRPr lang="en-US" sz="2200" smtClean="0">
              <a:solidFill>
                <a:srgbClr val="C00000"/>
              </a:solidFill>
              <a:latin typeface="Calibri" pitchFamily="34" charset="0"/>
            </a:endParaRPr>
          </a:p>
        </p:txBody>
      </p:sp>
      <p:sp>
        <p:nvSpPr>
          <p:cNvPr id="3" name="Date Placeholder 2"/>
          <p:cNvSpPr>
            <a:spLocks noGrp="1"/>
          </p:cNvSpPr>
          <p:nvPr>
            <p:ph type="dt" sz="half" idx="10"/>
          </p:nvPr>
        </p:nvSpPr>
        <p:spPr/>
        <p:txBody>
          <a:bodyPr/>
          <a:lstStyle/>
          <a:p>
            <a:pPr>
              <a:defRPr/>
            </a:pPr>
            <a:fld id="{2570B61F-AC7D-47CF-8305-A5D1144787BC}"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64</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4"/>
          <p:cNvPicPr>
            <a:picLocks noChangeAspect="1" noChangeArrowheads="1"/>
          </p:cNvPicPr>
          <p:nvPr/>
        </p:nvPicPr>
        <p:blipFill>
          <a:blip r:embed="rId2"/>
          <a:srcRect/>
          <a:stretch>
            <a:fillRect/>
          </a:stretch>
        </p:blipFill>
        <p:spPr bwMode="auto">
          <a:xfrm>
            <a:off x="0" y="0"/>
            <a:ext cx="9144000" cy="6858000"/>
          </a:xfrm>
          <a:prstGeom prst="rect">
            <a:avLst/>
          </a:prstGeom>
          <a:noFill/>
          <a:ln w="12700">
            <a:noFill/>
            <a:miter lim="800000"/>
            <a:headEnd/>
            <a:tailEnd/>
          </a:ln>
        </p:spPr>
      </p:pic>
      <p:sp>
        <p:nvSpPr>
          <p:cNvPr id="3" name="Date Placeholder 2"/>
          <p:cNvSpPr>
            <a:spLocks noGrp="1"/>
          </p:cNvSpPr>
          <p:nvPr>
            <p:ph type="dt" sz="half" idx="10"/>
          </p:nvPr>
        </p:nvSpPr>
        <p:spPr/>
        <p:txBody>
          <a:bodyPr/>
          <a:lstStyle/>
          <a:p>
            <a:pPr>
              <a:defRPr/>
            </a:pPr>
            <a:fld id="{4DD6791F-BFD5-4CCE-B675-7F9302F6ECB5}"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65</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34975" y="0"/>
            <a:ext cx="8229600" cy="820738"/>
          </a:xfrm>
        </p:spPr>
        <p:txBody>
          <a:bodyPr/>
          <a:lstStyle/>
          <a:p>
            <a:pPr eaLnBrk="1" hangingPunct="1">
              <a:defRPr/>
            </a:pPr>
            <a:r>
              <a:rPr lang="en-US" b="1" dirty="0" smtClean="0">
                <a:solidFill>
                  <a:schemeClr val="accent6">
                    <a:lumMod val="50000"/>
                  </a:schemeClr>
                </a:solidFill>
                <a:latin typeface="Calibri" pitchFamily="34" charset="0"/>
              </a:rPr>
              <a:t>Boolean Variable Instructions</a:t>
            </a:r>
          </a:p>
        </p:txBody>
      </p:sp>
      <p:sp>
        <p:nvSpPr>
          <p:cNvPr id="17411" name="Rectangle 3"/>
          <p:cNvSpPr>
            <a:spLocks noGrp="1" noChangeArrowheads="1"/>
          </p:cNvSpPr>
          <p:nvPr>
            <p:ph type="body" idx="1"/>
          </p:nvPr>
        </p:nvSpPr>
        <p:spPr>
          <a:xfrm>
            <a:off x="457200" y="971550"/>
            <a:ext cx="8229600" cy="5886450"/>
          </a:xfrm>
        </p:spPr>
        <p:txBody>
          <a:bodyPr/>
          <a:lstStyle/>
          <a:p>
            <a:pPr eaLnBrk="1" hangingPunct="1"/>
            <a:r>
              <a:rPr lang="en-US" sz="2400" smtClean="0">
                <a:latin typeface="Calibri" pitchFamily="34" charset="0"/>
              </a:rPr>
              <a:t>This group of instructions is associated with the single-bit operations of the 8051.</a:t>
            </a:r>
          </a:p>
          <a:p>
            <a:pPr eaLnBrk="1" hangingPunct="1"/>
            <a:r>
              <a:rPr lang="en-US" sz="2400" smtClean="0">
                <a:latin typeface="Calibri" pitchFamily="34" charset="0"/>
              </a:rPr>
              <a:t>This group allows manipulating the individual bits of bit addressable registers and memory locations as well as the CY flag.</a:t>
            </a:r>
          </a:p>
          <a:p>
            <a:pPr lvl="1" eaLnBrk="1" hangingPunct="1"/>
            <a:r>
              <a:rPr lang="en-US" sz="2400" smtClean="0">
                <a:latin typeface="Calibri" pitchFamily="34" charset="0"/>
              </a:rPr>
              <a:t>The P, OV, and AC flags cannot be directly altered.</a:t>
            </a:r>
          </a:p>
          <a:p>
            <a:pPr eaLnBrk="1" hangingPunct="1"/>
            <a:r>
              <a:rPr lang="en-US" sz="2200" smtClean="0">
                <a:solidFill>
                  <a:srgbClr val="C00000"/>
                </a:solidFill>
                <a:latin typeface="Calibri" pitchFamily="34" charset="0"/>
              </a:rPr>
              <a:t>CLR</a:t>
            </a:r>
          </a:p>
          <a:p>
            <a:pPr lvl="1" eaLnBrk="1" hangingPunct="1"/>
            <a:r>
              <a:rPr lang="en-US" sz="2200" smtClean="0">
                <a:latin typeface="Calibri" pitchFamily="34" charset="0"/>
              </a:rPr>
              <a:t>Clear a bit or the CY flag.</a:t>
            </a:r>
          </a:p>
          <a:p>
            <a:pPr lvl="2" eaLnBrk="1" hangingPunct="1"/>
            <a:r>
              <a:rPr lang="en-US" sz="2200" smtClean="0">
                <a:solidFill>
                  <a:srgbClr val="C00000"/>
                </a:solidFill>
                <a:latin typeface="Calibri" pitchFamily="34" charset="0"/>
              </a:rPr>
              <a:t>CLR P1.1</a:t>
            </a:r>
          </a:p>
          <a:p>
            <a:pPr lvl="2" eaLnBrk="1" hangingPunct="1"/>
            <a:r>
              <a:rPr lang="en-US" sz="2200" smtClean="0">
                <a:solidFill>
                  <a:srgbClr val="C00000"/>
                </a:solidFill>
                <a:latin typeface="Calibri" pitchFamily="34" charset="0"/>
              </a:rPr>
              <a:t>CLR C</a:t>
            </a:r>
          </a:p>
          <a:p>
            <a:pPr eaLnBrk="1" hangingPunct="1"/>
            <a:r>
              <a:rPr lang="en-US" sz="2200" smtClean="0">
                <a:solidFill>
                  <a:srgbClr val="C00000"/>
                </a:solidFill>
                <a:latin typeface="Calibri" pitchFamily="34" charset="0"/>
              </a:rPr>
              <a:t>CPL</a:t>
            </a:r>
          </a:p>
          <a:p>
            <a:pPr lvl="1" eaLnBrk="1" hangingPunct="1"/>
            <a:r>
              <a:rPr lang="en-US" sz="2200" smtClean="0">
                <a:latin typeface="Calibri" pitchFamily="34" charset="0"/>
              </a:rPr>
              <a:t>Complement a bit or the CY flag.</a:t>
            </a:r>
          </a:p>
          <a:p>
            <a:pPr lvl="2" eaLnBrk="1" hangingPunct="1"/>
            <a:r>
              <a:rPr lang="en-US" sz="2200" smtClean="0">
                <a:solidFill>
                  <a:srgbClr val="C00000"/>
                </a:solidFill>
                <a:latin typeface="Calibri" pitchFamily="34" charset="0"/>
              </a:rPr>
              <a:t>CPL 40H</a:t>
            </a:r>
            <a:r>
              <a:rPr lang="en-US" sz="2200" smtClean="0">
                <a:latin typeface="Calibri" pitchFamily="34" charset="0"/>
              </a:rPr>
              <a:t>	; Complement bit 40 of the bit addressable 			memory</a:t>
            </a:r>
          </a:p>
          <a:p>
            <a:pPr eaLnBrk="1" hangingPunct="1"/>
            <a:endParaRPr lang="en-US" sz="2400" smtClean="0">
              <a:latin typeface="Calibri" pitchFamily="34" charset="0"/>
            </a:endParaRPr>
          </a:p>
        </p:txBody>
      </p:sp>
      <p:sp>
        <p:nvSpPr>
          <p:cNvPr id="4" name="Date Placeholder 3"/>
          <p:cNvSpPr>
            <a:spLocks noGrp="1"/>
          </p:cNvSpPr>
          <p:nvPr>
            <p:ph type="dt" sz="half" idx="10"/>
          </p:nvPr>
        </p:nvSpPr>
        <p:spPr/>
        <p:txBody>
          <a:bodyPr/>
          <a:lstStyle/>
          <a:p>
            <a:pPr>
              <a:defRPr/>
            </a:pPr>
            <a:fld id="{4A8AD697-F943-47D9-92B9-269186CF0BE2}" type="datetime2">
              <a:rPr lang="en-US" smtClean="0"/>
              <a:pPr>
                <a:defRPr/>
              </a:pPr>
              <a:t>Friday, August 27, 2021</a:t>
            </a:fld>
            <a:endParaRPr lang="en-US"/>
          </a:p>
        </p:txBody>
      </p:sp>
      <p:sp>
        <p:nvSpPr>
          <p:cNvPr id="5" name="Slide Number Placeholder 4"/>
          <p:cNvSpPr>
            <a:spLocks noGrp="1"/>
          </p:cNvSpPr>
          <p:nvPr>
            <p:ph type="sldNum" sz="quarter" idx="12"/>
          </p:nvPr>
        </p:nvSpPr>
        <p:spPr/>
        <p:txBody>
          <a:bodyPr/>
          <a:lstStyle/>
          <a:p>
            <a:pPr>
              <a:defRPr/>
            </a:pPr>
            <a:fld id="{29365B32-0A66-4572-87C9-59177F07ABFF}" type="slidenum">
              <a:rPr lang="en-US" smtClean="0"/>
              <a:pPr>
                <a:defRPr/>
              </a:pPr>
              <a:t>66</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body" idx="1"/>
          </p:nvPr>
        </p:nvSpPr>
        <p:spPr>
          <a:xfrm>
            <a:off x="514350" y="247650"/>
            <a:ext cx="8229600" cy="6305550"/>
          </a:xfrm>
        </p:spPr>
        <p:txBody>
          <a:bodyPr/>
          <a:lstStyle/>
          <a:p>
            <a:pPr eaLnBrk="1" hangingPunct="1"/>
            <a:r>
              <a:rPr lang="en-US" sz="2200" smtClean="0">
                <a:solidFill>
                  <a:srgbClr val="C00000"/>
                </a:solidFill>
                <a:latin typeface="Calibri" pitchFamily="34" charset="0"/>
              </a:rPr>
              <a:t>SETB</a:t>
            </a:r>
          </a:p>
          <a:p>
            <a:pPr lvl="1" eaLnBrk="1" hangingPunct="1"/>
            <a:r>
              <a:rPr lang="en-US" sz="2200" smtClean="0">
                <a:latin typeface="Calibri" pitchFamily="34" charset="0"/>
              </a:rPr>
              <a:t>Set a bit or the CY flag.</a:t>
            </a:r>
          </a:p>
          <a:p>
            <a:pPr lvl="2" eaLnBrk="1" hangingPunct="1"/>
            <a:r>
              <a:rPr lang="en-US" sz="2200" smtClean="0">
                <a:solidFill>
                  <a:srgbClr val="C00000"/>
                </a:solidFill>
                <a:latin typeface="Calibri" pitchFamily="34" charset="0"/>
              </a:rPr>
              <a:t>SETB A.2</a:t>
            </a:r>
          </a:p>
          <a:p>
            <a:pPr lvl="2" eaLnBrk="1" hangingPunct="1"/>
            <a:r>
              <a:rPr lang="en-US" sz="2200" smtClean="0">
                <a:solidFill>
                  <a:srgbClr val="C00000"/>
                </a:solidFill>
                <a:latin typeface="Calibri" pitchFamily="34" charset="0"/>
              </a:rPr>
              <a:t>SETB C</a:t>
            </a:r>
          </a:p>
          <a:p>
            <a:pPr eaLnBrk="1" hangingPunct="1"/>
            <a:r>
              <a:rPr lang="en-US" sz="2200" smtClean="0">
                <a:solidFill>
                  <a:srgbClr val="C00000"/>
                </a:solidFill>
                <a:latin typeface="Calibri" pitchFamily="34" charset="0"/>
              </a:rPr>
              <a:t>ORL / ANL</a:t>
            </a:r>
          </a:p>
          <a:p>
            <a:pPr lvl="1" eaLnBrk="1" hangingPunct="1"/>
            <a:r>
              <a:rPr lang="en-US" sz="2200" smtClean="0">
                <a:latin typeface="Calibri" pitchFamily="34" charset="0"/>
              </a:rPr>
              <a:t>OR / AND a bit with the CY flag.</a:t>
            </a:r>
          </a:p>
          <a:p>
            <a:pPr lvl="2" eaLnBrk="1" hangingPunct="1"/>
            <a:r>
              <a:rPr lang="en-US" sz="2200" smtClean="0">
                <a:solidFill>
                  <a:srgbClr val="C00000"/>
                </a:solidFill>
                <a:latin typeface="Calibri" pitchFamily="34" charset="0"/>
              </a:rPr>
              <a:t>ORL	C, 20H</a:t>
            </a:r>
            <a:r>
              <a:rPr lang="en-US" sz="2200" smtClean="0">
                <a:latin typeface="Calibri" pitchFamily="34" charset="0"/>
              </a:rPr>
              <a:t>	; OR bit of bit address 20h in bit addressable 			memory with the CY flag</a:t>
            </a:r>
          </a:p>
          <a:p>
            <a:pPr lvl="2" eaLnBrk="1" hangingPunct="1"/>
            <a:r>
              <a:rPr lang="en-US" sz="2200" smtClean="0">
                <a:solidFill>
                  <a:srgbClr val="C00000"/>
                </a:solidFill>
                <a:latin typeface="Calibri" pitchFamily="34" charset="0"/>
              </a:rPr>
              <a:t>ANL	C, /34H</a:t>
            </a:r>
            <a:r>
              <a:rPr lang="en-US" sz="2200" smtClean="0">
                <a:latin typeface="Calibri" pitchFamily="34" charset="0"/>
              </a:rPr>
              <a:t>	; AND complement of bit of bit address 34h in 		bit addressable memory with the CY flag.</a:t>
            </a:r>
          </a:p>
          <a:p>
            <a:pPr eaLnBrk="1" hangingPunct="1"/>
            <a:r>
              <a:rPr lang="en-US" sz="2200" smtClean="0">
                <a:solidFill>
                  <a:srgbClr val="C00000"/>
                </a:solidFill>
                <a:latin typeface="Calibri" pitchFamily="34" charset="0"/>
              </a:rPr>
              <a:t>MOV</a:t>
            </a:r>
          </a:p>
          <a:p>
            <a:pPr lvl="1" eaLnBrk="1" hangingPunct="1"/>
            <a:r>
              <a:rPr lang="en-US" sz="2200" smtClean="0">
                <a:latin typeface="Calibri" pitchFamily="34" charset="0"/>
              </a:rPr>
              <a:t>Data transfer between a bit and the CY flag.</a:t>
            </a:r>
          </a:p>
          <a:p>
            <a:pPr lvl="2" eaLnBrk="1" hangingPunct="1"/>
            <a:r>
              <a:rPr lang="en-US" sz="2200" smtClean="0">
                <a:solidFill>
                  <a:srgbClr val="C00000"/>
                </a:solidFill>
                <a:latin typeface="Calibri" pitchFamily="34" charset="0"/>
              </a:rPr>
              <a:t>MOV	C, 3FH</a:t>
            </a:r>
            <a:r>
              <a:rPr lang="en-US" sz="2200" smtClean="0">
                <a:latin typeface="Calibri" pitchFamily="34" charset="0"/>
              </a:rPr>
              <a:t>	; Copy the CY flag to bit of bit address 3Fh of 			the bit addressable memory.</a:t>
            </a:r>
          </a:p>
          <a:p>
            <a:pPr lvl="2" eaLnBrk="1" hangingPunct="1"/>
            <a:r>
              <a:rPr lang="en-US" sz="2200" smtClean="0">
                <a:solidFill>
                  <a:srgbClr val="C00000"/>
                </a:solidFill>
                <a:latin typeface="Calibri" pitchFamily="34" charset="0"/>
              </a:rPr>
              <a:t>MOV	P1.2, C</a:t>
            </a:r>
            <a:r>
              <a:rPr lang="en-US" sz="2200" smtClean="0">
                <a:latin typeface="Calibri" pitchFamily="34" charset="0"/>
              </a:rPr>
              <a:t>	; Copy the CY flag to bit 2 of P1.</a:t>
            </a:r>
          </a:p>
          <a:p>
            <a:pPr lvl="2" eaLnBrk="1" hangingPunct="1"/>
            <a:endParaRPr lang="en-US" sz="2000" smtClean="0"/>
          </a:p>
        </p:txBody>
      </p:sp>
      <p:sp>
        <p:nvSpPr>
          <p:cNvPr id="3" name="Date Placeholder 2"/>
          <p:cNvSpPr>
            <a:spLocks noGrp="1"/>
          </p:cNvSpPr>
          <p:nvPr>
            <p:ph type="dt" sz="half" idx="10"/>
          </p:nvPr>
        </p:nvSpPr>
        <p:spPr/>
        <p:txBody>
          <a:bodyPr/>
          <a:lstStyle/>
          <a:p>
            <a:pPr>
              <a:defRPr/>
            </a:pPr>
            <a:fld id="{0E11337B-11CB-4430-9D4B-BFE361C0B0BD}"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67</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2"/>
          </p:nvPr>
        </p:nvSpPr>
        <p:spPr>
          <a:noFill/>
        </p:spPr>
        <p:txBody>
          <a:bodyPr/>
          <a:lstStyle/>
          <a:p>
            <a:fld id="{E3925B23-0E76-4897-80BC-85E8A91545C0}" type="slidenum">
              <a:rPr lang="en-US" smtClean="0"/>
              <a:pPr/>
              <a:t>68</a:t>
            </a:fld>
            <a:endParaRPr lang="en-US" smtClean="0"/>
          </a:p>
        </p:txBody>
      </p:sp>
      <p:pic>
        <p:nvPicPr>
          <p:cNvPr id="19459"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12700">
            <a:noFill/>
            <a:miter lim="800000"/>
            <a:headEnd/>
            <a:tailEnd/>
          </a:ln>
        </p:spPr>
      </p:pic>
      <p:sp>
        <p:nvSpPr>
          <p:cNvPr id="4" name="Date Placeholder 3"/>
          <p:cNvSpPr>
            <a:spLocks noGrp="1"/>
          </p:cNvSpPr>
          <p:nvPr>
            <p:ph type="dt" sz="half" idx="10"/>
          </p:nvPr>
        </p:nvSpPr>
        <p:spPr/>
        <p:txBody>
          <a:bodyPr/>
          <a:lstStyle/>
          <a:p>
            <a:pPr>
              <a:defRPr/>
            </a:pPr>
            <a:fld id="{CD864A08-2149-4A19-83D1-16B8418A51F6}"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0"/>
            <a:ext cx="8229600" cy="944563"/>
          </a:xfrm>
        </p:spPr>
        <p:txBody>
          <a:bodyPr/>
          <a:lstStyle/>
          <a:p>
            <a:pPr eaLnBrk="1" hangingPunct="1">
              <a:defRPr/>
            </a:pPr>
            <a:r>
              <a:rPr lang="en-US" b="1" dirty="0" smtClean="0">
                <a:solidFill>
                  <a:schemeClr val="accent6">
                    <a:lumMod val="50000"/>
                  </a:schemeClr>
                </a:solidFill>
                <a:latin typeface="Calibri" pitchFamily="34" charset="0"/>
              </a:rPr>
              <a:t>Program Branching Instructions</a:t>
            </a:r>
          </a:p>
        </p:txBody>
      </p:sp>
      <p:sp>
        <p:nvSpPr>
          <p:cNvPr id="20483" name="Rectangle 3"/>
          <p:cNvSpPr>
            <a:spLocks noGrp="1" noChangeArrowheads="1"/>
          </p:cNvSpPr>
          <p:nvPr>
            <p:ph type="body" idx="1"/>
          </p:nvPr>
        </p:nvSpPr>
        <p:spPr>
          <a:xfrm>
            <a:off x="400050" y="1149350"/>
            <a:ext cx="8229600" cy="5556250"/>
          </a:xfrm>
        </p:spPr>
        <p:txBody>
          <a:bodyPr/>
          <a:lstStyle/>
          <a:p>
            <a:pPr eaLnBrk="1" hangingPunct="1"/>
            <a:r>
              <a:rPr lang="en-US" sz="2400" smtClean="0">
                <a:latin typeface="Calibri" pitchFamily="34" charset="0"/>
              </a:rPr>
              <a:t>These instructions control the flow of program logic.</a:t>
            </a:r>
          </a:p>
          <a:p>
            <a:pPr eaLnBrk="1" hangingPunct="1"/>
            <a:r>
              <a:rPr lang="en-US" sz="2400" smtClean="0">
                <a:latin typeface="Calibri" pitchFamily="34" charset="0"/>
              </a:rPr>
              <a:t>Some of these instructions has decision making capability before transferring control to other part of the program.</a:t>
            </a:r>
          </a:p>
          <a:p>
            <a:pPr eaLnBrk="1" hangingPunct="1"/>
            <a:r>
              <a:rPr lang="en-US" sz="2400" smtClean="0">
                <a:latin typeface="Calibri" pitchFamily="34" charset="0"/>
              </a:rPr>
              <a:t>There are two kinds of branch instructions: </a:t>
            </a:r>
          </a:p>
          <a:p>
            <a:pPr marL="919163" lvl="1" indent="-519113" eaLnBrk="1" hangingPunct="1">
              <a:buFont typeface="Wingdings" pitchFamily="2" charset="2"/>
              <a:buChar char="Ø"/>
            </a:pPr>
            <a:r>
              <a:rPr lang="en-US" sz="2400" smtClean="0">
                <a:solidFill>
                  <a:srgbClr val="C00000"/>
                </a:solidFill>
                <a:latin typeface="Calibri" pitchFamily="34" charset="0"/>
              </a:rPr>
              <a:t>Unconditional jump instructions: </a:t>
            </a:r>
          </a:p>
          <a:p>
            <a:pPr marL="919163" lvl="1" indent="-519113" eaLnBrk="1" hangingPunct="1">
              <a:buFontTx/>
              <a:buNone/>
            </a:pPr>
            <a:r>
              <a:rPr lang="en-US" sz="2400" smtClean="0">
                <a:solidFill>
                  <a:srgbClr val="C00000"/>
                </a:solidFill>
                <a:latin typeface="Calibri" pitchFamily="34" charset="0"/>
              </a:rPr>
              <a:t>		</a:t>
            </a:r>
            <a:r>
              <a:rPr lang="en-US" sz="2400" smtClean="0">
                <a:latin typeface="Calibri" pitchFamily="34" charset="0"/>
              </a:rPr>
              <a:t>Upon their execution a jump to a new location from where the program continues execution is executed. </a:t>
            </a:r>
          </a:p>
          <a:p>
            <a:pPr marL="919163" lvl="1" indent="-519113" eaLnBrk="1" hangingPunct="1">
              <a:buFont typeface="Wingdings" pitchFamily="2" charset="2"/>
              <a:buChar char="Ø"/>
            </a:pPr>
            <a:r>
              <a:rPr lang="en-US" sz="2400" smtClean="0">
                <a:solidFill>
                  <a:srgbClr val="C00000"/>
                </a:solidFill>
                <a:latin typeface="Calibri" pitchFamily="34" charset="0"/>
              </a:rPr>
              <a:t>Conditional jump instructions</a:t>
            </a:r>
            <a:r>
              <a:rPr lang="en-US" sz="2400" smtClean="0">
                <a:latin typeface="Calibri" pitchFamily="34" charset="0"/>
              </a:rPr>
              <a:t>: </a:t>
            </a:r>
          </a:p>
          <a:p>
            <a:pPr marL="919163" lvl="1" indent="-519113" eaLnBrk="1" hangingPunct="1">
              <a:buFontTx/>
              <a:buNone/>
            </a:pPr>
            <a:r>
              <a:rPr lang="en-US" sz="2400" smtClean="0">
                <a:latin typeface="Calibri" pitchFamily="34" charset="0"/>
              </a:rPr>
              <a:t>		A jump to a new program location is executed only if a specified condition is met. Otherwise, the program normally proceeds with the next instruction.</a:t>
            </a:r>
          </a:p>
        </p:txBody>
      </p:sp>
      <p:sp>
        <p:nvSpPr>
          <p:cNvPr id="4" name="Date Placeholder 3"/>
          <p:cNvSpPr>
            <a:spLocks noGrp="1"/>
          </p:cNvSpPr>
          <p:nvPr>
            <p:ph type="dt" sz="half" idx="10"/>
          </p:nvPr>
        </p:nvSpPr>
        <p:spPr/>
        <p:txBody>
          <a:bodyPr/>
          <a:lstStyle/>
          <a:p>
            <a:pPr>
              <a:defRPr/>
            </a:pPr>
            <a:fld id="{9D9E84FA-F6AD-4CB7-B707-4D2F670629C7}" type="datetime2">
              <a:rPr lang="en-US" smtClean="0"/>
              <a:pPr>
                <a:defRPr/>
              </a:pPr>
              <a:t>Friday, August 27, 2021</a:t>
            </a:fld>
            <a:endParaRPr lang="en-US"/>
          </a:p>
        </p:txBody>
      </p:sp>
      <p:sp>
        <p:nvSpPr>
          <p:cNvPr id="5" name="Slide Number Placeholder 4"/>
          <p:cNvSpPr>
            <a:spLocks noGrp="1"/>
          </p:cNvSpPr>
          <p:nvPr>
            <p:ph type="sldNum" sz="quarter" idx="12"/>
          </p:nvPr>
        </p:nvSpPr>
        <p:spPr/>
        <p:txBody>
          <a:bodyPr/>
          <a:lstStyle/>
          <a:p>
            <a:pPr>
              <a:defRPr/>
            </a:pPr>
            <a:fld id="{29365B32-0A66-4572-87C9-59177F07ABFF}" type="slidenum">
              <a:rPr lang="en-US" smtClean="0"/>
              <a:pPr>
                <a:defRPr/>
              </a:pPr>
              <a:t>69</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a:xfrm>
            <a:off x="419100" y="782638"/>
            <a:ext cx="8328025" cy="5324475"/>
          </a:xfrm>
        </p:spPr>
        <p:txBody>
          <a:bodyPr/>
          <a:lstStyle/>
          <a:p>
            <a:pPr eaLnBrk="1" hangingPunct="1"/>
            <a:r>
              <a:rPr lang="en-US" sz="2400" smtClean="0">
                <a:latin typeface="Calibri" pitchFamily="34" charset="0"/>
              </a:rPr>
              <a:t>The 8051 provides </a:t>
            </a:r>
            <a:r>
              <a:rPr lang="en-US" sz="2400" smtClean="0">
                <a:solidFill>
                  <a:srgbClr val="C00000"/>
                </a:solidFill>
                <a:latin typeface="Calibri" pitchFamily="34" charset="0"/>
              </a:rPr>
              <a:t>four</a:t>
            </a:r>
            <a:r>
              <a:rPr lang="en-US" sz="2400" smtClean="0">
                <a:latin typeface="Calibri" pitchFamily="34" charset="0"/>
              </a:rPr>
              <a:t> different types of unconditional jump instructions:</a:t>
            </a:r>
          </a:p>
          <a:p>
            <a:pPr lvl="1" eaLnBrk="1" hangingPunct="1"/>
            <a:r>
              <a:rPr lang="en-US" sz="2400" smtClean="0">
                <a:solidFill>
                  <a:srgbClr val="C00000"/>
                </a:solidFill>
                <a:latin typeface="Calibri" pitchFamily="34" charset="0"/>
              </a:rPr>
              <a:t>Short Jump – SJMP</a:t>
            </a:r>
          </a:p>
          <a:p>
            <a:pPr lvl="2" eaLnBrk="1" hangingPunct="1"/>
            <a:r>
              <a:rPr lang="en-US" smtClean="0">
                <a:latin typeface="Calibri" pitchFamily="34" charset="0"/>
              </a:rPr>
              <a:t>Uses an 8-bit signed offset relative to the 1</a:t>
            </a:r>
            <a:r>
              <a:rPr lang="en-US" baseline="30000" smtClean="0">
                <a:latin typeface="Calibri" pitchFamily="34" charset="0"/>
              </a:rPr>
              <a:t>st</a:t>
            </a:r>
            <a:r>
              <a:rPr lang="en-US" smtClean="0">
                <a:latin typeface="Calibri" pitchFamily="34" charset="0"/>
              </a:rPr>
              <a:t> byte of the next instruction.</a:t>
            </a:r>
          </a:p>
          <a:p>
            <a:pPr lvl="2" eaLnBrk="1" hangingPunct="1"/>
            <a:r>
              <a:rPr lang="en-US" smtClean="0">
                <a:solidFill>
                  <a:srgbClr val="C00000"/>
                </a:solidFill>
                <a:latin typeface="Calibri" pitchFamily="34" charset="0"/>
              </a:rPr>
              <a:t>Eg: SJMP rel </a:t>
            </a:r>
            <a:r>
              <a:rPr lang="en-US" smtClean="0">
                <a:latin typeface="Calibri" pitchFamily="34" charset="0"/>
              </a:rPr>
              <a:t>; Short jump from -128 to +127 locations </a:t>
            </a:r>
            <a:endParaRPr lang="en-US" smtClean="0">
              <a:solidFill>
                <a:srgbClr val="C00000"/>
              </a:solidFill>
              <a:latin typeface="Calibri" pitchFamily="34" charset="0"/>
            </a:endParaRPr>
          </a:p>
          <a:p>
            <a:pPr lvl="1" eaLnBrk="1" hangingPunct="1"/>
            <a:r>
              <a:rPr lang="en-US" sz="2400" smtClean="0">
                <a:solidFill>
                  <a:srgbClr val="C00000"/>
                </a:solidFill>
                <a:latin typeface="Calibri" pitchFamily="34" charset="0"/>
              </a:rPr>
              <a:t>Long Jump – LJMP</a:t>
            </a:r>
          </a:p>
          <a:p>
            <a:pPr lvl="2" eaLnBrk="1" hangingPunct="1"/>
            <a:r>
              <a:rPr lang="en-US" smtClean="0">
                <a:latin typeface="Calibri" pitchFamily="34" charset="0"/>
              </a:rPr>
              <a:t>Uses a 16-bit address.</a:t>
            </a:r>
          </a:p>
          <a:p>
            <a:pPr lvl="2" eaLnBrk="1" hangingPunct="1"/>
            <a:r>
              <a:rPr lang="en-US" smtClean="0">
                <a:latin typeface="Calibri" pitchFamily="34" charset="0"/>
              </a:rPr>
              <a:t>3 byte instruction capable of referencing any location in the entire 64K of program memory.</a:t>
            </a:r>
          </a:p>
          <a:p>
            <a:pPr lvl="2" eaLnBrk="1" hangingPunct="1"/>
            <a:r>
              <a:rPr lang="en-US" smtClean="0">
                <a:solidFill>
                  <a:srgbClr val="C00000"/>
                </a:solidFill>
                <a:latin typeface="Calibri" pitchFamily="34" charset="0"/>
              </a:rPr>
              <a:t>Eg: LJMP addr16 ; </a:t>
            </a:r>
            <a:r>
              <a:rPr lang="en-US" smtClean="0">
                <a:latin typeface="Calibri" pitchFamily="34" charset="0"/>
              </a:rPr>
              <a:t>range : 0000H to FFFFH</a:t>
            </a:r>
            <a:endParaRPr lang="en-US" smtClean="0">
              <a:solidFill>
                <a:srgbClr val="C00000"/>
              </a:solidFill>
              <a:latin typeface="Calibri" pitchFamily="34" charset="0"/>
            </a:endParaRPr>
          </a:p>
          <a:p>
            <a:pPr lvl="2" eaLnBrk="1" hangingPunct="1"/>
            <a:endParaRPr lang="en-US" smtClean="0">
              <a:solidFill>
                <a:srgbClr val="C00000"/>
              </a:solidFill>
              <a:latin typeface="Calibri" pitchFamily="34" charset="0"/>
            </a:endParaRPr>
          </a:p>
        </p:txBody>
      </p:sp>
      <p:sp>
        <p:nvSpPr>
          <p:cNvPr id="3" name="Date Placeholder 2"/>
          <p:cNvSpPr>
            <a:spLocks noGrp="1"/>
          </p:cNvSpPr>
          <p:nvPr>
            <p:ph type="dt" sz="half" idx="10"/>
          </p:nvPr>
        </p:nvSpPr>
        <p:spPr/>
        <p:txBody>
          <a:bodyPr/>
          <a:lstStyle/>
          <a:p>
            <a:pPr>
              <a:defRPr/>
            </a:pPr>
            <a:fld id="{00531EB1-A837-46E6-B28C-903272BE804E}"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70</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idx="1"/>
          </p:nvPr>
        </p:nvSpPr>
        <p:spPr>
          <a:xfrm>
            <a:off x="490538" y="677863"/>
            <a:ext cx="8393112" cy="5305425"/>
          </a:xfrm>
        </p:spPr>
        <p:txBody>
          <a:bodyPr/>
          <a:lstStyle/>
          <a:p>
            <a:pPr lvl="1" eaLnBrk="1" hangingPunct="1"/>
            <a:r>
              <a:rPr lang="en-US" sz="2400" smtClean="0">
                <a:solidFill>
                  <a:srgbClr val="C00000"/>
                </a:solidFill>
                <a:latin typeface="Calibri" pitchFamily="34" charset="0"/>
              </a:rPr>
              <a:t>Absolute Jump – AJMP </a:t>
            </a:r>
          </a:p>
          <a:p>
            <a:pPr lvl="2" eaLnBrk="1" hangingPunct="1"/>
            <a:r>
              <a:rPr lang="en-US" smtClean="0">
                <a:latin typeface="Calibri" pitchFamily="34" charset="0"/>
              </a:rPr>
              <a:t>Uses an </a:t>
            </a:r>
            <a:r>
              <a:rPr lang="en-US" smtClean="0">
                <a:solidFill>
                  <a:srgbClr val="CC0000"/>
                </a:solidFill>
                <a:latin typeface="Calibri" pitchFamily="34" charset="0"/>
              </a:rPr>
              <a:t>11-bit address.</a:t>
            </a:r>
          </a:p>
          <a:p>
            <a:pPr lvl="2" eaLnBrk="1" hangingPunct="1"/>
            <a:r>
              <a:rPr lang="en-US" smtClean="0">
                <a:latin typeface="Calibri" pitchFamily="34" charset="0"/>
              </a:rPr>
              <a:t>The upper 3-bits of the address combine with the 5-bit opcode to form the 1</a:t>
            </a:r>
            <a:r>
              <a:rPr lang="en-US" baseline="30000" smtClean="0">
                <a:latin typeface="Calibri" pitchFamily="34" charset="0"/>
              </a:rPr>
              <a:t>st</a:t>
            </a:r>
            <a:r>
              <a:rPr lang="en-US" smtClean="0">
                <a:latin typeface="Calibri" pitchFamily="34" charset="0"/>
              </a:rPr>
              <a:t> byte and the lower 8-bits of the address form the 2</a:t>
            </a:r>
            <a:r>
              <a:rPr lang="en-US" baseline="30000" smtClean="0">
                <a:latin typeface="Calibri" pitchFamily="34" charset="0"/>
              </a:rPr>
              <a:t>nd</a:t>
            </a:r>
            <a:r>
              <a:rPr lang="en-US" smtClean="0">
                <a:latin typeface="Calibri" pitchFamily="34" charset="0"/>
              </a:rPr>
              <a:t> byte.</a:t>
            </a:r>
          </a:p>
          <a:p>
            <a:pPr lvl="2" eaLnBrk="1" hangingPunct="1"/>
            <a:r>
              <a:rPr lang="en-US" smtClean="0">
                <a:latin typeface="Calibri" pitchFamily="34" charset="0"/>
              </a:rPr>
              <a:t>The 11-bit address is substituted for the lower 11-bits of the PC to calculate the 16-bit address of the target.</a:t>
            </a:r>
          </a:p>
          <a:p>
            <a:pPr lvl="2" eaLnBrk="1" hangingPunct="1"/>
            <a:r>
              <a:rPr lang="en-US" smtClean="0">
                <a:latin typeface="Calibri" pitchFamily="34" charset="0"/>
              </a:rPr>
              <a:t>Absolute jump is within 2K byte memory.</a:t>
            </a:r>
          </a:p>
          <a:p>
            <a:pPr lvl="2" eaLnBrk="1" hangingPunct="1"/>
            <a:r>
              <a:rPr lang="en-US" smtClean="0">
                <a:solidFill>
                  <a:srgbClr val="C00000"/>
                </a:solidFill>
                <a:latin typeface="Calibri" pitchFamily="34" charset="0"/>
              </a:rPr>
              <a:t>Eg: AJMP addr11 </a:t>
            </a:r>
            <a:r>
              <a:rPr lang="en-US" smtClean="0">
                <a:latin typeface="Calibri" pitchFamily="34" charset="0"/>
              </a:rPr>
              <a:t>; range : 0000H to 07FFH</a:t>
            </a:r>
          </a:p>
          <a:p>
            <a:pPr lvl="1" eaLnBrk="1" hangingPunct="1"/>
            <a:r>
              <a:rPr lang="en-US" sz="2400" smtClean="0">
                <a:solidFill>
                  <a:srgbClr val="C00000"/>
                </a:solidFill>
                <a:latin typeface="Calibri" pitchFamily="34" charset="0"/>
              </a:rPr>
              <a:t>Indirect Jump </a:t>
            </a:r>
            <a:r>
              <a:rPr lang="en-US" sz="2400" smtClean="0">
                <a:latin typeface="Calibri" pitchFamily="34" charset="0"/>
              </a:rPr>
              <a:t>– </a:t>
            </a:r>
          </a:p>
          <a:p>
            <a:pPr lvl="2" eaLnBrk="1" hangingPunct="1"/>
            <a:r>
              <a:rPr lang="en-US" smtClean="0">
                <a:latin typeface="Calibri" pitchFamily="34" charset="0"/>
              </a:rPr>
              <a:t>Makes an indirect jump to the specified location.</a:t>
            </a:r>
            <a:r>
              <a:rPr lang="en-US" sz="1800" smtClean="0">
                <a:latin typeface="Calibri" pitchFamily="34" charset="0"/>
              </a:rPr>
              <a:t>	</a:t>
            </a:r>
          </a:p>
          <a:p>
            <a:pPr lvl="2" eaLnBrk="1" hangingPunct="1"/>
            <a:r>
              <a:rPr lang="en-US" sz="2200" smtClean="0">
                <a:solidFill>
                  <a:srgbClr val="C00000"/>
                </a:solidFill>
                <a:latin typeface="Calibri" pitchFamily="34" charset="0"/>
              </a:rPr>
              <a:t>Eg: JMP @A + DPTR</a:t>
            </a:r>
          </a:p>
          <a:p>
            <a:pPr lvl="2" eaLnBrk="1" hangingPunct="1">
              <a:buFontTx/>
              <a:buNone/>
            </a:pPr>
            <a:endParaRPr lang="en-US" sz="2200" smtClean="0">
              <a:latin typeface="Calibri" pitchFamily="34" charset="0"/>
            </a:endParaRPr>
          </a:p>
        </p:txBody>
      </p:sp>
      <p:sp>
        <p:nvSpPr>
          <p:cNvPr id="3" name="Date Placeholder 2"/>
          <p:cNvSpPr>
            <a:spLocks noGrp="1"/>
          </p:cNvSpPr>
          <p:nvPr>
            <p:ph type="dt" sz="half" idx="10"/>
          </p:nvPr>
        </p:nvSpPr>
        <p:spPr/>
        <p:txBody>
          <a:bodyPr/>
          <a:lstStyle/>
          <a:p>
            <a:pPr>
              <a:defRPr/>
            </a:pPr>
            <a:fld id="{D4C7B980-57BD-48D1-A4A6-DDE320311D06}"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71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1"/>
          </p:nvPr>
        </p:nvSpPr>
        <p:spPr>
          <a:xfrm>
            <a:off x="479425" y="1136650"/>
            <a:ext cx="8229600" cy="5184775"/>
          </a:xfrm>
        </p:spPr>
        <p:txBody>
          <a:bodyPr/>
          <a:lstStyle/>
          <a:p>
            <a:pPr eaLnBrk="1" hangingPunct="1"/>
            <a:r>
              <a:rPr lang="en-US" sz="2400" smtClean="0">
                <a:latin typeface="Calibri" pitchFamily="34" charset="0"/>
              </a:rPr>
              <a:t>The 8051 provides 2 forms for the </a:t>
            </a:r>
            <a:r>
              <a:rPr lang="en-US" sz="2400" smtClean="0">
                <a:solidFill>
                  <a:srgbClr val="C00000"/>
                </a:solidFill>
                <a:latin typeface="Calibri" pitchFamily="34" charset="0"/>
              </a:rPr>
              <a:t>CALL </a:t>
            </a:r>
            <a:r>
              <a:rPr lang="en-US" sz="2400" smtClean="0">
                <a:latin typeface="Calibri" pitchFamily="34" charset="0"/>
              </a:rPr>
              <a:t>instruction:</a:t>
            </a:r>
          </a:p>
          <a:p>
            <a:pPr lvl="1" eaLnBrk="1" hangingPunct="1"/>
            <a:r>
              <a:rPr lang="en-US" sz="2400" smtClean="0">
                <a:solidFill>
                  <a:srgbClr val="C00000"/>
                </a:solidFill>
                <a:latin typeface="Calibri" pitchFamily="34" charset="0"/>
              </a:rPr>
              <a:t>Absolute Call – ACALL</a:t>
            </a:r>
          </a:p>
          <a:p>
            <a:pPr lvl="2" eaLnBrk="1" hangingPunct="1"/>
            <a:r>
              <a:rPr lang="en-US" smtClean="0">
                <a:latin typeface="Calibri" pitchFamily="34" charset="0"/>
              </a:rPr>
              <a:t>Uses a 11-bit address similar to AJMP</a:t>
            </a:r>
          </a:p>
          <a:p>
            <a:pPr lvl="2" eaLnBrk="1" hangingPunct="1"/>
            <a:r>
              <a:rPr lang="en-US" smtClean="0">
                <a:latin typeface="Calibri" pitchFamily="34" charset="0"/>
              </a:rPr>
              <a:t>The subroutine must be within the same 2K block.</a:t>
            </a:r>
          </a:p>
          <a:p>
            <a:pPr lvl="2" eaLnBrk="1" hangingPunct="1"/>
            <a:r>
              <a:rPr lang="en-US" smtClean="0">
                <a:solidFill>
                  <a:srgbClr val="C00000"/>
                </a:solidFill>
                <a:latin typeface="Calibri" pitchFamily="34" charset="0"/>
              </a:rPr>
              <a:t>Eg: ACALL addr11</a:t>
            </a:r>
          </a:p>
          <a:p>
            <a:pPr lvl="1" eaLnBrk="1" hangingPunct="1"/>
            <a:r>
              <a:rPr lang="en-US" sz="2400" smtClean="0">
                <a:solidFill>
                  <a:srgbClr val="C00000"/>
                </a:solidFill>
                <a:latin typeface="Calibri" pitchFamily="34" charset="0"/>
              </a:rPr>
              <a:t>Long Call – LCALL</a:t>
            </a:r>
          </a:p>
          <a:p>
            <a:pPr lvl="2" eaLnBrk="1" hangingPunct="1"/>
            <a:r>
              <a:rPr lang="en-US" smtClean="0">
                <a:latin typeface="Calibri" pitchFamily="34" charset="0"/>
              </a:rPr>
              <a:t>Uses a 16-bit address similar to LJMP</a:t>
            </a:r>
          </a:p>
          <a:p>
            <a:pPr lvl="2" eaLnBrk="1" hangingPunct="1"/>
            <a:r>
              <a:rPr lang="en-US" smtClean="0">
                <a:latin typeface="Calibri" pitchFamily="34" charset="0"/>
              </a:rPr>
              <a:t>The subroutine can be anywhere.</a:t>
            </a:r>
          </a:p>
          <a:p>
            <a:pPr lvl="2" eaLnBrk="1" hangingPunct="1"/>
            <a:r>
              <a:rPr lang="en-US" smtClean="0">
                <a:solidFill>
                  <a:srgbClr val="C00000"/>
                </a:solidFill>
                <a:latin typeface="Calibri" pitchFamily="34" charset="0"/>
              </a:rPr>
              <a:t>Eg: LCALL addr16</a:t>
            </a:r>
          </a:p>
          <a:p>
            <a:pPr lvl="1" eaLnBrk="1" hangingPunct="1"/>
            <a:r>
              <a:rPr lang="en-US" sz="2400" smtClean="0">
                <a:latin typeface="Calibri" pitchFamily="34" charset="0"/>
              </a:rPr>
              <a:t>Both forms push the 16-bit address of the next instruction on the stack and update the stack pointer.</a:t>
            </a:r>
          </a:p>
          <a:p>
            <a:endParaRPr lang="en-US" smtClean="0"/>
          </a:p>
        </p:txBody>
      </p:sp>
      <p:sp>
        <p:nvSpPr>
          <p:cNvPr id="23555" name="Slide Number Placeholder 3"/>
          <p:cNvSpPr>
            <a:spLocks noGrp="1"/>
          </p:cNvSpPr>
          <p:nvPr>
            <p:ph type="sldNum" sz="quarter" idx="12"/>
          </p:nvPr>
        </p:nvSpPr>
        <p:spPr>
          <a:noFill/>
        </p:spPr>
        <p:txBody>
          <a:bodyPr/>
          <a:lstStyle/>
          <a:p>
            <a:fld id="{C44DB4BA-EBA3-42F0-819F-C27BD4C377AB}" type="slidenum">
              <a:rPr lang="en-US" smtClean="0"/>
              <a:pPr/>
              <a:t>72</a:t>
            </a:fld>
            <a:endParaRPr lang="en-US" smtClean="0"/>
          </a:p>
        </p:txBody>
      </p:sp>
      <p:sp>
        <p:nvSpPr>
          <p:cNvPr id="4" name="Date Placeholder 3"/>
          <p:cNvSpPr>
            <a:spLocks noGrp="1"/>
          </p:cNvSpPr>
          <p:nvPr>
            <p:ph type="dt" sz="half" idx="10"/>
          </p:nvPr>
        </p:nvSpPr>
        <p:spPr/>
        <p:txBody>
          <a:bodyPr/>
          <a:lstStyle/>
          <a:p>
            <a:pPr>
              <a:defRPr/>
            </a:pPr>
            <a:fld id="{42B31B33-9668-4C35-9336-D319FFAED5E5}"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body" idx="1"/>
          </p:nvPr>
        </p:nvSpPr>
        <p:spPr>
          <a:xfrm>
            <a:off x="434975" y="765175"/>
            <a:ext cx="8229600" cy="5341938"/>
          </a:xfrm>
        </p:spPr>
        <p:txBody>
          <a:bodyPr/>
          <a:lstStyle/>
          <a:p>
            <a:pPr eaLnBrk="1" hangingPunct="1"/>
            <a:r>
              <a:rPr lang="en-US" sz="2200" smtClean="0"/>
              <a:t>The 8051 provides 2 forms for the </a:t>
            </a:r>
            <a:r>
              <a:rPr lang="en-US" sz="2200" smtClean="0">
                <a:solidFill>
                  <a:srgbClr val="C00000"/>
                </a:solidFill>
              </a:rPr>
              <a:t>return</a:t>
            </a:r>
            <a:r>
              <a:rPr lang="en-US" sz="2200" smtClean="0"/>
              <a:t> instruction:</a:t>
            </a:r>
          </a:p>
          <a:p>
            <a:pPr lvl="1" eaLnBrk="1" hangingPunct="1"/>
            <a:r>
              <a:rPr lang="en-US" sz="2200" smtClean="0">
                <a:solidFill>
                  <a:srgbClr val="C00000"/>
                </a:solidFill>
              </a:rPr>
              <a:t>Return from subroutine – RET</a:t>
            </a:r>
          </a:p>
          <a:p>
            <a:pPr lvl="2" eaLnBrk="1" hangingPunct="1"/>
            <a:r>
              <a:rPr lang="en-US" sz="2200" smtClean="0"/>
              <a:t>Pops the return address from the stack, updates stack pointer and continues execution at the previously pushed address.</a:t>
            </a:r>
          </a:p>
          <a:p>
            <a:pPr lvl="1" eaLnBrk="1" hangingPunct="1"/>
            <a:r>
              <a:rPr lang="en-US" sz="2200" smtClean="0">
                <a:solidFill>
                  <a:srgbClr val="C00000"/>
                </a:solidFill>
              </a:rPr>
              <a:t>Return from Interrupt – RETI</a:t>
            </a:r>
          </a:p>
          <a:p>
            <a:pPr lvl="2" eaLnBrk="1" hangingPunct="1"/>
            <a:r>
              <a:rPr lang="en-US" sz="2200" smtClean="0"/>
              <a:t>Pops the return address from the stack.</a:t>
            </a:r>
          </a:p>
          <a:p>
            <a:pPr lvl="2" eaLnBrk="1" hangingPunct="1"/>
            <a:r>
              <a:rPr lang="en-US" sz="2200" smtClean="0"/>
              <a:t>Restores the interrupt logic to accept additional interrupts at the </a:t>
            </a:r>
            <a:r>
              <a:rPr lang="en-US" sz="2200" smtClean="0">
                <a:solidFill>
                  <a:srgbClr val="CC0000"/>
                </a:solidFill>
              </a:rPr>
              <a:t>same priority level as the one just processed</a:t>
            </a:r>
            <a:r>
              <a:rPr lang="en-US" sz="2200" smtClean="0"/>
              <a:t>.</a:t>
            </a:r>
          </a:p>
          <a:p>
            <a:pPr lvl="2" eaLnBrk="1" hangingPunct="1"/>
            <a:r>
              <a:rPr lang="en-US" sz="2200" smtClean="0"/>
              <a:t>The PSW is </a:t>
            </a:r>
            <a:r>
              <a:rPr lang="en-US" sz="2200" smtClean="0">
                <a:solidFill>
                  <a:srgbClr val="CC0000"/>
                </a:solidFill>
              </a:rPr>
              <a:t>not</a:t>
            </a:r>
            <a:r>
              <a:rPr lang="en-US" sz="2200" smtClean="0"/>
              <a:t> automatically restored to its pre-interrupt status.</a:t>
            </a:r>
          </a:p>
          <a:p>
            <a:pPr lvl="2" eaLnBrk="1" hangingPunct="1"/>
            <a:r>
              <a:rPr lang="en-US" sz="2200" smtClean="0"/>
              <a:t>Continues execution at the address retrieved from the stack.</a:t>
            </a:r>
          </a:p>
        </p:txBody>
      </p:sp>
      <p:sp>
        <p:nvSpPr>
          <p:cNvPr id="3" name="Date Placeholder 2"/>
          <p:cNvSpPr>
            <a:spLocks noGrp="1"/>
          </p:cNvSpPr>
          <p:nvPr>
            <p:ph type="dt" sz="half" idx="10"/>
          </p:nvPr>
        </p:nvSpPr>
        <p:spPr/>
        <p:txBody>
          <a:bodyPr/>
          <a:lstStyle/>
          <a:p>
            <a:pPr>
              <a:defRPr/>
            </a:pPr>
            <a:fld id="{162C6AE3-5E35-4B69-AEAF-2486F0D10D07}"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73</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a:xfrm>
            <a:off x="468313" y="269875"/>
            <a:ext cx="8229600" cy="6588125"/>
          </a:xfrm>
        </p:spPr>
        <p:txBody>
          <a:bodyPr/>
          <a:lstStyle/>
          <a:p>
            <a:pPr eaLnBrk="1" hangingPunct="1"/>
            <a:r>
              <a:rPr lang="en-US" sz="2400" smtClean="0">
                <a:latin typeface="Calibri" pitchFamily="34" charset="0"/>
              </a:rPr>
              <a:t>The 8051 supports 5 different </a:t>
            </a:r>
            <a:r>
              <a:rPr lang="en-US" sz="2400" smtClean="0">
                <a:solidFill>
                  <a:srgbClr val="C00000"/>
                </a:solidFill>
                <a:latin typeface="Calibri" pitchFamily="34" charset="0"/>
              </a:rPr>
              <a:t>conditional jump </a:t>
            </a:r>
            <a:r>
              <a:rPr lang="en-US" sz="2400" smtClean="0">
                <a:latin typeface="Calibri" pitchFamily="34" charset="0"/>
              </a:rPr>
              <a:t>instructions.</a:t>
            </a:r>
          </a:p>
          <a:p>
            <a:pPr lvl="1" eaLnBrk="1" hangingPunct="1"/>
            <a:r>
              <a:rPr lang="en-US" sz="2400" smtClean="0">
                <a:latin typeface="Calibri" pitchFamily="34" charset="0"/>
              </a:rPr>
              <a:t>ALL conditional jump instructions use an 8-bit signed offset.</a:t>
            </a:r>
          </a:p>
          <a:p>
            <a:pPr lvl="1" eaLnBrk="1" hangingPunct="1"/>
            <a:r>
              <a:rPr lang="en-US" sz="2400" smtClean="0">
                <a:solidFill>
                  <a:srgbClr val="C00000"/>
                </a:solidFill>
                <a:latin typeface="Calibri" pitchFamily="34" charset="0"/>
              </a:rPr>
              <a:t>Jump on Zero – JZ / JNZ</a:t>
            </a:r>
          </a:p>
          <a:p>
            <a:pPr lvl="2" eaLnBrk="1" hangingPunct="1"/>
            <a:r>
              <a:rPr lang="en-US" smtClean="0">
                <a:solidFill>
                  <a:srgbClr val="C00000"/>
                </a:solidFill>
                <a:latin typeface="Calibri" pitchFamily="34" charset="0"/>
              </a:rPr>
              <a:t>JZ rel </a:t>
            </a:r>
            <a:r>
              <a:rPr lang="en-US" smtClean="0">
                <a:latin typeface="Calibri" pitchFamily="34" charset="0"/>
              </a:rPr>
              <a:t>; Jump if accumulator is zero.</a:t>
            </a:r>
          </a:p>
          <a:p>
            <a:pPr lvl="2" eaLnBrk="1" hangingPunct="1"/>
            <a:r>
              <a:rPr lang="en-US" smtClean="0">
                <a:solidFill>
                  <a:srgbClr val="C00000"/>
                </a:solidFill>
                <a:latin typeface="Calibri" pitchFamily="34" charset="0"/>
              </a:rPr>
              <a:t>JNZ rel </a:t>
            </a:r>
            <a:r>
              <a:rPr lang="en-US" smtClean="0">
                <a:latin typeface="Calibri" pitchFamily="34" charset="0"/>
              </a:rPr>
              <a:t>; Jump if  accumulator is not zero.</a:t>
            </a:r>
          </a:p>
          <a:p>
            <a:pPr lvl="3" eaLnBrk="1" hangingPunct="1"/>
            <a:r>
              <a:rPr lang="en-US" sz="2400" smtClean="0">
                <a:latin typeface="Calibri" pitchFamily="34" charset="0"/>
              </a:rPr>
              <a:t>The check is done at the time of the instruction execution.</a:t>
            </a:r>
          </a:p>
          <a:p>
            <a:pPr lvl="1" eaLnBrk="1" hangingPunct="1"/>
            <a:r>
              <a:rPr lang="en-US" sz="2400" smtClean="0">
                <a:solidFill>
                  <a:srgbClr val="C00000"/>
                </a:solidFill>
                <a:latin typeface="Calibri" pitchFamily="34" charset="0"/>
              </a:rPr>
              <a:t>Jump on Carry – JC / JNC</a:t>
            </a:r>
          </a:p>
          <a:p>
            <a:pPr lvl="2" eaLnBrk="1" hangingPunct="1"/>
            <a:r>
              <a:rPr lang="en-US" smtClean="0">
                <a:solidFill>
                  <a:srgbClr val="C00000"/>
                </a:solidFill>
                <a:latin typeface="Calibri" pitchFamily="34" charset="0"/>
              </a:rPr>
              <a:t>JC rel </a:t>
            </a:r>
            <a:r>
              <a:rPr lang="en-US" smtClean="0">
                <a:latin typeface="Calibri" pitchFamily="34" charset="0"/>
              </a:rPr>
              <a:t>; Jump if the C flag is set. </a:t>
            </a:r>
          </a:p>
          <a:p>
            <a:pPr lvl="2" eaLnBrk="1" hangingPunct="1"/>
            <a:r>
              <a:rPr lang="en-US" smtClean="0">
                <a:solidFill>
                  <a:srgbClr val="C00000"/>
                </a:solidFill>
                <a:latin typeface="Calibri" pitchFamily="34" charset="0"/>
              </a:rPr>
              <a:t>JNC rel </a:t>
            </a:r>
            <a:r>
              <a:rPr lang="en-US" smtClean="0">
                <a:latin typeface="Calibri" pitchFamily="34" charset="0"/>
              </a:rPr>
              <a:t>; Jump if no carry flag.</a:t>
            </a:r>
          </a:p>
          <a:p>
            <a:pPr lvl="1" eaLnBrk="1" hangingPunct="1"/>
            <a:r>
              <a:rPr lang="en-US" sz="2400" smtClean="0">
                <a:solidFill>
                  <a:srgbClr val="C00000"/>
                </a:solidFill>
                <a:latin typeface="Calibri" pitchFamily="34" charset="0"/>
              </a:rPr>
              <a:t>Jump on Bit – JB / JNB</a:t>
            </a:r>
          </a:p>
          <a:p>
            <a:pPr lvl="2" eaLnBrk="1" hangingPunct="1"/>
            <a:r>
              <a:rPr lang="en-US" smtClean="0">
                <a:solidFill>
                  <a:srgbClr val="C00000"/>
                </a:solidFill>
                <a:latin typeface="Calibri" pitchFamily="34" charset="0"/>
              </a:rPr>
              <a:t>JB bit,rel </a:t>
            </a:r>
            <a:r>
              <a:rPr lang="en-US" smtClean="0">
                <a:latin typeface="Calibri" pitchFamily="34" charset="0"/>
              </a:rPr>
              <a:t>; Jump if the specified bit is set </a:t>
            </a:r>
          </a:p>
          <a:p>
            <a:pPr lvl="2" eaLnBrk="1" hangingPunct="1"/>
            <a:r>
              <a:rPr lang="en-US" smtClean="0">
                <a:solidFill>
                  <a:srgbClr val="C00000"/>
                </a:solidFill>
                <a:latin typeface="Calibri" pitchFamily="34" charset="0"/>
              </a:rPr>
              <a:t>JNB bit, rel </a:t>
            </a:r>
            <a:r>
              <a:rPr lang="en-US" smtClean="0">
                <a:latin typeface="Calibri" pitchFamily="34" charset="0"/>
              </a:rPr>
              <a:t>; Jump if specified bit not set.</a:t>
            </a:r>
          </a:p>
          <a:p>
            <a:pPr lvl="2" eaLnBrk="1" hangingPunct="1"/>
            <a:r>
              <a:rPr lang="en-US" smtClean="0">
                <a:latin typeface="Calibri" pitchFamily="34" charset="0"/>
              </a:rPr>
              <a:t>Any addressable bit can be specified.</a:t>
            </a:r>
          </a:p>
          <a:p>
            <a:pPr lvl="2" eaLnBrk="1" hangingPunct="1"/>
            <a:endParaRPr lang="en-US" sz="2200" smtClean="0"/>
          </a:p>
        </p:txBody>
      </p:sp>
      <p:sp>
        <p:nvSpPr>
          <p:cNvPr id="3" name="Date Placeholder 2"/>
          <p:cNvSpPr>
            <a:spLocks noGrp="1"/>
          </p:cNvSpPr>
          <p:nvPr>
            <p:ph type="dt" sz="half" idx="10"/>
          </p:nvPr>
        </p:nvSpPr>
        <p:spPr/>
        <p:txBody>
          <a:bodyPr/>
          <a:lstStyle/>
          <a:p>
            <a:pPr>
              <a:defRPr/>
            </a:pPr>
            <a:fld id="{EBBE421B-37F6-4D37-B8F7-9D145E88C194}"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74</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body" idx="1"/>
          </p:nvPr>
        </p:nvSpPr>
        <p:spPr>
          <a:xfrm>
            <a:off x="277813" y="233363"/>
            <a:ext cx="8229600" cy="6246812"/>
          </a:xfrm>
        </p:spPr>
        <p:txBody>
          <a:bodyPr/>
          <a:lstStyle/>
          <a:p>
            <a:pPr lvl="2" eaLnBrk="1" hangingPunct="1"/>
            <a:endParaRPr lang="en-US" smtClean="0">
              <a:latin typeface="Calibri" pitchFamily="34" charset="0"/>
            </a:endParaRPr>
          </a:p>
          <a:p>
            <a:pPr lvl="1" eaLnBrk="1" hangingPunct="1"/>
            <a:r>
              <a:rPr lang="en-US" sz="2400" smtClean="0">
                <a:solidFill>
                  <a:srgbClr val="C00000"/>
                </a:solidFill>
                <a:latin typeface="Calibri" pitchFamily="34" charset="0"/>
              </a:rPr>
              <a:t>Jump if the Bit is set then Clear the bit – JBC</a:t>
            </a:r>
          </a:p>
          <a:p>
            <a:pPr lvl="2" eaLnBrk="1" hangingPunct="1"/>
            <a:r>
              <a:rPr lang="en-US" smtClean="0">
                <a:solidFill>
                  <a:srgbClr val="C00000"/>
                </a:solidFill>
                <a:latin typeface="Calibri" pitchFamily="34" charset="0"/>
              </a:rPr>
              <a:t>JBC bit, rel ; </a:t>
            </a:r>
            <a:r>
              <a:rPr lang="en-US" smtClean="0">
                <a:latin typeface="Calibri" pitchFamily="34" charset="0"/>
              </a:rPr>
              <a:t>Jump if the specified bit is set.</a:t>
            </a:r>
          </a:p>
          <a:p>
            <a:pPr lvl="2" eaLnBrk="1" hangingPunct="1"/>
            <a:r>
              <a:rPr lang="en-US" smtClean="0">
                <a:latin typeface="Calibri" pitchFamily="34" charset="0"/>
              </a:rPr>
              <a:t>Then clear the bit.</a:t>
            </a:r>
          </a:p>
          <a:p>
            <a:pPr lvl="2" eaLnBrk="1" hangingPunct="1">
              <a:buFontTx/>
              <a:buNone/>
            </a:pPr>
            <a:endParaRPr lang="en-US" smtClean="0">
              <a:latin typeface="Calibri" pitchFamily="34" charset="0"/>
            </a:endParaRPr>
          </a:p>
          <a:p>
            <a:pPr eaLnBrk="1" hangingPunct="1"/>
            <a:r>
              <a:rPr lang="en-US" sz="2400" smtClean="0">
                <a:solidFill>
                  <a:srgbClr val="C00000"/>
                </a:solidFill>
                <a:latin typeface="Calibri" pitchFamily="34" charset="0"/>
              </a:rPr>
              <a:t>Compare and Jump if Not Equal – CJNE</a:t>
            </a:r>
          </a:p>
          <a:p>
            <a:pPr lvl="1" eaLnBrk="1" hangingPunct="1"/>
            <a:r>
              <a:rPr lang="en-US" sz="2400" smtClean="0">
                <a:latin typeface="Calibri" pitchFamily="34" charset="0"/>
              </a:rPr>
              <a:t>Compare the magnitude of the two operands and jump if they are not equal.</a:t>
            </a:r>
          </a:p>
          <a:p>
            <a:pPr lvl="2" eaLnBrk="1" hangingPunct="1"/>
            <a:r>
              <a:rPr lang="en-US" smtClean="0">
                <a:latin typeface="Calibri" pitchFamily="34" charset="0"/>
              </a:rPr>
              <a:t>The values are considered to be unsigned.</a:t>
            </a:r>
          </a:p>
          <a:p>
            <a:pPr lvl="2" eaLnBrk="1" hangingPunct="1"/>
            <a:r>
              <a:rPr lang="en-US" smtClean="0">
                <a:solidFill>
                  <a:srgbClr val="C00000"/>
                </a:solidFill>
                <a:latin typeface="Calibri" pitchFamily="34" charset="0"/>
              </a:rPr>
              <a:t>CJNE &lt;dest-byte&gt;, &lt;src-byte&gt;, rel </a:t>
            </a:r>
          </a:p>
          <a:p>
            <a:pPr lvl="2" eaLnBrk="1" hangingPunct="1"/>
            <a:r>
              <a:rPr lang="en-US" smtClean="0">
                <a:latin typeface="Calibri" pitchFamily="34" charset="0"/>
              </a:rPr>
              <a:t>The Carry flag is set if  &lt;dest-byte&gt; is less than &lt;src-byte&gt; otherwise cleared.</a:t>
            </a:r>
          </a:p>
          <a:p>
            <a:pPr lvl="3" eaLnBrk="1" hangingPunct="1">
              <a:buFont typeface="Wingdings" pitchFamily="2" charset="2"/>
              <a:buChar char="§"/>
            </a:pPr>
            <a:r>
              <a:rPr lang="en-US" sz="2400" smtClean="0">
                <a:solidFill>
                  <a:srgbClr val="C00000"/>
                </a:solidFill>
                <a:latin typeface="Calibri" pitchFamily="34" charset="0"/>
              </a:rPr>
              <a:t>CJNE	A, direct, rel</a:t>
            </a:r>
          </a:p>
          <a:p>
            <a:pPr lvl="3" eaLnBrk="1" hangingPunct="1">
              <a:buFont typeface="Wingdings" pitchFamily="2" charset="2"/>
              <a:buChar char="§"/>
            </a:pPr>
            <a:r>
              <a:rPr lang="en-US" sz="2400" smtClean="0">
                <a:solidFill>
                  <a:srgbClr val="C00000"/>
                </a:solidFill>
                <a:latin typeface="Calibri" pitchFamily="34" charset="0"/>
              </a:rPr>
              <a:t>CJNE	A, #data, rel</a:t>
            </a:r>
          </a:p>
          <a:p>
            <a:pPr lvl="2" eaLnBrk="1" hangingPunct="1"/>
            <a:endParaRPr lang="en-US" smtClean="0"/>
          </a:p>
        </p:txBody>
      </p:sp>
      <p:sp>
        <p:nvSpPr>
          <p:cNvPr id="3" name="Date Placeholder 2"/>
          <p:cNvSpPr>
            <a:spLocks noGrp="1"/>
          </p:cNvSpPr>
          <p:nvPr>
            <p:ph type="dt" sz="half" idx="10"/>
          </p:nvPr>
        </p:nvSpPr>
        <p:spPr/>
        <p:txBody>
          <a:bodyPr/>
          <a:lstStyle/>
          <a:p>
            <a:pPr>
              <a:defRPr/>
            </a:pPr>
            <a:fld id="{CFCACBD8-08E1-455D-8DCD-DA17327D7C17}"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75</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457200" y="971550"/>
            <a:ext cx="8229600" cy="5413375"/>
          </a:xfrm>
        </p:spPr>
        <p:txBody>
          <a:bodyPr/>
          <a:lstStyle/>
          <a:p>
            <a:pPr eaLnBrk="1" hangingPunct="1"/>
            <a:r>
              <a:rPr lang="en-US" sz="2400" smtClean="0">
                <a:solidFill>
                  <a:srgbClr val="C00000"/>
                </a:solidFill>
              </a:rPr>
              <a:t>Decrement and Jump if Not Zero – DJNZ</a:t>
            </a:r>
          </a:p>
          <a:p>
            <a:pPr lvl="1" eaLnBrk="1" hangingPunct="1"/>
            <a:r>
              <a:rPr lang="en-US" sz="2400" smtClean="0"/>
              <a:t>Decrement the first operand by 1 and jump to the location identified by the second operand if the resulting value is not zero.</a:t>
            </a:r>
          </a:p>
          <a:p>
            <a:pPr lvl="1" eaLnBrk="1" hangingPunct="1"/>
            <a:r>
              <a:rPr lang="en-US" sz="2400" smtClean="0">
                <a:solidFill>
                  <a:srgbClr val="C00000"/>
                </a:solidFill>
              </a:rPr>
              <a:t>DJNZ &lt;byte&gt;, &lt;rel-addr&gt;</a:t>
            </a:r>
          </a:p>
          <a:p>
            <a:pPr lvl="3" eaLnBrk="1" hangingPunct="1">
              <a:buFont typeface="Wingdings" pitchFamily="2" charset="2"/>
              <a:buChar char="§"/>
            </a:pPr>
            <a:r>
              <a:rPr lang="en-US" smtClean="0">
                <a:solidFill>
                  <a:srgbClr val="C00000"/>
                </a:solidFill>
              </a:rPr>
              <a:t>DJNZ	Rn, rel</a:t>
            </a:r>
          </a:p>
          <a:p>
            <a:pPr lvl="3" eaLnBrk="1" hangingPunct="1">
              <a:buFont typeface="Wingdings" pitchFamily="2" charset="2"/>
              <a:buChar char="§"/>
            </a:pPr>
            <a:r>
              <a:rPr lang="en-US" smtClean="0">
                <a:solidFill>
                  <a:srgbClr val="C00000"/>
                </a:solidFill>
              </a:rPr>
              <a:t>DJNZ	direct, rel</a:t>
            </a:r>
          </a:p>
          <a:p>
            <a:pPr eaLnBrk="1" hangingPunct="1"/>
            <a:endParaRPr lang="en-US" sz="2400" smtClean="0"/>
          </a:p>
          <a:p>
            <a:pPr eaLnBrk="1" hangingPunct="1"/>
            <a:r>
              <a:rPr lang="en-US" sz="2400" smtClean="0">
                <a:solidFill>
                  <a:srgbClr val="C00000"/>
                </a:solidFill>
              </a:rPr>
              <a:t>No Operation</a:t>
            </a:r>
          </a:p>
          <a:p>
            <a:pPr lvl="1" eaLnBrk="1" hangingPunct="1"/>
            <a:r>
              <a:rPr lang="en-US" sz="2400" smtClean="0">
                <a:solidFill>
                  <a:srgbClr val="C00000"/>
                </a:solidFill>
              </a:rPr>
              <a:t>NOP</a:t>
            </a:r>
          </a:p>
          <a:p>
            <a:pPr lvl="1" eaLnBrk="1" hangingPunct="1">
              <a:buFontTx/>
              <a:buNone/>
            </a:pPr>
            <a:endParaRPr lang="en-US" sz="2400" smtClean="0"/>
          </a:p>
        </p:txBody>
      </p:sp>
      <p:sp>
        <p:nvSpPr>
          <p:cNvPr id="3" name="Date Placeholder 2"/>
          <p:cNvSpPr>
            <a:spLocks noGrp="1"/>
          </p:cNvSpPr>
          <p:nvPr>
            <p:ph type="dt" sz="half" idx="10"/>
          </p:nvPr>
        </p:nvSpPr>
        <p:spPr/>
        <p:txBody>
          <a:bodyPr/>
          <a:lstStyle/>
          <a:p>
            <a:pPr>
              <a:defRPr/>
            </a:pPr>
            <a:fld id="{C0B15083-0A4C-4402-865C-62BFD99AD812}" type="datetime2">
              <a:rPr lang="en-US" smtClean="0"/>
              <a:pPr>
                <a:defRPr/>
              </a:pPr>
              <a:t>Friday, August 27, 2021</a:t>
            </a:fld>
            <a:endParaRPr lang="en-US"/>
          </a:p>
        </p:txBody>
      </p:sp>
      <p:sp>
        <p:nvSpPr>
          <p:cNvPr id="4" name="Slide Number Placeholder 3"/>
          <p:cNvSpPr>
            <a:spLocks noGrp="1"/>
          </p:cNvSpPr>
          <p:nvPr>
            <p:ph type="sldNum" sz="quarter" idx="12"/>
          </p:nvPr>
        </p:nvSpPr>
        <p:spPr/>
        <p:txBody>
          <a:bodyPr/>
          <a:lstStyle/>
          <a:p>
            <a:pPr>
              <a:defRPr/>
            </a:pPr>
            <a:fld id="{29365B32-0A66-4572-87C9-59177F07ABFF}" type="slidenum">
              <a:rPr lang="en-US" smtClean="0"/>
              <a:pPr>
                <a:defRPr/>
              </a:pPr>
              <a:t>76</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2"/>
          </p:nvPr>
        </p:nvSpPr>
        <p:spPr>
          <a:noFill/>
        </p:spPr>
        <p:txBody>
          <a:bodyPr/>
          <a:lstStyle/>
          <a:p>
            <a:fld id="{347314DE-D5C0-4422-9FCB-E97A1E454DFB}" type="slidenum">
              <a:rPr lang="en-US" smtClean="0"/>
              <a:pPr/>
              <a:t>77</a:t>
            </a:fld>
            <a:endParaRPr lang="en-US" smtClean="0"/>
          </a:p>
        </p:txBody>
      </p:sp>
      <p:pic>
        <p:nvPicPr>
          <p:cNvPr id="28675"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12700">
            <a:noFill/>
            <a:miter lim="800000"/>
            <a:headEnd/>
            <a:tailEnd/>
          </a:ln>
        </p:spPr>
      </p:pic>
      <p:sp>
        <p:nvSpPr>
          <p:cNvPr id="4" name="Date Placeholder 3"/>
          <p:cNvSpPr>
            <a:spLocks noGrp="1"/>
          </p:cNvSpPr>
          <p:nvPr>
            <p:ph type="dt" sz="half" idx="10"/>
          </p:nvPr>
        </p:nvSpPr>
        <p:spPr/>
        <p:txBody>
          <a:bodyPr/>
          <a:lstStyle/>
          <a:p>
            <a:pPr>
              <a:defRPr/>
            </a:pPr>
            <a:fld id="{F00AB361-17E7-478A-AAF5-F6CB557FFC75}"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457200" y="0"/>
            <a:ext cx="8229600" cy="812800"/>
          </a:xfrm>
        </p:spPr>
        <p:txBody>
          <a:bodyPr/>
          <a:lstStyle/>
          <a:p>
            <a:r>
              <a:rPr lang="en-US" sz="4000" smtClean="0">
                <a:solidFill>
                  <a:srgbClr val="002060"/>
                </a:solidFill>
              </a:rPr>
              <a:t>8051 Data types and Directives</a:t>
            </a:r>
          </a:p>
        </p:txBody>
      </p:sp>
      <p:sp>
        <p:nvSpPr>
          <p:cNvPr id="29699" name="Content Placeholder 2"/>
          <p:cNvSpPr>
            <a:spLocks noGrp="1"/>
          </p:cNvSpPr>
          <p:nvPr>
            <p:ph idx="1"/>
          </p:nvPr>
        </p:nvSpPr>
        <p:spPr>
          <a:xfrm>
            <a:off x="457200" y="993775"/>
            <a:ext cx="8229600" cy="5132388"/>
          </a:xfrm>
        </p:spPr>
        <p:txBody>
          <a:bodyPr/>
          <a:lstStyle/>
          <a:p>
            <a:pPr>
              <a:buFontTx/>
              <a:buNone/>
            </a:pPr>
            <a:r>
              <a:rPr lang="en-US" smtClean="0">
                <a:solidFill>
                  <a:srgbClr val="C00000"/>
                </a:solidFill>
                <a:latin typeface="Calibri" pitchFamily="34" charset="0"/>
              </a:rPr>
              <a:t>Data Types:</a:t>
            </a:r>
          </a:p>
          <a:p>
            <a:r>
              <a:rPr lang="en-US" sz="2400" smtClean="0">
                <a:latin typeface="Calibri" pitchFamily="34" charset="0"/>
              </a:rPr>
              <a:t>8051 supports only one data type. It is 8-bits (byte).</a:t>
            </a:r>
          </a:p>
          <a:p>
            <a:r>
              <a:rPr lang="en-US" sz="2400" smtClean="0">
                <a:latin typeface="Calibri" pitchFamily="34" charset="0"/>
              </a:rPr>
              <a:t>The data type used by 8051 can be positive or negative.</a:t>
            </a:r>
          </a:p>
          <a:p>
            <a:r>
              <a:rPr lang="en-US" sz="2400" smtClean="0">
                <a:latin typeface="Calibri" pitchFamily="34" charset="0"/>
              </a:rPr>
              <a:t>The MSB bit of 8-bit data indicates the sign of the data.</a:t>
            </a:r>
          </a:p>
          <a:p>
            <a:pPr>
              <a:buFontTx/>
              <a:buNone/>
            </a:pPr>
            <a:r>
              <a:rPr lang="en-US" smtClean="0">
                <a:solidFill>
                  <a:srgbClr val="C00000"/>
                </a:solidFill>
                <a:latin typeface="Calibri" pitchFamily="34" charset="0"/>
              </a:rPr>
              <a:t>Directives:</a:t>
            </a:r>
            <a:endParaRPr lang="en-US" sz="2400" smtClean="0">
              <a:latin typeface="Calibri" pitchFamily="34" charset="0"/>
            </a:endParaRPr>
          </a:p>
          <a:p>
            <a:pPr>
              <a:buFontTx/>
              <a:buNone/>
            </a:pPr>
            <a:r>
              <a:rPr lang="en-US" sz="2400" smtClean="0">
                <a:latin typeface="Calibri" pitchFamily="34" charset="0"/>
              </a:rPr>
              <a:t>Commonly used assembler directives:</a:t>
            </a:r>
          </a:p>
          <a:p>
            <a:pPr>
              <a:buFontTx/>
              <a:buNone/>
            </a:pPr>
            <a:r>
              <a:rPr lang="en-US" sz="2400" smtClean="0">
                <a:solidFill>
                  <a:srgbClr val="C00000"/>
                </a:solidFill>
                <a:latin typeface="Calibri" pitchFamily="34" charset="0"/>
              </a:rPr>
              <a:t>EQU, ORG, DB, END</a:t>
            </a:r>
          </a:p>
          <a:p>
            <a:pPr>
              <a:buFontTx/>
              <a:buNone/>
            </a:pPr>
            <a:r>
              <a:rPr lang="en-US" sz="2400" smtClean="0">
                <a:solidFill>
                  <a:srgbClr val="C00000"/>
                </a:solidFill>
                <a:latin typeface="Calibri" pitchFamily="34" charset="0"/>
              </a:rPr>
              <a:t>CODE: </a:t>
            </a:r>
            <a:r>
              <a:rPr lang="en-US" sz="2400" smtClean="0">
                <a:latin typeface="Calibri" pitchFamily="34" charset="0"/>
              </a:rPr>
              <a:t>It assigns a name to the specified memory location in program memory.</a:t>
            </a:r>
          </a:p>
          <a:p>
            <a:pPr>
              <a:buFontTx/>
              <a:buNone/>
            </a:pPr>
            <a:r>
              <a:rPr lang="en-US" sz="2400" smtClean="0">
                <a:latin typeface="Calibri" pitchFamily="34" charset="0"/>
              </a:rPr>
              <a:t>	</a:t>
            </a:r>
            <a:r>
              <a:rPr lang="en-US" sz="2400" smtClean="0">
                <a:solidFill>
                  <a:srgbClr val="C00000"/>
                </a:solidFill>
                <a:latin typeface="Calibri" pitchFamily="34" charset="0"/>
              </a:rPr>
              <a:t>Eg: LIST CODE 1020H  </a:t>
            </a:r>
            <a:r>
              <a:rPr lang="en-US" sz="2400" smtClean="0">
                <a:latin typeface="Calibri" pitchFamily="34" charset="0"/>
              </a:rPr>
              <a:t>; Memory location 1020H is referred as 				LIST</a:t>
            </a:r>
          </a:p>
          <a:p>
            <a:pPr>
              <a:buFontTx/>
              <a:buNone/>
            </a:pPr>
            <a:endParaRPr lang="en-US" sz="2400" smtClean="0">
              <a:latin typeface="Calibri" pitchFamily="34" charset="0"/>
            </a:endParaRPr>
          </a:p>
          <a:p>
            <a:pPr>
              <a:buFontTx/>
              <a:buNone/>
            </a:pPr>
            <a:endParaRPr lang="en-US" smtClean="0">
              <a:solidFill>
                <a:srgbClr val="C00000"/>
              </a:solidFill>
              <a:latin typeface="Calibri" pitchFamily="34" charset="0"/>
            </a:endParaRPr>
          </a:p>
          <a:p>
            <a:endParaRPr lang="en-US" smtClean="0">
              <a:latin typeface="Calibri" pitchFamily="34" charset="0"/>
            </a:endParaRPr>
          </a:p>
        </p:txBody>
      </p:sp>
      <p:sp>
        <p:nvSpPr>
          <p:cNvPr id="29700" name="Slide Number Placeholder 3"/>
          <p:cNvSpPr>
            <a:spLocks noGrp="1"/>
          </p:cNvSpPr>
          <p:nvPr>
            <p:ph type="sldNum" sz="quarter" idx="12"/>
          </p:nvPr>
        </p:nvSpPr>
        <p:spPr>
          <a:noFill/>
        </p:spPr>
        <p:txBody>
          <a:bodyPr/>
          <a:lstStyle/>
          <a:p>
            <a:fld id="{5113BCA1-C14A-4FB2-AC50-F0E3AD3AAA19}" type="slidenum">
              <a:rPr lang="en-US" smtClean="0"/>
              <a:pPr/>
              <a:t>78</a:t>
            </a:fld>
            <a:endParaRPr lang="en-US" smtClean="0"/>
          </a:p>
        </p:txBody>
      </p:sp>
      <p:sp>
        <p:nvSpPr>
          <p:cNvPr id="5" name="Date Placeholder 4"/>
          <p:cNvSpPr>
            <a:spLocks noGrp="1"/>
          </p:cNvSpPr>
          <p:nvPr>
            <p:ph type="dt" sz="half" idx="10"/>
          </p:nvPr>
        </p:nvSpPr>
        <p:spPr/>
        <p:txBody>
          <a:bodyPr/>
          <a:lstStyle/>
          <a:p>
            <a:pPr>
              <a:defRPr/>
            </a:pPr>
            <a:fld id="{1AD8164D-AB9F-4D42-B811-5C7FD17889BF}" type="datetime2">
              <a:rPr lang="en-US" smtClean="0"/>
              <a:pPr>
                <a:defRPr/>
              </a:pPr>
              <a:t>Friday, August 27, 2021</a:t>
            </a:fld>
            <a:endParaRPr lang="en-US"/>
          </a:p>
        </p:txBody>
      </p:sp>
      <p:sp>
        <p:nvSpPr>
          <p:cNvPr id="6" name="Footer Placeholder 5"/>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p:cNvSpPr>
            <a:spLocks noGrp="1"/>
          </p:cNvSpPr>
          <p:nvPr>
            <p:ph idx="1"/>
          </p:nvPr>
        </p:nvSpPr>
        <p:spPr>
          <a:xfrm>
            <a:off x="388938" y="573088"/>
            <a:ext cx="8229600" cy="5635625"/>
          </a:xfrm>
        </p:spPr>
        <p:txBody>
          <a:bodyPr/>
          <a:lstStyle/>
          <a:p>
            <a:r>
              <a:rPr lang="en-US" sz="2400" smtClean="0">
                <a:solidFill>
                  <a:srgbClr val="C00000"/>
                </a:solidFill>
                <a:latin typeface="Calibri" pitchFamily="34" charset="0"/>
              </a:rPr>
              <a:t>DATA: </a:t>
            </a:r>
            <a:r>
              <a:rPr lang="en-US" sz="2400" smtClean="0">
                <a:latin typeface="Calibri" pitchFamily="34" charset="0"/>
              </a:rPr>
              <a:t>assigns a name to specified location in internal RAM.</a:t>
            </a:r>
          </a:p>
          <a:p>
            <a:pPr>
              <a:buFontTx/>
              <a:buNone/>
            </a:pPr>
            <a:r>
              <a:rPr lang="en-US" sz="2400" smtClean="0">
                <a:latin typeface="Calibri" pitchFamily="34" charset="0"/>
              </a:rPr>
              <a:t>		</a:t>
            </a:r>
            <a:r>
              <a:rPr lang="en-US" sz="2400" smtClean="0">
                <a:solidFill>
                  <a:srgbClr val="C00000"/>
                </a:solidFill>
                <a:latin typeface="Calibri" pitchFamily="34" charset="0"/>
              </a:rPr>
              <a:t>Eg: TEMP DATA 52H  </a:t>
            </a:r>
            <a:r>
              <a:rPr lang="en-US" sz="2400" smtClean="0">
                <a:latin typeface="Calibri" pitchFamily="34" charset="0"/>
              </a:rPr>
              <a:t>; Register at address 52H is referred 				to as TEMP</a:t>
            </a:r>
          </a:p>
          <a:p>
            <a:pPr>
              <a:buFontTx/>
              <a:buNone/>
            </a:pPr>
            <a:endParaRPr lang="en-US" sz="2400" smtClean="0">
              <a:latin typeface="Calibri" pitchFamily="34" charset="0"/>
            </a:endParaRPr>
          </a:p>
          <a:p>
            <a:r>
              <a:rPr lang="en-US" sz="2400" smtClean="0">
                <a:solidFill>
                  <a:srgbClr val="C00000"/>
                </a:solidFill>
                <a:latin typeface="Calibri" pitchFamily="34" charset="0"/>
              </a:rPr>
              <a:t>IDATA: </a:t>
            </a:r>
            <a:r>
              <a:rPr lang="en-US" sz="2400" smtClean="0">
                <a:latin typeface="Calibri" pitchFamily="34" charset="0"/>
              </a:rPr>
              <a:t>assigns a name to specified location whose address is located in specified register.</a:t>
            </a:r>
          </a:p>
          <a:p>
            <a:pPr>
              <a:buFontTx/>
              <a:buNone/>
            </a:pPr>
            <a:r>
              <a:rPr lang="en-US" sz="2400" smtClean="0">
                <a:latin typeface="Calibri" pitchFamily="34" charset="0"/>
              </a:rPr>
              <a:t>		</a:t>
            </a:r>
            <a:r>
              <a:rPr lang="en-US" sz="2400" smtClean="0">
                <a:solidFill>
                  <a:srgbClr val="C00000"/>
                </a:solidFill>
                <a:latin typeface="Calibri" pitchFamily="34" charset="0"/>
              </a:rPr>
              <a:t>Eg: MARKS IDATA 80H  </a:t>
            </a:r>
            <a:r>
              <a:rPr lang="en-US" sz="2400" smtClean="0">
                <a:latin typeface="Calibri" pitchFamily="34" charset="0"/>
              </a:rPr>
              <a:t>; Register whose address is in 		  register at address 80H is referred to as MARKS</a:t>
            </a:r>
          </a:p>
          <a:p>
            <a:pPr>
              <a:buFontTx/>
              <a:buNone/>
            </a:pPr>
            <a:endParaRPr lang="en-US" sz="2400" smtClean="0">
              <a:latin typeface="Calibri" pitchFamily="34" charset="0"/>
            </a:endParaRPr>
          </a:p>
          <a:p>
            <a:r>
              <a:rPr lang="en-US" sz="2400" smtClean="0">
                <a:solidFill>
                  <a:srgbClr val="C00000"/>
                </a:solidFill>
                <a:latin typeface="Calibri" pitchFamily="34" charset="0"/>
              </a:rPr>
              <a:t>XDATA: </a:t>
            </a:r>
            <a:r>
              <a:rPr lang="en-US" sz="2400" smtClean="0">
                <a:latin typeface="Calibri" pitchFamily="34" charset="0"/>
              </a:rPr>
              <a:t>assigns a name to specified location in external RAM.</a:t>
            </a:r>
          </a:p>
          <a:p>
            <a:pPr>
              <a:buFontTx/>
              <a:buNone/>
            </a:pPr>
            <a:r>
              <a:rPr lang="en-US" sz="2400" smtClean="0">
                <a:latin typeface="Calibri" pitchFamily="34" charset="0"/>
              </a:rPr>
              <a:t>		</a:t>
            </a:r>
            <a:r>
              <a:rPr lang="en-US" sz="2400" smtClean="0">
                <a:solidFill>
                  <a:srgbClr val="C00000"/>
                </a:solidFill>
                <a:latin typeface="Calibri" pitchFamily="34" charset="0"/>
              </a:rPr>
              <a:t>Eg: RESULT XDATA 1000H  </a:t>
            </a:r>
            <a:r>
              <a:rPr lang="en-US" sz="2400" smtClean="0">
                <a:latin typeface="Calibri" pitchFamily="34" charset="0"/>
              </a:rPr>
              <a:t>; Memory location 1000H in 			      external RAM is referred to as TEMP</a:t>
            </a:r>
          </a:p>
          <a:p>
            <a:pPr>
              <a:buFontTx/>
              <a:buNone/>
            </a:pPr>
            <a:endParaRPr lang="en-US" sz="2400" smtClean="0">
              <a:latin typeface="Calibri" pitchFamily="34" charset="0"/>
            </a:endParaRPr>
          </a:p>
          <a:p>
            <a:endParaRPr lang="en-US" smtClean="0"/>
          </a:p>
        </p:txBody>
      </p:sp>
      <p:sp>
        <p:nvSpPr>
          <p:cNvPr id="30723" name="Slide Number Placeholder 3"/>
          <p:cNvSpPr>
            <a:spLocks noGrp="1"/>
          </p:cNvSpPr>
          <p:nvPr>
            <p:ph type="sldNum" sz="quarter" idx="12"/>
          </p:nvPr>
        </p:nvSpPr>
        <p:spPr>
          <a:noFill/>
        </p:spPr>
        <p:txBody>
          <a:bodyPr/>
          <a:lstStyle/>
          <a:p>
            <a:fld id="{255B54E8-AB67-42CF-8315-3532A74E2476}" type="slidenum">
              <a:rPr lang="en-US" smtClean="0"/>
              <a:pPr/>
              <a:t>79</a:t>
            </a:fld>
            <a:endParaRPr lang="en-US" smtClean="0"/>
          </a:p>
        </p:txBody>
      </p:sp>
      <p:sp>
        <p:nvSpPr>
          <p:cNvPr id="4" name="Date Placeholder 3"/>
          <p:cNvSpPr>
            <a:spLocks noGrp="1"/>
          </p:cNvSpPr>
          <p:nvPr>
            <p:ph type="dt" sz="half" idx="10"/>
          </p:nvPr>
        </p:nvSpPr>
        <p:spPr/>
        <p:txBody>
          <a:bodyPr/>
          <a:lstStyle/>
          <a:p>
            <a:pPr>
              <a:defRPr/>
            </a:pPr>
            <a:fld id="{9394AAEA-4CE9-4847-A896-94BEC35F35B8}" type="datetime2">
              <a:rPr lang="en-US" smtClean="0"/>
              <a:pPr>
                <a:defRPr/>
              </a:pPr>
              <a:t>Friday, August 27, 2021</a:t>
            </a:fld>
            <a:endParaRPr lang="en-US"/>
          </a:p>
        </p:txBody>
      </p:sp>
      <p:sp>
        <p:nvSpPr>
          <p:cNvPr id="5" name="Footer Placeholder 4"/>
          <p:cNvSpPr>
            <a:spLocks noGrp="1"/>
          </p:cNvSpPr>
          <p:nvPr>
            <p:ph type="ftr" sz="quarter" idx="11"/>
          </p:nvPr>
        </p:nvSpPr>
        <p:spPr/>
        <p:txBody>
          <a:bodyPr/>
          <a:lstStyle/>
          <a:p>
            <a:pPr>
              <a:defRPr/>
            </a:pPr>
            <a:r>
              <a:rPr lang="en-US" smtClean="0"/>
              <a:t>Neha Thakur,ECE,MRCET</a:t>
            </a:r>
            <a:endParaRPr lang="en-US"/>
          </a:p>
        </p:txBody>
      </p:sp>
    </p:spTree>
  </p:cSld>
  <p:clrMapOvr>
    <a:masterClrMapping/>
  </p:clrMapOvr>
  <p:transition>
    <p:spli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2207</TotalTime>
  <Words>3411</Words>
  <Application>Microsoft PowerPoint</Application>
  <PresentationFormat>On-screen Show (4:3)</PresentationFormat>
  <Paragraphs>900</Paragraphs>
  <Slides>79</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79</vt:i4>
      </vt:variant>
    </vt:vector>
  </HeadingPairs>
  <TitlesOfParts>
    <vt:vector size="81" baseType="lpstr">
      <vt:lpstr>Office Theme</vt:lpstr>
      <vt:lpstr>Image</vt:lpstr>
      <vt:lpstr>Slide 1</vt:lpstr>
      <vt:lpstr>Definition: A single chip that contains the processor (the CPU), non-volatile memory for the program (ROM or flash), volatile memory for input and output (RAM), a clock and an I/O control unit. Also called a "computer on a chip,"</vt:lpstr>
      <vt:lpstr>Microcontroller vs. Microprocessors</vt:lpstr>
      <vt:lpstr>Slide 4</vt:lpstr>
      <vt:lpstr>Microcontroller vs. Microprocessors</vt:lpstr>
      <vt:lpstr>Applications of Microcontrollers</vt:lpstr>
      <vt:lpstr>Embedded Products Using Microcontrollers</vt:lpstr>
      <vt:lpstr>  Features of 8051  </vt:lpstr>
      <vt:lpstr>General Block Diagram of 8051 External Interrupts</vt:lpstr>
      <vt:lpstr>   Components of 8051 </vt:lpstr>
      <vt:lpstr> </vt:lpstr>
      <vt:lpstr>  </vt:lpstr>
      <vt:lpstr>  </vt:lpstr>
      <vt:lpstr>Slide 14</vt:lpstr>
      <vt:lpstr>8051  pin diagram</vt:lpstr>
      <vt:lpstr>Pin Description Summary</vt:lpstr>
      <vt:lpstr>Pin Description Summary</vt:lpstr>
      <vt:lpstr>Port 3</vt:lpstr>
      <vt:lpstr>8051 Programming Model</vt:lpstr>
      <vt:lpstr>A and B CPU registers</vt:lpstr>
      <vt:lpstr>Program Counter</vt:lpstr>
      <vt:lpstr>Program Status Word Register (PSW)/ Flag Register</vt:lpstr>
      <vt:lpstr>Special Function Registers(SFR)</vt:lpstr>
      <vt:lpstr>Slide 24</vt:lpstr>
      <vt:lpstr>8051 Memory Organization </vt:lpstr>
      <vt:lpstr> </vt:lpstr>
      <vt:lpstr> </vt:lpstr>
      <vt:lpstr> </vt:lpstr>
      <vt:lpstr> </vt:lpstr>
      <vt:lpstr>8051 Memory  Organization </vt:lpstr>
      <vt:lpstr> </vt:lpstr>
      <vt:lpstr> </vt:lpstr>
      <vt:lpstr> </vt:lpstr>
      <vt:lpstr>Register banks and stacks</vt:lpstr>
      <vt:lpstr> </vt:lpstr>
      <vt:lpstr> </vt:lpstr>
      <vt:lpstr> </vt:lpstr>
      <vt:lpstr> </vt:lpstr>
      <vt:lpstr> </vt:lpstr>
      <vt:lpstr> </vt:lpstr>
      <vt:lpstr>Slide 41</vt:lpstr>
      <vt:lpstr>Slide 42</vt:lpstr>
      <vt:lpstr>Accessing External Program Memory</vt:lpstr>
      <vt:lpstr>Accessing External Data Memory</vt:lpstr>
      <vt:lpstr>Addressing Modes</vt:lpstr>
      <vt:lpstr>Immediate Addressing Mode</vt:lpstr>
      <vt:lpstr>Register Addressing Mode</vt:lpstr>
      <vt:lpstr>Direct Addressing Mode</vt:lpstr>
      <vt:lpstr>Register Indirect Addressing Mode</vt:lpstr>
      <vt:lpstr>Indexed Addressing Mode for ROM Access</vt:lpstr>
      <vt:lpstr>8051 Instruction Set</vt:lpstr>
      <vt:lpstr>Slide 52</vt:lpstr>
      <vt:lpstr>Slide 53</vt:lpstr>
      <vt:lpstr>Instruction Groups</vt:lpstr>
      <vt:lpstr>Arithmetic Instructions</vt:lpstr>
      <vt:lpstr>Slide 56</vt:lpstr>
      <vt:lpstr>Slide 57</vt:lpstr>
      <vt:lpstr>Slide 58</vt:lpstr>
      <vt:lpstr>Logical Operations</vt:lpstr>
      <vt:lpstr>Slide 60</vt:lpstr>
      <vt:lpstr>Slide 61</vt:lpstr>
      <vt:lpstr>Data Transfer Instructions</vt:lpstr>
      <vt:lpstr>Slide 63</vt:lpstr>
      <vt:lpstr>Slide 64</vt:lpstr>
      <vt:lpstr>Slide 65</vt:lpstr>
      <vt:lpstr>Boolean Variable Instructions</vt:lpstr>
      <vt:lpstr>Slide 67</vt:lpstr>
      <vt:lpstr>Slide 68</vt:lpstr>
      <vt:lpstr>Program Branching Instructions</vt:lpstr>
      <vt:lpstr>Slide 70</vt:lpstr>
      <vt:lpstr>Slide 71</vt:lpstr>
      <vt:lpstr>Slide 72</vt:lpstr>
      <vt:lpstr>Slide 73</vt:lpstr>
      <vt:lpstr>Slide 74</vt:lpstr>
      <vt:lpstr>Slide 75</vt:lpstr>
      <vt:lpstr>Slide 76</vt:lpstr>
      <vt:lpstr>Slide 77</vt:lpstr>
      <vt:lpstr>8051 Data types and Directives</vt:lpstr>
      <vt:lpstr>Slide 79</vt:lpstr>
    </vt:vector>
  </TitlesOfParts>
  <Company>Tehran Univercity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Microcontroller 8051</dc:title>
  <dc:creator>hasanpur</dc:creator>
  <cp:lastModifiedBy>MRCETCSE</cp:lastModifiedBy>
  <cp:revision>263</cp:revision>
  <cp:lastPrinted>1601-01-01T00:00:00Z</cp:lastPrinted>
  <dcterms:created xsi:type="dcterms:W3CDTF">2003-06-01T05:29:53Z</dcterms:created>
  <dcterms:modified xsi:type="dcterms:W3CDTF">2021-08-27T09:39:53Z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7</vt:i4>
  </property>
</Properties>
</file>
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82" r:id="rId4"/>
    <p:sldId id="259" r:id="rId5"/>
    <p:sldId id="261" r:id="rId6"/>
    <p:sldId id="262" r:id="rId7"/>
    <p:sldId id="263" r:id="rId8"/>
    <p:sldId id="264" r:id="rId9"/>
    <p:sldId id="265" r:id="rId10"/>
    <p:sldId id="266" r:id="rId11"/>
    <p:sldId id="267" r:id="rId12"/>
    <p:sldId id="268" r:id="rId13"/>
    <p:sldId id="269" r:id="rId14"/>
    <p:sldId id="270" r:id="rId15"/>
    <p:sldId id="283" r:id="rId16"/>
    <p:sldId id="284"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12-Nov-21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12-Nov-21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12-Nov-21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12-Nov-21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12-Nov-21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486400"/>
          </a:xfrm>
        </p:spPr>
        <p:txBody>
          <a:bodyPr>
            <a:normAutofit/>
          </a:bodyPr>
          <a:lstStyle/>
          <a:p>
            <a:r>
              <a:rPr lang="en-US" dirty="0" smtClean="0"/>
              <a:t>Checklist Analysis</a:t>
            </a:r>
          </a:p>
          <a:p>
            <a:r>
              <a:rPr lang="en-US" dirty="0" smtClean="0"/>
              <a:t>Brainstorming</a:t>
            </a:r>
          </a:p>
          <a:p>
            <a:r>
              <a:rPr lang="en-US" dirty="0" smtClean="0"/>
              <a:t>SWOT Analysis</a:t>
            </a:r>
          </a:p>
          <a:p>
            <a:r>
              <a:rPr lang="en-US" dirty="0" smtClean="0"/>
              <a:t>Flowchart Method</a:t>
            </a:r>
          </a:p>
          <a:p>
            <a:r>
              <a:rPr lang="en-US" dirty="0" smtClean="0"/>
              <a:t>Thinking Pessimistically</a:t>
            </a:r>
          </a:p>
          <a:p>
            <a:r>
              <a:rPr lang="en-US" dirty="0" smtClean="0"/>
              <a:t>Seek Employee Feedback</a:t>
            </a:r>
          </a:p>
          <a:p>
            <a:r>
              <a:rPr lang="en-US" dirty="0" smtClean="0"/>
              <a:t>Delphi Technique</a:t>
            </a:r>
          </a:p>
          <a:p>
            <a:r>
              <a:rPr lang="en-US" dirty="0" smtClean="0"/>
              <a:t>Root Cause Analysis</a:t>
            </a:r>
          </a:p>
          <a:p>
            <a:r>
              <a:rPr lang="en-US" dirty="0" smtClean="0"/>
              <a:t>Interviewing </a:t>
            </a:r>
          </a:p>
          <a:p>
            <a:endParaRPr lang="en-US" dirty="0" smtClean="0"/>
          </a:p>
          <a:p>
            <a:endParaRPr lang="en-US" dirty="0" smtClean="0"/>
          </a:p>
          <a:p>
            <a:endParaRPr lang="en-US" dirty="0" smtClean="0"/>
          </a:p>
          <a:p>
            <a:endParaRPr lang="en-US" dirty="0"/>
          </a:p>
        </p:txBody>
      </p:sp>
      <p:sp>
        <p:nvSpPr>
          <p:cNvPr id="2" name="Title 1"/>
          <p:cNvSpPr>
            <a:spLocks noGrp="1"/>
          </p:cNvSpPr>
          <p:nvPr>
            <p:ph type="title"/>
          </p:nvPr>
        </p:nvSpPr>
        <p:spPr>
          <a:xfrm>
            <a:off x="457200" y="0"/>
            <a:ext cx="8229600" cy="1143000"/>
          </a:xfrm>
        </p:spPr>
        <p:txBody>
          <a:bodyPr/>
          <a:lstStyle/>
          <a:p>
            <a:r>
              <a:rPr lang="en-US" dirty="0" smtClean="0"/>
              <a:t>Risk identification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Checklist Analysis is type of technique generally used to identify or find risks and manage it. The checklist is basically developed by listing items, steps, or even tasks and is then further analyzed against criteria to just identify and determine if procedure is completed correctly or not.</a:t>
            </a:r>
            <a:endParaRPr lang="en-US" dirty="0"/>
          </a:p>
        </p:txBody>
      </p:sp>
      <p:sp>
        <p:nvSpPr>
          <p:cNvPr id="2" name="Title 1"/>
          <p:cNvSpPr>
            <a:spLocks noGrp="1"/>
          </p:cNvSpPr>
          <p:nvPr>
            <p:ph type="title"/>
          </p:nvPr>
        </p:nvSpPr>
        <p:spPr/>
        <p:txBody>
          <a:bodyPr>
            <a:normAutofit/>
          </a:bodyPr>
          <a:lstStyle/>
          <a:p>
            <a:r>
              <a:rPr lang="en-US" dirty="0" smtClean="0"/>
              <a:t>Checklist Analysis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81000" y="533400"/>
          <a:ext cx="8382000" cy="6295969"/>
        </p:xfrm>
        <a:graphic>
          <a:graphicData uri="http://schemas.openxmlformats.org/drawingml/2006/table">
            <a:tbl>
              <a:tblPr/>
              <a:tblGrid>
                <a:gridCol w="4191000"/>
                <a:gridCol w="4191000"/>
              </a:tblGrid>
              <a:tr h="562233">
                <a:tc>
                  <a:txBody>
                    <a:bodyPr/>
                    <a:lstStyle/>
                    <a:p>
                      <a:pPr algn="ctr"/>
                      <a:r>
                        <a:rPr lang="en-US" sz="2800" b="1" dirty="0"/>
                        <a:t>Risk</a:t>
                      </a:r>
                    </a:p>
                  </a:txBody>
                  <a:tcPr marL="61162" marR="61162" marT="30581" marB="30581" anchor="ctr">
                    <a:lnL>
                      <a:noFill/>
                    </a:lnL>
                    <a:lnR>
                      <a:noFill/>
                    </a:lnR>
                    <a:lnT>
                      <a:noFill/>
                    </a:lnT>
                    <a:lnB>
                      <a:noFill/>
                    </a:lnB>
                  </a:tcPr>
                </a:tc>
                <a:tc>
                  <a:txBody>
                    <a:bodyPr/>
                    <a:lstStyle/>
                    <a:p>
                      <a:pPr algn="ctr"/>
                      <a:r>
                        <a:rPr lang="en-US" sz="2800" b="1" dirty="0"/>
                        <a:t>Risk </a:t>
                      </a:r>
                      <a:r>
                        <a:rPr lang="en-US" sz="2800" b="1" dirty="0" smtClean="0"/>
                        <a:t>Reduction </a:t>
                      </a:r>
                      <a:r>
                        <a:rPr lang="en-US" sz="2800" b="1" dirty="0"/>
                        <a:t>Technique</a:t>
                      </a:r>
                    </a:p>
                  </a:txBody>
                  <a:tcPr marL="61162" marR="61162" marT="30581" marB="30581" anchor="ctr">
                    <a:lnL>
                      <a:noFill/>
                    </a:lnL>
                    <a:lnR>
                      <a:noFill/>
                    </a:lnR>
                    <a:lnT>
                      <a:noFill/>
                    </a:lnT>
                    <a:lnB>
                      <a:noFill/>
                    </a:lnB>
                  </a:tcPr>
                </a:tc>
              </a:tr>
              <a:tr h="1285103">
                <a:tc>
                  <a:txBody>
                    <a:bodyPr/>
                    <a:lstStyle/>
                    <a:p>
                      <a:pPr algn="l"/>
                      <a:r>
                        <a:rPr lang="en-US" sz="2000" dirty="0"/>
                        <a:t>Personnel Shortfalls</a:t>
                      </a:r>
                    </a:p>
                  </a:txBody>
                  <a:tcPr marL="61162" marR="61162" marT="30581" marB="30581" anchor="ctr">
                    <a:lnL>
                      <a:noFill/>
                    </a:lnL>
                    <a:lnR>
                      <a:noFill/>
                    </a:lnR>
                    <a:lnT>
                      <a:noFill/>
                    </a:lnT>
                    <a:lnB>
                      <a:noFill/>
                    </a:lnB>
                  </a:tcPr>
                </a:tc>
                <a:tc>
                  <a:txBody>
                    <a:bodyPr/>
                    <a:lstStyle/>
                    <a:p>
                      <a:pPr algn="ctr"/>
                      <a:r>
                        <a:rPr lang="en-US" sz="2000" dirty="0"/>
                        <a:t>Various techniques include training and career development, job-matching, teambuilding, etc.</a:t>
                      </a:r>
                    </a:p>
                  </a:txBody>
                  <a:tcPr marL="61162" marR="61162" marT="30581" marB="30581" anchor="ctr">
                    <a:lnL>
                      <a:noFill/>
                    </a:lnL>
                    <a:lnR>
                      <a:noFill/>
                    </a:lnR>
                    <a:lnT>
                      <a:noFill/>
                    </a:lnT>
                    <a:lnB>
                      <a:noFill/>
                    </a:lnB>
                  </a:tcPr>
                </a:tc>
              </a:tr>
              <a:tr h="1767015">
                <a:tc>
                  <a:txBody>
                    <a:bodyPr/>
                    <a:lstStyle/>
                    <a:p>
                      <a:pPr algn="l"/>
                      <a:r>
                        <a:rPr lang="en-US" sz="2000" dirty="0"/>
                        <a:t>Unrealistic time and cost estimates</a:t>
                      </a:r>
                    </a:p>
                  </a:txBody>
                  <a:tcPr marL="61162" marR="61162" marT="30581" marB="30581" anchor="ctr">
                    <a:lnL>
                      <a:noFill/>
                    </a:lnL>
                    <a:lnR>
                      <a:noFill/>
                    </a:lnR>
                    <a:lnT>
                      <a:noFill/>
                    </a:lnT>
                    <a:lnB>
                      <a:noFill/>
                    </a:lnB>
                  </a:tcPr>
                </a:tc>
                <a:tc>
                  <a:txBody>
                    <a:bodyPr/>
                    <a:lstStyle/>
                    <a:p>
                      <a:pPr algn="ctr"/>
                      <a:r>
                        <a:rPr lang="en-US" sz="2000" dirty="0"/>
                        <a:t>Various techniques include incremental development, standardization of methods, recording, and analysis of the past project, etc.</a:t>
                      </a:r>
                    </a:p>
                  </a:txBody>
                  <a:tcPr marL="61162" marR="61162" marT="30581" marB="30581" anchor="ctr">
                    <a:lnL>
                      <a:noFill/>
                    </a:lnL>
                    <a:lnR>
                      <a:noFill/>
                    </a:lnR>
                    <a:lnT>
                      <a:noFill/>
                    </a:lnT>
                    <a:lnB>
                      <a:noFill/>
                    </a:lnB>
                  </a:tcPr>
                </a:tc>
              </a:tr>
              <a:tr h="1285103">
                <a:tc>
                  <a:txBody>
                    <a:bodyPr/>
                    <a:lstStyle/>
                    <a:p>
                      <a:pPr algn="l"/>
                      <a:r>
                        <a:rPr lang="en-US" sz="2000" dirty="0"/>
                        <a:t>Development of wrong software functions</a:t>
                      </a:r>
                    </a:p>
                  </a:txBody>
                  <a:tcPr marL="61162" marR="61162" marT="30581" marB="30581" anchor="ctr">
                    <a:lnL>
                      <a:noFill/>
                    </a:lnL>
                    <a:lnR>
                      <a:noFill/>
                    </a:lnR>
                    <a:lnT>
                      <a:noFill/>
                    </a:lnT>
                    <a:lnB>
                      <a:noFill/>
                    </a:lnB>
                  </a:tcPr>
                </a:tc>
                <a:tc>
                  <a:txBody>
                    <a:bodyPr/>
                    <a:lstStyle/>
                    <a:p>
                      <a:pPr algn="ctr"/>
                      <a:r>
                        <a:rPr lang="en-US" sz="2000" dirty="0"/>
                        <a:t>Various techniques include formal specification methods, user surveys, etc.</a:t>
                      </a:r>
                    </a:p>
                  </a:txBody>
                  <a:tcPr marL="61162" marR="61162" marT="30581" marB="30581" anchor="ctr">
                    <a:lnL>
                      <a:noFill/>
                    </a:lnL>
                    <a:lnR>
                      <a:noFill/>
                    </a:lnR>
                    <a:lnT>
                      <a:noFill/>
                    </a:lnT>
                    <a:lnB>
                      <a:noFill/>
                    </a:lnB>
                  </a:tcPr>
                </a:tc>
              </a:tr>
              <a:tr h="1044146">
                <a:tc>
                  <a:txBody>
                    <a:bodyPr/>
                    <a:lstStyle/>
                    <a:p>
                      <a:pPr algn="l"/>
                      <a:r>
                        <a:rPr lang="en-US" sz="2000" dirty="0"/>
                        <a:t>Development of the wrong user interface</a:t>
                      </a:r>
                    </a:p>
                  </a:txBody>
                  <a:tcPr marL="61162" marR="61162" marT="30581" marB="30581" anchor="ctr">
                    <a:lnL>
                      <a:noFill/>
                    </a:lnL>
                    <a:lnR>
                      <a:noFill/>
                    </a:lnR>
                    <a:lnT>
                      <a:noFill/>
                    </a:lnT>
                    <a:lnB>
                      <a:noFill/>
                    </a:lnB>
                  </a:tcPr>
                </a:tc>
                <a:tc>
                  <a:txBody>
                    <a:bodyPr/>
                    <a:lstStyle/>
                    <a:p>
                      <a:pPr algn="ctr"/>
                      <a:r>
                        <a:rPr lang="en-US" sz="2000" dirty="0"/>
                        <a:t>Various techniques include user involvement, prototyping, etc.</a:t>
                      </a:r>
                    </a:p>
                  </a:txBody>
                  <a:tcPr marL="61162" marR="61162" marT="30581" marB="30581" anchor="ctr">
                    <a:lnL>
                      <a:noFill/>
                    </a:lnL>
                    <a:lnR>
                      <a:noFill/>
                    </a:lnR>
                    <a:lnT>
                      <a:noFill/>
                    </a:lnT>
                    <a:lnB>
                      <a:noFill/>
                    </a:lnB>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dirty="0" smtClean="0"/>
              <a:t>This technique provides and gives free and open approach that usually encourages each and everyone on project team to participate. It also results in greater sense of ownership of project risk, and team generally committed to managing risk for given time period of project. It is creative and unique technique to gather risks spontaneously by team members. The team members identify and determine risks in ‘no wrong answer’ environment.</a:t>
            </a:r>
            <a:endParaRPr lang="en-US" dirty="0"/>
          </a:p>
        </p:txBody>
      </p:sp>
      <p:sp>
        <p:nvSpPr>
          <p:cNvPr id="2" name="Title 1"/>
          <p:cNvSpPr>
            <a:spLocks noGrp="1"/>
          </p:cNvSpPr>
          <p:nvPr>
            <p:ph type="title"/>
          </p:nvPr>
        </p:nvSpPr>
        <p:spPr/>
        <p:txBody>
          <a:bodyPr/>
          <a:lstStyle/>
          <a:p>
            <a:r>
              <a:rPr lang="en-US" dirty="0" smtClean="0"/>
              <a:t>Brainstorming</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Strengths-Weaknesses-Opportunities-Threat (SWOT) is very technique and helpful for identifying risks within greater organization context. It is generally used as planning tool for analyzing business, its resources, and also its environment simply by looking at internal strengths and weaknesses and opportunities and threats in external environment. </a:t>
            </a:r>
            <a:endParaRPr lang="en-US" dirty="0"/>
          </a:p>
        </p:txBody>
      </p:sp>
      <p:sp>
        <p:nvSpPr>
          <p:cNvPr id="2" name="Title 1"/>
          <p:cNvSpPr>
            <a:spLocks noGrp="1"/>
          </p:cNvSpPr>
          <p:nvPr>
            <p:ph type="title"/>
          </p:nvPr>
        </p:nvSpPr>
        <p:spPr/>
        <p:txBody>
          <a:bodyPr>
            <a:normAutofit/>
          </a:bodyPr>
          <a:lstStyle/>
          <a:p>
            <a:r>
              <a:rPr lang="en-US" dirty="0" smtClean="0"/>
              <a:t>SWOT Analysis</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This method allows for dynamic process to be diagrammatically represented in paper. This method is generally used to represent activities of process graphically and sequentially to simply identify the risk.</a:t>
            </a:r>
            <a:endParaRPr lang="en-US" dirty="0"/>
          </a:p>
        </p:txBody>
      </p:sp>
      <p:sp>
        <p:nvSpPr>
          <p:cNvPr id="2" name="Title 1"/>
          <p:cNvSpPr>
            <a:spLocks noGrp="1"/>
          </p:cNvSpPr>
          <p:nvPr>
            <p:ph type="title"/>
          </p:nvPr>
        </p:nvSpPr>
        <p:spPr/>
        <p:txBody>
          <a:bodyPr>
            <a:normAutofit/>
          </a:bodyPr>
          <a:lstStyle/>
          <a:p>
            <a:r>
              <a:rPr lang="en-US" dirty="0" smtClean="0"/>
              <a:t>Flowchart Method</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Although pessimism isn’t often encouraged in the workplace, taking time to ponder “what is the worst possible thing that could happen to the company” may be helpful in identifying risks.</a:t>
            </a:r>
            <a:endParaRPr lang="en-US" dirty="0"/>
          </a:p>
        </p:txBody>
      </p:sp>
      <p:sp>
        <p:nvSpPr>
          <p:cNvPr id="2" name="Title 1"/>
          <p:cNvSpPr>
            <a:spLocks noGrp="1"/>
          </p:cNvSpPr>
          <p:nvPr>
            <p:ph type="title"/>
          </p:nvPr>
        </p:nvSpPr>
        <p:spPr/>
        <p:txBody>
          <a:bodyPr/>
          <a:lstStyle/>
          <a:p>
            <a:r>
              <a:rPr lang="en-US" dirty="0" smtClean="0"/>
              <a:t>Thinking Pessimistically</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smtClean="0"/>
              <a:t>Upper-level management’s perspective of an organization’s risks can be starkly different from the perspective that employees hold. Employees may encounter new risks in their day-to-day activities that may not have otherwise been encountered. For example, insufficient training on a piece of operating equipment may be placing staff at risk of injury. As such, employees are an invaluable source of first-hand information.</a:t>
            </a:r>
            <a:endParaRPr lang="en-US" dirty="0"/>
          </a:p>
        </p:txBody>
      </p:sp>
      <p:sp>
        <p:nvSpPr>
          <p:cNvPr id="2" name="Title 1"/>
          <p:cNvSpPr>
            <a:spLocks noGrp="1"/>
          </p:cNvSpPr>
          <p:nvPr>
            <p:ph type="title"/>
          </p:nvPr>
        </p:nvSpPr>
        <p:spPr/>
        <p:txBody>
          <a:bodyPr/>
          <a:lstStyle/>
          <a:p>
            <a:r>
              <a:rPr lang="en-US" dirty="0" smtClean="0"/>
              <a:t>Seek Employee Feedback</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A team of experts is consulted anonymously. A list of required information is sent to experts, responses are compiled, and results are sent back to them for further review until a consensus is reached.</a:t>
            </a:r>
            <a:endParaRPr lang="en-US" dirty="0"/>
          </a:p>
        </p:txBody>
      </p:sp>
      <p:sp>
        <p:nvSpPr>
          <p:cNvPr id="2" name="Title 1"/>
          <p:cNvSpPr>
            <a:spLocks noGrp="1"/>
          </p:cNvSpPr>
          <p:nvPr>
            <p:ph type="title"/>
          </p:nvPr>
        </p:nvSpPr>
        <p:spPr/>
        <p:txBody>
          <a:bodyPr>
            <a:normAutofit/>
          </a:bodyPr>
          <a:lstStyle/>
          <a:p>
            <a:r>
              <a:rPr lang="en-US" dirty="0" smtClean="0"/>
              <a:t>Delphi Technique </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Root causes are determined for the identified risks. These root causes are further used to identify additional risks.</a:t>
            </a:r>
            <a:endParaRPr lang="en-US" dirty="0"/>
          </a:p>
        </p:txBody>
      </p:sp>
      <p:sp>
        <p:nvSpPr>
          <p:cNvPr id="2" name="Title 1"/>
          <p:cNvSpPr>
            <a:spLocks noGrp="1"/>
          </p:cNvSpPr>
          <p:nvPr>
            <p:ph type="title"/>
          </p:nvPr>
        </p:nvSpPr>
        <p:spPr/>
        <p:txBody>
          <a:bodyPr>
            <a:normAutofit/>
          </a:bodyPr>
          <a:lstStyle/>
          <a:p>
            <a:r>
              <a:rPr lang="en-US" dirty="0" smtClean="0"/>
              <a:t>Root Cause Analysis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An interview is conducted with project participants, stakeholders, experts, etc to identify risks.</a:t>
            </a:r>
            <a:endParaRPr lang="en-US" dirty="0"/>
          </a:p>
        </p:txBody>
      </p:sp>
      <p:sp>
        <p:nvSpPr>
          <p:cNvPr id="2" name="Title 1"/>
          <p:cNvSpPr>
            <a:spLocks noGrp="1"/>
          </p:cNvSpPr>
          <p:nvPr>
            <p:ph type="title"/>
          </p:nvPr>
        </p:nvSpPr>
        <p:spPr/>
        <p:txBody>
          <a:bodyPr>
            <a:normAutofit/>
          </a:bodyPr>
          <a:lstStyle/>
          <a:p>
            <a:r>
              <a:rPr lang="en-US" dirty="0" smtClean="0"/>
              <a:t>Interviewing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also called risk estimation, attempts to rate each risk in two ways—the likelihood or probability that the risk is real and the consequences of the problems associated with the risk, should it occur. The project planner, along with other managers and technical staff, performs four risk projection activities:</a:t>
            </a:r>
            <a:endParaRPr lang="en-US" dirty="0"/>
          </a:p>
        </p:txBody>
      </p:sp>
      <p:sp>
        <p:nvSpPr>
          <p:cNvPr id="2" name="Title 1"/>
          <p:cNvSpPr>
            <a:spLocks noGrp="1"/>
          </p:cNvSpPr>
          <p:nvPr>
            <p:ph type="title"/>
          </p:nvPr>
        </p:nvSpPr>
        <p:spPr/>
        <p:txBody>
          <a:bodyPr/>
          <a:lstStyle/>
          <a:p>
            <a:r>
              <a:rPr lang="en-US" dirty="0" smtClean="0"/>
              <a:t>Risk projection</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943600"/>
          </a:xfrm>
        </p:spPr>
        <p:txBody>
          <a:bodyPr>
            <a:normAutofit/>
          </a:bodyPr>
          <a:lstStyle/>
          <a:p>
            <a:pPr>
              <a:lnSpc>
                <a:spcPct val="150000"/>
              </a:lnSpc>
              <a:buNone/>
            </a:pPr>
            <a:r>
              <a:rPr lang="en-US" dirty="0" smtClean="0"/>
              <a:t>(1) establish a scale that reflects the perceived likelihood of a risk, </a:t>
            </a:r>
          </a:p>
          <a:p>
            <a:pPr>
              <a:lnSpc>
                <a:spcPct val="150000"/>
              </a:lnSpc>
              <a:buNone/>
            </a:pPr>
            <a:r>
              <a:rPr lang="en-US" dirty="0" smtClean="0"/>
              <a:t>(2) delineate the consequences of the risk, </a:t>
            </a:r>
          </a:p>
          <a:p>
            <a:pPr>
              <a:lnSpc>
                <a:spcPct val="150000"/>
              </a:lnSpc>
              <a:buNone/>
            </a:pPr>
            <a:r>
              <a:rPr lang="en-US" dirty="0" smtClean="0"/>
              <a:t>(3) estimate the impact of the risk on the project and the product, and </a:t>
            </a:r>
          </a:p>
          <a:p>
            <a:pPr>
              <a:lnSpc>
                <a:spcPct val="150000"/>
              </a:lnSpc>
              <a:buNone/>
            </a:pPr>
            <a:r>
              <a:rPr lang="en-US" dirty="0" smtClean="0"/>
              <a:t>(4)note the overall accuracy of the risk projection so that there will be no misunderstandings.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smtClean="0"/>
              <a:t>A risk table provides a project manager with a simple technique for risk projection.</a:t>
            </a:r>
          </a:p>
          <a:p>
            <a:pPr algn="just"/>
            <a:r>
              <a:rPr lang="en-US" dirty="0" smtClean="0"/>
              <a:t>A project team begins by listing all risks in the first column of the table. </a:t>
            </a:r>
          </a:p>
          <a:p>
            <a:pPr algn="just"/>
            <a:r>
              <a:rPr lang="en-US" dirty="0" smtClean="0"/>
              <a:t>Each risk is categorized in the second column </a:t>
            </a:r>
          </a:p>
          <a:p>
            <a:pPr algn="just"/>
            <a:r>
              <a:rPr lang="en-US" dirty="0" smtClean="0"/>
              <a:t>The probability of occurrence of each risk is entered in the next column of the table.</a:t>
            </a:r>
            <a:endParaRPr lang="en-US" dirty="0"/>
          </a:p>
        </p:txBody>
      </p:sp>
      <p:sp>
        <p:nvSpPr>
          <p:cNvPr id="2" name="Title 1"/>
          <p:cNvSpPr>
            <a:spLocks noGrp="1"/>
          </p:cNvSpPr>
          <p:nvPr>
            <p:ph type="title"/>
          </p:nvPr>
        </p:nvSpPr>
        <p:spPr/>
        <p:txBody>
          <a:bodyPr/>
          <a:lstStyle/>
          <a:p>
            <a:r>
              <a:rPr lang="en-US" dirty="0" smtClean="0"/>
              <a:t>Developing a Risk Table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sp>
        <p:nvSpPr>
          <p:cNvPr id="39938" name="AutoShape 2" descr="https://img.brainkart.com/imagebk10/fPaHEPt.jpg"/>
          <p:cNvSpPr>
            <a:spLocks noChangeAspect="1" noChangeArrowheads="1"/>
          </p:cNvSpPr>
          <p:nvPr/>
        </p:nvSpPr>
        <p:spPr bwMode="auto">
          <a:xfrm>
            <a:off x="155575" y="-2947988"/>
            <a:ext cx="6143625" cy="614362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9939" name="Picture 3" descr="C:\Users\KSRCE\Downloads\fPaHEPt.jpg"/>
          <p:cNvPicPr>
            <a:picLocks noChangeAspect="1" noChangeArrowheads="1"/>
          </p:cNvPicPr>
          <p:nvPr/>
        </p:nvPicPr>
        <p:blipFill>
          <a:blip r:embed="rId2" cstate="print"/>
          <a:srcRect l="3721" t="6598" r="19689"/>
          <a:stretch>
            <a:fillRect/>
          </a:stretch>
        </p:blipFill>
        <p:spPr bwMode="auto">
          <a:xfrm>
            <a:off x="304800" y="304800"/>
            <a:ext cx="8001000" cy="6358689"/>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86400"/>
          </a:xfrm>
        </p:spPr>
        <p:txBody>
          <a:bodyPr>
            <a:normAutofit lnSpcReduction="10000"/>
          </a:bodyPr>
          <a:lstStyle/>
          <a:p>
            <a:pPr>
              <a:buNone/>
            </a:pPr>
            <a:r>
              <a:rPr lang="en-US" dirty="0" smtClean="0"/>
              <a:t>Three factors determine the consequences if a risk occurs</a:t>
            </a:r>
          </a:p>
          <a:p>
            <a:pPr>
              <a:buNone/>
            </a:pPr>
            <a:endParaRPr lang="en-US" b="1" dirty="0" smtClean="0"/>
          </a:p>
          <a:p>
            <a:r>
              <a:rPr lang="en-US" b="1" dirty="0" smtClean="0"/>
              <a:t>Nature of the risk</a:t>
            </a:r>
            <a:r>
              <a:rPr lang="en-US" dirty="0" smtClean="0"/>
              <a:t> - the problems that are likely if it occurs.</a:t>
            </a:r>
          </a:p>
          <a:p>
            <a:endParaRPr lang="en-US" dirty="0" smtClean="0"/>
          </a:p>
          <a:p>
            <a:r>
              <a:rPr lang="en-US" b="1" dirty="0" smtClean="0"/>
              <a:t>Scope of a risk</a:t>
            </a:r>
            <a:r>
              <a:rPr lang="en-US" dirty="0" smtClean="0"/>
              <a:t> - combines the severity with its overall distribution (how much of the project will be affected or how many customers are harmed?).</a:t>
            </a:r>
          </a:p>
          <a:p>
            <a:endParaRPr lang="en-US" dirty="0" smtClean="0"/>
          </a:p>
          <a:p>
            <a:r>
              <a:rPr lang="en-US" b="1" dirty="0" smtClean="0"/>
              <a:t>Timing of a risk</a:t>
            </a:r>
            <a:r>
              <a:rPr lang="en-US" dirty="0" smtClean="0"/>
              <a:t> - when and how long the impact will be felt.</a:t>
            </a:r>
          </a:p>
          <a:p>
            <a:endParaRPr lang="en-US" dirty="0"/>
          </a:p>
        </p:txBody>
      </p:sp>
      <p:sp>
        <p:nvSpPr>
          <p:cNvPr id="2" name="Title 1"/>
          <p:cNvSpPr>
            <a:spLocks noGrp="1"/>
          </p:cNvSpPr>
          <p:nvPr>
            <p:ph type="title"/>
          </p:nvPr>
        </p:nvSpPr>
        <p:spPr>
          <a:xfrm>
            <a:off x="457200" y="0"/>
            <a:ext cx="8229600" cy="1143000"/>
          </a:xfrm>
        </p:spPr>
        <p:txBody>
          <a:bodyPr/>
          <a:lstStyle/>
          <a:p>
            <a:r>
              <a:rPr lang="en-US" dirty="0" smtClean="0"/>
              <a:t>Assessing Risk Impact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RE, determined using</a:t>
            </a:r>
          </a:p>
          <a:p>
            <a:pPr algn="ctr">
              <a:buNone/>
            </a:pPr>
            <a:r>
              <a:rPr lang="en-US" b="1" dirty="0" smtClean="0"/>
              <a:t>RE = P x C</a:t>
            </a:r>
            <a:endParaRPr lang="en-US" dirty="0" smtClean="0"/>
          </a:p>
          <a:p>
            <a:r>
              <a:rPr lang="en-US" b="1" dirty="0" smtClean="0"/>
              <a:t>P</a:t>
            </a:r>
            <a:r>
              <a:rPr lang="en-US" dirty="0" smtClean="0"/>
              <a:t> is the probability of occurrence for a risk.</a:t>
            </a:r>
          </a:p>
          <a:p>
            <a:r>
              <a:rPr lang="en-US" b="1" dirty="0" smtClean="0"/>
              <a:t>C</a:t>
            </a:r>
            <a:r>
              <a:rPr lang="en-US" dirty="0" smtClean="0"/>
              <a:t> is </a:t>
            </a:r>
            <a:r>
              <a:rPr lang="en-US" dirty="0" smtClean="0"/>
              <a:t>the </a:t>
            </a:r>
            <a:r>
              <a:rPr lang="en-US" dirty="0" smtClean="0"/>
              <a:t>cost to the project should the risk occur.</a:t>
            </a:r>
          </a:p>
          <a:p>
            <a:endParaRPr lang="en-US" dirty="0"/>
          </a:p>
        </p:txBody>
      </p:sp>
      <p:sp>
        <p:nvSpPr>
          <p:cNvPr id="2" name="Title 1"/>
          <p:cNvSpPr>
            <a:spLocks noGrp="1"/>
          </p:cNvSpPr>
          <p:nvPr>
            <p:ph type="title"/>
          </p:nvPr>
        </p:nvSpPr>
        <p:spPr/>
        <p:txBody>
          <a:bodyPr/>
          <a:lstStyle/>
          <a:p>
            <a:r>
              <a:rPr lang="en-US" dirty="0" smtClean="0"/>
              <a:t>Risk Exposure</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smtClean="0"/>
              <a:t>During early stages of project planning, a risk may be stated quite generally. As time passes and more is learned about the project and the risk, it may be possible to refine the risk into a set of more detailed risks, each somewhat easier to mitigate, monitor, and manage.</a:t>
            </a:r>
          </a:p>
          <a:p>
            <a:pPr algn="just"/>
            <a:endParaRPr lang="en-US" dirty="0" smtClean="0"/>
          </a:p>
          <a:p>
            <a:pPr algn="just"/>
            <a:r>
              <a:rPr lang="en-US" dirty="0" smtClean="0"/>
              <a:t>One way to do this is to represent the risk in </a:t>
            </a:r>
            <a:r>
              <a:rPr lang="en-US" b="1" dirty="0" smtClean="0"/>
              <a:t>condition-transition-consequence (CTC) </a:t>
            </a:r>
            <a:r>
              <a:rPr lang="en-US" dirty="0" smtClean="0"/>
              <a:t>format .</a:t>
            </a:r>
            <a:endParaRPr lang="en-US" dirty="0"/>
          </a:p>
        </p:txBody>
      </p:sp>
      <p:sp>
        <p:nvSpPr>
          <p:cNvPr id="2" name="Title 1"/>
          <p:cNvSpPr>
            <a:spLocks noGrp="1"/>
          </p:cNvSpPr>
          <p:nvPr>
            <p:ph type="title"/>
          </p:nvPr>
        </p:nvSpPr>
        <p:spPr/>
        <p:txBody>
          <a:bodyPr/>
          <a:lstStyle/>
          <a:p>
            <a:r>
              <a:rPr lang="en-US" dirty="0" smtClean="0"/>
              <a:t>Risk Refinement</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Given that all reusable software components must conform to specific design standards and that some do not conform, then there is concern that (possibly) only 70 percent of the planned reusable modules may actually be integrated into the as-built system, resulting in the need to custom engineer the remaining 30 percent of components.</a:t>
            </a:r>
            <a:endParaRPr lang="en-US" dirty="0"/>
          </a:p>
        </p:txBody>
      </p:sp>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92500" lnSpcReduction="10000"/>
          </a:bodyPr>
          <a:lstStyle/>
          <a:p>
            <a:pPr>
              <a:buNone/>
            </a:pPr>
            <a:r>
              <a:rPr lang="en-US" dirty="0" smtClean="0"/>
              <a:t>This general condition can be refined in the following manner:</a:t>
            </a:r>
          </a:p>
          <a:p>
            <a:pPr>
              <a:buNone/>
            </a:pPr>
            <a:r>
              <a:rPr lang="en-US" dirty="0" smtClean="0"/>
              <a:t/>
            </a:r>
            <a:br>
              <a:rPr lang="en-US" dirty="0" smtClean="0"/>
            </a:br>
            <a:r>
              <a:rPr lang="en-US" b="1" dirty="0" err="1" smtClean="0"/>
              <a:t>Subcondition</a:t>
            </a:r>
            <a:r>
              <a:rPr lang="en-US" b="1" dirty="0" smtClean="0"/>
              <a:t> 1.</a:t>
            </a:r>
            <a:r>
              <a:rPr lang="en-US" dirty="0" smtClean="0"/>
              <a:t> Certain reusable components were developed by a </a:t>
            </a:r>
            <a:r>
              <a:rPr lang="en-US" b="1" dirty="0" smtClean="0"/>
              <a:t>third party </a:t>
            </a:r>
            <a:r>
              <a:rPr lang="en-US" dirty="0" smtClean="0"/>
              <a:t>with no knowledge of internal design standards.</a:t>
            </a:r>
          </a:p>
          <a:p>
            <a:pPr>
              <a:buNone/>
            </a:pPr>
            <a:r>
              <a:rPr lang="en-US" dirty="0" smtClean="0"/>
              <a:t/>
            </a:r>
            <a:br>
              <a:rPr lang="en-US" dirty="0" smtClean="0"/>
            </a:br>
            <a:r>
              <a:rPr lang="en-US" b="1" dirty="0" err="1" smtClean="0"/>
              <a:t>Subcondition</a:t>
            </a:r>
            <a:r>
              <a:rPr lang="en-US" b="1" dirty="0" smtClean="0"/>
              <a:t> 2.</a:t>
            </a:r>
            <a:r>
              <a:rPr lang="en-US" dirty="0" smtClean="0"/>
              <a:t> The design standard for </a:t>
            </a:r>
            <a:r>
              <a:rPr lang="en-US" b="1" dirty="0" smtClean="0"/>
              <a:t>component interfaces has not been solidified </a:t>
            </a:r>
            <a:r>
              <a:rPr lang="en-US" dirty="0" smtClean="0"/>
              <a:t>and may not conform to certain existing reusable components.</a:t>
            </a:r>
          </a:p>
          <a:p>
            <a:pPr>
              <a:buNone/>
            </a:pPr>
            <a:r>
              <a:rPr lang="en-US" dirty="0" smtClean="0"/>
              <a:t/>
            </a:r>
            <a:br>
              <a:rPr lang="en-US" dirty="0" smtClean="0"/>
            </a:br>
            <a:r>
              <a:rPr lang="en-US" b="1" dirty="0" err="1" smtClean="0"/>
              <a:t>Subcondition</a:t>
            </a:r>
            <a:r>
              <a:rPr lang="en-US" b="1" dirty="0" smtClean="0"/>
              <a:t> 3.</a:t>
            </a:r>
            <a:r>
              <a:rPr lang="en-US" dirty="0" smtClean="0"/>
              <a:t> Certain reusable components have been implemented in a </a:t>
            </a:r>
            <a:r>
              <a:rPr lang="en-US" b="1" dirty="0" smtClean="0"/>
              <a:t>language that is not supported </a:t>
            </a:r>
            <a:r>
              <a:rPr lang="en-US" dirty="0" smtClean="0"/>
              <a:t>on the target environment.</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stands for risk mitigation, monitoring and management. There are three issues in strategy for handling the risk is</a:t>
            </a:r>
          </a:p>
          <a:p>
            <a:pPr>
              <a:buNone/>
            </a:pPr>
            <a:endParaRPr lang="en-US" dirty="0" smtClean="0"/>
          </a:p>
          <a:p>
            <a:r>
              <a:rPr lang="en-US" dirty="0" smtClean="0"/>
              <a:t>Risk Avoidance </a:t>
            </a:r>
          </a:p>
          <a:p>
            <a:r>
              <a:rPr lang="en-US" dirty="0" smtClean="0"/>
              <a:t>Risk monitoring </a:t>
            </a:r>
          </a:p>
          <a:p>
            <a:r>
              <a:rPr lang="en-US" dirty="0" smtClean="0"/>
              <a:t>Risk management</a:t>
            </a:r>
          </a:p>
          <a:p>
            <a:endParaRPr lang="en-US" dirty="0"/>
          </a:p>
        </p:txBody>
      </p:sp>
      <p:sp>
        <p:nvSpPr>
          <p:cNvPr id="2" name="Title 1"/>
          <p:cNvSpPr>
            <a:spLocks noGrp="1"/>
          </p:cNvSpPr>
          <p:nvPr>
            <p:ph type="title"/>
          </p:nvPr>
        </p:nvSpPr>
        <p:spPr/>
        <p:txBody>
          <a:bodyPr/>
          <a:lstStyle/>
          <a:p>
            <a:r>
              <a:rPr lang="en-US" dirty="0" smtClean="0"/>
              <a:t>RMMM</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919472"/>
          </a:xfrm>
        </p:spPr>
        <p:txBody>
          <a:bodyPr>
            <a:normAutofit fontScale="85000" lnSpcReduction="20000"/>
          </a:bodyPr>
          <a:lstStyle/>
          <a:p>
            <a:pPr algn="just"/>
            <a:r>
              <a:rPr lang="en-US" dirty="0" smtClean="0"/>
              <a:t>Communicate with the concerned staff to find of probable risk.</a:t>
            </a:r>
          </a:p>
          <a:p>
            <a:pPr algn="just"/>
            <a:r>
              <a:rPr lang="en-US" dirty="0" smtClean="0"/>
              <a:t>Find out and eliminate all those causes that can create rick before the project starts. </a:t>
            </a:r>
          </a:p>
          <a:p>
            <a:pPr algn="just"/>
            <a:r>
              <a:rPr lang="en-US" dirty="0" smtClean="0"/>
              <a:t>Develop a policy in an organization which will help to continue the project even though some staff leaves the organization. </a:t>
            </a:r>
          </a:p>
          <a:p>
            <a:pPr algn="just"/>
            <a:r>
              <a:rPr lang="en-US" dirty="0" smtClean="0"/>
              <a:t>Everybody in the project team should be acquainted with the current development activity. </a:t>
            </a:r>
          </a:p>
          <a:p>
            <a:pPr algn="just"/>
            <a:r>
              <a:rPr lang="en-US" dirty="0" smtClean="0"/>
              <a:t>Maintain the corresponding documents in timely manner. This documentation should be strictly as per the standards set by the organization. </a:t>
            </a:r>
          </a:p>
          <a:p>
            <a:pPr algn="just"/>
            <a:r>
              <a:rPr lang="en-US" dirty="0" smtClean="0"/>
              <a:t>Conduct timely reviews in order to speed up the work. </a:t>
            </a:r>
          </a:p>
          <a:p>
            <a:pPr algn="just"/>
            <a:r>
              <a:rPr lang="en-US" dirty="0" smtClean="0"/>
              <a:t>For conducting every critical activity during software development, provide the additional staff if required.</a:t>
            </a:r>
          </a:p>
          <a:p>
            <a:endParaRPr lang="en-US" dirty="0"/>
          </a:p>
        </p:txBody>
      </p:sp>
      <p:sp>
        <p:nvSpPr>
          <p:cNvPr id="2" name="Title 1"/>
          <p:cNvSpPr>
            <a:spLocks noGrp="1"/>
          </p:cNvSpPr>
          <p:nvPr>
            <p:ph type="title"/>
          </p:nvPr>
        </p:nvSpPr>
        <p:spPr/>
        <p:txBody>
          <a:bodyPr/>
          <a:lstStyle/>
          <a:p>
            <a:r>
              <a:rPr lang="en-US" dirty="0" smtClean="0"/>
              <a:t>Risk Mitigation</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5071872"/>
          </a:xfrm>
        </p:spPr>
        <p:txBody>
          <a:bodyPr>
            <a:normAutofit fontScale="70000" lnSpcReduction="20000"/>
          </a:bodyPr>
          <a:lstStyle/>
          <a:p>
            <a:pPr algn="just"/>
            <a:r>
              <a:rPr lang="en-US" dirty="0" smtClean="0"/>
              <a:t>The approach of the team members as pressure of project varies. </a:t>
            </a:r>
          </a:p>
          <a:p>
            <a:pPr algn="just"/>
            <a:endParaRPr lang="en-US" dirty="0" smtClean="0"/>
          </a:p>
          <a:p>
            <a:pPr algn="just"/>
            <a:r>
              <a:rPr lang="en-US" dirty="0" smtClean="0"/>
              <a:t>The degree in which the team performs with the spirit of "team-work". </a:t>
            </a:r>
          </a:p>
          <a:p>
            <a:pPr algn="just"/>
            <a:endParaRPr lang="en-US" dirty="0" smtClean="0"/>
          </a:p>
          <a:p>
            <a:pPr algn="just"/>
            <a:r>
              <a:rPr lang="en-US" dirty="0" smtClean="0"/>
              <a:t>The type of co-operation among the team members. Availability of jobs within and outside the organization. </a:t>
            </a:r>
          </a:p>
          <a:p>
            <a:pPr algn="just"/>
            <a:endParaRPr lang="en-US" dirty="0" smtClean="0"/>
          </a:p>
          <a:p>
            <a:pPr algn="just"/>
            <a:r>
              <a:rPr lang="en-US" dirty="0" smtClean="0"/>
              <a:t>If the current development activity is monitored continuously then everybody in the team will get acquainted with current development activity. </a:t>
            </a:r>
          </a:p>
          <a:p>
            <a:pPr algn="just"/>
            <a:endParaRPr lang="en-US" dirty="0" smtClean="0"/>
          </a:p>
          <a:p>
            <a:pPr algn="just"/>
            <a:r>
              <a:rPr lang="en-US" dirty="0" smtClean="0"/>
              <a:t>The objective of risk monitoring is to check whether the predicted risks really occur or not. To ensure the step defined to avoid the risk are applied properly or not. To gather the information which can be useful for analyzing the risk. </a:t>
            </a:r>
          </a:p>
          <a:p>
            <a:endParaRPr lang="en-US" dirty="0"/>
          </a:p>
        </p:txBody>
      </p:sp>
      <p:sp>
        <p:nvSpPr>
          <p:cNvPr id="2" name="Title 1"/>
          <p:cNvSpPr>
            <a:spLocks noGrp="1"/>
          </p:cNvSpPr>
          <p:nvPr>
            <p:ph type="title"/>
          </p:nvPr>
        </p:nvSpPr>
        <p:spPr/>
        <p:txBody>
          <a:bodyPr>
            <a:normAutofit/>
          </a:bodyPr>
          <a:lstStyle/>
          <a:p>
            <a:r>
              <a:rPr lang="en-US" dirty="0" smtClean="0"/>
              <a:t>Risk Monitoring</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5071872"/>
          </a:xfrm>
        </p:spPr>
        <p:txBody>
          <a:bodyPr>
            <a:normAutofit/>
          </a:bodyPr>
          <a:lstStyle/>
          <a:p>
            <a:pPr algn="just"/>
            <a:endParaRPr lang="en-US" dirty="0" smtClean="0"/>
          </a:p>
        </p:txBody>
      </p:sp>
      <p:sp>
        <p:nvSpPr>
          <p:cNvPr id="2" name="Title 1"/>
          <p:cNvSpPr>
            <a:spLocks noGrp="1"/>
          </p:cNvSpPr>
          <p:nvPr>
            <p:ph type="title"/>
          </p:nvPr>
        </p:nvSpPr>
        <p:spPr>
          <a:xfrm>
            <a:off x="457200" y="0"/>
            <a:ext cx="8229600" cy="1143000"/>
          </a:xfrm>
        </p:spPr>
        <p:txBody>
          <a:bodyPr>
            <a:normAutofit/>
          </a:bodyPr>
          <a:lstStyle/>
          <a:p>
            <a:r>
              <a:rPr lang="en-US" dirty="0" smtClean="0"/>
              <a:t>Risk management</a:t>
            </a:r>
            <a:endParaRPr lang="en-US" dirty="0"/>
          </a:p>
        </p:txBody>
      </p:sp>
      <p:pic>
        <p:nvPicPr>
          <p:cNvPr id="3074" name="Picture 2" descr="https://2.bp.blogspot.com/-NCpPsBUova8/Wa5ql7NYcnI/AAAAAAAAAP0/MJJhups4MxEH2_EwYqGVIWq36U9X9w24QCEwYBhgL/s1600/ase-rm-fig1.gif"/>
          <p:cNvPicPr>
            <a:picLocks noChangeAspect="1" noChangeArrowheads="1"/>
          </p:cNvPicPr>
          <p:nvPr/>
        </p:nvPicPr>
        <p:blipFill>
          <a:blip r:embed="rId2"/>
          <a:srcRect/>
          <a:stretch>
            <a:fillRect/>
          </a:stretch>
        </p:blipFill>
        <p:spPr bwMode="auto">
          <a:xfrm>
            <a:off x="457200" y="914400"/>
            <a:ext cx="8305800" cy="57531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103</TotalTime>
  <Words>953</Words>
  <Application>Microsoft Office PowerPoint</Application>
  <PresentationFormat>On-screen Show (4:3)</PresentationFormat>
  <Paragraphs>98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Concourse</vt:lpstr>
      <vt:lpstr>Risk identification</vt:lpstr>
      <vt:lpstr>Checklist Analysis</vt:lpstr>
      <vt:lpstr>Slide 3</vt:lpstr>
      <vt:lpstr>Brainstorming</vt:lpstr>
      <vt:lpstr>SWOT Analysis</vt:lpstr>
      <vt:lpstr>Flowchart Method</vt:lpstr>
      <vt:lpstr>Thinking Pessimistically</vt:lpstr>
      <vt:lpstr>Seek Employee Feedback</vt:lpstr>
      <vt:lpstr>Delphi Technique </vt:lpstr>
      <vt:lpstr>Root Cause Analysis</vt:lpstr>
      <vt:lpstr>Interviewing </vt:lpstr>
      <vt:lpstr>Risk projection</vt:lpstr>
      <vt:lpstr>Slide 13</vt:lpstr>
      <vt:lpstr>Developing a Risk Table</vt:lpstr>
      <vt:lpstr>Slide 15</vt:lpstr>
      <vt:lpstr>Assessing Risk Impact</vt:lpstr>
      <vt:lpstr>Risk Exposure</vt:lpstr>
      <vt:lpstr>Risk Refinement</vt:lpstr>
      <vt:lpstr>Slide 19</vt:lpstr>
      <vt:lpstr>Slide 20</vt:lpstr>
      <vt:lpstr>RMMM</vt:lpstr>
      <vt:lpstr>Risk Mitigation</vt:lpstr>
      <vt:lpstr>Risk Monitoring</vt:lpstr>
      <vt:lpstr>Risk management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identification</dc:title>
  <dc:creator>Viswa Bharathy</dc:creator>
  <cp:lastModifiedBy>MRCET</cp:lastModifiedBy>
  <cp:revision>63</cp:revision>
  <dcterms:created xsi:type="dcterms:W3CDTF">2006-08-16T00:00:00Z</dcterms:created>
  <dcterms:modified xsi:type="dcterms:W3CDTF">2021-11-12T04:44:37Z</dcterms:modified>
</cp:coreProperties>
</file>